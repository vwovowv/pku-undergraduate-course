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</p:sldMasterIdLst>
  <p:notesMasterIdLst>
    <p:notesMasterId r:id="rId36"/>
  </p:notesMasterIdLst>
  <p:sldIdLst>
    <p:sldId id="256" r:id="rId3"/>
    <p:sldId id="344" r:id="rId4"/>
    <p:sldId id="343" r:id="rId5"/>
    <p:sldId id="348" r:id="rId6"/>
    <p:sldId id="345" r:id="rId7"/>
    <p:sldId id="346" r:id="rId8"/>
    <p:sldId id="347" r:id="rId9"/>
    <p:sldId id="351" r:id="rId10"/>
    <p:sldId id="350" r:id="rId11"/>
    <p:sldId id="352" r:id="rId12"/>
    <p:sldId id="353" r:id="rId13"/>
    <p:sldId id="354" r:id="rId14"/>
    <p:sldId id="356" r:id="rId15"/>
    <p:sldId id="355" r:id="rId16"/>
    <p:sldId id="357" r:id="rId17"/>
    <p:sldId id="358" r:id="rId18"/>
    <p:sldId id="359" r:id="rId19"/>
    <p:sldId id="34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8" r:id="rId28"/>
    <p:sldId id="369" r:id="rId29"/>
    <p:sldId id="370" r:id="rId30"/>
    <p:sldId id="373" r:id="rId31"/>
    <p:sldId id="371" r:id="rId32"/>
    <p:sldId id="372" r:id="rId33"/>
    <p:sldId id="374" r:id="rId34"/>
    <p:sldId id="367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75"/>
  </p:normalViewPr>
  <p:slideViewPr>
    <p:cSldViewPr snapToGrid="0">
      <p:cViewPr varScale="1">
        <p:scale>
          <a:sx n="119" d="100"/>
          <a:sy n="119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25F32-F7B1-47EE-B469-CC31C34DBBE8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B74D7-EF89-4706-B017-97FFA1B5F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1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04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90F4B-4C3D-3EAD-9C36-882EBD3D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DEF801-60F9-F1FD-4317-095CE3F87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D34290-3F41-7828-F7CB-BE5DBAB53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77F36B-8292-414B-35F9-04FCE3E33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1895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928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5E2A-A061-4E15-CDAF-F785F420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C5AF82-FA72-0CF0-B570-5C5E45EF0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B0E020-C917-8C3E-1490-88B174112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24BBFF-3A96-E841-796E-F5E99CC7C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905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D682-E4FC-2327-BDD4-2B30F0514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390FC7-F27B-1869-DE52-2AF062A7D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505433-5791-717B-0310-BFA9C9DDC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D2288F-B488-CFB7-BDEA-DE1D6AF1C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096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C3E3E-8EB4-2DA0-2FFF-6FF6EC6D1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DF781D-4364-6E0E-E1BD-E1D6FC1E8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51470A-2AD8-E35E-313A-5734D7748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F276E9-0E75-D934-53B6-6E37F22AF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4103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EC0FE-60A6-73E5-39B3-2D193D987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A05C24-86B6-7F8B-E424-111EC737B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FD02BF-10F8-776C-4132-87CBC77FC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1B0ECE-5C21-DFA9-CDA0-71BE6935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473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1AD20-B530-A5A6-2961-11A3AB4FE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DA3BCD-97D4-2D8F-A952-99F47EB27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453DD8-FCDD-A418-0298-2E931B31C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1FBDFB-FBA3-C0BF-C26B-FC7EF90B0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6033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2176B-C52F-A761-BF2F-1AC42DD8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912C19-54A3-409D-58CA-15E566FCE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15B5BC-1CE5-DCA2-D8A0-34D1E7C33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80C630-C587-7D63-24D7-0E29DC31E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407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9A30-09C2-0454-E856-645B0D18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B9D929-2A60-F35B-E3E2-CC2558AF2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80E01C-F5D0-39AB-6B1B-549E97AEA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8DBBE1-6441-F795-5389-68FA56B7B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528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9C09-3A5A-3E3E-D604-D3D9F491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839002-02B6-5388-CC16-96B3712BD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317CF8-EB99-04E9-3303-9FF5B8478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869AA2-3BAD-FE7D-2D1A-507C45B65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290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C87C-8720-2144-583D-0C72AA348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AFDBE7-2495-FC79-B1DA-A16906878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5BDEFB-F1D0-AFBE-8D56-20E66654C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787BC0-C475-4EB2-8B5B-C5017E010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826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07F6-780D-C4B5-E35A-FEFE2973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DCEE91-4A06-B3D7-FA5C-74D0E942D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D5637F-453B-C510-EB24-CB44B67F4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BC2ECE-229F-7CE5-64E0-74D88E399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4024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B7DC-B982-B8F8-9F79-7A1B9A56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F26696-8DF4-8200-F964-03722A9AF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753DEA-D5A0-859F-24D8-8E94BE426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1CC9CF-F7F5-D361-E65A-1BC6748E7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405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1C1E4-B49B-1412-A367-D152E6AB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9E8435-AF62-C110-8C0F-8445A368D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2B1F5D-64ED-412F-DE0C-19395FED8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23E4B5-3858-CB6A-B23C-CA35B69FF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93138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040E0-DA4C-7B00-C5BF-84F1A63E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6C73C7-C0B7-AAEF-08F2-3F8E3DDBE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0547A4-A436-4337-C358-91CC4B2D3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CF4C4F-7AE1-2830-8036-A6918F67B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360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C3BD-A90C-7C23-46BA-FED34969C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86235D-7C1F-719C-CFB3-CFB7C7EE4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77532D-0C5D-4D6B-DB61-9DD7B496F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EFA3EC-1B59-39A1-46DB-57AE83FC2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0167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B6854-A559-DFA6-ADEE-BE94D0CF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0CDC7B-9FAB-37C6-032D-C91CAF35E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99D5D9-0F88-AD3D-3DEE-015213B6F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B20F0F-6994-EAC5-CC7D-3E37D2A8E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281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9D94E-1B1A-0ECD-D0EB-6C73A395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115A7D-6A67-4E97-95E5-41B9F812E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70B27C-E622-D31D-1FB4-4016F7D0D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4E8880-BEE5-718F-FA35-EC88EA8C3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396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DD43C-0B44-10D7-060F-02E209D78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938218-597F-836B-779A-7211BC95F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59ADEF-05D7-F6C4-CDE4-EEA8B142C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1782F3-38A4-7654-0F39-7AD3211FD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5599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F3BA-E3D2-FDE0-741E-4A518931E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CF05FF-1A54-43AD-AD9F-A48ED64F8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E6043C-C622-8182-D36C-D7B3B6FB2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5AD690-AB9B-22F5-C695-0985ED582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23023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E366F-FF54-A960-3AB9-7C7DB836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E98901-F67E-2D6E-E786-F4741FC2B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6AB1E0-CFA9-3280-2C63-ECF60B574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C44EAF-7AED-A921-B818-1724DCB37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821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4B84-AE8B-6111-3EDA-389D2311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5E20E9-E02E-FF91-FDEF-768A42988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6A32BA-8F9C-9EE0-DD43-12EF8E3C4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28F395-8DA8-834A-2ED3-C9209CCE9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8126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9909-19F4-9363-525B-9D18443B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37A05D-865A-EE8A-6EF8-8BE9E5BBD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04B804-1957-0C81-2325-6703BEFC3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FEFA7-66B8-F5B7-9F6B-8D3D752E5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6445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7796-66D1-8B67-4E88-250592EC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0AE39F-EECF-1197-85B7-D236DACE0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880D54-3552-B00B-AB11-8C014E0E3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28883-C3B9-24E4-B144-CCAA23D56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2203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7796-66D1-8B67-4E88-250592EC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0AE39F-EECF-1197-85B7-D236DACE0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880D54-3552-B00B-AB11-8C014E0E3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28883-C3B9-24E4-B144-CCAA23D56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2761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7796-66D1-8B67-4E88-250592EC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0AE39F-EECF-1197-85B7-D236DACE0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880D54-3552-B00B-AB11-8C014E0E3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28883-C3B9-24E4-B144-CCAA23D56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2709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7796-66D1-8B67-4E88-250592EC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0AE39F-EECF-1197-85B7-D236DACE0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880D54-3552-B00B-AB11-8C014E0E3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28883-C3B9-24E4-B144-CCAA23D56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0722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7796-66D1-8B67-4E88-250592EC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0AE39F-EECF-1197-85B7-D236DACE0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880D54-3552-B00B-AB11-8C014E0E3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28883-C3B9-24E4-B144-CCAA23D56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614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7796-66D1-8B67-4E88-250592EC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0AE39F-EECF-1197-85B7-D236DACE0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880D54-3552-B00B-AB11-8C014E0E3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28883-C3B9-24E4-B144-CCAA23D56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7033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7796-66D1-8B67-4E88-250592EC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0AE39F-EECF-1197-85B7-D236DACE0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880D54-3552-B00B-AB11-8C014E0E3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28883-C3B9-24E4-B144-CCAA23D56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6743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7796-66D1-8B67-4E88-250592EC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0AE39F-EECF-1197-85B7-D236DACE0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880D54-3552-B00B-AB11-8C014E0E3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28883-C3B9-24E4-B144-CCAA23D56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3392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29939-4AB6-DDFC-D081-B37CB679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72CF0E-8C8E-062B-A1F9-9C860FA2C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123C84-7428-CD4F-AE54-6AA306EF1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A09305-FC04-98D0-A8A8-9C250750A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DB0265-CDCE-4ED3-A7B0-D791FBC902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99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1" y="805974"/>
            <a:ext cx="10027919" cy="2417763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rgbClr val="FFC000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2727958" y="4400236"/>
            <a:ext cx="9243061" cy="6213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6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5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106679" y="111043"/>
            <a:ext cx="5930900" cy="323852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buNone/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Conference name</a:t>
            </a:r>
            <a:endParaRPr lang="ko-KR" altLang="en-US" dirty="0"/>
          </a:p>
        </p:txBody>
      </p:sp>
      <p:sp>
        <p:nvSpPr>
          <p:cNvPr id="6" name="부제목 2"/>
          <p:cNvSpPr txBox="1"/>
          <p:nvPr userDrawn="1"/>
        </p:nvSpPr>
        <p:spPr>
          <a:xfrm>
            <a:off x="228601" y="5331407"/>
            <a:ext cx="10625060" cy="4521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aboratory of </a:t>
            </a:r>
            <a:r>
              <a:rPr lang="en-US" sz="3200" b="1" dirty="0">
                <a:solidFill>
                  <a:srgbClr val="9A000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omputer </a:t>
            </a:r>
            <a:r>
              <a:rPr lang="en-US" sz="3200" b="1" dirty="0">
                <a:solidFill>
                  <a:srgbClr val="9A000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ardware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rgbClr val="9A000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nd </a:t>
            </a:r>
            <a:r>
              <a:rPr lang="en-US" sz="3200" b="1" dirty="0">
                <a:solidFill>
                  <a:srgbClr val="9A000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ystem </a:t>
            </a:r>
            <a:r>
              <a:rPr lang="en-US" sz="3200" b="1" dirty="0">
                <a:solidFill>
                  <a:srgbClr val="9A000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volution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FC672C1B-F821-8B44-19FE-91AFAEBC042F}"/>
              </a:ext>
            </a:extLst>
          </p:cNvPr>
          <p:cNvSpPr txBox="1"/>
          <p:nvPr userDrawn="1"/>
        </p:nvSpPr>
        <p:spPr>
          <a:xfrm>
            <a:off x="2727958" y="5823627"/>
            <a:ext cx="3491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dirty="0" err="1">
                <a:solidFill>
                  <a:srgbClr val="9A0001"/>
                </a:solidFill>
                <a:latin typeface="Impact" panose="020B0806030902050204" pitchFamily="34" charset="0"/>
              </a:rPr>
              <a:t>CHASE</a:t>
            </a:r>
            <a:r>
              <a:rPr lang="en-US" altLang="zh-CN" sz="5400" b="1" i="1" dirty="0" err="1">
                <a:solidFill>
                  <a:schemeClr val="tx1"/>
                </a:solidFill>
                <a:latin typeface="Impact" panose="020B0806030902050204" pitchFamily="34" charset="0"/>
              </a:rPr>
              <a:t>Lab</a:t>
            </a:r>
            <a:endParaRPr lang="en-US" sz="5400" b="1" i="1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088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" y="805974"/>
            <a:ext cx="10027919" cy="2417763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rgbClr val="FFC000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106679" y="111043"/>
            <a:ext cx="5930900" cy="323852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buNone/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Conference name</a:t>
            </a:r>
            <a:endParaRPr lang="ko-KR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2727958" y="4400236"/>
            <a:ext cx="9243061" cy="6213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6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84B8F8B-0F48-7D55-2837-9D3F161F7A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985" b="7405"/>
          <a:stretch/>
        </p:blipFill>
        <p:spPr>
          <a:xfrm>
            <a:off x="2631598" y="5809129"/>
            <a:ext cx="3509482" cy="104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0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23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313267" y="18256"/>
            <a:ext cx="11599333" cy="756445"/>
          </a:xfrm>
          <a:prstGeom prst="rect">
            <a:avLst/>
          </a:prstGeom>
        </p:spPr>
        <p:txBody>
          <a:bodyPr anchor="ctr"/>
          <a:lstStyle>
            <a:lvl1pPr algn="l">
              <a:defRPr sz="4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4" name="내용 개체 틀 2"/>
          <p:cNvSpPr>
            <a:spLocks noGrp="1"/>
          </p:cNvSpPr>
          <p:nvPr>
            <p:ph idx="1" hasCustomPrompt="1"/>
          </p:nvPr>
        </p:nvSpPr>
        <p:spPr>
          <a:xfrm>
            <a:off x="313267" y="881744"/>
            <a:ext cx="11599333" cy="532765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 hasCustomPrompt="1"/>
          </p:nvPr>
        </p:nvSpPr>
        <p:spPr>
          <a:xfrm>
            <a:off x="2232285" y="6450806"/>
            <a:ext cx="8015896" cy="40719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100" i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D5EDB7-A061-A233-59BA-B683A2D705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581" t="14924" r="4542" b="35051"/>
          <a:stretch/>
        </p:blipFill>
        <p:spPr>
          <a:xfrm>
            <a:off x="313267" y="6450806"/>
            <a:ext cx="1825101" cy="36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99F3F2B-E3F4-43B4-8CF3-0E23F01C452D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F0A1408-CA17-41D6-A3CA-9EBBA06C4B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202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99F3F2B-E3F4-43B4-8CF3-0E23F01C452D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F0A1408-CA17-41D6-A3CA-9EBBA06C4B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198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7543" y="955589"/>
            <a:ext cx="11620844" cy="5305168"/>
          </a:xfrm>
          <a:prstGeom prst="rect">
            <a:avLst/>
          </a:prstGeo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447675" indent="-180975">
              <a:buFont typeface="Arial" panose="020B0604020202020204" pitchFamily="34" charset="0"/>
              <a:buChar char="•"/>
              <a:defRPr/>
            </a:lvl2pPr>
            <a:lvl3pPr marL="714375" indent="-171450">
              <a:buFont typeface="Arial" panose="020B0604020202020204" pitchFamily="34" charset="0"/>
              <a:buChar char="•"/>
              <a:defRPr/>
            </a:lvl3pPr>
            <a:lvl4pPr marL="990600" indent="-180975">
              <a:buFont typeface="Arial" panose="020B0604020202020204" pitchFamily="34" charset="0"/>
              <a:buChar char="•"/>
              <a:defRPr/>
            </a:lvl4pPr>
            <a:lvl5pPr marL="1257300" indent="-180975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14F61D5-7643-4F48-A00E-ADF247A9B4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104062"/>
            <a:ext cx="11267988" cy="353139"/>
          </a:xfrm>
          <a:prstGeom prst="rect">
            <a:avLst/>
          </a:prstGeom>
        </p:spPr>
        <p:txBody>
          <a:bodyPr anchor="ctr"/>
          <a:lstStyle>
            <a:lvl1pPr algn="l">
              <a:defRPr sz="3600" b="1">
                <a:latin typeface="+mn-lt"/>
              </a:defRPr>
            </a:lvl1pPr>
          </a:lstStyle>
          <a:p>
            <a:r>
              <a:rPr lang="en-US" altLang="ko-KR" dirty="0"/>
              <a:t>Sub-title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B8547C3-1061-4D89-A161-AC750AFE6D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429" y="523876"/>
            <a:ext cx="11267988" cy="2825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/>
            </a:lvl1pPr>
          </a:lstStyle>
          <a:p>
            <a:pPr lvl="0"/>
            <a:r>
              <a:rPr lang="en-US" altLang="ko-KR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95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90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579119"/>
            <a:ext cx="12192000" cy="3802381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/>
          </a:p>
        </p:txBody>
      </p:sp>
      <p:pic>
        <p:nvPicPr>
          <p:cNvPr id="18" name="图形 17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9311" y="579119"/>
            <a:ext cx="5172316" cy="373902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694" y="5753281"/>
            <a:ext cx="3380658" cy="10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8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5"/>
          <p:cNvGrpSpPr/>
          <p:nvPr userDrawn="1"/>
        </p:nvGrpSpPr>
        <p:grpSpPr>
          <a:xfrm>
            <a:off x="291393" y="775460"/>
            <a:ext cx="11658961" cy="73282"/>
            <a:chOff x="251460" y="2158026"/>
            <a:chExt cx="11727181" cy="480400"/>
          </a:xfrm>
        </p:grpSpPr>
        <p:sp>
          <p:nvSpPr>
            <p:cNvPr id="8" name="Rectangle 8"/>
            <p:cNvSpPr/>
            <p:nvPr/>
          </p:nvSpPr>
          <p:spPr>
            <a:xfrm>
              <a:off x="251460" y="2158026"/>
              <a:ext cx="11727181" cy="1807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9" name="Rectangle 9"/>
            <p:cNvSpPr/>
            <p:nvPr/>
          </p:nvSpPr>
          <p:spPr>
            <a:xfrm>
              <a:off x="251460" y="2338715"/>
              <a:ext cx="2012678" cy="29971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10" name="Group 5"/>
          <p:cNvGrpSpPr/>
          <p:nvPr userDrawn="1"/>
        </p:nvGrpSpPr>
        <p:grpSpPr>
          <a:xfrm>
            <a:off x="285580" y="6372281"/>
            <a:ext cx="11658961" cy="73282"/>
            <a:chOff x="251460" y="2158026"/>
            <a:chExt cx="11727181" cy="480400"/>
          </a:xfrm>
        </p:grpSpPr>
        <p:sp>
          <p:nvSpPr>
            <p:cNvPr id="11" name="Rectangle 8"/>
            <p:cNvSpPr/>
            <p:nvPr/>
          </p:nvSpPr>
          <p:spPr>
            <a:xfrm>
              <a:off x="251460" y="2158026"/>
              <a:ext cx="11727181" cy="1807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2" name="Rectangle 9"/>
            <p:cNvSpPr/>
            <p:nvPr/>
          </p:nvSpPr>
          <p:spPr>
            <a:xfrm>
              <a:off x="251460" y="2338715"/>
              <a:ext cx="11727180" cy="299711"/>
            </a:xfrm>
            <a:prstGeom prst="rect">
              <a:avLst/>
            </a:prstGeom>
            <a:solidFill>
              <a:srgbClr val="9A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5" name="TextBox 10"/>
          <p:cNvSpPr txBox="1"/>
          <p:nvPr userDrawn="1"/>
        </p:nvSpPr>
        <p:spPr>
          <a:xfrm>
            <a:off x="9131808" y="6372281"/>
            <a:ext cx="2892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0" dirty="0">
                <a:solidFill>
                  <a:srgbClr val="9A0001"/>
                </a:solidFill>
                <a:latin typeface="Impact" panose="020B0806030902050204" pitchFamily="34" charset="0"/>
              </a:rPr>
              <a:t>Peking </a:t>
            </a:r>
            <a:r>
              <a:rPr lang="en-US" altLang="zh-CN" sz="2800" b="1" i="0" dirty="0">
                <a:solidFill>
                  <a:schemeClr val="tx1"/>
                </a:solidFill>
                <a:latin typeface="Impact" panose="020B0806030902050204" pitchFamily="34" charset="0"/>
              </a:rPr>
              <a:t>University</a:t>
            </a:r>
            <a:endParaRPr lang="en-US" sz="2800" b="1" i="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86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m5.org/documentation/learning_gem5/part2/debuggin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5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13.png"/><Relationship Id="rId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11.png"/><Relationship Id="rId1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" y="805974"/>
            <a:ext cx="10027919" cy="3324592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Computer Architecture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4400" dirty="0">
                <a:latin typeface="Arial" panose="020B0604020202020204" pitchFamily="34" charset="0"/>
                <a:ea typeface="微软雅黑" panose="020B0503020204020204" pitchFamily="34" charset="-122"/>
              </a:rPr>
              <a:t>Fall 2024</a:t>
            </a:r>
            <a:br>
              <a:rPr lang="en-US" altLang="zh-CN" sz="4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br>
              <a:rPr lang="en-US" altLang="zh-CN" sz="4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4400" dirty="0">
                <a:latin typeface="Arial" panose="020B0604020202020204" pitchFamily="34" charset="0"/>
                <a:ea typeface="微软雅黑" panose="020B0503020204020204" pitchFamily="34" charset="-122"/>
              </a:rPr>
              <a:t>Lab 3 review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dirty="0"/>
              <a:t>Yuda An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86915-C369-5AFB-FC09-3A2F0DD9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CCAB3D4-3802-9540-5221-64D436E616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BCB4740-4FB5-105F-0E01-12E5EB9C6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How to debug?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3D4FE6-B735-6FF5-DC80-B5BDDBAECB73}"/>
              </a:ext>
            </a:extLst>
          </p:cNvPr>
          <p:cNvSpPr txBox="1"/>
          <p:nvPr/>
        </p:nvSpPr>
        <p:spPr>
          <a:xfrm>
            <a:off x="313267" y="1094014"/>
            <a:ext cx="115993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 err="1">
                <a:latin typeface="Consolas" panose="020B0609020204030204" pitchFamily="49" charset="0"/>
                <a:ea typeface="FiraCode Nerd Font Mono SemBd" panose="02000009000000000000" pitchFamily="49" charset="0"/>
                <a:cs typeface="FiraCode Nerd Font Mono SemBd" panose="02000009000000000000" pitchFamily="49" charset="0"/>
              </a:rPr>
              <a:t>gdb</a:t>
            </a:r>
            <a:r>
              <a:rPr lang="en-US" altLang="zh-CN" sz="4000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Compile the debug build: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>
                <a:latin typeface="Consolas" panose="020B0609020204030204" pitchFamily="49" charset="0"/>
                <a:ea typeface="CaskaydiaCove NF" panose="02000009000000000000" pitchFamily="50" charset="0"/>
                <a:cs typeface="CaskaydiaCove NF" panose="02000009000000000000" pitchFamily="50" charset="0"/>
              </a:rPr>
              <a:t> </a:t>
            </a:r>
            <a:r>
              <a:rPr lang="en-US" altLang="zh-CN" sz="40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skaydiaCove NF" panose="02000009000000000000" pitchFamily="50" charset="0"/>
                <a:cs typeface="CaskaydiaCove NF" panose="02000009000000000000" pitchFamily="50" charset="0"/>
              </a:rPr>
              <a:t>scons</a:t>
            </a:r>
            <a:r>
              <a:rPr lang="en-US" altLang="zh-CN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skaydiaCove NF" panose="02000009000000000000" pitchFamily="50" charset="0"/>
                <a:cs typeface="CaskaydiaCove NF" panose="02000009000000000000" pitchFamily="50" charset="0"/>
              </a:rPr>
              <a:t> build/ARM/gem5.debug –j8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Directly use </a:t>
            </a:r>
            <a:r>
              <a:rPr lang="en-US" altLang="zh-CN" sz="4000" dirty="0" err="1">
                <a:latin typeface="Consolas" panose="020B0609020204030204" pitchFamily="49" charset="0"/>
              </a:rPr>
              <a:t>gdb</a:t>
            </a:r>
            <a:endParaRPr lang="en-US" altLang="zh-CN" sz="40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>
                <a:latin typeface="Consolas" panose="020B0609020204030204" pitchFamily="49" charset="0"/>
              </a:rPr>
              <a:t>DPRINTF</a:t>
            </a:r>
            <a:r>
              <a:rPr lang="en-US" altLang="zh-CN" sz="4000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Run with </a:t>
            </a:r>
            <a:r>
              <a:rPr lang="da-DK" altLang="zh-CN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--debug-flags=&lt;flags&gt;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>
                <a:latin typeface="Consolas" panose="020B0609020204030204" pitchFamily="49" charset="0"/>
              </a:rPr>
              <a:t>See </a:t>
            </a:r>
            <a:r>
              <a:rPr lang="en-US" altLang="zh-CN" sz="4000" dirty="0">
                <a:hlinkClick r:id="rId3"/>
              </a:rPr>
              <a:t>gem5: Debugging gem5</a:t>
            </a:r>
            <a:r>
              <a:rPr lang="en-US" altLang="zh-CN" sz="4000" dirty="0"/>
              <a:t> for details</a:t>
            </a:r>
            <a:endParaRPr lang="en-US" altLang="zh-CN" sz="4000" dirty="0">
              <a:latin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906823-5EBE-A1B0-08ED-C8F4A0FE2F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213" y="3602368"/>
            <a:ext cx="4264970" cy="66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55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1D0F8EA-8230-9643-4DAA-E02001D613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Lab 3 information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53D752-ABEC-5CE4-88C4-8DAD7DF99D60}"/>
              </a:ext>
            </a:extLst>
          </p:cNvPr>
          <p:cNvSpPr txBox="1"/>
          <p:nvPr/>
        </p:nvSpPr>
        <p:spPr>
          <a:xfrm>
            <a:off x="313267" y="1094014"/>
            <a:ext cx="11599333" cy="369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4000" dirty="0"/>
              <a:t>Add </a:t>
            </a:r>
            <a:r>
              <a:rPr lang="en-US" altLang="zh-CN" sz="4000" b="1" dirty="0">
                <a:solidFill>
                  <a:srgbClr val="C00000"/>
                </a:solidFill>
              </a:rPr>
              <a:t>cache hierarchy</a:t>
            </a:r>
            <a:r>
              <a:rPr lang="en-US" altLang="zh-CN" sz="4000" b="1" dirty="0"/>
              <a:t> </a:t>
            </a:r>
            <a:r>
              <a:rPr lang="en-US" altLang="zh-CN" sz="4000" dirty="0"/>
              <a:t>to our 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4000" dirty="0"/>
              <a:t>Read a recent paper about </a:t>
            </a:r>
            <a:r>
              <a:rPr lang="en-US" altLang="zh-CN" sz="4000" b="1" dirty="0">
                <a:solidFill>
                  <a:srgbClr val="C00000"/>
                </a:solidFill>
              </a:rPr>
              <a:t>cache prefetcher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</a:rPr>
              <a:t>Implement</a:t>
            </a:r>
            <a:r>
              <a:rPr lang="en-US" altLang="zh-CN" sz="4000" dirty="0"/>
              <a:t> the prefetcher in gem5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4000" dirty="0"/>
              <a:t>Due: 12/17</a:t>
            </a:r>
          </a:p>
        </p:txBody>
      </p:sp>
    </p:spTree>
    <p:extLst>
      <p:ext uri="{BB962C8B-B14F-4D97-AF65-F5344CB8AC3E}">
        <p14:creationId xmlns:p14="http://schemas.microsoft.com/office/powerpoint/2010/main" val="50976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13FB-6EB3-A64F-EE16-B36DBEC5E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EB1ED51-53E3-D3BE-3211-FAC4DD976A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905B431-52A1-9B35-A98F-5B92E7BE9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1: Add cache hierarchy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E9AD5B-415E-27EF-58E8-F0C325CF9971}"/>
              </a:ext>
            </a:extLst>
          </p:cNvPr>
          <p:cNvSpPr txBox="1"/>
          <p:nvPr/>
        </p:nvSpPr>
        <p:spPr>
          <a:xfrm>
            <a:off x="313267" y="109401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We need to define our own </a:t>
            </a:r>
            <a:r>
              <a:rPr lang="en-US" altLang="zh-CN" sz="4000" b="1" dirty="0">
                <a:solidFill>
                  <a:srgbClr val="C00000"/>
                </a:solidFill>
              </a:rPr>
              <a:t>non-abstract cache class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D8AB87-15F8-4C96-DFDC-81E6EDA49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30" y="2672035"/>
            <a:ext cx="2990850" cy="2171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CC0BA1-75E3-1C4A-5C5F-95D01C070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736" y="2881257"/>
            <a:ext cx="1924050" cy="619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88C2919-3F6D-EF9B-96BE-F7795493B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842" y="2842271"/>
            <a:ext cx="31432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3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4383-F2FA-36A1-5277-D32AB2810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0841F73-6A5C-AFA3-C745-FCBC9211B2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BA74D3-4CC8-5F6F-9A26-E7D0B13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1: Add cache hierarchy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0CFD40-4A18-5C46-51F3-2A877B3DFB1A}"/>
              </a:ext>
            </a:extLst>
          </p:cNvPr>
          <p:cNvSpPr txBox="1"/>
          <p:nvPr/>
        </p:nvSpPr>
        <p:spPr>
          <a:xfrm>
            <a:off x="313267" y="109401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Use </a:t>
            </a:r>
            <a:r>
              <a:rPr lang="en-US" altLang="zh-CN" sz="4000" b="1" dirty="0">
                <a:solidFill>
                  <a:srgbClr val="C00000"/>
                </a:solidFill>
              </a:rPr>
              <a:t>helper functions</a:t>
            </a:r>
            <a:r>
              <a:rPr lang="en-US" altLang="zh-CN" sz="4000" dirty="0"/>
              <a:t> to add cache conveniently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42B4871-7C57-7576-05E9-345CDF92E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745"/>
          <a:stretch/>
        </p:blipFill>
        <p:spPr>
          <a:xfrm>
            <a:off x="2358089" y="1899734"/>
            <a:ext cx="7621064" cy="31931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9B3321D-9B07-918B-78A2-40C3E33036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1" b="30486"/>
          <a:stretch/>
        </p:blipFill>
        <p:spPr>
          <a:xfrm>
            <a:off x="2358089" y="2219047"/>
            <a:ext cx="7621064" cy="269719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29B3E3F-4FAD-49F4-E6C0-A8555112A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259" b="11359"/>
          <a:stretch/>
        </p:blipFill>
        <p:spPr>
          <a:xfrm>
            <a:off x="2358089" y="4916237"/>
            <a:ext cx="7621064" cy="85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8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43C0-66E4-3B6D-9959-DAB1863E4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FB37D2B-38DE-1275-EC0D-05FFDED9C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19284A2-F694-EF35-47DA-0FA25AB0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2: Add prefetcher to L1D cache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46E1B8-6281-6913-2CC5-BF4AF3BEF490}"/>
              </a:ext>
            </a:extLst>
          </p:cNvPr>
          <p:cNvSpPr txBox="1"/>
          <p:nvPr/>
        </p:nvSpPr>
        <p:spPr>
          <a:xfrm>
            <a:off x="313267" y="109401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We compare two </a:t>
            </a:r>
            <a:r>
              <a:rPr lang="en-US" altLang="zh-CN" sz="4000" b="1" dirty="0">
                <a:solidFill>
                  <a:srgbClr val="C00000"/>
                </a:solidFill>
              </a:rPr>
              <a:t>pre-defined prefetchers</a:t>
            </a:r>
            <a:r>
              <a:rPr lang="en-US" altLang="zh-CN" sz="4000" dirty="0"/>
              <a:t> in gem5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FE82A0-8405-0EDD-7F8A-166355102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995" y="1846602"/>
            <a:ext cx="6516009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27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DCACE-36A3-EFC0-13F2-2081AB7AB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DA4C443-5E8F-9A6F-0961-45684C6B55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576586-63D2-FA7A-18F5-89D4B6C6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Introduction to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DCB384-F473-E47C-DF4E-572DB5ABE609}"/>
              </a:ext>
            </a:extLst>
          </p:cNvPr>
          <p:cNvSpPr txBox="1"/>
          <p:nvPr/>
        </p:nvSpPr>
        <p:spPr>
          <a:xfrm>
            <a:off x="313267" y="1094014"/>
            <a:ext cx="11599333" cy="4613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4000" dirty="0"/>
              <a:t>Cache access: </a:t>
            </a:r>
            <a:r>
              <a:rPr lang="en-US" altLang="zh-CN" sz="4000" b="1" dirty="0">
                <a:solidFill>
                  <a:srgbClr val="00B050"/>
                </a:solidFill>
              </a:rPr>
              <a:t>hit</a:t>
            </a:r>
            <a:r>
              <a:rPr lang="en-US" altLang="zh-CN" sz="4000" dirty="0"/>
              <a:t> or </a:t>
            </a:r>
            <a:r>
              <a:rPr lang="en-US" altLang="zh-CN" sz="4000" b="1" dirty="0">
                <a:solidFill>
                  <a:srgbClr val="FF0000"/>
                </a:solidFill>
              </a:rPr>
              <a:t>miss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4000" dirty="0"/>
              <a:t>High</a:t>
            </a:r>
            <a:r>
              <a:rPr lang="en-US" altLang="zh-CN" sz="4000" dirty="0">
                <a:solidFill>
                  <a:srgbClr val="FF0000"/>
                </a:solidFill>
              </a:rPr>
              <a:t> miss penalty </a:t>
            </a:r>
            <a:r>
              <a:rPr lang="en-US" altLang="zh-CN" sz="4000" dirty="0">
                <a:sym typeface="Wingdings" panose="05000000000000000000" pitchFamily="2" charset="2"/>
              </a:rPr>
              <a:t> reduce miss rate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sym typeface="Wingdings" panose="05000000000000000000" pitchFamily="2" charset="2"/>
              </a:rPr>
              <a:t>Prefetching:</a:t>
            </a:r>
            <a:r>
              <a:rPr lang="en-US" altLang="zh-CN" sz="4000" dirty="0">
                <a:sym typeface="Wingdings" panose="05000000000000000000" pitchFamily="2" charset="2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4000" dirty="0">
                <a:sym typeface="Wingdings" panose="05000000000000000000" pitchFamily="2" charset="2"/>
              </a:rPr>
              <a:t>Learn memory access patterns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4000" dirty="0"/>
              <a:t>Fetch data into cache </a:t>
            </a:r>
            <a:r>
              <a:rPr lang="en-US" altLang="zh-CN" sz="4000" b="1" dirty="0">
                <a:solidFill>
                  <a:srgbClr val="C00000"/>
                </a:solidFill>
              </a:rPr>
              <a:t>before actual access</a:t>
            </a:r>
          </a:p>
        </p:txBody>
      </p:sp>
    </p:spTree>
    <p:extLst>
      <p:ext uri="{BB962C8B-B14F-4D97-AF65-F5344CB8AC3E}">
        <p14:creationId xmlns:p14="http://schemas.microsoft.com/office/powerpoint/2010/main" val="1055156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70A2F-CF4D-0627-BF90-161E86703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2969B9-3A9A-89F2-2B39-9D44E9BDAF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5418AF6-3775-8A94-6763-A40C01B06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Introduction to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C8DB49-6006-4AA3-B76F-8FD7230A55EF}"/>
              </a:ext>
            </a:extLst>
          </p:cNvPr>
          <p:cNvSpPr txBox="1"/>
          <p:nvPr/>
        </p:nvSpPr>
        <p:spPr>
          <a:xfrm>
            <a:off x="313267" y="109401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Access pattern: predictable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F30241E-64FD-1563-1AEE-8D33E1DBD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859" y="2908474"/>
            <a:ext cx="809625" cy="8096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66F0E22-7987-70E2-C921-2994D9324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170" y="2908474"/>
            <a:ext cx="809625" cy="8096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A2A11BD-B6F0-D1F2-C2E5-154465CBF8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481" y="2910768"/>
            <a:ext cx="809625" cy="8096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D9BFEF1-B59E-71A0-730D-DA2F6FE9D0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792" y="2908474"/>
            <a:ext cx="809625" cy="8096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44C2819-8DE6-766F-9FC8-341D03B3DE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103" y="2908474"/>
            <a:ext cx="8096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2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4113-ABFA-A024-CA93-B77F0336D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A4240D7-BA6F-99CC-63B6-8450A4706A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71C8D6-DD0E-578C-363C-88C8AE59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Introduction to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F7DF11-28FC-D5A1-F896-298359610D75}"/>
              </a:ext>
            </a:extLst>
          </p:cNvPr>
          <p:cNvSpPr txBox="1"/>
          <p:nvPr/>
        </p:nvSpPr>
        <p:spPr>
          <a:xfrm>
            <a:off x="313267" y="109401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Next-line prefetcher</a:t>
            </a:r>
            <a:r>
              <a:rPr lang="en-US" altLang="zh-CN" sz="4000" dirty="0"/>
              <a:t>: fetch </a:t>
            </a:r>
            <a:r>
              <a:rPr lang="en-US" altLang="zh-CN" sz="4000" b="1" dirty="0">
                <a:solidFill>
                  <a:srgbClr val="C00000"/>
                </a:solidFill>
              </a:rPr>
              <a:t>A+1</a:t>
            </a:r>
            <a:r>
              <a:rPr lang="en-US" altLang="zh-CN" sz="4000" dirty="0"/>
              <a:t> when access </a:t>
            </a:r>
            <a:r>
              <a:rPr lang="en-US" altLang="zh-CN" sz="4000" b="1" dirty="0">
                <a:solidFill>
                  <a:srgbClr val="C00000"/>
                </a:solidFill>
              </a:rPr>
              <a:t>A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A6703A-3B69-3B72-1A49-4D198E91E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260" y="3048780"/>
            <a:ext cx="942975" cy="56197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4872AD1-1394-4204-4D7C-895451BA6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747" y="3519645"/>
            <a:ext cx="809625" cy="80962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B814BC2-9562-7608-0B72-69D2853B75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57" y="3519644"/>
            <a:ext cx="809625" cy="80962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59295D0-77EA-4070-26F2-3210C44C35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367" y="3517350"/>
            <a:ext cx="809625" cy="80962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42B4B04-0EE2-90B0-97D8-A57667FEAF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679" y="3517350"/>
            <a:ext cx="809625" cy="80962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51355CB-5B59-EF4A-0109-E61C059945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91" y="3517349"/>
            <a:ext cx="809625" cy="80962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A0EA5EE-44F9-019D-CB8E-4F8483DF29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436" y="2315079"/>
            <a:ext cx="809625" cy="80962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76B91E0B-54D9-C907-4CE7-FF83DB9CD9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747" y="2315079"/>
            <a:ext cx="809625" cy="809625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0F805AF-10B9-D53D-987D-DA8BE473D1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58" y="2317373"/>
            <a:ext cx="809625" cy="80962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481AD2F-A37E-194D-C183-882D69458E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369" y="2315079"/>
            <a:ext cx="809625" cy="80962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7757FCB7-07FC-1925-F68B-D28FD184A3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680" y="2315079"/>
            <a:ext cx="809625" cy="809625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CE71C9D9-2270-AFB8-8CFB-5C812D49D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987" y="3037087"/>
            <a:ext cx="942975" cy="561975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992D98D-7126-7148-6B86-BEEC81C09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352" y="3044739"/>
            <a:ext cx="942975" cy="56197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68C11C66-57DE-7758-F533-63B04B391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079" y="3033046"/>
            <a:ext cx="942975" cy="56197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D3776CF1-376F-1A50-73ED-196EF1755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093" y="3044738"/>
            <a:ext cx="942975" cy="561975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A814BC64-F48E-FA84-3ED9-CF3EFDED635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073" y="5028411"/>
            <a:ext cx="7071854" cy="912497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90EF1AF4-2BC8-F291-21AD-0F44F12E2B44}"/>
              </a:ext>
            </a:extLst>
          </p:cNvPr>
          <p:cNvSpPr/>
          <p:nvPr/>
        </p:nvSpPr>
        <p:spPr>
          <a:xfrm>
            <a:off x="2500214" y="5028411"/>
            <a:ext cx="3050130" cy="97780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2963103209">
                  <a:custGeom>
                    <a:avLst/>
                    <a:gdLst>
                      <a:gd name="connsiteX0" fmla="*/ 0 w 2696562"/>
                      <a:gd name="connsiteY0" fmla="*/ 0 h 844881"/>
                      <a:gd name="connsiteX1" fmla="*/ 620209 w 2696562"/>
                      <a:gd name="connsiteY1" fmla="*/ 0 h 844881"/>
                      <a:gd name="connsiteX2" fmla="*/ 1213453 w 2696562"/>
                      <a:gd name="connsiteY2" fmla="*/ 0 h 844881"/>
                      <a:gd name="connsiteX3" fmla="*/ 1941525 w 2696562"/>
                      <a:gd name="connsiteY3" fmla="*/ 0 h 844881"/>
                      <a:gd name="connsiteX4" fmla="*/ 2696562 w 2696562"/>
                      <a:gd name="connsiteY4" fmla="*/ 0 h 844881"/>
                      <a:gd name="connsiteX5" fmla="*/ 2696562 w 2696562"/>
                      <a:gd name="connsiteY5" fmla="*/ 405543 h 844881"/>
                      <a:gd name="connsiteX6" fmla="*/ 2696562 w 2696562"/>
                      <a:gd name="connsiteY6" fmla="*/ 844881 h 844881"/>
                      <a:gd name="connsiteX7" fmla="*/ 2022422 w 2696562"/>
                      <a:gd name="connsiteY7" fmla="*/ 844881 h 844881"/>
                      <a:gd name="connsiteX8" fmla="*/ 1348281 w 2696562"/>
                      <a:gd name="connsiteY8" fmla="*/ 844881 h 844881"/>
                      <a:gd name="connsiteX9" fmla="*/ 674141 w 2696562"/>
                      <a:gd name="connsiteY9" fmla="*/ 844881 h 844881"/>
                      <a:gd name="connsiteX10" fmla="*/ 0 w 2696562"/>
                      <a:gd name="connsiteY10" fmla="*/ 844881 h 844881"/>
                      <a:gd name="connsiteX11" fmla="*/ 0 w 2696562"/>
                      <a:gd name="connsiteY11" fmla="*/ 422441 h 844881"/>
                      <a:gd name="connsiteX12" fmla="*/ 0 w 2696562"/>
                      <a:gd name="connsiteY12" fmla="*/ 0 h 8448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696562" h="844881" extrusionOk="0">
                        <a:moveTo>
                          <a:pt x="0" y="0"/>
                        </a:moveTo>
                        <a:cubicBezTo>
                          <a:pt x="228944" y="18974"/>
                          <a:pt x="414596" y="26156"/>
                          <a:pt x="620209" y="0"/>
                        </a:cubicBezTo>
                        <a:cubicBezTo>
                          <a:pt x="825822" y="-26156"/>
                          <a:pt x="1010326" y="23797"/>
                          <a:pt x="1213453" y="0"/>
                        </a:cubicBezTo>
                        <a:cubicBezTo>
                          <a:pt x="1416580" y="-23797"/>
                          <a:pt x="1729747" y="-19889"/>
                          <a:pt x="1941525" y="0"/>
                        </a:cubicBezTo>
                        <a:cubicBezTo>
                          <a:pt x="2153303" y="19889"/>
                          <a:pt x="2466697" y="36645"/>
                          <a:pt x="2696562" y="0"/>
                        </a:cubicBezTo>
                        <a:cubicBezTo>
                          <a:pt x="2686538" y="104906"/>
                          <a:pt x="2706962" y="221589"/>
                          <a:pt x="2696562" y="405543"/>
                        </a:cubicBezTo>
                        <a:cubicBezTo>
                          <a:pt x="2686162" y="589497"/>
                          <a:pt x="2706790" y="640227"/>
                          <a:pt x="2696562" y="844881"/>
                        </a:cubicBezTo>
                        <a:cubicBezTo>
                          <a:pt x="2559887" y="840936"/>
                          <a:pt x="2158382" y="830312"/>
                          <a:pt x="2022422" y="844881"/>
                        </a:cubicBezTo>
                        <a:cubicBezTo>
                          <a:pt x="1886462" y="859450"/>
                          <a:pt x="1610920" y="848537"/>
                          <a:pt x="1348281" y="844881"/>
                        </a:cubicBezTo>
                        <a:cubicBezTo>
                          <a:pt x="1085642" y="841225"/>
                          <a:pt x="882493" y="825017"/>
                          <a:pt x="674141" y="844881"/>
                        </a:cubicBezTo>
                        <a:cubicBezTo>
                          <a:pt x="465789" y="864745"/>
                          <a:pt x="145846" y="820957"/>
                          <a:pt x="0" y="844881"/>
                        </a:cubicBezTo>
                        <a:cubicBezTo>
                          <a:pt x="5914" y="756225"/>
                          <a:pt x="-21119" y="528280"/>
                          <a:pt x="0" y="422441"/>
                        </a:cubicBezTo>
                        <a:cubicBezTo>
                          <a:pt x="21119" y="316602"/>
                          <a:pt x="14620" y="17114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E514CBB-F945-B6FC-1FEB-87AD194AF4CF}"/>
              </a:ext>
            </a:extLst>
          </p:cNvPr>
          <p:cNvSpPr txBox="1"/>
          <p:nvPr/>
        </p:nvSpPr>
        <p:spPr>
          <a:xfrm>
            <a:off x="3002605" y="5957485"/>
            <a:ext cx="2880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Potential miss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61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F3B88-D0EF-6478-0415-F4CBC079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4F971BD-E08D-6820-2C3E-E1E32DE2DF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72B7F8-780A-1010-BE34-D9B8A0FA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Introduction to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C0BB88-0B01-E613-9497-F38D86CD53C4}"/>
              </a:ext>
            </a:extLst>
          </p:cNvPr>
          <p:cNvSpPr txBox="1"/>
          <p:nvPr/>
        </p:nvSpPr>
        <p:spPr>
          <a:xfrm>
            <a:off x="313267" y="109401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 err="1"/>
              <a:t>Strided</a:t>
            </a:r>
            <a:r>
              <a:rPr lang="en-US" altLang="zh-CN" sz="4000" dirty="0"/>
              <a:t> pattern: next-line cannot handle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0760715-C5A8-5210-BE59-8E7230662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756" y="2838748"/>
            <a:ext cx="1571625" cy="809625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20912F51-68AC-7F18-7AFB-155ED14D9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269" y="3545181"/>
            <a:ext cx="942975" cy="561975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A200EA7-0176-BE1A-4795-DEAED4C32B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756" y="4016046"/>
            <a:ext cx="809625" cy="8096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121655A-524E-1DEE-BC85-388800DD0520}"/>
              </a:ext>
            </a:extLst>
          </p:cNvPr>
          <p:cNvSpPr txBox="1"/>
          <p:nvPr/>
        </p:nvSpPr>
        <p:spPr>
          <a:xfrm>
            <a:off x="5629258" y="4032486"/>
            <a:ext cx="10294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/>
              <a:t>🥲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A6114E4-431F-9D17-D85B-9E62C7F718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757" y="2838748"/>
            <a:ext cx="23336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1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65254-F168-6883-249E-75F0B3296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6D5E1C-E35A-CCB7-6292-258DD547F9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466DAB3-0433-4CBD-6C9F-C467C7E6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Introduction to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B0680C-099F-A304-A1F0-26C85D6D5E31}"/>
              </a:ext>
            </a:extLst>
          </p:cNvPr>
          <p:cNvSpPr txBox="1"/>
          <p:nvPr/>
        </p:nvSpPr>
        <p:spPr>
          <a:xfrm>
            <a:off x="313267" y="109401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Stride prefetcher</a:t>
            </a:r>
            <a:r>
              <a:rPr lang="en-US" altLang="zh-CN" sz="4000" dirty="0"/>
              <a:t>: learn a </a:t>
            </a:r>
            <a:r>
              <a:rPr lang="en-US" altLang="zh-CN" sz="4000" b="1" dirty="0">
                <a:solidFill>
                  <a:srgbClr val="C00000"/>
                </a:solidFill>
              </a:rPr>
              <a:t>stride</a:t>
            </a:r>
            <a:r>
              <a:rPr lang="en-US" altLang="zh-CN" sz="4000" dirty="0"/>
              <a:t> from access history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15B0EA-617B-A3AC-D1CF-7574C774E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570" y="3558975"/>
            <a:ext cx="1257300" cy="1257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6CCEA04-4FD4-3FC7-1E04-1E4DFA7A22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06" y="3558975"/>
            <a:ext cx="2743200" cy="12573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0235332-D4DF-5B61-2066-4D294D0DD9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081" y="3558975"/>
            <a:ext cx="1257300" cy="12573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334CAD1-596D-A70F-5B06-E240B400F4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756" y="2838748"/>
            <a:ext cx="1571625" cy="80962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FDC73F7-369D-2BED-AA21-9BE733E115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87" y="2838747"/>
            <a:ext cx="2333625" cy="80962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0323F4C1-72FE-C595-4C7A-7E25084A27BD}"/>
              </a:ext>
            </a:extLst>
          </p:cNvPr>
          <p:cNvSpPr txBox="1"/>
          <p:nvPr/>
        </p:nvSpPr>
        <p:spPr>
          <a:xfrm>
            <a:off x="4213346" y="4816275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</a:rPr>
              <a:t>Stride = +2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54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BEC25-A5AF-8B31-69B9-88B0565C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5B22C54-058C-2D4F-F85F-C34C7CBE40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DEA2F63-6A03-01C0-B875-3C5DA9A4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Introduction to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49FB3B-9887-56A3-0EAE-AC505616392D}"/>
              </a:ext>
            </a:extLst>
          </p:cNvPr>
          <p:cNvSpPr txBox="1"/>
          <p:nvPr/>
        </p:nvSpPr>
        <p:spPr>
          <a:xfrm>
            <a:off x="313267" y="885728"/>
            <a:ext cx="1159933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Common </a:t>
            </a:r>
            <a:r>
              <a:rPr lang="en-US" altLang="zh-CN" sz="4000" b="1" dirty="0"/>
              <a:t>metrics</a:t>
            </a:r>
            <a:r>
              <a:rPr lang="en-US" altLang="zh-CN" sz="4000" dirty="0"/>
              <a:t> to evaluate a prefetcher: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</a:rPr>
              <a:t>Accuracy</a:t>
            </a:r>
            <a:r>
              <a:rPr lang="en-US" altLang="zh-CN" sz="4000" dirty="0"/>
              <a:t>: useful prefetches among all issued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</a:rPr>
              <a:t>Coverage</a:t>
            </a:r>
            <a:r>
              <a:rPr lang="en-US" altLang="zh-CN" sz="4000" dirty="0"/>
              <a:t>: eliminated cache misses by prefetch among all cache misses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</a:rPr>
              <a:t>Late</a:t>
            </a:r>
            <a:r>
              <a:rPr lang="en-US" altLang="zh-CN" sz="4000" dirty="0"/>
              <a:t>: prefetches that are late (data are already accessed when the prefetch is issued)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chemeClr val="accent3">
                    <a:lumMod val="50000"/>
                  </a:schemeClr>
                </a:solidFill>
              </a:rPr>
              <a:t>Degree</a:t>
            </a:r>
            <a:r>
              <a:rPr lang="en-US" altLang="zh-CN" sz="4000" dirty="0"/>
              <a:t>: prefetch block number on each issue (next-line of next-N-line)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303912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CCD1D-8E83-76DD-0A75-3385B5811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98E23BD-10E5-F3EB-FEF1-6B036F2E78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82FECB1-68CF-59BF-D5B5-8FBF370B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Introduction to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FFFF2C-9EA7-D952-3563-FDEB3856B659}"/>
              </a:ext>
            </a:extLst>
          </p:cNvPr>
          <p:cNvSpPr txBox="1"/>
          <p:nvPr/>
        </p:nvSpPr>
        <p:spPr>
          <a:xfrm>
            <a:off x="313267" y="1094014"/>
            <a:ext cx="115993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Delta prefetching</a:t>
            </a:r>
            <a:r>
              <a:rPr lang="en-US" altLang="zh-CN" sz="4000" dirty="0"/>
              <a:t>: for </a:t>
            </a:r>
            <a:r>
              <a:rPr lang="en-US" altLang="zh-CN" sz="4000" b="1" dirty="0">
                <a:solidFill>
                  <a:srgbClr val="C00000"/>
                </a:solidFill>
              </a:rPr>
              <a:t>irregular pattern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Stride: difference between </a:t>
            </a:r>
            <a:r>
              <a:rPr lang="en-US" altLang="zh-CN" sz="4000" b="1" dirty="0">
                <a:solidFill>
                  <a:srgbClr val="C00000"/>
                </a:solidFill>
              </a:rPr>
              <a:t>current</a:t>
            </a:r>
            <a:r>
              <a:rPr lang="en-US" altLang="zh-CN" sz="4000" dirty="0"/>
              <a:t> and </a:t>
            </a:r>
            <a:r>
              <a:rPr lang="en-US" altLang="zh-CN" sz="4000" b="1" dirty="0">
                <a:solidFill>
                  <a:srgbClr val="C00000"/>
                </a:solidFill>
              </a:rPr>
              <a:t>last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b="1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BB4BB7-E591-3982-8C03-22B7985602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108" y="2682318"/>
            <a:ext cx="58102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3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54D52-2E71-394D-3826-DDF3D118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046811E-D9EC-C677-DC7D-41C633B205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14C909-41C0-8BD9-DFAA-82AC6914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Introduction to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6EFD6C-0E9B-457E-BD1A-CB9B3117B32E}"/>
              </a:ext>
            </a:extLst>
          </p:cNvPr>
          <p:cNvSpPr txBox="1"/>
          <p:nvPr/>
        </p:nvSpPr>
        <p:spPr>
          <a:xfrm>
            <a:off x="313267" y="1094014"/>
            <a:ext cx="115993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Delta prefetching</a:t>
            </a:r>
            <a:r>
              <a:rPr lang="en-US" altLang="zh-CN" sz="4000" dirty="0"/>
              <a:t>: for </a:t>
            </a:r>
            <a:r>
              <a:rPr lang="en-US" altLang="zh-CN" sz="4000" b="1" dirty="0">
                <a:solidFill>
                  <a:srgbClr val="C00000"/>
                </a:solidFill>
              </a:rPr>
              <a:t>irregular pattern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Delta: difference between </a:t>
            </a:r>
            <a:r>
              <a:rPr lang="en-US" altLang="zh-CN" sz="4000" b="1" dirty="0">
                <a:solidFill>
                  <a:srgbClr val="C00000"/>
                </a:solidFill>
              </a:rPr>
              <a:t>current</a:t>
            </a:r>
            <a:r>
              <a:rPr lang="en-US" altLang="zh-CN" sz="4000" dirty="0"/>
              <a:t> and </a:t>
            </a:r>
            <a:r>
              <a:rPr lang="en-US" altLang="zh-CN" sz="4000" b="1" dirty="0">
                <a:solidFill>
                  <a:srgbClr val="C00000"/>
                </a:solidFill>
              </a:rPr>
              <a:t>all previous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31A9A9E-A779-03EC-E338-60740E278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233" y="2352675"/>
            <a:ext cx="53340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2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ACABB-F2EC-1F6B-5ED0-CE4C8E75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57C5AA6-F9E3-DB10-323E-782D3720F9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2C8A133-C82C-6EE4-0934-22903FD93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Introduction to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9795C6-4B47-8917-7831-7DA6595E16C4}"/>
              </a:ext>
            </a:extLst>
          </p:cNvPr>
          <p:cNvSpPr txBox="1"/>
          <p:nvPr/>
        </p:nvSpPr>
        <p:spPr>
          <a:xfrm>
            <a:off x="313267" y="1094014"/>
            <a:ext cx="115993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Delta prefetching</a:t>
            </a:r>
            <a:r>
              <a:rPr lang="en-US" altLang="zh-CN" sz="4000" dirty="0"/>
              <a:t>: for </a:t>
            </a:r>
            <a:r>
              <a:rPr lang="en-US" altLang="zh-CN" sz="4000" b="1" dirty="0">
                <a:solidFill>
                  <a:srgbClr val="C00000"/>
                </a:solidFill>
              </a:rPr>
              <a:t>irregular pattern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Delta: difference between </a:t>
            </a:r>
            <a:r>
              <a:rPr lang="en-US" altLang="zh-CN" sz="4000" b="1" dirty="0">
                <a:solidFill>
                  <a:srgbClr val="C00000"/>
                </a:solidFill>
              </a:rPr>
              <a:t>current</a:t>
            </a:r>
            <a:r>
              <a:rPr lang="en-US" altLang="zh-CN" sz="4000" dirty="0"/>
              <a:t> and </a:t>
            </a:r>
            <a:r>
              <a:rPr lang="en-US" altLang="zh-CN" sz="4000" b="1" dirty="0">
                <a:solidFill>
                  <a:srgbClr val="C00000"/>
                </a:solidFill>
              </a:rPr>
              <a:t>all previous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DD77BF-4EF6-263E-3958-495A7BA50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195" y="3033006"/>
            <a:ext cx="59340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05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9C0A-DDFC-A1B2-2CCB-2D5E165C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23DEDE6-54EB-FE38-4819-360686A16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853C8A3-B769-30DE-7F0B-E4512380F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Introduction to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80104F-FDC6-FD60-6077-1F839C954264}"/>
              </a:ext>
            </a:extLst>
          </p:cNvPr>
          <p:cNvSpPr txBox="1"/>
          <p:nvPr/>
        </p:nvSpPr>
        <p:spPr>
          <a:xfrm>
            <a:off x="313267" y="1094014"/>
            <a:ext cx="115993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Timeliness</a:t>
            </a:r>
            <a:r>
              <a:rPr lang="en-US" altLang="zh-CN" sz="4000" dirty="0"/>
              <a:t>: why prefetches are late?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Access interval</a:t>
            </a:r>
            <a:r>
              <a:rPr lang="en-US" altLang="zh-CN" sz="4000" dirty="0"/>
              <a:t> is less than </a:t>
            </a:r>
            <a:r>
              <a:rPr lang="en-US" altLang="zh-CN" sz="4000" b="1" dirty="0">
                <a:solidFill>
                  <a:srgbClr val="C00000"/>
                </a:solidFill>
              </a:rPr>
              <a:t>fetch latency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BD8CB6-1D10-DDBD-2D48-2DD20016F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50"/>
          <a:stretch/>
        </p:blipFill>
        <p:spPr>
          <a:xfrm>
            <a:off x="3051391" y="2907241"/>
            <a:ext cx="5524500" cy="12239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CC26D46-8612-375D-1B58-5A544E12EF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427" y="3950759"/>
            <a:ext cx="2209800" cy="8763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9733443-7FE1-13A9-AB39-37276C5CD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253" y="4784209"/>
            <a:ext cx="1762125" cy="14097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76F2953-AF22-179C-431E-75059DFF9B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702" y="4679295"/>
            <a:ext cx="295275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2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93CDA-E48F-86BF-2B85-0EC37C30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8797347-2CBF-55B0-93B7-8AD96F2B9D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41556FA-6E35-AD41-374A-51009937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Introduction to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6CD776-A53A-7DEB-C137-32A0C6AC65A7}"/>
              </a:ext>
            </a:extLst>
          </p:cNvPr>
          <p:cNvSpPr txBox="1"/>
          <p:nvPr/>
        </p:nvSpPr>
        <p:spPr>
          <a:xfrm>
            <a:off x="313267" y="1094014"/>
            <a:ext cx="115993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Timeliness</a:t>
            </a:r>
            <a:r>
              <a:rPr lang="en-US" altLang="zh-CN" sz="4000" dirty="0"/>
              <a:t>: take latency into consideration</a:t>
            </a:r>
            <a:endParaRPr lang="en-US" altLang="zh-CN" sz="4000" b="1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4F349D-4EFB-2FDB-8C16-ACB8DB8F9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2986087"/>
            <a:ext cx="1190625" cy="15716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48BD175-4790-B88F-6D5F-EFBE16C411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0" y="2986087"/>
            <a:ext cx="5524500" cy="8858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07BF0EE-50BD-FEAE-C9A5-57DC4D0D25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726" y="3692701"/>
            <a:ext cx="3333750" cy="12573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636F6F-4AC9-128E-D9BD-E8B53D729A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663" y="2986087"/>
            <a:ext cx="809625" cy="80962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AB979ED-51B3-315E-181C-C8A7B087E3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956" y="4440546"/>
            <a:ext cx="295275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5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4DD30-F9AD-C014-70D5-24A9B5131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78B6757-D051-F310-092B-74B8C5E7FC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EA4F166-6FB4-D0E1-DA71-2517C538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3743B4-4769-086E-E444-CFF99E6BF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01" y="2077564"/>
            <a:ext cx="9604397" cy="30869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0325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D98A6-9936-75D0-D0D5-9D6AF94D7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8633B9B-D1F9-0434-336B-4858026E90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D7E3E1A-6AAD-2170-C705-881865A3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903477-7E2D-8A6E-9521-4029176A1B79}"/>
              </a:ext>
            </a:extLst>
          </p:cNvPr>
          <p:cNvSpPr txBox="1"/>
          <p:nvPr/>
        </p:nvSpPr>
        <p:spPr>
          <a:xfrm>
            <a:off x="313267" y="1094014"/>
            <a:ext cx="115993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Hyperion</a:t>
            </a:r>
            <a:r>
              <a:rPr lang="en-US" altLang="zh-CN" sz="4000" dirty="0"/>
              <a:t>: timely local-delta based L1D prefetcher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Records access history and timely delta for each individual </a:t>
            </a:r>
            <a:r>
              <a:rPr lang="en-US" altLang="zh-CN" sz="4000" b="1" dirty="0">
                <a:solidFill>
                  <a:srgbClr val="C00000"/>
                </a:solidFill>
              </a:rPr>
              <a:t>PC and page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2219863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1FF6D-5F83-33D9-50D7-121D768DF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6CE8501-B840-882C-D171-ECA1BA7BE9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EEA86B-2825-C3CC-0DC6-48DE85AE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C5188B-9335-9447-2456-37539D22FB0F}"/>
              </a:ext>
            </a:extLst>
          </p:cNvPr>
          <p:cNvSpPr txBox="1"/>
          <p:nvPr/>
        </p:nvSpPr>
        <p:spPr>
          <a:xfrm>
            <a:off x="313267" y="1094014"/>
            <a:ext cx="115993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History</a:t>
            </a:r>
            <a:r>
              <a:rPr lang="en-US" altLang="zh-CN" sz="4000" dirty="0"/>
              <a:t>: record </a:t>
            </a:r>
            <a:r>
              <a:rPr lang="en-US" altLang="zh-CN" sz="4000" b="1" dirty="0">
                <a:solidFill>
                  <a:srgbClr val="C00000"/>
                </a:solidFill>
              </a:rPr>
              <a:t>recent potential misses</a:t>
            </a:r>
            <a:r>
              <a:rPr lang="en-US" altLang="zh-CN" sz="4000" dirty="0"/>
              <a:t> with their access timestamp</a:t>
            </a:r>
            <a:endParaRPr lang="en-US" altLang="zh-CN" sz="4000" b="1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DB0950-6DF5-403D-8B11-04CBA1A1F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375" y="2540933"/>
            <a:ext cx="4961250" cy="322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30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5AB8A-57EB-7101-D0CE-E927DA931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2157A25-5D42-B982-A5CA-A1D4C94B1A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4698A88-DBCC-7B21-4FB2-EF03CBD3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F58AB6-C9E1-FEFD-8AE7-AC571A002A20}"/>
              </a:ext>
            </a:extLst>
          </p:cNvPr>
          <p:cNvSpPr txBox="1"/>
          <p:nvPr/>
        </p:nvSpPr>
        <p:spPr>
          <a:xfrm>
            <a:off x="313267" y="1094014"/>
            <a:ext cx="115993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Delta</a:t>
            </a:r>
            <a:r>
              <a:rPr lang="en-US" altLang="zh-CN" sz="4000" dirty="0"/>
              <a:t>: record </a:t>
            </a:r>
            <a:r>
              <a:rPr lang="en-US" altLang="zh-CN" sz="4000" b="1" dirty="0">
                <a:solidFill>
                  <a:srgbClr val="C00000"/>
                </a:solidFill>
              </a:rPr>
              <a:t>recently occurred timely </a:t>
            </a:r>
            <a:r>
              <a:rPr lang="en-US" altLang="zh-CN" sz="4000" dirty="0"/>
              <a:t>with their confidence (total counter + local counter)</a:t>
            </a:r>
            <a:endParaRPr lang="en-US" altLang="zh-CN" sz="4000" b="1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0ACFFD-85FD-1EBD-5EE1-4F699473B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448" y="2701281"/>
            <a:ext cx="5101104" cy="331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34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D5F0-7C44-D9AB-CA03-690002C9E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0D972F3-C635-A5F1-DC00-1015B6649A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4532A2B-587C-54DB-C3A9-561E4781D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4DF13B-9851-D2B0-689B-6FBB159537E1}"/>
              </a:ext>
            </a:extLst>
          </p:cNvPr>
          <p:cNvSpPr txBox="1"/>
          <p:nvPr/>
        </p:nvSpPr>
        <p:spPr>
          <a:xfrm>
            <a:off x="313267" y="1094014"/>
            <a:ext cx="115993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Record for PCs and pages</a:t>
            </a:r>
            <a:endParaRPr lang="en-US" altLang="zh-CN" sz="4000" b="1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DAEB57-E175-9D4F-0E8E-AB1AC5416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081" y="2349082"/>
            <a:ext cx="3785100" cy="245897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5AF8135-58A4-645B-98E5-E90FE43B39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492" y="2349081"/>
            <a:ext cx="3785101" cy="24589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6AA9EDB-42B5-92CC-3714-D70C0867BE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654" y="4808054"/>
            <a:ext cx="4494314" cy="79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05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8042E-4C8F-3B51-AB11-0421E68A1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642799D-6729-D521-7488-1FFA5EB168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D429E20-B9E3-C30A-6063-388D449A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0F1802-E215-2F92-C462-AB5BDDE8F2C9}"/>
              </a:ext>
            </a:extLst>
          </p:cNvPr>
          <p:cNvSpPr txBox="1"/>
          <p:nvPr/>
        </p:nvSpPr>
        <p:spPr>
          <a:xfrm>
            <a:off x="313267" y="1094014"/>
            <a:ext cx="115993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Working flow</a:t>
            </a:r>
            <a:endParaRPr lang="en-US" altLang="zh-CN" sz="4000" b="1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1E51BA4-7219-FFEC-042A-1693ECAC0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044" y="1719280"/>
            <a:ext cx="7521187" cy="178585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DBE9382-A0F7-E7C8-5090-99626842F6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911" y="4251977"/>
            <a:ext cx="3874044" cy="9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2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149CE-2ECE-FE6B-BE64-4A0E31C91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1E55CEA-99F9-D540-1CD7-472C739EF6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FB2FB2E-ADBB-51D5-E552-69BCF4610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432A5A-9808-A8D9-EBBF-2E8071474DAD}"/>
              </a:ext>
            </a:extLst>
          </p:cNvPr>
          <p:cNvSpPr txBox="1"/>
          <p:nvPr/>
        </p:nvSpPr>
        <p:spPr>
          <a:xfrm>
            <a:off x="313267" y="1094014"/>
            <a:ext cx="115993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Working flow</a:t>
            </a:r>
            <a:endParaRPr lang="en-US" altLang="zh-CN" sz="4000" b="1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9B8098-9871-51A3-9594-2B940668D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601" y="2209064"/>
            <a:ext cx="8422798" cy="8845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744595F-A918-405C-ACCB-79FB14A8D4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653" y="3627658"/>
            <a:ext cx="3785101" cy="245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08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5602-EB71-8BD5-2CF7-C904C1DF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8C7929F-6FA1-F7D3-6D51-C02335670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712EC7-3DED-C34C-82E2-199C23AD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360F5D-BFD9-357B-8580-90CB059635DD}"/>
              </a:ext>
            </a:extLst>
          </p:cNvPr>
          <p:cNvSpPr txBox="1"/>
          <p:nvPr/>
        </p:nvSpPr>
        <p:spPr>
          <a:xfrm>
            <a:off x="313267" y="1094014"/>
            <a:ext cx="115993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b="1" dirty="0"/>
              <a:t>Working flow</a:t>
            </a:r>
            <a:endParaRPr lang="en-US" altLang="zh-CN" sz="4000" b="1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DE9190-786D-CFD8-CA89-9551C882D2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294" y="2538539"/>
            <a:ext cx="7265411" cy="221611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DFFC79D-C071-DEDE-9D17-71CA4276C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53" y="5096039"/>
            <a:ext cx="3874044" cy="9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004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5602-EB71-8BD5-2CF7-C904C1DF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8C7929F-6FA1-F7D3-6D51-C02335670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712EC7-3DED-C34C-82E2-199C23AD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360F5D-BFD9-357B-8580-90CB059635DD}"/>
              </a:ext>
            </a:extLst>
          </p:cNvPr>
          <p:cNvSpPr txBox="1"/>
          <p:nvPr/>
        </p:nvSpPr>
        <p:spPr>
          <a:xfrm>
            <a:off x="313267" y="1094014"/>
            <a:ext cx="115993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Interfaces in gem5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 err="1">
                <a:latin typeface="Consolas" panose="020B0609020204030204" pitchFamily="49" charset="0"/>
              </a:rPr>
              <a:t>calculatePrefetch</a:t>
            </a:r>
            <a:r>
              <a:rPr lang="en-US" altLang="zh-CN" sz="4000" dirty="0">
                <a:latin typeface="Consolas" panose="020B0609020204030204" pitchFamily="49" charset="0"/>
              </a:rPr>
              <a:t>()</a:t>
            </a:r>
            <a:r>
              <a:rPr lang="en-US" altLang="zh-CN" sz="4000" dirty="0"/>
              <a:t>: Called when there is a potential miss (demand miss or hit on prefetch)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 err="1">
                <a:latin typeface="Consolas" panose="020B0609020204030204" pitchFamily="49" charset="0"/>
              </a:rPr>
              <a:t>notifyFill</a:t>
            </a:r>
            <a:r>
              <a:rPr lang="en-US" altLang="zh-CN" sz="4000" dirty="0">
                <a:latin typeface="Consolas" panose="020B0609020204030204" pitchFamily="49" charset="0"/>
              </a:rPr>
              <a:t>()</a:t>
            </a:r>
            <a:r>
              <a:rPr lang="en-US" altLang="zh-CN" sz="4000" dirty="0"/>
              <a:t>: Called when data are filled into cache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B8D8888-AB29-40CF-A714-D6AFD903E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32" y="4185699"/>
            <a:ext cx="11590135" cy="157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343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5602-EB71-8BD5-2CF7-C904C1DF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3BB5A9F9-0B04-49FF-A211-E43F6A794A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63" y="4061614"/>
            <a:ext cx="5927893" cy="1685438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8C7929F-6FA1-F7D3-6D51-C02335670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712EC7-3DED-C34C-82E2-199C23AD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360F5D-BFD9-357B-8580-90CB059635DD}"/>
              </a:ext>
            </a:extLst>
          </p:cNvPr>
          <p:cNvSpPr txBox="1"/>
          <p:nvPr/>
        </p:nvSpPr>
        <p:spPr>
          <a:xfrm>
            <a:off x="313267" y="109401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 err="1">
                <a:latin typeface="Consolas" panose="020B0609020204030204" pitchFamily="49" charset="0"/>
              </a:rPr>
              <a:t>PrefetchInfo</a:t>
            </a:r>
            <a:endParaRPr lang="en-US" altLang="zh-CN" sz="4000" dirty="0">
              <a:latin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A361C6-E722-40D5-A1F3-3357409D81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63" y="2361982"/>
            <a:ext cx="5927894" cy="17094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669349-04EB-4805-A059-1E5CB47384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132" y="2121213"/>
            <a:ext cx="5927893" cy="383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00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5602-EB71-8BD5-2CF7-C904C1DF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8C7929F-6FA1-F7D3-6D51-C02335670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712EC7-3DED-C34C-82E2-199C23AD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360F5D-BFD9-357B-8580-90CB059635DD}"/>
              </a:ext>
            </a:extLst>
          </p:cNvPr>
          <p:cNvSpPr txBox="1"/>
          <p:nvPr/>
        </p:nvSpPr>
        <p:spPr>
          <a:xfrm>
            <a:off x="313267" y="109401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 err="1">
                <a:latin typeface="Consolas" panose="020B0609020204030204" pitchFamily="49" charset="0"/>
              </a:rPr>
              <a:t>CacheAccessor</a:t>
            </a:r>
            <a:endParaRPr lang="en-US" altLang="zh-CN" sz="4000" dirty="0">
              <a:latin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D2C2F3-1A7F-4ECA-918C-1EF3F7FA2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395" y="1876218"/>
            <a:ext cx="9203209" cy="161293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A86B27A-D5C2-4B97-8C6C-F2DD032AFEE9}"/>
              </a:ext>
            </a:extLst>
          </p:cNvPr>
          <p:cNvSpPr txBox="1"/>
          <p:nvPr/>
        </p:nvSpPr>
        <p:spPr>
          <a:xfrm>
            <a:off x="313267" y="3489152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 err="1">
                <a:latin typeface="Consolas" panose="020B0609020204030204" pitchFamily="49" charset="0"/>
              </a:rPr>
              <a:t>CacheAccessProbeArg</a:t>
            </a:r>
            <a:endParaRPr lang="en-US" altLang="zh-CN" sz="4000" dirty="0">
              <a:latin typeface="Consolas" panose="020B0609020204030204" pitchFamily="49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913BA72-255F-4DDA-8D4D-37E4EAC18E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143" y="4198603"/>
            <a:ext cx="6473714" cy="195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85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5602-EB71-8BD5-2CF7-C904C1DF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8C7929F-6FA1-F7D3-6D51-C02335670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712EC7-3DED-C34C-82E2-199C23AD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360F5D-BFD9-357B-8580-90CB059635DD}"/>
              </a:ext>
            </a:extLst>
          </p:cNvPr>
          <p:cNvSpPr txBox="1"/>
          <p:nvPr/>
        </p:nvSpPr>
        <p:spPr>
          <a:xfrm>
            <a:off x="313267" y="109401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Timestamp: </a:t>
            </a:r>
            <a:r>
              <a:rPr lang="en-US" altLang="zh-CN" sz="4000" dirty="0" err="1">
                <a:latin typeface="Consolas" panose="020B0609020204030204" pitchFamily="49" charset="0"/>
              </a:rPr>
              <a:t>curTick</a:t>
            </a:r>
            <a:r>
              <a:rPr lang="en-US" altLang="zh-CN" sz="400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86B27A-D5C2-4B97-8C6C-F2DD032AFEE9}"/>
              </a:ext>
            </a:extLst>
          </p:cNvPr>
          <p:cNvSpPr txBox="1"/>
          <p:nvPr/>
        </p:nvSpPr>
        <p:spPr>
          <a:xfrm>
            <a:off x="313267" y="292878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 err="1">
                <a:latin typeface="Consolas" panose="020B0609020204030204" pitchFamily="49" charset="0"/>
              </a:rPr>
              <a:t>isHWPrefetch</a:t>
            </a:r>
            <a:r>
              <a:rPr lang="en-US" altLang="zh-CN" sz="4000" dirty="0">
                <a:latin typeface="Consolas" panose="020B0609020204030204" pitchFamily="49" charset="0"/>
              </a:rPr>
              <a:t>() </a:t>
            </a:r>
            <a:r>
              <a:rPr lang="en-US" altLang="zh-CN" sz="4000" dirty="0">
                <a:solidFill>
                  <a:srgbClr val="FF0000"/>
                </a:solidFill>
              </a:rPr>
              <a:t>bug?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3AC093-2945-42B1-BFB7-242F9DC72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267" y="2236598"/>
            <a:ext cx="3530781" cy="69218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B2D1A0A-F108-4645-9380-2A6FEAAFB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015" y="4141992"/>
            <a:ext cx="2597283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77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5602-EB71-8BD5-2CF7-C904C1DF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8C7929F-6FA1-F7D3-6D51-C02335670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712EC7-3DED-C34C-82E2-199C23AD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360F5D-BFD9-357B-8580-90CB059635DD}"/>
              </a:ext>
            </a:extLst>
          </p:cNvPr>
          <p:cNvSpPr txBox="1"/>
          <p:nvPr/>
        </p:nvSpPr>
        <p:spPr>
          <a:xfrm>
            <a:off x="313267" y="1094014"/>
            <a:ext cx="11599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Examples: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0D6D57-C422-4225-97BA-671F119C0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533" y="883892"/>
            <a:ext cx="6426200" cy="28194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427DFEC-0389-408D-872C-7AA14E2776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03" y="3572933"/>
            <a:ext cx="5979290" cy="276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72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5602-EB71-8BD5-2CF7-C904C1DF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8C7929F-6FA1-F7D3-6D51-C02335670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712EC7-3DED-C34C-82E2-199C23AD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360F5D-BFD9-357B-8580-90CB059635DD}"/>
              </a:ext>
            </a:extLst>
          </p:cNvPr>
          <p:cNvSpPr txBox="1"/>
          <p:nvPr/>
        </p:nvSpPr>
        <p:spPr>
          <a:xfrm>
            <a:off x="313267" y="1094014"/>
            <a:ext cx="115993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Tips: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Use block base address </a:t>
            </a:r>
            <a:r>
              <a:rPr lang="en-US" altLang="zh-CN" sz="4000" b="1" dirty="0">
                <a:solidFill>
                  <a:srgbClr val="C00000"/>
                </a:solidFill>
              </a:rPr>
              <a:t>everywhere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Record more information (e.g., PC of </a:t>
            </a:r>
            <a:r>
              <a:rPr lang="en-US" altLang="zh-CN" sz="4000"/>
              <a:t>every access)</a:t>
            </a:r>
            <a:endParaRPr lang="en-US" altLang="zh-CN" sz="40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Use larger degree (paper uses 1)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Use lower threshold</a:t>
            </a:r>
            <a:endParaRPr lang="en-US" altLang="zh-CN" sz="40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B516C99-ECD2-4F11-B6B3-29C5F59DFA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5" t="39952" r="25373" b="49017"/>
          <a:stretch/>
        </p:blipFill>
        <p:spPr>
          <a:xfrm>
            <a:off x="7481019" y="1371601"/>
            <a:ext cx="4431581" cy="31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55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5602-EB71-8BD5-2CF7-C904C1DF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8C7929F-6FA1-F7D3-6D51-C02335670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712EC7-3DED-C34C-82E2-199C23AD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Part 3: Implement cache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360F5D-BFD9-357B-8580-90CB059635DD}"/>
              </a:ext>
            </a:extLst>
          </p:cNvPr>
          <p:cNvSpPr txBox="1"/>
          <p:nvPr/>
        </p:nvSpPr>
        <p:spPr>
          <a:xfrm>
            <a:off x="313267" y="1094014"/>
            <a:ext cx="115993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Features not required: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Lat/TS in cache/MSHR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Unified tables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Prefetch buffer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Cache level selection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A998C2-353C-4E28-98D3-F1B941F81B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249" y="891295"/>
            <a:ext cx="5920658" cy="328090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68C98A7-2B9A-4353-80A5-D1552BAB0113}"/>
              </a:ext>
            </a:extLst>
          </p:cNvPr>
          <p:cNvSpPr/>
          <p:nvPr/>
        </p:nvSpPr>
        <p:spPr>
          <a:xfrm>
            <a:off x="7350826" y="1126617"/>
            <a:ext cx="336468" cy="625433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8CE518-7729-47AE-A471-7CE893E5E3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249" y="4432196"/>
            <a:ext cx="5917206" cy="166669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9641BFD-F0EE-47BA-B166-12019ED243AE}"/>
              </a:ext>
            </a:extLst>
          </p:cNvPr>
          <p:cNvSpPr/>
          <p:nvPr/>
        </p:nvSpPr>
        <p:spPr>
          <a:xfrm>
            <a:off x="8524503" y="1164222"/>
            <a:ext cx="336468" cy="625433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012011-27CB-4A5D-B7D7-7475F71B1DA5}"/>
              </a:ext>
            </a:extLst>
          </p:cNvPr>
          <p:cNvSpPr/>
          <p:nvPr/>
        </p:nvSpPr>
        <p:spPr>
          <a:xfrm>
            <a:off x="8603672" y="2042776"/>
            <a:ext cx="336468" cy="625433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56880F-8AF0-439F-A773-5578D28A0E2E}"/>
              </a:ext>
            </a:extLst>
          </p:cNvPr>
          <p:cNvSpPr/>
          <p:nvPr/>
        </p:nvSpPr>
        <p:spPr>
          <a:xfrm>
            <a:off x="10721439" y="2042775"/>
            <a:ext cx="1157294" cy="1282316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CBD679-5AA6-4AE0-9CA6-65EB0FCF014D}"/>
              </a:ext>
            </a:extLst>
          </p:cNvPr>
          <p:cNvSpPr/>
          <p:nvPr/>
        </p:nvSpPr>
        <p:spPr>
          <a:xfrm>
            <a:off x="10351325" y="3388427"/>
            <a:ext cx="1721922" cy="691854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A24286-EB1D-407D-BD04-CF7F8201AEEF}"/>
              </a:ext>
            </a:extLst>
          </p:cNvPr>
          <p:cNvSpPr/>
          <p:nvPr/>
        </p:nvSpPr>
        <p:spPr>
          <a:xfrm>
            <a:off x="7200405" y="3938743"/>
            <a:ext cx="2470068" cy="185953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B0A5CC-3B01-43E0-A168-5373D0CF70F6}"/>
              </a:ext>
            </a:extLst>
          </p:cNvPr>
          <p:cNvSpPr/>
          <p:nvPr/>
        </p:nvSpPr>
        <p:spPr>
          <a:xfrm>
            <a:off x="6792686" y="5575684"/>
            <a:ext cx="1595252" cy="290726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66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7215-5B08-9DF0-DB63-C68CFD1A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A01487C-FF7B-BEAD-F0EC-99DF047169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2285" y="6450806"/>
            <a:ext cx="6828588" cy="407195"/>
          </a:xfrm>
        </p:spPr>
        <p:txBody>
          <a:bodyPr/>
          <a:lstStyle/>
          <a:p>
            <a:r>
              <a:rPr lang="en-US" altLang="zh-CN" dirty="0"/>
              <a:t>Ishii, Y., Inaba, M., &amp; Hiraki, K. (2011). Access Map Pattern Matching for High Performance Data Cache Prefetch. J. Instr. Level Parallelism, 13.</a:t>
            </a: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2AE16C5-F03E-890B-D1C5-EA0205978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AMPM prefetcher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4C7CC6-7F84-A6D8-9A24-5DBC538121F9}"/>
              </a:ext>
            </a:extLst>
          </p:cNvPr>
          <p:cNvSpPr txBox="1"/>
          <p:nvPr/>
        </p:nvSpPr>
        <p:spPr>
          <a:xfrm>
            <a:off x="313267" y="1094014"/>
            <a:ext cx="115993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4000" dirty="0"/>
              <a:t>Calculating useful strides from access history</a:t>
            </a:r>
            <a:endParaRPr lang="en-US" altLang="zh-CN" sz="4000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4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008D91-07A9-C0D3-ED8F-2E36AC856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917" y="2821367"/>
            <a:ext cx="3796788" cy="210868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673B72B-D7B4-0324-684E-993B7E12A9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911763"/>
            <a:ext cx="3632841" cy="181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04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CAMELab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A7EA52"/>
      </a:accent2>
      <a:accent3>
        <a:srgbClr val="5DCEAF"/>
      </a:accent3>
      <a:accent4>
        <a:srgbClr val="FF00F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自定义 4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657</Words>
  <Application>Microsoft Macintosh PowerPoint</Application>
  <PresentationFormat>Widescreen</PresentationFormat>
  <Paragraphs>136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等线</vt:lpstr>
      <vt:lpstr>맑은 고딕</vt:lpstr>
      <vt:lpstr>Noto Sans CJK KR Black</vt:lpstr>
      <vt:lpstr>Arial</vt:lpstr>
      <vt:lpstr>Calibri</vt:lpstr>
      <vt:lpstr>Consolas</vt:lpstr>
      <vt:lpstr>Impact</vt:lpstr>
      <vt:lpstr>Wingdings</vt:lpstr>
      <vt:lpstr>Office 테마</vt:lpstr>
      <vt:lpstr>디자인 사용자 지정</vt:lpstr>
      <vt:lpstr>Computer Architecture Fall 2024  Lab 3 review</vt:lpstr>
      <vt:lpstr>How to debug?</vt:lpstr>
      <vt:lpstr>Lab 3 information</vt:lpstr>
      <vt:lpstr>Part 1: Add cache hierarchy</vt:lpstr>
      <vt:lpstr>Part 1: Add cache hierarchy</vt:lpstr>
      <vt:lpstr>Part 2: Add prefetcher to L1D cache</vt:lpstr>
      <vt:lpstr>Introduction to cache prefetcher</vt:lpstr>
      <vt:lpstr>Introduction to cache prefetcher</vt:lpstr>
      <vt:lpstr>Introduction to cache prefetcher</vt:lpstr>
      <vt:lpstr>Introduction to cache prefetcher</vt:lpstr>
      <vt:lpstr>Introduction to cache prefetcher</vt:lpstr>
      <vt:lpstr>Introduction to cache prefetcher</vt:lpstr>
      <vt:lpstr>Introduction to cache prefetcher</vt:lpstr>
      <vt:lpstr>Introduction to cache prefetcher</vt:lpstr>
      <vt:lpstr>Introduction to cache prefetcher</vt:lpstr>
      <vt:lpstr>Introduction to cache prefetcher</vt:lpstr>
      <vt:lpstr>Introduction to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Part 3: Implement cache prefetcher</vt:lpstr>
      <vt:lpstr>AMPM prefetcher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Fall 2024  Lab 2 &amp; 3</dc:title>
  <dc:creator>Family ANLIU</dc:creator>
  <cp:lastModifiedBy>刘 沛雨</cp:lastModifiedBy>
  <cp:revision>159</cp:revision>
  <dcterms:created xsi:type="dcterms:W3CDTF">2024-11-03T03:33:51Z</dcterms:created>
  <dcterms:modified xsi:type="dcterms:W3CDTF">2024-12-15T07:38:10Z</dcterms:modified>
</cp:coreProperties>
</file>