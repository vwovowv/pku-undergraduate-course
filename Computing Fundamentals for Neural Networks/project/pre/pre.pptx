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425" r:id="rId2"/>
    <p:sldId id="448" r:id="rId3"/>
    <p:sldId id="526" r:id="rId4"/>
    <p:sldId id="528" r:id="rId5"/>
    <p:sldId id="545" r:id="rId6"/>
    <p:sldId id="527" r:id="rId7"/>
    <p:sldId id="540" r:id="rId8"/>
    <p:sldId id="541" r:id="rId9"/>
    <p:sldId id="531" r:id="rId10"/>
    <p:sldId id="532" r:id="rId11"/>
    <p:sldId id="542" r:id="rId12"/>
    <p:sldId id="543" r:id="rId13"/>
    <p:sldId id="536" r:id="rId14"/>
    <p:sldId id="544" r:id="rId15"/>
    <p:sldId id="535" r:id="rId16"/>
    <p:sldId id="538" r:id="rId17"/>
    <p:sldId id="533" r:id="rId18"/>
    <p:sldId id="277" r:id="rId19"/>
    <p:sldId id="467" r:id="rId2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D"/>
    <a:srgbClr val="FFE8FF"/>
    <a:srgbClr val="FFAE47"/>
    <a:srgbClr val="FF7E79"/>
    <a:srgbClr val="715FE0"/>
    <a:srgbClr val="A500A5"/>
    <a:srgbClr val="99FFCC"/>
    <a:srgbClr val="032F62"/>
    <a:srgbClr val="D83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/>
    <p:restoredTop sz="81259"/>
  </p:normalViewPr>
  <p:slideViewPr>
    <p:cSldViewPr snapToGrid="0" snapToObjects="1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2025/6/7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72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8934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6368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816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7595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3222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4230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385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1290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4472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0409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390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650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2567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2558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71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39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wOvOwv/TTFS-PyTorch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84244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/>
              <a:t>Time-to-First-Spike Identity Mapping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79968-1EC6-8E4D-9322-3A0545372D51}"/>
              </a:ext>
            </a:extLst>
          </p:cNvPr>
          <p:cNvSpPr txBox="1"/>
          <p:nvPr/>
        </p:nvSpPr>
        <p:spPr>
          <a:xfrm>
            <a:off x="5460248" y="3583357"/>
            <a:ext cx="12715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dirty="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刘沛雨</a:t>
            </a:r>
            <a:endParaRPr kumimoji="1" lang="en-US" altLang="zh-CN" sz="24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algn="ctr"/>
            <a:endParaRPr kumimoji="1" lang="en-US" altLang="zh-CN" sz="24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2400" dirty="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2025.6.8</a:t>
            </a:r>
            <a:endParaRPr kumimoji="1" lang="zh-CN" altLang="en-US" sz="24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Outline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6B7C4-301B-EC44-9432-0558C55E4E1B}"/>
              </a:ext>
            </a:extLst>
          </p:cNvPr>
          <p:cNvSpPr txBox="1"/>
          <p:nvPr/>
        </p:nvSpPr>
        <p:spPr>
          <a:xfrm>
            <a:off x="325821" y="1048925"/>
            <a:ext cx="5995466" cy="522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Background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Rate coding &amp; temporal coding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SNN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Methods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Time-to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-first-spike (TTFS) coding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Two-stage integrate-and-fire (IF) neuron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Identity mapping between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ReLU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and TTFS Neuron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Gradient flow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Results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Reproduction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Discussion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32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624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How spikes encode information?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Background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0F70AA-2C88-4241-AAA6-C3BA46BA4D98}"/>
              </a:ext>
            </a:extLst>
          </p:cNvPr>
          <p:cNvSpPr txBox="1"/>
          <p:nvPr/>
        </p:nvSpPr>
        <p:spPr>
          <a:xfrm>
            <a:off x="325821" y="1129766"/>
            <a:ext cx="4886851" cy="2173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/>
              <a:t>Spike itself does not contain any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Every spike looks similar in shape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>
                <a:solidFill>
                  <a:srgbClr val="FF0000"/>
                </a:solidFill>
              </a:rPr>
              <a:t>Frequency</a:t>
            </a:r>
            <a:r>
              <a:rPr kumimoji="1" lang="en-US" altLang="zh-CN"/>
              <a:t> </a:t>
            </a:r>
            <a:r>
              <a:rPr kumimoji="1" lang="en-US" altLang="zh-CN" dirty="0"/>
              <a:t>and </a:t>
            </a:r>
            <a:r>
              <a:rPr kumimoji="1" lang="en-US" altLang="zh-CN" dirty="0">
                <a:solidFill>
                  <a:srgbClr val="FF0000"/>
                </a:solidFill>
              </a:rPr>
              <a:t>timing</a:t>
            </a:r>
            <a:r>
              <a:rPr kumimoji="1" lang="en-US" altLang="zh-CN" dirty="0"/>
              <a:t> are important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800" dirty="0"/>
              <a:t>Through frequency – </a:t>
            </a:r>
            <a:r>
              <a:rPr kumimoji="1" lang="en-US" altLang="zh-CN" sz="1800" i="1" dirty="0"/>
              <a:t>rate coding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800" dirty="0"/>
              <a:t>Through timing – </a:t>
            </a:r>
            <a:r>
              <a:rPr kumimoji="1" lang="en-US" altLang="zh-CN" sz="1800" i="1" dirty="0"/>
              <a:t>temporal coding</a:t>
            </a:r>
            <a:endParaRPr kumimoji="1" lang="zh-CN" altLang="en-US" dirty="0"/>
          </a:p>
        </p:txBody>
      </p:sp>
      <p:pic>
        <p:nvPicPr>
          <p:cNvPr id="1034" name="Picture 10" descr="Image result for lena">
            <a:extLst>
              <a:ext uri="{FF2B5EF4-FFF2-40B4-BE49-F238E27FC236}">
                <a16:creationId xmlns:a16="http://schemas.microsoft.com/office/drawing/2014/main" id="{6E85CE0F-1723-0A46-BC5D-8B0F85344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8" y="3532130"/>
            <a:ext cx="2584940" cy="258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33AD4A-36C6-C049-8ECE-AE3FA883CACB}"/>
              </a:ext>
            </a:extLst>
          </p:cNvPr>
          <p:cNvSpPr/>
          <p:nvPr/>
        </p:nvSpPr>
        <p:spPr>
          <a:xfrm>
            <a:off x="3137969" y="4202295"/>
            <a:ext cx="167939" cy="17584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40FD6B-3757-B94C-8EFB-8EFB035D061D}"/>
              </a:ext>
            </a:extLst>
          </p:cNvPr>
          <p:cNvSpPr/>
          <p:nvPr/>
        </p:nvSpPr>
        <p:spPr>
          <a:xfrm>
            <a:off x="3572867" y="3873416"/>
            <a:ext cx="167939" cy="17584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Picture 10" descr="Image result for lena">
            <a:extLst>
              <a:ext uri="{FF2B5EF4-FFF2-40B4-BE49-F238E27FC236}">
                <a16:creationId xmlns:a16="http://schemas.microsoft.com/office/drawing/2014/main" id="{38F89FD3-6FD1-7E4E-B718-21E47C1647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81" t="25926" r="22222" b="67271"/>
          <a:stretch/>
        </p:blipFill>
        <p:spPr bwMode="auto">
          <a:xfrm>
            <a:off x="5171399" y="4824600"/>
            <a:ext cx="380000" cy="397889"/>
          </a:xfrm>
          <a:prstGeom prst="rect">
            <a:avLst/>
          </a:prstGeom>
          <a:noFill/>
          <a:ln w="25400"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Image result for lena">
            <a:extLst>
              <a:ext uri="{FF2B5EF4-FFF2-40B4-BE49-F238E27FC236}">
                <a16:creationId xmlns:a16="http://schemas.microsoft.com/office/drawing/2014/main" id="{4677C160-EA1A-7F40-964B-336ED490A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05" t="13203" r="5398" b="79994"/>
          <a:stretch/>
        </p:blipFill>
        <p:spPr bwMode="auto">
          <a:xfrm>
            <a:off x="5201308" y="2918307"/>
            <a:ext cx="379996" cy="397889"/>
          </a:xfrm>
          <a:prstGeom prst="rect">
            <a:avLst/>
          </a:prstGeom>
          <a:noFill/>
          <a:ln w="25400"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93EEE71-66A1-E14D-9490-556D226D56C3}"/>
              </a:ext>
            </a:extLst>
          </p:cNvPr>
          <p:cNvSpPr txBox="1"/>
          <p:nvPr/>
        </p:nvSpPr>
        <p:spPr>
          <a:xfrm>
            <a:off x="6869021" y="193360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/>
              <a:t>rate coding</a:t>
            </a:r>
            <a:endParaRPr kumimoji="1" lang="zh-CN" altLang="en-US" sz="20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D66EC4-C2B6-6742-957C-E9F287CEAE20}"/>
              </a:ext>
            </a:extLst>
          </p:cNvPr>
          <p:cNvSpPr txBox="1"/>
          <p:nvPr/>
        </p:nvSpPr>
        <p:spPr>
          <a:xfrm>
            <a:off x="9515253" y="1924956"/>
            <a:ext cx="1883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/>
              <a:t>temporal coding</a:t>
            </a:r>
            <a:endParaRPr kumimoji="1" lang="zh-CN" altLang="en-US" sz="2000" i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24A4EE-3AE5-FF4C-B7C4-0DD13F280F1B}"/>
              </a:ext>
            </a:extLst>
          </p:cNvPr>
          <p:cNvCxnSpPr>
            <a:cxnSpLocks/>
          </p:cNvCxnSpPr>
          <p:nvPr/>
        </p:nvCxnSpPr>
        <p:spPr>
          <a:xfrm>
            <a:off x="6358248" y="3180315"/>
            <a:ext cx="22333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431256-23CE-F048-94D5-D988494E3172}"/>
                  </a:ext>
                </a:extLst>
              </p:cNvPr>
              <p:cNvSpPr txBox="1"/>
              <p:nvPr/>
            </p:nvSpPr>
            <p:spPr>
              <a:xfrm>
                <a:off x="8652585" y="2992576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431256-23CE-F048-94D5-D988494E3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585" y="2992576"/>
                <a:ext cx="3345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E635EA-85BA-E446-9A1A-920132BBFA89}"/>
              </a:ext>
            </a:extLst>
          </p:cNvPr>
          <p:cNvCxnSpPr/>
          <p:nvPr/>
        </p:nvCxnSpPr>
        <p:spPr>
          <a:xfrm flipV="1">
            <a:off x="6717063" y="2864137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BB9919-2B52-4A4B-98F6-8A2392E904F9}"/>
              </a:ext>
            </a:extLst>
          </p:cNvPr>
          <p:cNvCxnSpPr/>
          <p:nvPr/>
        </p:nvCxnSpPr>
        <p:spPr>
          <a:xfrm flipV="1">
            <a:off x="7255701" y="2864137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EDC197-CEF8-7C4D-AFAF-40A3B842E249}"/>
              </a:ext>
            </a:extLst>
          </p:cNvPr>
          <p:cNvCxnSpPr/>
          <p:nvPr/>
        </p:nvCxnSpPr>
        <p:spPr>
          <a:xfrm flipV="1">
            <a:off x="7815606" y="2864137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87ADE1-83DD-5A45-9F69-400CB7693864}"/>
              </a:ext>
            </a:extLst>
          </p:cNvPr>
          <p:cNvCxnSpPr>
            <a:cxnSpLocks/>
          </p:cNvCxnSpPr>
          <p:nvPr/>
        </p:nvCxnSpPr>
        <p:spPr>
          <a:xfrm>
            <a:off x="6366467" y="5049472"/>
            <a:ext cx="2238159" cy="107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B3961D-5F83-1B41-8DC1-09BDF429459B}"/>
                  </a:ext>
                </a:extLst>
              </p:cNvPr>
              <p:cNvSpPr txBox="1"/>
              <p:nvPr/>
            </p:nvSpPr>
            <p:spPr>
              <a:xfrm>
                <a:off x="8679235" y="4864806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B3961D-5F83-1B41-8DC1-09BDF4294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235" y="4864806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DC1282-952D-2942-ABFD-375ED0E02807}"/>
              </a:ext>
            </a:extLst>
          </p:cNvPr>
          <p:cNvCxnSpPr/>
          <p:nvPr/>
        </p:nvCxnSpPr>
        <p:spPr>
          <a:xfrm flipV="1">
            <a:off x="6725282" y="4733294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12FDC5B-97F0-8F4E-AB1F-EB0E37BD39F3}"/>
              </a:ext>
            </a:extLst>
          </p:cNvPr>
          <p:cNvCxnSpPr/>
          <p:nvPr/>
        </p:nvCxnSpPr>
        <p:spPr>
          <a:xfrm flipV="1">
            <a:off x="6907136" y="4739576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27EC78-C93B-8140-A970-D5DA20AF8F90}"/>
              </a:ext>
            </a:extLst>
          </p:cNvPr>
          <p:cNvCxnSpPr/>
          <p:nvPr/>
        </p:nvCxnSpPr>
        <p:spPr>
          <a:xfrm flipV="1">
            <a:off x="7586136" y="4734717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FE12E8E-B9F7-4B4E-841A-6708AED46BA0}"/>
              </a:ext>
            </a:extLst>
          </p:cNvPr>
          <p:cNvCxnSpPr/>
          <p:nvPr/>
        </p:nvCxnSpPr>
        <p:spPr>
          <a:xfrm flipV="1">
            <a:off x="7079097" y="4733294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081C657-A9C7-1B49-80EC-A83321C3DC50}"/>
              </a:ext>
            </a:extLst>
          </p:cNvPr>
          <p:cNvCxnSpPr/>
          <p:nvPr/>
        </p:nvCxnSpPr>
        <p:spPr>
          <a:xfrm flipV="1">
            <a:off x="7214828" y="4733294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1349657-B163-8141-BF91-D5F361AB1D2F}"/>
              </a:ext>
            </a:extLst>
          </p:cNvPr>
          <p:cNvCxnSpPr/>
          <p:nvPr/>
        </p:nvCxnSpPr>
        <p:spPr>
          <a:xfrm flipV="1">
            <a:off x="7407710" y="4733294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0DCEC7C-48D4-814E-8D2A-C0CA11AFF825}"/>
              </a:ext>
            </a:extLst>
          </p:cNvPr>
          <p:cNvCxnSpPr/>
          <p:nvPr/>
        </p:nvCxnSpPr>
        <p:spPr>
          <a:xfrm>
            <a:off x="6167019" y="2864137"/>
            <a:ext cx="20230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29738C1-2DA8-3B44-828F-1DF619883F0A}"/>
              </a:ext>
            </a:extLst>
          </p:cNvPr>
          <p:cNvCxnSpPr/>
          <p:nvPr/>
        </p:nvCxnSpPr>
        <p:spPr>
          <a:xfrm>
            <a:off x="6319419" y="4735588"/>
            <a:ext cx="20230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486F657-0987-6D40-982E-E05EFE21DC44}"/>
              </a:ext>
            </a:extLst>
          </p:cNvPr>
          <p:cNvCxnSpPr>
            <a:cxnSpLocks/>
          </p:cNvCxnSpPr>
          <p:nvPr/>
        </p:nvCxnSpPr>
        <p:spPr>
          <a:xfrm>
            <a:off x="9320099" y="3180315"/>
            <a:ext cx="22333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98842-B6FE-2A43-AC33-636D44A860DB}"/>
                  </a:ext>
                </a:extLst>
              </p:cNvPr>
              <p:cNvSpPr txBox="1"/>
              <p:nvPr/>
            </p:nvSpPr>
            <p:spPr>
              <a:xfrm>
                <a:off x="11614436" y="2992576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98842-B6FE-2A43-AC33-636D44A86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4436" y="2992576"/>
                <a:ext cx="3345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4129637-C5E5-DE4E-A2A1-70437419AEF4}"/>
              </a:ext>
            </a:extLst>
          </p:cNvPr>
          <p:cNvCxnSpPr>
            <a:cxnSpLocks/>
          </p:cNvCxnSpPr>
          <p:nvPr/>
        </p:nvCxnSpPr>
        <p:spPr>
          <a:xfrm>
            <a:off x="9260066" y="5060195"/>
            <a:ext cx="22333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B8B331-52B6-7C47-9E07-BAFD924E4D2A}"/>
                  </a:ext>
                </a:extLst>
              </p:cNvPr>
              <p:cNvSpPr txBox="1"/>
              <p:nvPr/>
            </p:nvSpPr>
            <p:spPr>
              <a:xfrm>
                <a:off x="11554403" y="4872456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B8B331-52B6-7C47-9E07-BAFD924E4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4403" y="4872456"/>
                <a:ext cx="3345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1A9009F-2D58-A340-91B8-0634843205F4}"/>
              </a:ext>
            </a:extLst>
          </p:cNvPr>
          <p:cNvCxnSpPr/>
          <p:nvPr/>
        </p:nvCxnSpPr>
        <p:spPr>
          <a:xfrm flipV="1">
            <a:off x="11178413" y="2864137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AB8553D-E0AC-8F4B-96C7-72AF9E2BD431}"/>
              </a:ext>
            </a:extLst>
          </p:cNvPr>
          <p:cNvCxnSpPr/>
          <p:nvPr/>
        </p:nvCxnSpPr>
        <p:spPr>
          <a:xfrm flipV="1">
            <a:off x="9720869" y="4744017"/>
            <a:ext cx="0" cy="316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70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 animBg="1"/>
      <p:bldP spid="29" grpId="0"/>
      <p:bldP spid="36" grpId="0"/>
      <p:bldP spid="33" grpId="0"/>
      <p:bldP spid="45" grpId="0"/>
      <p:bldP spid="58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1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SNN Training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Background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728C3E5-9A45-F449-B1A6-DEC67929852C}"/>
              </a:ext>
            </a:extLst>
          </p:cNvPr>
          <p:cNvSpPr txBox="1"/>
          <p:nvPr/>
        </p:nvSpPr>
        <p:spPr>
          <a:xfrm>
            <a:off x="325821" y="302889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SNN</a:t>
            </a:r>
            <a:endParaRPr kumimoji="1" lang="zh-CN" alt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B7C1AC-FE40-B947-8125-E2F348BD6EFD}"/>
              </a:ext>
            </a:extLst>
          </p:cNvPr>
          <p:cNvCxnSpPr>
            <a:stCxn id="5" idx="3"/>
          </p:cNvCxnSpPr>
          <p:nvPr/>
        </p:nvCxnSpPr>
        <p:spPr>
          <a:xfrm flipV="1">
            <a:off x="959328" y="2213113"/>
            <a:ext cx="829715" cy="1015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9CB3987-C76D-3742-A39F-594C2F1BBA8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59328" y="3228945"/>
            <a:ext cx="829715" cy="1150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0A37A6-EB77-6F41-BE0C-98948EF3D63C}"/>
              </a:ext>
            </a:extLst>
          </p:cNvPr>
          <p:cNvSpPr txBox="1"/>
          <p:nvPr/>
        </p:nvSpPr>
        <p:spPr>
          <a:xfrm>
            <a:off x="1801470" y="2012398"/>
            <a:ext cx="2371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Training from scratch</a:t>
            </a:r>
            <a:endParaRPr kumimoji="1" lang="zh-CN" altLang="en-US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26F1E4-0FCB-684A-9EEA-5E6AC4859F4F}"/>
              </a:ext>
            </a:extLst>
          </p:cNvPr>
          <p:cNvSpPr txBox="1"/>
          <p:nvPr/>
        </p:nvSpPr>
        <p:spPr>
          <a:xfrm>
            <a:off x="1801470" y="4195015"/>
            <a:ext cx="2749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Transform ANN into SNN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DE62E6-F2BF-DE46-99F4-BAB3B128B881}"/>
                  </a:ext>
                </a:extLst>
              </p:cNvPr>
              <p:cNvSpPr txBox="1"/>
              <p:nvPr/>
            </p:nvSpPr>
            <p:spPr>
              <a:xfrm>
                <a:off x="4412974" y="2047448"/>
                <a:ext cx="26739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l-GR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d>
                            <m:d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{0,1}</m:t>
                      </m:r>
                    </m:oMath>
                  </m:oMathPara>
                </a14:m>
                <a:endParaRPr kumimoji="1" lang="zh-CN" alt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DE62E6-F2BF-DE46-99F4-BAB3B128B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974" y="2047448"/>
                <a:ext cx="2673937" cy="307777"/>
              </a:xfrm>
              <a:prstGeom prst="rect">
                <a:avLst/>
              </a:prstGeom>
              <a:blipFill>
                <a:blip r:embed="rId3"/>
                <a:stretch>
                  <a:fillRect l="-943" r="-2358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A9ADF1-F4F5-4142-BFB1-D11E61EE2799}"/>
                  </a:ext>
                </a:extLst>
              </p:cNvPr>
              <p:cNvSpPr txBox="1"/>
              <p:nvPr/>
            </p:nvSpPr>
            <p:spPr>
              <a:xfrm>
                <a:off x="7241728" y="1547682"/>
                <a:ext cx="4791248" cy="1202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kumimoji="1" lang="en-US" altLang="zh-CN" dirty="0"/>
                  <a:t>: spikes sent to next layer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kumimoji="1" lang="en-US" altLang="zh-CN" dirty="0"/>
                  <a:t>: Heaviside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 step</a:t>
                </a:r>
                <a:r>
                  <a:rPr kumimoji="1" lang="en-US" altLang="zh-CN" dirty="0"/>
                  <a:t> function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non-differentiable at 0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en-US" altLang="zh-CN" dirty="0"/>
                  <a:t>: threshold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4A9ADF1-F4F5-4142-BFB1-D11E61EE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728" y="1547682"/>
                <a:ext cx="4791248" cy="1202830"/>
              </a:xfrm>
              <a:prstGeom prst="rect">
                <a:avLst/>
              </a:prstGeom>
              <a:blipFill>
                <a:blip r:embed="rId4"/>
                <a:stretch>
                  <a:fillRect l="-1587" r="-2116" b="-11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21FDA-9DEE-9847-B654-F7A7FB0A440E}"/>
              </a:ext>
            </a:extLst>
          </p:cNvPr>
          <p:cNvCxnSpPr/>
          <p:nvPr/>
        </p:nvCxnSpPr>
        <p:spPr>
          <a:xfrm>
            <a:off x="11065565" y="2419904"/>
            <a:ext cx="0" cy="5162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289340-B8EA-D941-B1C6-F806B6920F4D}"/>
              </a:ext>
            </a:extLst>
          </p:cNvPr>
          <p:cNvSpPr txBox="1"/>
          <p:nvPr/>
        </p:nvSpPr>
        <p:spPr>
          <a:xfrm>
            <a:off x="10111211" y="2972826"/>
            <a:ext cx="193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FF0000"/>
                </a:solidFill>
              </a:rPr>
              <a:t>surrogate gradient</a:t>
            </a:r>
            <a:endParaRPr kumimoji="1" lang="zh-CN" altLang="en-US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10537EB-604B-4844-85BC-3FE3E02D5CFB}"/>
                  </a:ext>
                </a:extLst>
              </p:cNvPr>
              <p:cNvSpPr txBox="1"/>
              <p:nvPr/>
            </p:nvSpPr>
            <p:spPr>
              <a:xfrm>
                <a:off x="4934392" y="3804313"/>
                <a:ext cx="5313506" cy="1295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View spiking neurons as special activation functions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Construct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mapping</a:t>
                </a:r>
                <a:r>
                  <a:rPr kumimoji="1" lang="en-US" altLang="zh-CN" dirty="0"/>
                  <a:t> between ANN and SNN</a:t>
                </a:r>
                <a:endParaRPr kumimoji="1" lang="en-US" altLang="zh-CN" i="1" dirty="0"/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dirty="0"/>
                  <a:t>e.g., </a:t>
                </a:r>
                <a:r>
                  <a:rPr kumimoji="1" lang="en-US" altLang="zh-CN" dirty="0" err="1"/>
                  <a:t>ReLU</a:t>
                </a:r>
                <a:r>
                  <a:rPr kumimoji="1" lang="en-US" altLang="zh-CN" dirty="0"/>
                  <a:t> outputs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</m:oMath>
                </a14:m>
                <a:r>
                  <a:rPr kumimoji="1" lang="en-US" altLang="zh-CN" dirty="0"/>
                  <a:t> Firing rate/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time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10537EB-604B-4844-85BC-3FE3E02D5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392" y="3804313"/>
                <a:ext cx="5313506" cy="1295163"/>
              </a:xfrm>
              <a:prstGeom prst="rect">
                <a:avLst/>
              </a:prstGeom>
              <a:blipFill>
                <a:blip r:embed="rId5"/>
                <a:stretch>
                  <a:fillRect l="-716" b="-6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303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9" grpId="0"/>
      <p:bldP spid="18" grpId="0"/>
      <p:bldP spid="50" grpId="0"/>
      <p:bldP spid="21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1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SNN Training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Background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C4E856A-FCB8-6446-8E2B-3CD4F6A4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1651000"/>
            <a:ext cx="118364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4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657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Time-to-First-Spike (TTFS) 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AB7375F3-779D-714A-9D6A-CD2AD09ACE96}"/>
              </a:ext>
            </a:extLst>
          </p:cNvPr>
          <p:cNvGrpSpPr/>
          <p:nvPr/>
        </p:nvGrpSpPr>
        <p:grpSpPr>
          <a:xfrm>
            <a:off x="2904253" y="1115187"/>
            <a:ext cx="6266250" cy="3262078"/>
            <a:chOff x="325821" y="1832642"/>
            <a:chExt cx="4756386" cy="2442896"/>
          </a:xfrm>
        </p:grpSpPr>
        <p:pic>
          <p:nvPicPr>
            <p:cNvPr id="1025" name="Picture 1024">
              <a:extLst>
                <a:ext uri="{FF2B5EF4-FFF2-40B4-BE49-F238E27FC236}">
                  <a16:creationId xmlns:a16="http://schemas.microsoft.com/office/drawing/2014/main" id="{A9346868-BCE5-0D42-AA5B-AB003D361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821" y="2374900"/>
              <a:ext cx="4397239" cy="1900638"/>
            </a:xfrm>
            <a:prstGeom prst="rect">
              <a:avLst/>
            </a:prstGeom>
          </p:spPr>
        </p:pic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53685BD0-089F-F74D-8B8A-AC3E9F8227BB}"/>
                </a:ext>
              </a:extLst>
            </p:cNvPr>
            <p:cNvSpPr/>
            <p:nvPr/>
          </p:nvSpPr>
          <p:spPr>
            <a:xfrm>
              <a:off x="4061789" y="1832642"/>
              <a:ext cx="1020418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D2DC7D0-933F-B54C-99A9-B35C7DD7F516}"/>
                </a:ext>
              </a:extLst>
            </p:cNvPr>
            <p:cNvSpPr/>
            <p:nvPr/>
          </p:nvSpPr>
          <p:spPr>
            <a:xfrm>
              <a:off x="1683596" y="2082512"/>
              <a:ext cx="1020418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030" name="TextBox 1029">
            <a:extLst>
              <a:ext uri="{FF2B5EF4-FFF2-40B4-BE49-F238E27FC236}">
                <a16:creationId xmlns:a16="http://schemas.microsoft.com/office/drawing/2014/main" id="{5763E2C8-ACCF-2044-9A9D-3D26AF579D7D}"/>
              </a:ext>
            </a:extLst>
          </p:cNvPr>
          <p:cNvSpPr txBox="1"/>
          <p:nvPr/>
        </p:nvSpPr>
        <p:spPr>
          <a:xfrm>
            <a:off x="3997691" y="4774782"/>
            <a:ext cx="3735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dirty="0"/>
              <a:t>High intensity leads to early firing.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9674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611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Two-stage IF Neuron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ADF9A862-BB32-9840-A795-43280F99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09" y="1419087"/>
            <a:ext cx="4102101" cy="4039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ABEE24-215F-9149-9B89-67115BC74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34" y="1485867"/>
            <a:ext cx="4102101" cy="3905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B8087D-5973-4745-B333-C6E95FA2D3D1}"/>
              </a:ext>
            </a:extLst>
          </p:cNvPr>
          <p:cNvSpPr txBox="1"/>
          <p:nvPr/>
        </p:nvSpPr>
        <p:spPr>
          <a:xfrm>
            <a:off x="1078911" y="5391781"/>
            <a:ext cx="235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Feed-Forward Network</a:t>
            </a:r>
            <a:endParaRPr kumimoji="1"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59A7A-41E3-864A-B5A7-03EAF5C5C28C}"/>
              </a:ext>
            </a:extLst>
          </p:cNvPr>
          <p:cNvSpPr/>
          <p:nvPr/>
        </p:nvSpPr>
        <p:spPr>
          <a:xfrm>
            <a:off x="4996070" y="1245703"/>
            <a:ext cx="1789043" cy="199887"/>
          </a:xfrm>
          <a:prstGeom prst="rect">
            <a:avLst/>
          </a:prstGeom>
          <a:solidFill>
            <a:srgbClr val="FFE8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8E571B-91B3-B24D-B76B-AA543F76D59D}"/>
              </a:ext>
            </a:extLst>
          </p:cNvPr>
          <p:cNvSpPr/>
          <p:nvPr/>
        </p:nvSpPr>
        <p:spPr>
          <a:xfrm>
            <a:off x="6785113" y="1245703"/>
            <a:ext cx="1201611" cy="202031"/>
          </a:xfrm>
          <a:prstGeom prst="rect">
            <a:avLst/>
          </a:prstGeom>
          <a:solidFill>
            <a:srgbClr val="EFEDE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E847B-FEAB-FA47-ADEB-1C5561A4DC29}"/>
              </a:ext>
            </a:extLst>
          </p:cNvPr>
          <p:cNvSpPr txBox="1"/>
          <p:nvPr/>
        </p:nvSpPr>
        <p:spPr>
          <a:xfrm>
            <a:off x="5279655" y="864259"/>
            <a:ext cx="122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integrating</a:t>
            </a:r>
            <a:endParaRPr kumimoji="1" lang="zh-CN" altLang="en-US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169EF9-6747-1840-9B89-5FC29F713131}"/>
              </a:ext>
            </a:extLst>
          </p:cNvPr>
          <p:cNvSpPr txBox="1"/>
          <p:nvPr/>
        </p:nvSpPr>
        <p:spPr>
          <a:xfrm>
            <a:off x="7047524" y="864259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firing</a:t>
            </a:r>
            <a:endParaRPr kumimoji="1" lang="zh-CN" altLang="en-US" i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12D1DA-858F-D245-8521-96F8D5932A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276" r="32753" b="1"/>
          <a:stretch/>
        </p:blipFill>
        <p:spPr>
          <a:xfrm>
            <a:off x="8366297" y="855534"/>
            <a:ext cx="3737713" cy="1041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7F22C2-6196-184A-B4F6-15CF04CE1B85}"/>
                  </a:ext>
                </a:extLst>
              </p:cNvPr>
              <p:cNvSpPr txBox="1"/>
              <p:nvPr/>
            </p:nvSpPr>
            <p:spPr>
              <a:xfrm>
                <a:off x="8529774" y="2273843"/>
                <a:ext cx="3574236" cy="276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Initial slope: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dirty="0"/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After entering </a:t>
                </a:r>
                <a:r>
                  <a:rPr kumimoji="1" lang="en-US" altLang="zh-CN" i="1" dirty="0"/>
                  <a:t>firing </a:t>
                </a:r>
                <a:r>
                  <a:rPr kumimoji="1" lang="en-US" altLang="zh-CN" dirty="0"/>
                  <a:t>phase, potential grows constantly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dirty="0"/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Each neuron fires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at most</a:t>
                </a:r>
                <a:r>
                  <a:rPr kumimoji="1" lang="en-US" altLang="zh-CN" dirty="0"/>
                  <a:t> once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7F22C2-6196-184A-B4F6-15CF04CE1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774" y="2273843"/>
                <a:ext cx="3574236" cy="2769220"/>
              </a:xfrm>
              <a:prstGeom prst="rect">
                <a:avLst/>
              </a:prstGeom>
              <a:blipFill>
                <a:blip r:embed="rId6"/>
                <a:stretch>
                  <a:fillRect l="-1060" b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11DB2F5-5CF2-4643-AD28-A9A269B5B2BF}"/>
              </a:ext>
            </a:extLst>
          </p:cNvPr>
          <p:cNvSpPr txBox="1"/>
          <p:nvPr/>
        </p:nvSpPr>
        <p:spPr>
          <a:xfrm>
            <a:off x="5676171" y="5391781"/>
            <a:ext cx="20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Neuronal Dynamics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00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20" grpId="0" animBg="1"/>
      <p:bldP spid="11" grpId="0"/>
      <p:bldP spid="22" grpId="0"/>
      <p:bldP spid="15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611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Two-stage IF Neuron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ADF9A862-BB32-9840-A795-43280F99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09" y="1419087"/>
            <a:ext cx="4102101" cy="4039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ABEE24-215F-9149-9B89-67115BC74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34" y="1485867"/>
            <a:ext cx="4102101" cy="3905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B8087D-5973-4745-B333-C6E95FA2D3D1}"/>
              </a:ext>
            </a:extLst>
          </p:cNvPr>
          <p:cNvSpPr txBox="1"/>
          <p:nvPr/>
        </p:nvSpPr>
        <p:spPr>
          <a:xfrm>
            <a:off x="1078911" y="5391781"/>
            <a:ext cx="235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Feed-Forward Network</a:t>
            </a:r>
            <a:endParaRPr kumimoji="1"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59A7A-41E3-864A-B5A7-03EAF5C5C28C}"/>
              </a:ext>
            </a:extLst>
          </p:cNvPr>
          <p:cNvSpPr/>
          <p:nvPr/>
        </p:nvSpPr>
        <p:spPr>
          <a:xfrm>
            <a:off x="4996070" y="1245703"/>
            <a:ext cx="1789043" cy="199887"/>
          </a:xfrm>
          <a:prstGeom prst="rect">
            <a:avLst/>
          </a:prstGeom>
          <a:solidFill>
            <a:srgbClr val="FFE8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8E571B-91B3-B24D-B76B-AA543F76D59D}"/>
              </a:ext>
            </a:extLst>
          </p:cNvPr>
          <p:cNvSpPr/>
          <p:nvPr/>
        </p:nvSpPr>
        <p:spPr>
          <a:xfrm>
            <a:off x="6785113" y="1245703"/>
            <a:ext cx="1201611" cy="202031"/>
          </a:xfrm>
          <a:prstGeom prst="rect">
            <a:avLst/>
          </a:prstGeom>
          <a:solidFill>
            <a:srgbClr val="EFEDE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E847B-FEAB-FA47-ADEB-1C5561A4DC29}"/>
              </a:ext>
            </a:extLst>
          </p:cNvPr>
          <p:cNvSpPr txBox="1"/>
          <p:nvPr/>
        </p:nvSpPr>
        <p:spPr>
          <a:xfrm>
            <a:off x="5279655" y="864259"/>
            <a:ext cx="122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integrating</a:t>
            </a:r>
            <a:endParaRPr kumimoji="1" lang="zh-CN" altLang="en-US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169EF9-6747-1840-9B89-5FC29F713131}"/>
              </a:ext>
            </a:extLst>
          </p:cNvPr>
          <p:cNvSpPr txBox="1"/>
          <p:nvPr/>
        </p:nvSpPr>
        <p:spPr>
          <a:xfrm>
            <a:off x="7047524" y="864259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firing</a:t>
            </a:r>
            <a:endParaRPr kumimoji="1" lang="zh-CN" altLang="en-US" i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12D1DA-858F-D245-8521-96F8D5932A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276" r="32753" b="1"/>
          <a:stretch/>
        </p:blipFill>
        <p:spPr>
          <a:xfrm>
            <a:off x="8366297" y="855534"/>
            <a:ext cx="3737713" cy="1041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7F22C2-6196-184A-B4F6-15CF04CE1B85}"/>
                  </a:ext>
                </a:extLst>
              </p:cNvPr>
              <p:cNvSpPr txBox="1"/>
              <p:nvPr/>
            </p:nvSpPr>
            <p:spPr>
              <a:xfrm>
                <a:off x="8529774" y="2273843"/>
                <a:ext cx="3574236" cy="2031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Constraint #1: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i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</a:rPr>
                          <m:t>ax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Constraint #2: no neurons fire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before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dirty="0"/>
                  <a:t> (through dynamic threshold) and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after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sub>
                      <m:sup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7F22C2-6196-184A-B4F6-15CF04CE1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774" y="2273843"/>
                <a:ext cx="3574236" cy="2031005"/>
              </a:xfrm>
              <a:prstGeom prst="rect">
                <a:avLst/>
              </a:prstGeom>
              <a:blipFill>
                <a:blip r:embed="rId6"/>
                <a:stretch>
                  <a:fillRect l="-1060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11DB2F5-5CF2-4643-AD28-A9A269B5B2BF}"/>
              </a:ext>
            </a:extLst>
          </p:cNvPr>
          <p:cNvSpPr txBox="1"/>
          <p:nvPr/>
        </p:nvSpPr>
        <p:spPr>
          <a:xfrm>
            <a:off x="5676171" y="5391781"/>
            <a:ext cx="20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Neuronal Dynamics</a:t>
            </a:r>
            <a:endParaRPr kumimoji="1"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A1AEE7-5F4B-AE45-84B9-B8236C7E04C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6319"/>
          <a:stretch/>
        </p:blipFill>
        <p:spPr>
          <a:xfrm>
            <a:off x="9234335" y="4405276"/>
            <a:ext cx="2001635" cy="4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19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8505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Identity Mapping Between </a:t>
            </a:r>
            <a:r>
              <a:rPr kumimoji="1" lang="en-US" altLang="zh-CN" sz="3200" dirty="0" err="1"/>
              <a:t>ReLU</a:t>
            </a:r>
            <a:r>
              <a:rPr kumimoji="1" lang="en-US" altLang="zh-CN" sz="3200" dirty="0"/>
              <a:t> and TTFS Neuron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5A656D0-D6E9-F140-98F8-EDFD193E61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276" r="32753" b="1"/>
          <a:stretch/>
        </p:blipFill>
        <p:spPr>
          <a:xfrm>
            <a:off x="428236" y="1761138"/>
            <a:ext cx="3737713" cy="1041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6EE83A-FA53-C543-9B3C-840D62E5E7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319"/>
          <a:stretch/>
        </p:blipFill>
        <p:spPr>
          <a:xfrm>
            <a:off x="428236" y="2802513"/>
            <a:ext cx="2001635" cy="464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E4FE93-7CB9-CF4C-A149-25C875156C50}"/>
                  </a:ext>
                </a:extLst>
              </p:cNvPr>
              <p:cNvSpPr txBox="1"/>
              <p:nvPr/>
            </p:nvSpPr>
            <p:spPr>
              <a:xfrm>
                <a:off x="5219549" y="2153543"/>
                <a:ext cx="6371937" cy="783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den>
                          </m:f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nary>
                      <m:f>
                        <m:f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E4FE93-7CB9-CF4C-A149-25C875156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549" y="2153543"/>
                <a:ext cx="6371937" cy="783933"/>
              </a:xfrm>
              <a:prstGeom prst="rect">
                <a:avLst/>
              </a:prstGeom>
              <a:blipFill>
                <a:blip r:embed="rId5"/>
                <a:stretch>
                  <a:fillRect l="-398" t="-109524" r="-398" b="-169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BE68BD-6B54-214C-96F5-8A0B880CBCCE}"/>
                  </a:ext>
                </a:extLst>
              </p:cNvPr>
              <p:cNvSpPr txBox="1"/>
              <p:nvPr/>
            </p:nvSpPr>
            <p:spPr>
              <a:xfrm>
                <a:off x="3875305" y="2674523"/>
                <a:ext cx="887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BE68BD-6B54-214C-96F5-8A0B880CB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305" y="2674523"/>
                <a:ext cx="88789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B44A52-47BF-B041-A27C-C6F28795238C}"/>
                  </a:ext>
                </a:extLst>
              </p:cNvPr>
              <p:cNvSpPr txBox="1"/>
              <p:nvPr/>
            </p:nvSpPr>
            <p:spPr>
              <a:xfrm>
                <a:off x="5219549" y="3043855"/>
                <a:ext cx="6109252" cy="44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dirty="0"/>
                  <a:t>: time when neuron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in layer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fires (assume it fires).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B44A52-47BF-B041-A27C-C6F287952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549" y="3043855"/>
                <a:ext cx="6109252" cy="444930"/>
              </a:xfrm>
              <a:prstGeom prst="rect">
                <a:avLst/>
              </a:prstGeom>
              <a:blipFill>
                <a:blip r:embed="rId7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219165-D897-B64C-83FE-72C1785C140D}"/>
                  </a:ext>
                </a:extLst>
              </p:cNvPr>
              <p:cNvSpPr txBox="1"/>
              <p:nvPr/>
            </p:nvSpPr>
            <p:spPr>
              <a:xfrm>
                <a:off x="5194749" y="3452492"/>
                <a:ext cx="6109252" cy="1058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Constraint #2: no neurons fire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before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dirty="0"/>
                  <a:t> (through dynamic threshold) and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after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kumimoji="1"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sub>
                      <m:sup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219165-D897-B64C-83FE-72C1785C1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749" y="3452492"/>
                <a:ext cx="6109252" cy="1058175"/>
              </a:xfrm>
              <a:prstGeom prst="rect">
                <a:avLst/>
              </a:prstGeom>
              <a:blipFill>
                <a:blip r:embed="rId8"/>
                <a:stretch>
                  <a:fillRect l="-415" r="-1245" b="-8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618905D4-51EC-B144-B812-1018A33940A3}"/>
              </a:ext>
            </a:extLst>
          </p:cNvPr>
          <p:cNvSpPr/>
          <p:nvPr/>
        </p:nvSpPr>
        <p:spPr>
          <a:xfrm>
            <a:off x="5194749" y="2118950"/>
            <a:ext cx="1232555" cy="818526"/>
          </a:xfrm>
          <a:prstGeom prst="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3BEC99-4B20-F644-A4D7-CCF6A45710A0}"/>
              </a:ext>
            </a:extLst>
          </p:cNvPr>
          <p:cNvSpPr/>
          <p:nvPr/>
        </p:nvSpPr>
        <p:spPr>
          <a:xfrm>
            <a:off x="7659755" y="2118950"/>
            <a:ext cx="1497496" cy="818526"/>
          </a:xfrm>
          <a:prstGeom prst="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FC1E7A-F19B-1A43-8299-4F1C6B0BA957}"/>
              </a:ext>
            </a:extLst>
          </p:cNvPr>
          <p:cNvSpPr/>
          <p:nvPr/>
        </p:nvSpPr>
        <p:spPr>
          <a:xfrm>
            <a:off x="7021321" y="2118950"/>
            <a:ext cx="585426" cy="818526"/>
          </a:xfrm>
          <a:prstGeom prst="rect">
            <a:avLst/>
          </a:prstGeom>
          <a:solidFill>
            <a:schemeClr val="accent5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3C84D0-45D9-614E-9F2A-FBAAF8FACD61}"/>
              </a:ext>
            </a:extLst>
          </p:cNvPr>
          <p:cNvSpPr/>
          <p:nvPr/>
        </p:nvSpPr>
        <p:spPr>
          <a:xfrm>
            <a:off x="9347078" y="2118950"/>
            <a:ext cx="2269208" cy="818526"/>
          </a:xfrm>
          <a:prstGeom prst="rect">
            <a:avLst/>
          </a:prstGeom>
          <a:solidFill>
            <a:schemeClr val="accent6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103374-BAE8-6A42-9A04-D263F8A6A8A0}"/>
                  </a:ext>
                </a:extLst>
              </p:cNvPr>
              <p:cNvSpPr txBox="1"/>
              <p:nvPr/>
            </p:nvSpPr>
            <p:spPr>
              <a:xfrm>
                <a:off x="7021321" y="1586516"/>
                <a:ext cx="684033" cy="47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103374-BAE8-6A42-9A04-D263F8A6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21" y="1586516"/>
                <a:ext cx="684033" cy="476221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F68927-3D83-D04F-BFA3-1D60F1CC1B3F}"/>
                  </a:ext>
                </a:extLst>
              </p:cNvPr>
              <p:cNvSpPr txBox="1"/>
              <p:nvPr/>
            </p:nvSpPr>
            <p:spPr>
              <a:xfrm>
                <a:off x="8063500" y="1596896"/>
                <a:ext cx="855747" cy="47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F68927-3D83-D04F-BFA3-1D60F1CC1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500" y="1596896"/>
                <a:ext cx="855747" cy="476221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D752ECA-7C1E-C643-9E0D-6578A3018D58}"/>
                  </a:ext>
                </a:extLst>
              </p:cNvPr>
              <p:cNvSpPr txBox="1"/>
              <p:nvPr/>
            </p:nvSpPr>
            <p:spPr>
              <a:xfrm>
                <a:off x="10240125" y="1604677"/>
                <a:ext cx="945452" cy="4507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D752ECA-7C1E-C643-9E0D-6578A3018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125" y="1604677"/>
                <a:ext cx="945452" cy="450764"/>
              </a:xfrm>
              <a:prstGeom prst="rect">
                <a:avLst/>
              </a:prstGeom>
              <a:blipFill>
                <a:blip r:embed="rId11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48AF9A-E2ED-1247-8BF1-B8C97FAD0719}"/>
                  </a:ext>
                </a:extLst>
              </p:cNvPr>
              <p:cNvSpPr txBox="1"/>
              <p:nvPr/>
            </p:nvSpPr>
            <p:spPr>
              <a:xfrm>
                <a:off x="5148314" y="1586516"/>
                <a:ext cx="1328056" cy="47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baseline="-25000" dirty="0"/>
                  <a:t>(after </a:t>
                </a:r>
                <a:r>
                  <a:rPr kumimoji="1" lang="en-US" altLang="zh-CN" baseline="-25000" dirty="0" err="1"/>
                  <a:t>ReLU</a:t>
                </a:r>
                <a:r>
                  <a:rPr kumimoji="1" lang="en-US" altLang="zh-CN" baseline="-25000" dirty="0"/>
                  <a:t>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48AF9A-E2ED-1247-8BF1-B8C97FAD0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314" y="1586516"/>
                <a:ext cx="1328056" cy="476221"/>
              </a:xfrm>
              <a:prstGeom prst="rect">
                <a:avLst/>
              </a:prstGeom>
              <a:blipFill>
                <a:blip r:embed="rId1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F187BD-F233-5440-8D5A-60961E6542A6}"/>
                  </a:ext>
                </a:extLst>
              </p:cNvPr>
              <p:cNvSpPr txBox="1"/>
              <p:nvPr/>
            </p:nvSpPr>
            <p:spPr>
              <a:xfrm>
                <a:off x="-762002" y="5102956"/>
                <a:ext cx="13716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/>
                  <a:t>A two-stage IF neuron fires in SNN </a:t>
                </a:r>
                <a14:m>
                  <m:oMath xmlns:m="http://schemas.openxmlformats.org/officeDocument/2006/math">
                    <m:r>
                      <a:rPr kumimoji="1" lang="zh-CN" altLang="en-US" sz="2000" i="1" smtClean="0">
                        <a:latin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kumimoji="1" lang="en-US" altLang="zh-CN" sz="2000" dirty="0"/>
                  <a:t> Corresponding </a:t>
                </a:r>
                <a:r>
                  <a:rPr kumimoji="1" lang="en-US" altLang="zh-CN" sz="2000" dirty="0" err="1"/>
                  <a:t>ReLU</a:t>
                </a:r>
                <a:r>
                  <a:rPr kumimoji="1" lang="en-US" altLang="zh-CN" sz="2000" dirty="0"/>
                  <a:t> neuron produces a positive output in ANN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F187BD-F233-5440-8D5A-60961E654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2" y="5102956"/>
                <a:ext cx="13716000" cy="400110"/>
              </a:xfrm>
              <a:prstGeom prst="rect">
                <a:avLst/>
              </a:prstGeom>
              <a:blipFill>
                <a:blip r:embed="rId13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78B590-E397-8B40-B113-B62D182EAB92}"/>
                  </a:ext>
                </a:extLst>
              </p:cNvPr>
              <p:cNvSpPr txBox="1"/>
              <p:nvPr/>
            </p:nvSpPr>
            <p:spPr>
              <a:xfrm>
                <a:off x="378829" y="3562563"/>
                <a:ext cx="6864626" cy="44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CN" dirty="0">
                    <a:solidFill>
                      <a:schemeClr val="accent3"/>
                    </a:solidFill>
                  </a:rPr>
                  <a:t> </a:t>
                </a:r>
                <a:endParaRPr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78B590-E397-8B40-B113-B62D182EA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9" y="3562563"/>
                <a:ext cx="6864626" cy="444930"/>
              </a:xfrm>
              <a:prstGeom prst="rect">
                <a:avLst/>
              </a:prstGeom>
              <a:blipFill>
                <a:blip r:embed="rId1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191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/>
      <p:bldP spid="22" grpId="0"/>
      <p:bldP spid="24" grpId="0" animBg="1"/>
      <p:bldP spid="25" grpId="0" animBg="1"/>
      <p:bldP spid="26" grpId="0" animBg="1"/>
      <p:bldP spid="27" grpId="0" animBg="1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8364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Main Findings - Gradients are still not equivalent.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FB1CFD1-6C2C-BB43-B3F2-CCA14D8227CD}"/>
              </a:ext>
            </a:extLst>
          </p:cNvPr>
          <p:cNvSpPr txBox="1"/>
          <p:nvPr/>
        </p:nvSpPr>
        <p:spPr>
          <a:xfrm>
            <a:off x="325821" y="1333005"/>
            <a:ext cx="5206807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Pervious research used similar neuron models and methods to derive identity mapping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But only achieved equivalence </a:t>
            </a:r>
            <a:r>
              <a:rPr kumimoji="1" lang="en-US" altLang="zh-CN" dirty="0">
                <a:solidFill>
                  <a:srgbClr val="FF0000"/>
                </a:solidFill>
              </a:rPr>
              <a:t>at initialization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Problems must lie in backpropagation</a:t>
            </a:r>
            <a:endParaRPr kumimoji="1"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61B648-2370-3A49-8F73-509C007F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3694040"/>
            <a:ext cx="5120822" cy="871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797FD-B4C9-0745-AEAD-553779E91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11" y="4696142"/>
            <a:ext cx="4505042" cy="1060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EE7D83-23F0-5E49-8FA4-C89FD75337DC}"/>
                  </a:ext>
                </a:extLst>
              </p:cNvPr>
              <p:cNvSpPr txBox="1"/>
              <p:nvPr/>
            </p:nvSpPr>
            <p:spPr>
              <a:xfrm>
                <a:off x="5656871" y="2050164"/>
                <a:ext cx="6371937" cy="783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den>
                          </m:f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nary>
                      <m:f>
                        <m:f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EE7D83-23F0-5E49-8FA4-C89FD753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871" y="2050164"/>
                <a:ext cx="6371937" cy="783933"/>
              </a:xfrm>
              <a:prstGeom prst="rect">
                <a:avLst/>
              </a:prstGeom>
              <a:blipFill>
                <a:blip r:embed="rId5"/>
                <a:stretch>
                  <a:fillRect l="-398" t="-109524" r="-199" b="-169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4BA008A7-A339-2947-A407-714280BBE320}"/>
              </a:ext>
            </a:extLst>
          </p:cNvPr>
          <p:cNvSpPr/>
          <p:nvPr/>
        </p:nvSpPr>
        <p:spPr>
          <a:xfrm>
            <a:off x="5632071" y="2015571"/>
            <a:ext cx="1232555" cy="818526"/>
          </a:xfrm>
          <a:prstGeom prst="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A89CEC-C491-4D43-A8D9-479D4CA023C8}"/>
              </a:ext>
            </a:extLst>
          </p:cNvPr>
          <p:cNvSpPr/>
          <p:nvPr/>
        </p:nvSpPr>
        <p:spPr>
          <a:xfrm>
            <a:off x="8097077" y="2015571"/>
            <a:ext cx="1497496" cy="818526"/>
          </a:xfrm>
          <a:prstGeom prst="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F452F-F9C0-F947-8488-9799FB238BB2}"/>
              </a:ext>
            </a:extLst>
          </p:cNvPr>
          <p:cNvSpPr/>
          <p:nvPr/>
        </p:nvSpPr>
        <p:spPr>
          <a:xfrm>
            <a:off x="7458643" y="2015571"/>
            <a:ext cx="585426" cy="818526"/>
          </a:xfrm>
          <a:prstGeom prst="rect">
            <a:avLst/>
          </a:prstGeom>
          <a:solidFill>
            <a:schemeClr val="accent5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B7F280-04D9-FE4B-948A-DD2112D0D6C4}"/>
              </a:ext>
            </a:extLst>
          </p:cNvPr>
          <p:cNvSpPr/>
          <p:nvPr/>
        </p:nvSpPr>
        <p:spPr>
          <a:xfrm>
            <a:off x="9784400" y="2015571"/>
            <a:ext cx="2269208" cy="818526"/>
          </a:xfrm>
          <a:prstGeom prst="rect">
            <a:avLst/>
          </a:prstGeom>
          <a:solidFill>
            <a:schemeClr val="accent6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EB91D1-EAF1-CA4D-B777-AC3D0A690B4E}"/>
                  </a:ext>
                </a:extLst>
              </p:cNvPr>
              <p:cNvSpPr txBox="1"/>
              <p:nvPr/>
            </p:nvSpPr>
            <p:spPr>
              <a:xfrm>
                <a:off x="7458643" y="1483137"/>
                <a:ext cx="684033" cy="47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EB91D1-EAF1-CA4D-B777-AC3D0A690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643" y="1483137"/>
                <a:ext cx="684033" cy="476221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EB14F6-54B0-044F-AE27-C64EDC090D27}"/>
                  </a:ext>
                </a:extLst>
              </p:cNvPr>
              <p:cNvSpPr txBox="1"/>
              <p:nvPr/>
            </p:nvSpPr>
            <p:spPr>
              <a:xfrm>
                <a:off x="8500822" y="1493517"/>
                <a:ext cx="855747" cy="47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EB14F6-54B0-044F-AE27-C64EDC090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822" y="1493517"/>
                <a:ext cx="855747" cy="476221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CBDDF3-398B-4A4C-8CBE-3DAEF0E0985C}"/>
                  </a:ext>
                </a:extLst>
              </p:cNvPr>
              <p:cNvSpPr txBox="1"/>
              <p:nvPr/>
            </p:nvSpPr>
            <p:spPr>
              <a:xfrm>
                <a:off x="10677447" y="1501298"/>
                <a:ext cx="945452" cy="4507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CBDDF3-398B-4A4C-8CBE-3DAEF0E09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447" y="1501298"/>
                <a:ext cx="945452" cy="450764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3E53C4-3384-704A-A6C8-BF67CB39F90D}"/>
                  </a:ext>
                </a:extLst>
              </p:cNvPr>
              <p:cNvSpPr txBox="1"/>
              <p:nvPr/>
            </p:nvSpPr>
            <p:spPr>
              <a:xfrm>
                <a:off x="5585636" y="1483137"/>
                <a:ext cx="1328056" cy="47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baseline="-25000" dirty="0"/>
                  <a:t>(after </a:t>
                </a:r>
                <a:r>
                  <a:rPr kumimoji="1" lang="en-US" altLang="zh-CN" baseline="-25000" dirty="0" err="1"/>
                  <a:t>ReLU</a:t>
                </a:r>
                <a:r>
                  <a:rPr kumimoji="1" lang="en-US" altLang="zh-CN" baseline="-25000" dirty="0"/>
                  <a:t>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3E53C4-3384-704A-A6C8-BF67CB39F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36" y="1483137"/>
                <a:ext cx="1328056" cy="476221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B5D6ED-7D82-EE4B-84A1-9DBD4BB05099}"/>
                  </a:ext>
                </a:extLst>
              </p:cNvPr>
              <p:cNvSpPr txBox="1"/>
              <p:nvPr/>
            </p:nvSpPr>
            <p:spPr>
              <a:xfrm>
                <a:off x="5585636" y="5194940"/>
                <a:ext cx="4887877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: weights in ANN corresponding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kumimoji="1"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in SNN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B5D6ED-7D82-EE4B-84A1-9DBD4BB05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36" y="5194940"/>
                <a:ext cx="4887877" cy="288477"/>
              </a:xfrm>
              <a:prstGeom prst="rect">
                <a:avLst/>
              </a:prstGeom>
              <a:blipFill>
                <a:blip r:embed="rId10"/>
                <a:stretch>
                  <a:fillRect l="-1036" t="-16000" r="-2073" b="-4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01154B-B8A5-2E4E-A0FD-7EA40C0ABBDC}"/>
                  </a:ext>
                </a:extLst>
              </p:cNvPr>
              <p:cNvSpPr txBox="1"/>
              <p:nvPr/>
            </p:nvSpPr>
            <p:spPr>
              <a:xfrm>
                <a:off x="5632071" y="3908760"/>
                <a:ext cx="6511270" cy="412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1}</m:t>
                    </m:r>
                  </m:oMath>
                </a14:m>
                <a:r>
                  <a:rPr kumimoji="1" lang="en-US" altLang="zh-CN" dirty="0"/>
                  <a:t>  - </a:t>
                </a:r>
                <a:r>
                  <a:rPr kumimoji="1" lang="en-US" altLang="zh-CN" i="1" dirty="0"/>
                  <a:t>gradient gating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01154B-B8A5-2E4E-A0FD-7EA40C0AB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071" y="3908760"/>
                <a:ext cx="6511270" cy="412036"/>
              </a:xfrm>
              <a:prstGeom prst="rect">
                <a:avLst/>
              </a:prstGeom>
              <a:blipFill>
                <a:blip r:embed="rId11"/>
                <a:stretch>
                  <a:fillRect l="-1167" r="-1167" b="-2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92D3ED-744A-6347-9A91-18FF4B9C68C7}"/>
                  </a:ext>
                </a:extLst>
              </p:cNvPr>
              <p:cNvSpPr txBox="1"/>
              <p:nvPr/>
            </p:nvSpPr>
            <p:spPr>
              <a:xfrm>
                <a:off x="5585636" y="4513093"/>
                <a:ext cx="4435830" cy="412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</m:t>
                    </m:r>
                    <m:r>
                      <a:rPr kumimoji="1"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1}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92D3ED-744A-6347-9A91-18FF4B9C6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36" y="4513093"/>
                <a:ext cx="4435830" cy="412036"/>
              </a:xfrm>
              <a:prstGeom prst="rect">
                <a:avLst/>
              </a:prstGeom>
              <a:blipFill>
                <a:blip r:embed="rId12"/>
                <a:stretch>
                  <a:fillRect l="-1709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02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E00585-1364-6542-9D0E-647778AED91E}"/>
                  </a:ext>
                </a:extLst>
              </p:cNvPr>
              <p:cNvSpPr txBox="1"/>
              <p:nvPr/>
            </p:nvSpPr>
            <p:spPr>
              <a:xfrm>
                <a:off x="325821" y="464150"/>
                <a:ext cx="10461325" cy="605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3200" dirty="0"/>
                  <a:t>Main Findings - Gradients are equivalent only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E00585-1364-6542-9D0E-647778AED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1" y="464150"/>
                <a:ext cx="10461325" cy="605294"/>
              </a:xfrm>
              <a:prstGeom prst="rect">
                <a:avLst/>
              </a:prstGeom>
              <a:blipFill>
                <a:blip r:embed="rId3"/>
                <a:stretch>
                  <a:fillRect l="-1455" t="-8333" r="-48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661B648-2370-3A49-8F73-509C007F4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1" y="3694040"/>
            <a:ext cx="5120822" cy="871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797FD-B4C9-0745-AEAD-553779E91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11" y="4696142"/>
            <a:ext cx="4505042" cy="1060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B5D6ED-7D82-EE4B-84A1-9DBD4BB05099}"/>
                  </a:ext>
                </a:extLst>
              </p:cNvPr>
              <p:cNvSpPr txBox="1"/>
              <p:nvPr/>
            </p:nvSpPr>
            <p:spPr>
              <a:xfrm>
                <a:off x="5585636" y="5194940"/>
                <a:ext cx="4887877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: weights in ANN corresponding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kumimoji="1" lang="en-US" altLang="zh-CN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in SNN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B5D6ED-7D82-EE4B-84A1-9DBD4BB05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36" y="5194940"/>
                <a:ext cx="4887877" cy="288477"/>
              </a:xfrm>
              <a:prstGeom prst="rect">
                <a:avLst/>
              </a:prstGeom>
              <a:blipFill>
                <a:blip r:embed="rId6"/>
                <a:stretch>
                  <a:fillRect l="-1036" t="-16000" r="-2073" b="-4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01154B-B8A5-2E4E-A0FD-7EA40C0ABBDC}"/>
                  </a:ext>
                </a:extLst>
              </p:cNvPr>
              <p:cNvSpPr txBox="1"/>
              <p:nvPr/>
            </p:nvSpPr>
            <p:spPr>
              <a:xfrm>
                <a:off x="5632071" y="3908760"/>
                <a:ext cx="6511270" cy="412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1}</m:t>
                    </m:r>
                  </m:oMath>
                </a14:m>
                <a:r>
                  <a:rPr kumimoji="1" lang="en-US" altLang="zh-CN" dirty="0"/>
                  <a:t>  - </a:t>
                </a:r>
                <a:r>
                  <a:rPr kumimoji="1" lang="en-US" altLang="zh-CN" i="1" dirty="0"/>
                  <a:t>gradient gating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01154B-B8A5-2E4E-A0FD-7EA40C0AB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071" y="3908760"/>
                <a:ext cx="6511270" cy="412036"/>
              </a:xfrm>
              <a:prstGeom prst="rect">
                <a:avLst/>
              </a:prstGeom>
              <a:blipFill>
                <a:blip r:embed="rId7"/>
                <a:stretch>
                  <a:fillRect l="-1167" r="-1167" b="-2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92D3ED-744A-6347-9A91-18FF4B9C68C7}"/>
                  </a:ext>
                </a:extLst>
              </p:cNvPr>
              <p:cNvSpPr txBox="1"/>
              <p:nvPr/>
            </p:nvSpPr>
            <p:spPr>
              <a:xfrm>
                <a:off x="5585636" y="4513093"/>
                <a:ext cx="4435830" cy="412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kumimoji="1"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</m:t>
                    </m:r>
                    <m:r>
                      <a:rPr kumimoji="1"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1}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92D3ED-744A-6347-9A91-18FF4B9C6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36" y="4513093"/>
                <a:ext cx="4435830" cy="412036"/>
              </a:xfrm>
              <a:prstGeom prst="rect">
                <a:avLst/>
              </a:prstGeom>
              <a:blipFill>
                <a:blip r:embed="rId8"/>
                <a:stretch>
                  <a:fillRect l="-1709"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4C64DD-AEF0-A344-8271-4E5990A617A8}"/>
                  </a:ext>
                </a:extLst>
              </p:cNvPr>
              <p:cNvSpPr txBox="1"/>
              <p:nvPr/>
            </p:nvSpPr>
            <p:spPr>
              <a:xfrm>
                <a:off x="325820" y="1193138"/>
                <a:ext cx="10752997" cy="1408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Pervious research set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different</a:t>
                </a:r>
                <a:r>
                  <a:rPr kumimoji="1" lang="en-US" altLang="zh-CN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dirty="0"/>
                  <a:t> for each neuron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CN" dirty="0"/>
                  <a:t> in layer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dirty="0"/>
                  <a:t>leading to “unequal” gradient flow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dirty="0"/>
                  <a:t>while for </a:t>
                </a:r>
                <a:r>
                  <a:rPr kumimoji="1" lang="en-US" altLang="zh-CN" dirty="0" err="1"/>
                  <a:t>ReLU</a:t>
                </a:r>
                <a:r>
                  <a:rPr kumimoji="1" lang="en-US" altLang="zh-CN" dirty="0"/>
                  <a:t> the gradient is always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1 </a:t>
                </a:r>
                <a:r>
                  <a:rPr kumimoji="1" lang="en-US" altLang="zh-CN" dirty="0"/>
                  <a:t>under the same condition (firing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kumimoji="1" lang="en-US" altLang="zh-CN" dirty="0"/>
                  <a:t> producing positive outputs)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4C64DD-AEF0-A344-8271-4E5990A61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0" y="1193138"/>
                <a:ext cx="10752997" cy="1408591"/>
              </a:xfrm>
              <a:prstGeom prst="rect">
                <a:avLst/>
              </a:prstGeom>
              <a:blipFill>
                <a:blip r:embed="rId9"/>
                <a:stretch>
                  <a:fillRect l="-354" b="-6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114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E00585-1364-6542-9D0E-647778AED91E}"/>
                  </a:ext>
                </a:extLst>
              </p:cNvPr>
              <p:cNvSpPr txBox="1"/>
              <p:nvPr/>
            </p:nvSpPr>
            <p:spPr>
              <a:xfrm>
                <a:off x="325821" y="464150"/>
                <a:ext cx="10461325" cy="605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3200" dirty="0"/>
                  <a:t>Main Findings - Gradients are equivalent only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kumimoji="1"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E00585-1364-6542-9D0E-647778AED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1" y="464150"/>
                <a:ext cx="10461325" cy="605294"/>
              </a:xfrm>
              <a:prstGeom prst="rect">
                <a:avLst/>
              </a:prstGeom>
              <a:blipFill>
                <a:blip r:embed="rId3"/>
                <a:stretch>
                  <a:fillRect l="-1455" t="-8333" r="-48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Methods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4C64DD-AEF0-A344-8271-4E5990A617A8}"/>
                  </a:ext>
                </a:extLst>
              </p:cNvPr>
              <p:cNvSpPr txBox="1"/>
              <p:nvPr/>
            </p:nvSpPr>
            <p:spPr>
              <a:xfrm>
                <a:off x="325820" y="1193138"/>
                <a:ext cx="10752997" cy="1824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Pervious research set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different</a:t>
                </a:r>
                <a:r>
                  <a:rPr kumimoji="1" lang="en-US" altLang="zh-CN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US" altLang="zh-CN" dirty="0"/>
                  <a:t> for each neuron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CN" dirty="0"/>
                  <a:t> in layer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dirty="0"/>
                  <a:t>leading to “unequal” gradient flow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dirty="0"/>
                  <a:t>while for </a:t>
                </a:r>
                <a:r>
                  <a:rPr kumimoji="1" lang="en-US" altLang="zh-CN" dirty="0" err="1"/>
                  <a:t>ReLU</a:t>
                </a:r>
                <a:r>
                  <a:rPr kumimoji="1" lang="en-US" altLang="zh-CN" dirty="0"/>
                  <a:t> the gradient is always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1 </a:t>
                </a:r>
                <a:r>
                  <a:rPr kumimoji="1" lang="en-US" altLang="zh-CN" dirty="0"/>
                  <a:t>under the same condition (firing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kumimoji="1" lang="en-US" altLang="zh-CN" dirty="0"/>
                  <a:t> producing positive outputs)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dirty="0"/>
                  <a:t>thus setting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dirty="0"/>
                  <a:t> to 1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4C64DD-AEF0-A344-8271-4E5990A61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0" y="1193138"/>
                <a:ext cx="10752997" cy="1824795"/>
              </a:xfrm>
              <a:prstGeom prst="rect">
                <a:avLst/>
              </a:prstGeom>
              <a:blipFill>
                <a:blip r:embed="rId4"/>
                <a:stretch>
                  <a:fillRect l="-354" b="-4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8F78D528-06D5-3B48-BD5E-2FD893335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280" y="3141627"/>
            <a:ext cx="3167718" cy="3119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07C69C-4428-244C-B98A-4551F0828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590" y="3304633"/>
            <a:ext cx="3458818" cy="293999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9D2363-5D38-8246-806F-7752D62AFC26}"/>
              </a:ext>
            </a:extLst>
          </p:cNvPr>
          <p:cNvCxnSpPr>
            <a:cxnSpLocks/>
          </p:cNvCxnSpPr>
          <p:nvPr/>
        </p:nvCxnSpPr>
        <p:spPr>
          <a:xfrm>
            <a:off x="4979340" y="4585045"/>
            <a:ext cx="21635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817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053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Performance on MNIST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FE9DB4F4-49BF-4145-90CC-597F36118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76153"/>
              </p:ext>
            </p:extLst>
          </p:nvPr>
        </p:nvGraphicFramePr>
        <p:xfrm>
          <a:off x="2521447" y="1293219"/>
          <a:ext cx="6622552" cy="4271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638">
                  <a:extLst>
                    <a:ext uri="{9D8B030D-6E8A-4147-A177-3AD203B41FA5}">
                      <a16:colId xmlns:a16="http://schemas.microsoft.com/office/drawing/2014/main" val="2611023811"/>
                    </a:ext>
                  </a:extLst>
                </a:gridCol>
                <a:gridCol w="1655638">
                  <a:extLst>
                    <a:ext uri="{9D8B030D-6E8A-4147-A177-3AD203B41FA5}">
                      <a16:colId xmlns:a16="http://schemas.microsoft.com/office/drawing/2014/main" val="3811817044"/>
                    </a:ext>
                  </a:extLst>
                </a:gridCol>
                <a:gridCol w="1655638">
                  <a:extLst>
                    <a:ext uri="{9D8B030D-6E8A-4147-A177-3AD203B41FA5}">
                      <a16:colId xmlns:a16="http://schemas.microsoft.com/office/drawing/2014/main" val="3549213708"/>
                    </a:ext>
                  </a:extLst>
                </a:gridCol>
                <a:gridCol w="1655638">
                  <a:extLst>
                    <a:ext uri="{9D8B030D-6E8A-4147-A177-3AD203B41FA5}">
                      <a16:colId xmlns:a16="http://schemas.microsoft.com/office/drawing/2014/main" val="3310258148"/>
                    </a:ext>
                  </a:extLst>
                </a:gridCol>
              </a:tblGrid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Model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Arch.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Test acc. [%]</a:t>
                      </a:r>
                    </a:p>
                    <a:p>
                      <a:pPr algn="ctr"/>
                      <a:r>
                        <a:rPr lang="en-US" altLang="zh-CN" b="0" i="0" dirty="0"/>
                        <a:t>(from paper)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Test acc. [%]</a:t>
                      </a:r>
                    </a:p>
                    <a:p>
                      <a:pPr algn="ctr"/>
                      <a:r>
                        <a:rPr lang="en-US" altLang="zh-CN" b="0" i="0" dirty="0"/>
                        <a:t>(reproduced)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8019533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ReLU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FC2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98.30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98.38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8835668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TTFS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FC2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98.30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98.40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691802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ReLU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FC16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98.43 ± 0.07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98.14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43507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TTFS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FC16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98.43 ± 0.07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98.16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9036994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ReLU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VGG16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99.57 ± 0.01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99.59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5835950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TTFS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VGG16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99.58 ± 0.01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99.50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400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753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333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Performance on </a:t>
            </a:r>
            <a:r>
              <a:rPr kumimoji="1" lang="en-US" altLang="zh-CN" sz="3200" dirty="0" err="1"/>
              <a:t>FashionMNIST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FE9DB4F4-49BF-4145-90CC-597F36118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625263"/>
              </p:ext>
            </p:extLst>
          </p:nvPr>
        </p:nvGraphicFramePr>
        <p:xfrm>
          <a:off x="2521447" y="1619686"/>
          <a:ext cx="6622552" cy="30610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5638">
                  <a:extLst>
                    <a:ext uri="{9D8B030D-6E8A-4147-A177-3AD203B41FA5}">
                      <a16:colId xmlns:a16="http://schemas.microsoft.com/office/drawing/2014/main" val="2611023811"/>
                    </a:ext>
                  </a:extLst>
                </a:gridCol>
                <a:gridCol w="1655638">
                  <a:extLst>
                    <a:ext uri="{9D8B030D-6E8A-4147-A177-3AD203B41FA5}">
                      <a16:colId xmlns:a16="http://schemas.microsoft.com/office/drawing/2014/main" val="3811817044"/>
                    </a:ext>
                  </a:extLst>
                </a:gridCol>
                <a:gridCol w="1655638">
                  <a:extLst>
                    <a:ext uri="{9D8B030D-6E8A-4147-A177-3AD203B41FA5}">
                      <a16:colId xmlns:a16="http://schemas.microsoft.com/office/drawing/2014/main" val="3549213708"/>
                    </a:ext>
                  </a:extLst>
                </a:gridCol>
                <a:gridCol w="1655638">
                  <a:extLst>
                    <a:ext uri="{9D8B030D-6E8A-4147-A177-3AD203B41FA5}">
                      <a16:colId xmlns:a16="http://schemas.microsoft.com/office/drawing/2014/main" val="3310258148"/>
                    </a:ext>
                  </a:extLst>
                </a:gridCol>
              </a:tblGrid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Model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Arch.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Test acc. [%]</a:t>
                      </a:r>
                    </a:p>
                    <a:p>
                      <a:pPr algn="ctr"/>
                      <a:r>
                        <a:rPr lang="en-US" altLang="zh-CN" b="0" i="0" dirty="0"/>
                        <a:t>(from paper)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i="0" dirty="0"/>
                        <a:t>Test acc. [%]</a:t>
                      </a:r>
                    </a:p>
                    <a:p>
                      <a:pPr algn="ctr"/>
                      <a:r>
                        <a:rPr lang="en-US" altLang="zh-CN" b="0" i="0" dirty="0"/>
                        <a:t>(reproduced)</a:t>
                      </a:r>
                      <a:endParaRPr lang="zh-CN" altLang="en-US" b="0" i="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8019533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ReLU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FC2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90.14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90.22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8835668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TTFS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FC2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90.14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90.31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691802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/>
                        <a:t>ReLU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LeNet5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90.91 ± 0.17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90.73</a:t>
                      </a:r>
                      <a:endParaRPr lang="zh-CN" altLang="en-US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5835950"/>
                  </a:ext>
                </a:extLst>
              </a:tr>
              <a:tr h="6052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TTFS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LeNet5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90.94 ± 0.25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90.80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4006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025224-89E1-1F48-9483-D768A49D9DC3}"/>
              </a:ext>
            </a:extLst>
          </p:cNvPr>
          <p:cNvSpPr txBox="1"/>
          <p:nvPr/>
        </p:nvSpPr>
        <p:spPr>
          <a:xfrm>
            <a:off x="2455184" y="5251515"/>
            <a:ext cx="6744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Implementation is based on </a:t>
            </a:r>
            <a:r>
              <a:rPr kumimoji="1" lang="en-US" altLang="zh-CN" dirty="0" err="1"/>
              <a:t>PyTorch</a:t>
            </a:r>
            <a:r>
              <a:rPr kumimoji="1" lang="en-US" altLang="zh-CN" dirty="0"/>
              <a:t>; Codes will be released on </a:t>
            </a:r>
            <a:r>
              <a:rPr kumimoji="1" lang="en-US" altLang="zh-CN" dirty="0">
                <a:hlinkClick r:id="rId3"/>
              </a:rPr>
              <a:t>GitHub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138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884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Training Equivalence (demo. on a 8-layer MLP)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Discussion</a:t>
              </a:r>
              <a:endParaRPr kumimoji="1" lang="zh-CN" altLang="en-US" sz="2000" dirty="0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61110B10-73F1-064B-BE1D-51612B32E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3998" y="1474304"/>
            <a:ext cx="3553940" cy="21582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79956C-CECD-7049-A183-129D69D2C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7400" y="2210609"/>
            <a:ext cx="4453197" cy="270437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FA80088-6788-BF46-8E16-A4F265229E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3998" y="3897979"/>
            <a:ext cx="3553940" cy="215826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EF5247-9811-7942-8506-10B1DEE3B3AB}"/>
              </a:ext>
            </a:extLst>
          </p:cNvPr>
          <p:cNvCxnSpPr/>
          <p:nvPr/>
        </p:nvCxnSpPr>
        <p:spPr>
          <a:xfrm>
            <a:off x="9857088" y="5421713"/>
            <a:ext cx="1139922" cy="0"/>
          </a:xfrm>
          <a:prstGeom prst="line">
            <a:avLst/>
          </a:prstGeom>
          <a:ln w="3492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F2229C-5966-EB4A-BB74-63DF91927D5C}"/>
              </a:ext>
            </a:extLst>
          </p:cNvPr>
          <p:cNvSpPr txBox="1"/>
          <p:nvPr/>
        </p:nvSpPr>
        <p:spPr>
          <a:xfrm>
            <a:off x="11211340" y="523413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TTFS</a:t>
            </a:r>
            <a:endParaRPr kumimoji="1" lang="zh-CN" alt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6BDA6B-EB1D-CB49-BD12-CFAA2FBB40C6}"/>
              </a:ext>
            </a:extLst>
          </p:cNvPr>
          <p:cNvCxnSpPr/>
          <p:nvPr/>
        </p:nvCxnSpPr>
        <p:spPr>
          <a:xfrm>
            <a:off x="9857088" y="5812652"/>
            <a:ext cx="1139922" cy="0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D1BBEF-8362-0940-A995-FB2074D7A9D5}"/>
              </a:ext>
            </a:extLst>
          </p:cNvPr>
          <p:cNvSpPr txBox="1"/>
          <p:nvPr/>
        </p:nvSpPr>
        <p:spPr>
          <a:xfrm>
            <a:off x="11211340" y="5625376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ReLU</a:t>
            </a:r>
            <a:endParaRPr kumimoji="1"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DCFB14-FE4F-2B41-8E16-23B784F97A8C}"/>
              </a:ext>
            </a:extLst>
          </p:cNvPr>
          <p:cNvSpPr txBox="1"/>
          <p:nvPr/>
        </p:nvSpPr>
        <p:spPr>
          <a:xfrm>
            <a:off x="437259" y="3259722"/>
            <a:ext cx="768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train</a:t>
            </a:r>
            <a:endParaRPr kumimoji="1" lang="zh-CN" alt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B8E05B-E925-F541-B92D-D2AE09171C1D}"/>
              </a:ext>
            </a:extLst>
          </p:cNvPr>
          <p:cNvSpPr txBox="1"/>
          <p:nvPr/>
        </p:nvSpPr>
        <p:spPr>
          <a:xfrm>
            <a:off x="6260232" y="3259721"/>
            <a:ext cx="65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test</a:t>
            </a:r>
            <a:endParaRPr kumimoji="1" lang="zh-CN" altLang="en-US" sz="2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CE4A6F-71D5-1C45-862E-83DCE153892A}"/>
              </a:ext>
            </a:extLst>
          </p:cNvPr>
          <p:cNvCxnSpPr>
            <a:cxnSpLocks/>
          </p:cNvCxnSpPr>
          <p:nvPr/>
        </p:nvCxnSpPr>
        <p:spPr>
          <a:xfrm>
            <a:off x="2044655" y="3393714"/>
            <a:ext cx="33887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BD5D960-128C-5142-8CAE-DAD073022B38}"/>
              </a:ext>
            </a:extLst>
          </p:cNvPr>
          <p:cNvSpPr txBox="1"/>
          <p:nvPr/>
        </p:nvSpPr>
        <p:spPr>
          <a:xfrm>
            <a:off x="5136552" y="339371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epoch</a:t>
            </a:r>
            <a:endParaRPr kumimoji="1" lang="zh-CN" alt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46AA9C-EA49-EA40-89D1-B5BAE7F709F5}"/>
              </a:ext>
            </a:extLst>
          </p:cNvPr>
          <p:cNvCxnSpPr>
            <a:cxnSpLocks/>
          </p:cNvCxnSpPr>
          <p:nvPr/>
        </p:nvCxnSpPr>
        <p:spPr>
          <a:xfrm flipV="1">
            <a:off x="2071159" y="1229300"/>
            <a:ext cx="0" cy="2164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A739A1-1F2C-F740-963C-7CA723CABDEF}"/>
              </a:ext>
            </a:extLst>
          </p:cNvPr>
          <p:cNvSpPr txBox="1"/>
          <p:nvPr/>
        </p:nvSpPr>
        <p:spPr>
          <a:xfrm>
            <a:off x="1537248" y="110497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Acc.</a:t>
            </a:r>
            <a:endParaRPr kumimoji="1" lang="zh-CN" alt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858411-2641-D743-9760-21982DE6555C}"/>
              </a:ext>
            </a:extLst>
          </p:cNvPr>
          <p:cNvCxnSpPr>
            <a:cxnSpLocks/>
          </p:cNvCxnSpPr>
          <p:nvPr/>
        </p:nvCxnSpPr>
        <p:spPr>
          <a:xfrm>
            <a:off x="2044655" y="5795194"/>
            <a:ext cx="33887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2266D7-45AC-B046-B618-D1137D006D92}"/>
              </a:ext>
            </a:extLst>
          </p:cNvPr>
          <p:cNvCxnSpPr>
            <a:cxnSpLocks/>
          </p:cNvCxnSpPr>
          <p:nvPr/>
        </p:nvCxnSpPr>
        <p:spPr>
          <a:xfrm flipV="1">
            <a:off x="2071159" y="3630780"/>
            <a:ext cx="0" cy="2164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A4AB701-D688-9644-8BDB-15588E0B2AA6}"/>
              </a:ext>
            </a:extLst>
          </p:cNvPr>
          <p:cNvSpPr txBox="1"/>
          <p:nvPr/>
        </p:nvSpPr>
        <p:spPr>
          <a:xfrm>
            <a:off x="5136552" y="5795194"/>
            <a:ext cx="984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iteration</a:t>
            </a:r>
            <a:endParaRPr kumimoji="1" lang="zh-CN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213B1D-EA83-7D45-ABBA-13CCFFDC0622}"/>
              </a:ext>
            </a:extLst>
          </p:cNvPr>
          <p:cNvSpPr txBox="1"/>
          <p:nvPr/>
        </p:nvSpPr>
        <p:spPr>
          <a:xfrm>
            <a:off x="1474805" y="339371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Acc.</a:t>
            </a:r>
            <a:endParaRPr kumimoji="1" lang="zh-CN" alt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91C21F-9DB2-A045-AF57-584547717EF6}"/>
              </a:ext>
            </a:extLst>
          </p:cNvPr>
          <p:cNvCxnSpPr>
            <a:cxnSpLocks/>
          </p:cNvCxnSpPr>
          <p:nvPr/>
        </p:nvCxnSpPr>
        <p:spPr>
          <a:xfrm>
            <a:off x="7574568" y="4611412"/>
            <a:ext cx="41271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DBDB607-6891-7F40-8517-65671E031EBA}"/>
              </a:ext>
            </a:extLst>
          </p:cNvPr>
          <p:cNvSpPr txBox="1"/>
          <p:nvPr/>
        </p:nvSpPr>
        <p:spPr>
          <a:xfrm>
            <a:off x="11428648" y="460727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epoch</a:t>
            </a:r>
            <a:endParaRPr kumimoji="1" lang="zh-CN" alt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07329C-BB0F-BB4E-A8C5-A68C92801779}"/>
              </a:ext>
            </a:extLst>
          </p:cNvPr>
          <p:cNvCxnSpPr>
            <a:cxnSpLocks/>
          </p:cNvCxnSpPr>
          <p:nvPr/>
        </p:nvCxnSpPr>
        <p:spPr>
          <a:xfrm flipV="1">
            <a:off x="7601072" y="1616765"/>
            <a:ext cx="0" cy="29946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C5E36BD-9EBA-7D45-8810-6EAEAE38FF6C}"/>
              </a:ext>
            </a:extLst>
          </p:cNvPr>
          <p:cNvSpPr txBox="1"/>
          <p:nvPr/>
        </p:nvSpPr>
        <p:spPr>
          <a:xfrm>
            <a:off x="7049009" y="1445101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Acc.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082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Discussion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Background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Methods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Results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Discussion</a:t>
              </a:r>
              <a:endParaRPr kumimoji="1" lang="zh-CN" altLang="en-US" sz="20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7A9018C-74B4-6E4F-9FB1-C3F2B473E36F}"/>
              </a:ext>
            </a:extLst>
          </p:cNvPr>
          <p:cNvSpPr txBox="1"/>
          <p:nvPr/>
        </p:nvSpPr>
        <p:spPr>
          <a:xfrm>
            <a:off x="325821" y="1048925"/>
            <a:ext cx="9346854" cy="5543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/>
              <a:t>Summary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Potential in the </a:t>
            </a:r>
            <a:r>
              <a:rPr kumimoji="1" lang="en-US" altLang="zh-CN" i="1" dirty="0"/>
              <a:t>firing</a:t>
            </a:r>
            <a:r>
              <a:rPr kumimoji="1" lang="en-US" altLang="zh-CN" dirty="0"/>
              <a:t> phase scales the gradients during </a:t>
            </a:r>
            <a:r>
              <a:rPr kumimoji="1" lang="en-US" altLang="zh-CN" dirty="0" err="1"/>
              <a:t>backpropogation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Always make sure that these potential has same gradient with that of ANN activation functions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/>
              <a:t>Future work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Reproduction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Visualization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Testing on larger benchmarks (e.g., CIFAR10/100, ImageNet, PLACE365, etc.)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Robustness tests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ANN2SNN conversion in TTFS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Other possible directions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mplementing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TTFS on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ResNet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Better Compatibility with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BatchNorm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150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D39E59-0B3B-C744-AB1A-B24BEECF8DF2}"/>
              </a:ext>
            </a:extLst>
          </p:cNvPr>
          <p:cNvSpPr txBox="1"/>
          <p:nvPr/>
        </p:nvSpPr>
        <p:spPr>
          <a:xfrm>
            <a:off x="325821" y="1241888"/>
            <a:ext cx="1096503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Stanojevic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A.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al.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High-performance deep spiking neural networks with 0.3 spikes per neuron.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 Nat </a:t>
            </a:r>
            <a:r>
              <a:rPr lang="en-US" b="0" i="1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Commun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. 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2024 Aug 9;15(1):6793.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Stanojevic</a:t>
            </a:r>
            <a:r>
              <a:rPr lang="en-US" b="0" u="none" strike="noStrike" dirty="0">
                <a:solidFill>
                  <a:srgbClr val="212121"/>
                </a:solidFill>
                <a:effectLst/>
                <a:latin typeface="BlinkMacSystemFont"/>
              </a:rPr>
              <a:t> A.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An exact mapping from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ReLU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networks to spiking neural networks.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Neural </a:t>
            </a:r>
            <a:r>
              <a:rPr lang="en-US" b="0" i="1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Netw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.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2023 Nov;168:74-88.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325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97595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0486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21549</TotalTime>
  <Words>862</Words>
  <Application>Microsoft Macintosh PowerPoint</Application>
  <PresentationFormat>Widescreen</PresentationFormat>
  <Paragraphs>268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BlinkMacSystemFont</vt:lpstr>
      <vt:lpstr>Arial</vt:lpstr>
      <vt:lpstr>Calibri</vt:lpstr>
      <vt:lpstr>Calibri Light</vt:lpstr>
      <vt:lpstr>Cambria Math</vt:lpstr>
      <vt:lpstr>Wingdings</vt:lpstr>
      <vt:lpstr>Office Theme</vt:lpstr>
      <vt:lpstr>Time-to-First-Spike Identity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626</cp:revision>
  <dcterms:created xsi:type="dcterms:W3CDTF">2024-09-08T14:28:50Z</dcterms:created>
  <dcterms:modified xsi:type="dcterms:W3CDTF">2025-06-07T11:54:29Z</dcterms:modified>
</cp:coreProperties>
</file>