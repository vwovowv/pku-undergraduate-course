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9"/>
  </p:notesMasterIdLst>
  <p:sldIdLst>
    <p:sldId id="258" r:id="rId2"/>
    <p:sldId id="260" r:id="rId3"/>
    <p:sldId id="262" r:id="rId4"/>
    <p:sldId id="268" r:id="rId5"/>
    <p:sldId id="271" r:id="rId6"/>
    <p:sldId id="272" r:id="rId7"/>
    <p:sldId id="324" r:id="rId8"/>
    <p:sldId id="325" r:id="rId9"/>
    <p:sldId id="270" r:id="rId10"/>
    <p:sldId id="293" r:id="rId11"/>
    <p:sldId id="295" r:id="rId12"/>
    <p:sldId id="296" r:id="rId13"/>
    <p:sldId id="294" r:id="rId14"/>
    <p:sldId id="297" r:id="rId15"/>
    <p:sldId id="298" r:id="rId16"/>
    <p:sldId id="299" r:id="rId17"/>
    <p:sldId id="300" r:id="rId18"/>
    <p:sldId id="263" r:id="rId19"/>
    <p:sldId id="275" r:id="rId20"/>
    <p:sldId id="276" r:id="rId21"/>
    <p:sldId id="280" r:id="rId22"/>
    <p:sldId id="281" r:id="rId23"/>
    <p:sldId id="283" r:id="rId24"/>
    <p:sldId id="290" r:id="rId25"/>
    <p:sldId id="277" r:id="rId26"/>
    <p:sldId id="289" r:id="rId27"/>
    <p:sldId id="264" r:id="rId28"/>
    <p:sldId id="292" r:id="rId29"/>
    <p:sldId id="278" r:id="rId30"/>
    <p:sldId id="261" r:id="rId31"/>
    <p:sldId id="301" r:id="rId32"/>
    <p:sldId id="259" r:id="rId33"/>
    <p:sldId id="302" r:id="rId34"/>
    <p:sldId id="303" r:id="rId35"/>
    <p:sldId id="304" r:id="rId36"/>
    <p:sldId id="305" r:id="rId37"/>
    <p:sldId id="306" r:id="rId38"/>
    <p:sldId id="308" r:id="rId39"/>
    <p:sldId id="312" r:id="rId40"/>
    <p:sldId id="318" r:id="rId41"/>
    <p:sldId id="307" r:id="rId42"/>
    <p:sldId id="309" r:id="rId43"/>
    <p:sldId id="319" r:id="rId44"/>
    <p:sldId id="313" r:id="rId45"/>
    <p:sldId id="310" r:id="rId46"/>
    <p:sldId id="320" r:id="rId47"/>
    <p:sldId id="316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4C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574"/>
  </p:normalViewPr>
  <p:slideViewPr>
    <p:cSldViewPr snapToGrid="0" snapToObjects="1">
      <p:cViewPr varScale="1">
        <p:scale>
          <a:sx n="128" d="100"/>
          <a:sy n="128" d="100"/>
        </p:scale>
        <p:origin x="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B32C6-AB73-8D49-88FF-179C6E569FEA}" type="datetimeFigureOut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1BC3-A52B-2D4D-8AF9-775E7877A9D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41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C1BC3-A52B-2D4D-8AF9-775E7877A9D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070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C1BC3-A52B-2D4D-8AF9-775E7877A9D3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4307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A52C8-5E5B-8641-8850-C5C421D10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D6B514-954B-1E44-9BD9-F64CFE0EE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578679-81CF-1D47-AE21-05C696967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98427-8461-C54A-8C32-2DDB919E6567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050B62-860A-1E4A-9638-D97B8471C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414DD-C628-B24E-89AE-DEC73E78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7866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4E48B-49A2-914F-ADA0-4D3BD712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AAE87-2D97-D849-B4DD-63CCBA03E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296098-C2E9-4A49-A501-A9D2A639C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D3EB-BFE8-D24C-A284-E22D91E75E98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4195D2-5250-8048-A603-9C275E926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E85F03-878B-AA43-9B33-CC8C00CE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3803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3D59F-B22C-0242-B61F-9FB4B55C8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45B559-9B01-D24D-AA7C-72361590A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83A999-133B-BF4B-AE87-ACB85B83D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156AA-3208-714D-B72A-B5E1D3A00600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81A778-B4DE-E446-906F-ED97D0A21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B76A3F-BB64-9C41-B835-E11A667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5210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2FEB4-D58E-334D-A111-7C101FE17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EDD8B-EDD6-A14E-9C46-D292F02C5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0BE883-26F6-FD4A-B526-9DAEB68A3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4A07E5-A39B-634F-B480-98A02615B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856A-E45F-E448-8D3D-E76E1C3C8E62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D58641-734F-A840-8989-187A73AD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878251-ED31-7343-A1B1-79C15185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2506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2E059-623D-2A45-80EA-C849FEFA6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52EE75-BBC3-474B-88C8-1EFE41E82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2409E7-D967-FD4D-ADC0-10A75C84B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FDF672-2860-F741-9236-205C3FCB2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899FE2-1C6B-8946-8EEB-4F37541EB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43A0B5-603A-A146-AB07-3B9145271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392C4-DD7C-0F47-BA12-EF4AC0A552EE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26E8BA-ACB1-FB45-B5E5-544712370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986E0A-F6BA-404F-A017-66B19A27D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4424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E1E339-BDDE-A04D-95BA-57B313C7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8BA1AA-1FCB-F94B-BD77-E35267A1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D0E-7CBE-1C42-B450-DD297533F1F6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BE3EFF-86C7-2F47-BCE6-ADCA2B095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9AAF83-6A92-E84F-88E6-075976B4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4422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EDA2CA-5B6F-1144-ACBF-20D336039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E727-AD08-C64A-86C9-F492591989BE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6C9248-60C8-FE48-96AB-EF938772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8A4A6A-85BC-B341-9C1E-5CBB833C1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0626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89673-CA51-A04A-AAFE-3EC9B39BB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1412BB-BF4C-444E-B3AB-43C68CEDF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36BEF-ED1E-824A-B4A2-667A70D7F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1DA8C9-94E6-B249-8D7D-57B3D5DE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72A50-9552-564C-B516-193BB21799CB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3DA3DD-C4EF-E64D-AB26-3A71AE25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499BBF-CBAD-5F48-9A25-F6CA5683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4784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6602C7-D68E-0D4B-8A5C-1D6DB6407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6C3189-71CD-2C4B-AA19-A287C5DFCC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947E67-E94A-9641-9CE4-D3E01DFA7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355575-A81D-DF4A-AE1D-6516E96AD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8C0A6-8316-8046-BD3A-7E22B75F41B5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67B69F-5AF6-1A47-B4F8-5BE4FB42C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F73107-B9F3-E146-BFBF-688F43CA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9193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2851F-D637-E847-841D-DC29182B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99F9C4-B1CB-D947-B702-1FAB24D5E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BAD247-0A37-7C4E-8510-254CF0B5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30EFB-5E16-1340-80A6-A52DA843BACE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87979-56C4-E440-AEC2-1131E18A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5FB0D1-7F7D-C543-A7E2-FE84C5C39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1133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8F7BEE-8806-0C4F-AD81-8045EA431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BE5E15-9310-DC49-96D2-329E483B3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0DC7D9-1681-8C4E-A39E-7396B05F9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6402-FB1B-014A-A77B-3F5D80E996CA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AD22D3-EF9B-5A4D-A4F0-10637585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BC07DA-02B3-544B-B77C-A2C2BB58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5947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2D8D1B-A397-3E42-9450-BE5B56AC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3518D3-520F-E14F-956A-B79B71ECA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033014-7E88-1F4A-817D-91EAB6CE2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51E58-BC98-B042-BDBB-A1CA4211AD4C}" type="datetime1">
              <a:rPr kumimoji="1" lang="zh-CN" altLang="en-US" smtClean="0"/>
              <a:t>2024/10/15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405A00-02BE-9942-9A2C-AD224BFF3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E957E8-1672-4447-BA8E-AA9DA6E21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F29E1-2E1E-C747-8838-53A453061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428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FC390E7-F782-A740-8CB1-A5919F41F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s-ES" altLang="zh-CN" dirty="0" err="1">
                <a:latin typeface="Chalkboard" panose="03050602040202020205" pitchFamily="66" charset="0"/>
                <a:cs typeface="Times New Roman" panose="02020603050405020304" pitchFamily="18" charset="0"/>
              </a:rPr>
              <a:t>Processor</a:t>
            </a:r>
            <a:r>
              <a:rPr kumimoji="1" lang="es-ES" altLang="zh-CN" dirty="0">
                <a:latin typeface="Chalkboard" panose="03050602040202020205" pitchFamily="66" charset="0"/>
                <a:cs typeface="Times New Roman" panose="02020603050405020304" pitchFamily="18" charset="0"/>
              </a:rPr>
              <a:t> </a:t>
            </a:r>
            <a:r>
              <a:rPr kumimoji="1" lang="es-ES" altLang="zh-CN" dirty="0" err="1">
                <a:latin typeface="Chalkboard" panose="03050602040202020205" pitchFamily="66" charset="0"/>
                <a:cs typeface="Times New Roman" panose="02020603050405020304" pitchFamily="18" charset="0"/>
              </a:rPr>
              <a:t>Arch</a:t>
            </a:r>
            <a:r>
              <a:rPr kumimoji="1" lang="es-ES" altLang="zh-CN" dirty="0">
                <a:latin typeface="Chalkboard" panose="03050602040202020205" pitchFamily="66" charset="0"/>
                <a:cs typeface="Times New Roman" panose="02020603050405020304" pitchFamily="18" charset="0"/>
              </a:rPr>
              <a:t>: ISA</a:t>
            </a:r>
            <a:r>
              <a:rPr kumimoji="1" lang="zh-CN" altLang="en-US" dirty="0">
                <a:latin typeface="Chalkboard" panose="03050602040202020205" pitchFamily="66" charset="0"/>
                <a:cs typeface="Times New Roman" panose="02020603050405020304" pitchFamily="18" charset="0"/>
              </a:rPr>
              <a:t> </a:t>
            </a:r>
            <a:r>
              <a:rPr kumimoji="1" lang="es-ES" altLang="zh-CN" dirty="0">
                <a:latin typeface="Chalkboard" panose="03050602040202020205" pitchFamily="66" charset="0"/>
                <a:cs typeface="Times New Roman" panose="02020603050405020304" pitchFamily="18" charset="0"/>
              </a:rPr>
              <a:t>&amp;</a:t>
            </a:r>
            <a:r>
              <a:rPr kumimoji="1" lang="zh-CN" altLang="en-US" dirty="0">
                <a:latin typeface="Chalkboard" panose="03050602040202020205" pitchFamily="66" charset="0"/>
                <a:cs typeface="Times New Roman" panose="02020603050405020304" pitchFamily="18" charset="0"/>
              </a:rPr>
              <a:t> </a:t>
            </a:r>
            <a:r>
              <a:rPr kumimoji="1" lang="es-ES" altLang="zh-CN" dirty="0" err="1">
                <a:latin typeface="Chalkboard" panose="03050602040202020205" pitchFamily="66" charset="0"/>
                <a:cs typeface="Times New Roman" panose="02020603050405020304" pitchFamily="18" charset="0"/>
              </a:rPr>
              <a:t>Logic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4467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FC390E7-F782-A740-8CB1-A5919F41F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s-ES" altLang="zh-CN" dirty="0" err="1">
                <a:latin typeface="Chalkboard" panose="03050602040202020205" pitchFamily="66" charset="0"/>
                <a:cs typeface="Times New Roman" panose="02020603050405020304" pitchFamily="18" charset="0"/>
              </a:rPr>
              <a:t>Instruction</a:t>
            </a:r>
            <a:r>
              <a:rPr kumimoji="1" lang="es-ES" altLang="zh-CN" dirty="0">
                <a:latin typeface="Chalkboard" panose="03050602040202020205" pitchFamily="66" charset="0"/>
                <a:cs typeface="Times New Roman" panose="02020603050405020304" pitchFamily="18" charset="0"/>
              </a:rPr>
              <a:t>-Set </a:t>
            </a:r>
            <a:r>
              <a:rPr kumimoji="1" lang="es-ES" altLang="zh-CN" dirty="0" err="1">
                <a:latin typeface="Chalkboard" panose="03050602040202020205" pitchFamily="66" charset="0"/>
                <a:cs typeface="Times New Roman" panose="02020603050405020304" pitchFamily="18" charset="0"/>
              </a:rPr>
              <a:t>Architecture</a:t>
            </a:r>
            <a:r>
              <a:rPr kumimoji="1" lang="es-ES" altLang="zh-CN" dirty="0">
                <a:latin typeface="Chalkboard" panose="03050602040202020205" pitchFamily="66" charset="0"/>
                <a:cs typeface="Times New Roman" panose="02020603050405020304" pitchFamily="18" charset="0"/>
              </a:rPr>
              <a:t> (ISA)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5560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 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3001D6-7D8A-924F-822F-4612EAE34E32}"/>
              </a:ext>
            </a:extLst>
          </p:cNvPr>
          <p:cNvSpPr txBox="1"/>
          <p:nvPr/>
        </p:nvSpPr>
        <p:spPr>
          <a:xfrm>
            <a:off x="378373" y="432826"/>
            <a:ext cx="870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ISA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742876-01FF-684E-A88C-AA4D750AB6D3}"/>
              </a:ext>
            </a:extLst>
          </p:cNvPr>
          <p:cNvSpPr txBox="1"/>
          <p:nvPr/>
        </p:nvSpPr>
        <p:spPr>
          <a:xfrm>
            <a:off x="813749" y="1017601"/>
            <a:ext cx="5545010" cy="5585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Chalkboard" panose="03050602040202020205" pitchFamily="66" charset="0"/>
              </a:rPr>
              <a:t>Instruction-Set Architecture (ISA)</a:t>
            </a:r>
          </a:p>
          <a:p>
            <a:pPr algn="just">
              <a:lnSpc>
                <a:spcPct val="150000"/>
              </a:lnSpc>
            </a:pPr>
            <a:r>
              <a:rPr kumimoji="1" lang="zh-CN" altLang="en-US" sz="2000" dirty="0">
                <a:latin typeface="Chalkboard" panose="03050602040202020205" pitchFamily="66" charset="0"/>
              </a:rPr>
              <a:t>   旧译</a:t>
            </a:r>
            <a:r>
              <a:rPr kumimoji="1" lang="zh-CN" altLang="en-US" sz="2000" b="1" dirty="0">
                <a:latin typeface="Chalkboard" panose="03050602040202020205" pitchFamily="66" charset="0"/>
              </a:rPr>
              <a:t>指令集</a:t>
            </a:r>
            <a:r>
              <a:rPr kumimoji="1" lang="zh-CN" altLang="en-US" sz="2000" dirty="0">
                <a:latin typeface="Chalkboard" panose="03050602040202020205" pitchFamily="66" charset="0"/>
              </a:rPr>
              <a:t>，现在更正式的翻译是</a:t>
            </a:r>
            <a:r>
              <a:rPr kumimoji="1" lang="zh-CN" altLang="en-US" sz="2000" b="1" dirty="0">
                <a:latin typeface="Chalkboard" panose="03050602040202020205" pitchFamily="66" charset="0"/>
              </a:rPr>
              <a:t>指令系统</a:t>
            </a:r>
            <a:endParaRPr kumimoji="1" lang="en-US" altLang="zh-CN" sz="2000" b="1" dirty="0">
              <a:latin typeface="Chalkboard" panose="03050602040202020205" pitchFamily="66" charset="0"/>
            </a:endParaRPr>
          </a:p>
          <a:p>
            <a:pPr algn="just">
              <a:lnSpc>
                <a:spcPct val="150000"/>
              </a:lnSpc>
            </a:pPr>
            <a:r>
              <a:rPr kumimoji="1" lang="zh-CN" altLang="en-US" sz="2000" dirty="0">
                <a:latin typeface="Chalkboard" panose="03050602040202020205" pitchFamily="66" charset="0"/>
              </a:rPr>
              <a:t>   也常用 </a:t>
            </a:r>
            <a:r>
              <a:rPr kumimoji="1" lang="en-US" altLang="zh-CN" sz="2000" dirty="0" err="1">
                <a:latin typeface="Chalkboard" panose="03050602040202020205" pitchFamily="66" charset="0"/>
              </a:rPr>
              <a:t>Architechture</a:t>
            </a:r>
            <a:r>
              <a:rPr kumimoji="1" lang="zh-CN" altLang="en-US" sz="2000" dirty="0">
                <a:latin typeface="Chalkboard" panose="03050602040202020205" pitchFamily="66" charset="0"/>
              </a:rPr>
              <a:t> 指代 </a:t>
            </a:r>
            <a:r>
              <a:rPr kumimoji="1" lang="en-US" altLang="zh-CN" sz="2000" dirty="0">
                <a:latin typeface="Chalkboard" panose="03050602040202020205" pitchFamily="66" charset="0"/>
              </a:rPr>
              <a:t>ISA</a:t>
            </a:r>
            <a:endParaRPr kumimoji="1" lang="en-US" altLang="zh-CN" sz="2000" b="1" dirty="0">
              <a:latin typeface="Chalkboard" panose="03050602040202020205" pitchFamily="66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一个</a:t>
            </a:r>
            <a:r>
              <a:rPr kumimoji="1" lang="zh-CN" altLang="en-US" sz="2000" dirty="0">
                <a:solidFill>
                  <a:srgbClr val="FF0000"/>
                </a:solidFill>
                <a:latin typeface="Chalkboard" panose="03050602040202020205" pitchFamily="66" charset="0"/>
              </a:rPr>
              <a:t>处理器</a:t>
            </a:r>
            <a:r>
              <a:rPr kumimoji="1" lang="zh-CN" altLang="en-US" sz="2000" dirty="0">
                <a:latin typeface="Chalkboard" panose="03050602040202020205" pitchFamily="66" charset="0"/>
              </a:rPr>
              <a:t>支持的</a:t>
            </a:r>
            <a:r>
              <a:rPr kumimoji="1" lang="zh-CN" altLang="en-US" sz="2000" b="1" dirty="0">
                <a:latin typeface="Chalkboard" panose="03050602040202020205" pitchFamily="66" charset="0"/>
              </a:rPr>
              <a:t>指令</a:t>
            </a:r>
            <a:r>
              <a:rPr kumimoji="1" lang="zh-CN" altLang="en-US" sz="2000" dirty="0">
                <a:latin typeface="Chalkboard" panose="03050602040202020205" pitchFamily="66" charset="0"/>
              </a:rPr>
              <a:t>和</a:t>
            </a:r>
            <a:r>
              <a:rPr kumimoji="1" lang="zh-CN" altLang="en-US" sz="2000" b="1" dirty="0">
                <a:latin typeface="Chalkboard" panose="03050602040202020205" pitchFamily="66" charset="0"/>
              </a:rPr>
              <a:t>指令的字节级编码</a:t>
            </a:r>
            <a:endParaRPr kumimoji="1" lang="en-US" altLang="zh-CN" sz="2000" b="1" dirty="0">
              <a:latin typeface="Chalkboard" panose="03050602040202020205" pitchFamily="66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不同处理器“家族”有着不同的</a:t>
            </a:r>
            <a:r>
              <a:rPr kumimoji="1" lang="en-US" altLang="zh-CN" sz="2000" dirty="0">
                <a:latin typeface="Chalkboard" panose="03050602040202020205" pitchFamily="66" charset="0"/>
              </a:rPr>
              <a:t>ISA</a:t>
            </a:r>
            <a:r>
              <a:rPr kumimoji="1" lang="zh-CN" altLang="en-US" sz="2000" dirty="0">
                <a:latin typeface="Chalkboard" panose="03050602040202020205" pitchFamily="66" charset="0"/>
              </a:rPr>
              <a:t>，同一处理器家族的不同型号处理器在 </a:t>
            </a:r>
            <a:r>
              <a:rPr kumimoji="1" lang="en-US" altLang="zh-CN" sz="2000" dirty="0">
                <a:latin typeface="Chalkboard" panose="03050602040202020205" pitchFamily="66" charset="0"/>
              </a:rPr>
              <a:t>ISA</a:t>
            </a:r>
            <a:r>
              <a:rPr kumimoji="1" lang="zh-CN" altLang="en-US" sz="2000" dirty="0">
                <a:latin typeface="Chalkboard" panose="03050602040202020205" pitchFamily="66" charset="0"/>
              </a:rPr>
              <a:t> 层面保持兼容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一旦程序被编译为特定指令集下的汇编程序，就不能在其他指令集机器上运行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Intel IA32 x86-64</a:t>
            </a:r>
          </a:p>
          <a:p>
            <a:pPr algn="just"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   IBM/Freescale Power</a:t>
            </a:r>
          </a:p>
          <a:p>
            <a:pPr algn="just"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   ARM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FD1DD4D-D5CE-E744-8833-76BF38066AF4}"/>
              </a:ext>
            </a:extLst>
          </p:cNvPr>
          <p:cNvSpPr/>
          <p:nvPr/>
        </p:nvSpPr>
        <p:spPr>
          <a:xfrm>
            <a:off x="6726620" y="1240222"/>
            <a:ext cx="2354317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Application Program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9766ACB-2277-0F4F-888B-5210AF87D890}"/>
              </a:ext>
            </a:extLst>
          </p:cNvPr>
          <p:cNvSpPr/>
          <p:nvPr/>
        </p:nvSpPr>
        <p:spPr>
          <a:xfrm>
            <a:off x="6726620" y="1881352"/>
            <a:ext cx="1177159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Compiler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B1C0DA2-59EC-584D-9AE0-260A5C99265F}"/>
              </a:ext>
            </a:extLst>
          </p:cNvPr>
          <p:cNvSpPr/>
          <p:nvPr/>
        </p:nvSpPr>
        <p:spPr>
          <a:xfrm>
            <a:off x="7903778" y="1881352"/>
            <a:ext cx="1177159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OS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C33F0EF-5302-B747-B2B8-B4B42A66A43F}"/>
              </a:ext>
            </a:extLst>
          </p:cNvPr>
          <p:cNvSpPr/>
          <p:nvPr/>
        </p:nvSpPr>
        <p:spPr>
          <a:xfrm>
            <a:off x="6726620" y="2522482"/>
            <a:ext cx="2354317" cy="56755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ISA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858CA9D1-46F3-014E-ADB4-64B3D8696A9B}"/>
              </a:ext>
            </a:extLst>
          </p:cNvPr>
          <p:cNvSpPr/>
          <p:nvPr/>
        </p:nvSpPr>
        <p:spPr>
          <a:xfrm>
            <a:off x="6726620" y="3163612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CPU Design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69E6F99A-B2D8-0847-8D27-86242B76E397}"/>
              </a:ext>
            </a:extLst>
          </p:cNvPr>
          <p:cNvSpPr/>
          <p:nvPr/>
        </p:nvSpPr>
        <p:spPr>
          <a:xfrm>
            <a:off x="6726620" y="3804742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Circuit Design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84A64850-F842-594E-BFC1-E0AE91DEBEFA}"/>
              </a:ext>
            </a:extLst>
          </p:cNvPr>
          <p:cNvSpPr/>
          <p:nvPr/>
        </p:nvSpPr>
        <p:spPr>
          <a:xfrm>
            <a:off x="6726620" y="4445872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Chip Layout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BB601F1F-285E-F741-9297-F3DC4115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3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9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3001D6-7D8A-924F-822F-4612EAE34E32}"/>
              </a:ext>
            </a:extLst>
          </p:cNvPr>
          <p:cNvSpPr txBox="1"/>
          <p:nvPr/>
        </p:nvSpPr>
        <p:spPr>
          <a:xfrm>
            <a:off x="378373" y="432826"/>
            <a:ext cx="870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ISA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FD1DD4D-D5CE-E744-8833-76BF38066AF4}"/>
              </a:ext>
            </a:extLst>
          </p:cNvPr>
          <p:cNvSpPr/>
          <p:nvPr/>
        </p:nvSpPr>
        <p:spPr>
          <a:xfrm>
            <a:off x="493986" y="1313795"/>
            <a:ext cx="2354317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Application Program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9766ACB-2277-0F4F-888B-5210AF87D890}"/>
              </a:ext>
            </a:extLst>
          </p:cNvPr>
          <p:cNvSpPr/>
          <p:nvPr/>
        </p:nvSpPr>
        <p:spPr>
          <a:xfrm>
            <a:off x="493986" y="1954925"/>
            <a:ext cx="1177159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Compiler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B1C0DA2-59EC-584D-9AE0-260A5C99265F}"/>
              </a:ext>
            </a:extLst>
          </p:cNvPr>
          <p:cNvSpPr/>
          <p:nvPr/>
        </p:nvSpPr>
        <p:spPr>
          <a:xfrm>
            <a:off x="1671144" y="1954925"/>
            <a:ext cx="1177159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OS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C33F0EF-5302-B747-B2B8-B4B42A66A43F}"/>
              </a:ext>
            </a:extLst>
          </p:cNvPr>
          <p:cNvSpPr/>
          <p:nvPr/>
        </p:nvSpPr>
        <p:spPr>
          <a:xfrm>
            <a:off x="493986" y="2596055"/>
            <a:ext cx="2354317" cy="56755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ISA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858CA9D1-46F3-014E-ADB4-64B3D8696A9B}"/>
              </a:ext>
            </a:extLst>
          </p:cNvPr>
          <p:cNvSpPr/>
          <p:nvPr/>
        </p:nvSpPr>
        <p:spPr>
          <a:xfrm>
            <a:off x="493986" y="3237185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CPU Design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69E6F99A-B2D8-0847-8D27-86242B76E397}"/>
              </a:ext>
            </a:extLst>
          </p:cNvPr>
          <p:cNvSpPr/>
          <p:nvPr/>
        </p:nvSpPr>
        <p:spPr>
          <a:xfrm>
            <a:off x="493986" y="3878315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Circuit Design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84A64850-F842-594E-BFC1-E0AE91DEBEFA}"/>
              </a:ext>
            </a:extLst>
          </p:cNvPr>
          <p:cNvSpPr/>
          <p:nvPr/>
        </p:nvSpPr>
        <p:spPr>
          <a:xfrm>
            <a:off x="493986" y="4519445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Chip Layout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50310BC5-9996-AE4D-96EF-F99B7F517FEA}"/>
              </a:ext>
            </a:extLst>
          </p:cNvPr>
          <p:cNvSpPr/>
          <p:nvPr/>
        </p:nvSpPr>
        <p:spPr>
          <a:xfrm>
            <a:off x="3026979" y="1313795"/>
            <a:ext cx="252249" cy="120868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1D42622-C8A0-2445-96BF-94333185A5E1}"/>
              </a:ext>
            </a:extLst>
          </p:cNvPr>
          <p:cNvSpPr/>
          <p:nvPr/>
        </p:nvSpPr>
        <p:spPr>
          <a:xfrm>
            <a:off x="3026978" y="3237185"/>
            <a:ext cx="252249" cy="1849818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3441A1-C6B4-C040-8F7D-3F21338D2C34}"/>
              </a:ext>
            </a:extLst>
          </p:cNvPr>
          <p:cNvSpPr txBox="1"/>
          <p:nvPr/>
        </p:nvSpPr>
        <p:spPr>
          <a:xfrm>
            <a:off x="3399491" y="1733473"/>
            <a:ext cx="5340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software</a:t>
            </a:r>
            <a:r>
              <a:rPr kumimoji="1" lang="zh-CN" altLang="en-US" dirty="0">
                <a:latin typeface="Chalkboard" panose="03050602040202020205" pitchFamily="66" charset="0"/>
              </a:rPr>
              <a:t> 编译器编写者只需要知道哪些指令被允许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9928E8-D88B-9047-818F-E15D13315582}"/>
              </a:ext>
            </a:extLst>
          </p:cNvPr>
          <p:cNvSpPr txBox="1"/>
          <p:nvPr/>
        </p:nvSpPr>
        <p:spPr>
          <a:xfrm>
            <a:off x="3399491" y="3977428"/>
            <a:ext cx="609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hardware</a:t>
            </a:r>
            <a:r>
              <a:rPr kumimoji="1" lang="zh-CN" altLang="en-US" dirty="0">
                <a:latin typeface="Chalkboard" panose="03050602040202020205" pitchFamily="66" charset="0"/>
              </a:rPr>
              <a:t> 处理器设计者负责指令在硬件层面的实现与执行</a:t>
            </a:r>
          </a:p>
        </p:txBody>
      </p: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63CAE2D1-BEDA-9F41-B368-7B5075D1D71D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848303" y="2879834"/>
            <a:ext cx="4740166" cy="210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70A5D73-30D4-874B-8B8D-8C4550D91482}"/>
              </a:ext>
            </a:extLst>
          </p:cNvPr>
          <p:cNvSpPr txBox="1"/>
          <p:nvPr/>
        </p:nvSpPr>
        <p:spPr>
          <a:xfrm>
            <a:off x="7588469" y="2615107"/>
            <a:ext cx="3268717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800" dirty="0">
                <a:latin typeface="Chalkboard" panose="03050602040202020205" pitchFamily="66" charset="0"/>
              </a:rPr>
              <a:t>软件与硬件之间</a:t>
            </a:r>
            <a:r>
              <a:rPr kumimoji="1" lang="zh-CN" altLang="en-US" dirty="0">
                <a:latin typeface="Chalkboard" panose="03050602040202020205" pitchFamily="66" charset="0"/>
              </a:rPr>
              <a:t>的接口</a:t>
            </a:r>
            <a:endParaRPr kumimoji="1" lang="en-US" altLang="zh-CN" sz="1800" dirty="0">
              <a:latin typeface="Chalkboard" panose="03050602040202020205" pitchFamily="66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71B22BF5-CE7C-A44E-B4A6-F3C8B995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4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936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0E0DF2F-44AB-7741-923E-6F5054E5B35A}"/>
              </a:ext>
            </a:extLst>
          </p:cNvPr>
          <p:cNvSpPr txBox="1"/>
          <p:nvPr/>
        </p:nvSpPr>
        <p:spPr>
          <a:xfrm>
            <a:off x="378373" y="432826"/>
            <a:ext cx="34678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Microarchitecture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207C1A-EFD4-1845-9680-3F161DBEC36E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C744F2-A329-6F4E-9D72-14306FF625E6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E6C4EB-BAA5-1147-8664-48E709380F3F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C07783-2A6F-D249-8279-2205643F5BF4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87DC92-D089-B94D-9478-0DD490A46237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DA7011-0DD2-694C-9966-3D780CBE6607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A17029C-A0D4-B84F-A2B4-FA25A88E9E2B}"/>
              </a:ext>
            </a:extLst>
          </p:cNvPr>
          <p:cNvSpPr/>
          <p:nvPr/>
        </p:nvSpPr>
        <p:spPr>
          <a:xfrm>
            <a:off x="493986" y="1313795"/>
            <a:ext cx="2354317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Application Program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945C9EC-0C39-7F48-9612-9A32DFD80AEE}"/>
              </a:ext>
            </a:extLst>
          </p:cNvPr>
          <p:cNvSpPr/>
          <p:nvPr/>
        </p:nvSpPr>
        <p:spPr>
          <a:xfrm>
            <a:off x="493986" y="1954925"/>
            <a:ext cx="1177159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Compiler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95BB1BB-C690-E844-AB86-A45E440A56DC}"/>
              </a:ext>
            </a:extLst>
          </p:cNvPr>
          <p:cNvSpPr/>
          <p:nvPr/>
        </p:nvSpPr>
        <p:spPr>
          <a:xfrm>
            <a:off x="1671144" y="1954925"/>
            <a:ext cx="1177159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OS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5011689-6F24-EE40-9754-95EA26B4C2F6}"/>
              </a:ext>
            </a:extLst>
          </p:cNvPr>
          <p:cNvSpPr/>
          <p:nvPr/>
        </p:nvSpPr>
        <p:spPr>
          <a:xfrm>
            <a:off x="493986" y="2596055"/>
            <a:ext cx="2354317" cy="56755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ISA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54DB96C-9971-924E-904F-816659562885}"/>
              </a:ext>
            </a:extLst>
          </p:cNvPr>
          <p:cNvSpPr/>
          <p:nvPr/>
        </p:nvSpPr>
        <p:spPr>
          <a:xfrm>
            <a:off x="493986" y="3237185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CPU Design</a:t>
            </a:r>
            <a:endParaRPr kumimoji="1" lang="zh-CN" altLang="en-US" dirty="0">
              <a:solidFill>
                <a:srgbClr val="FF0000"/>
              </a:solidFill>
              <a:latin typeface="Chalkboard" panose="03050602040202020205" pitchFamily="66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0EC5A6D-5B7C-7C4A-A22F-05FFF2FDC034}"/>
              </a:ext>
            </a:extLst>
          </p:cNvPr>
          <p:cNvSpPr/>
          <p:nvPr/>
        </p:nvSpPr>
        <p:spPr>
          <a:xfrm>
            <a:off x="493986" y="3878315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Circuit Design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9787C7F-6C66-7F4D-9F6D-7903ECFFCDEB}"/>
              </a:ext>
            </a:extLst>
          </p:cNvPr>
          <p:cNvSpPr/>
          <p:nvPr/>
        </p:nvSpPr>
        <p:spPr>
          <a:xfrm>
            <a:off x="493986" y="4519445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Chip Layout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310F9E7-8111-B042-BC80-3D9D8335AA28}"/>
              </a:ext>
            </a:extLst>
          </p:cNvPr>
          <p:cNvSpPr txBox="1"/>
          <p:nvPr/>
        </p:nvSpPr>
        <p:spPr>
          <a:xfrm>
            <a:off x="3225360" y="1251013"/>
            <a:ext cx="6822530" cy="3789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Chalkboard" panose="03050602040202020205" pitchFamily="66" charset="0"/>
              </a:rPr>
              <a:t>微架构</a:t>
            </a:r>
            <a:r>
              <a:rPr lang="en-US" altLang="zh-CN" b="0" i="0" u="none" strike="noStrike" dirty="0">
                <a:effectLst/>
                <a:latin typeface="Chalkboard" panose="03050602040202020205" pitchFamily="66" charset="0"/>
              </a:rPr>
              <a:t> </a:t>
            </a:r>
            <a:r>
              <a:rPr lang="en-US" altLang="zh-CN" dirty="0">
                <a:latin typeface="Chalkboard" panose="03050602040202020205" pitchFamily="66" charset="0"/>
              </a:rPr>
              <a:t>(</a:t>
            </a:r>
            <a:r>
              <a:rPr kumimoji="1" lang="en-US" altLang="zh-CN" sz="1800" dirty="0">
                <a:latin typeface="Chalkboard" panose="03050602040202020205" pitchFamily="66" charset="0"/>
              </a:rPr>
              <a:t>Microarchitecture)</a:t>
            </a:r>
            <a:r>
              <a:rPr kumimoji="1" lang="zh-CN" altLang="en-US" sz="1800" dirty="0">
                <a:latin typeface="Chalkboard" panose="03050602040202020205" pitchFamily="66" charset="0"/>
              </a:rPr>
              <a:t>，与 </a:t>
            </a:r>
            <a:r>
              <a:rPr kumimoji="1" lang="en-US" altLang="zh-CN" sz="1800" dirty="0">
                <a:latin typeface="Chalkboard" panose="03050602040202020205" pitchFamily="66" charset="0"/>
              </a:rPr>
              <a:t>ISA (Architecture)</a:t>
            </a:r>
            <a:r>
              <a:rPr kumimoji="1" lang="zh-CN" altLang="en-US" sz="1800" dirty="0">
                <a:latin typeface="Chalkboard" panose="03050602040202020205" pitchFamily="66" charset="0"/>
              </a:rPr>
              <a:t> 不同</a:t>
            </a:r>
            <a:endParaRPr lang="en-US" altLang="zh-CN" dirty="0">
              <a:latin typeface="Chalkboard" panose="03050602040202020205" pitchFamily="66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Chalkboard" panose="03050602040202020205" pitchFamily="66" charset="0"/>
              </a:rPr>
              <a:t>关注</a:t>
            </a: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Chalkboard" panose="03050602040202020205" pitchFamily="66" charset="0"/>
              </a:rPr>
              <a:t>处理器（</a:t>
            </a:r>
            <a:r>
              <a:rPr lang="es-ES" altLang="zh-CN" b="0" i="0" u="none" strike="noStrike" dirty="0">
                <a:solidFill>
                  <a:srgbClr val="FF0000"/>
                </a:solidFill>
                <a:effectLst/>
                <a:latin typeface="Chalkboard" panose="03050602040202020205" pitchFamily="66" charset="0"/>
              </a:rPr>
              <a:t>CPU</a:t>
            </a:r>
            <a:r>
              <a:rPr lang="zh-CN" altLang="es-ES" b="0" i="0" u="none" strike="noStrike" dirty="0">
                <a:solidFill>
                  <a:srgbClr val="FF0000"/>
                </a:solidFill>
                <a:effectLst/>
                <a:latin typeface="Chalkboard" panose="03050602040202020205" pitchFamily="66" charset="0"/>
              </a:rPr>
              <a:t>）</a:t>
            </a:r>
            <a:r>
              <a:rPr lang="zh-CN" altLang="en-US" b="0" i="0" u="none" strike="noStrike" dirty="0">
                <a:solidFill>
                  <a:srgbClr val="FF0000"/>
                </a:solidFill>
                <a:effectLst/>
                <a:latin typeface="Chalkboard" panose="03050602040202020205" pitchFamily="66" charset="0"/>
              </a:rPr>
              <a:t>内部的设计和实现</a:t>
            </a:r>
            <a:endParaRPr lang="en-US" altLang="zh-CN" b="0" i="0" u="none" strike="noStrike" dirty="0">
              <a:solidFill>
                <a:srgbClr val="FF0000"/>
              </a:solidFill>
              <a:effectLst/>
              <a:latin typeface="Chalkboard" panose="03050602040202020205" pitchFamily="66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u="none" strike="noStrike" dirty="0">
                <a:effectLst/>
                <a:latin typeface="Chalkboard" panose="03050602040202020205" pitchFamily="66" charset="0"/>
              </a:rPr>
              <a:t>描述了处理器</a:t>
            </a:r>
            <a:r>
              <a:rPr lang="zh-CN" altLang="en-US" b="1" i="0" u="none" strike="noStrike" dirty="0">
                <a:effectLst/>
                <a:latin typeface="Chalkboard" panose="03050602040202020205" pitchFamily="66" charset="0"/>
              </a:rPr>
              <a:t>如何执行特定体系结构中的指令集</a:t>
            </a:r>
            <a:r>
              <a:rPr lang="zh-CN" altLang="en-US" b="0" i="0" u="none" strike="noStrike" dirty="0">
                <a:effectLst/>
                <a:latin typeface="Chalkboard" panose="03050602040202020205" pitchFamily="66" charset="0"/>
              </a:rPr>
              <a:t>，以实现高性能和效率</a:t>
            </a:r>
            <a:r>
              <a:rPr lang="zh-CN" altLang="en-US" dirty="0">
                <a:latin typeface="Chalkboard" panose="03050602040202020205" pitchFamily="66" charset="0"/>
              </a:rPr>
              <a:t>；</a:t>
            </a:r>
            <a:r>
              <a:rPr lang="zh-CN" altLang="en-US" b="0" i="0" u="none" strike="noStrike" dirty="0">
                <a:effectLst/>
                <a:latin typeface="Chalkboard" panose="03050602040202020205" pitchFamily="66" charset="0"/>
              </a:rPr>
              <a:t>涉及到处理器的内部组件、数据通路、控制逻辑、缓存、流水线结构等</a:t>
            </a:r>
            <a:endParaRPr lang="en-US" altLang="zh-CN" b="0" i="0" u="none" strike="noStrike" dirty="0">
              <a:effectLst/>
              <a:latin typeface="Chalkboard" panose="03050602040202020205" pitchFamily="66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Chalkboard" panose="03050602040202020205" pitchFamily="66" charset="0"/>
              </a:rPr>
              <a:t>即使 </a:t>
            </a:r>
            <a:r>
              <a:rPr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ISA</a:t>
            </a:r>
            <a:r>
              <a:rPr lang="zh-CN" altLang="en-US" dirty="0">
                <a:solidFill>
                  <a:srgbClr val="FF0000"/>
                </a:solidFill>
                <a:latin typeface="Chalkboard" panose="03050602040202020205" pitchFamily="66" charset="0"/>
              </a:rPr>
              <a:t> 相同，</a:t>
            </a:r>
            <a:r>
              <a:rPr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Microarchitecture</a:t>
            </a:r>
            <a:r>
              <a:rPr lang="zh-CN" altLang="en-US" dirty="0">
                <a:solidFill>
                  <a:srgbClr val="FF0000"/>
                </a:solidFill>
                <a:latin typeface="Chalkboard" panose="03050602040202020205" pitchFamily="66" charset="0"/>
              </a:rPr>
              <a:t> 也可不同</a:t>
            </a:r>
            <a:endParaRPr lang="en-US" altLang="zh-CN" b="0" i="0" u="none" strike="noStrike" dirty="0">
              <a:solidFill>
                <a:srgbClr val="FF0000"/>
              </a:solidFill>
              <a:effectLst/>
              <a:latin typeface="Chalkboard" panose="03050602040202020205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Chalkboard" panose="03050602040202020205" pitchFamily="66" charset="0"/>
              </a:rPr>
              <a:t>   </a:t>
            </a:r>
            <a:r>
              <a:rPr lang="zh-CN" altLang="en-US" b="0" i="0" u="none" strike="noStrike" dirty="0">
                <a:effectLst/>
                <a:latin typeface="Chalkboard" panose="03050602040202020205" pitchFamily="66" charset="0"/>
              </a:rPr>
              <a:t>不同的 </a:t>
            </a:r>
            <a:r>
              <a:rPr lang="es-ES" altLang="zh-CN" b="0" i="0" u="none" strike="noStrike" dirty="0">
                <a:effectLst/>
                <a:latin typeface="Chalkboard" panose="03050602040202020205" pitchFamily="66" charset="0"/>
              </a:rPr>
              <a:t>CPU </a:t>
            </a:r>
            <a:r>
              <a:rPr lang="zh-CN" altLang="en-US" b="0" i="0" u="none" strike="noStrike" dirty="0">
                <a:effectLst/>
                <a:latin typeface="Chalkboard" panose="03050602040202020205" pitchFamily="66" charset="0"/>
              </a:rPr>
              <a:t>制造商和产品线通常有不同的微架构，即使它们   </a:t>
            </a:r>
            <a:endParaRPr lang="en-US" altLang="zh-CN" b="0" i="0" u="none" strike="noStrike" dirty="0">
              <a:effectLst/>
              <a:latin typeface="Chalkboard" panose="03050602040202020205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Chalkboard" panose="03050602040202020205" pitchFamily="66" charset="0"/>
              </a:rPr>
              <a:t>   </a:t>
            </a:r>
            <a:r>
              <a:rPr lang="zh-CN" altLang="en-US" b="1" i="0" u="none" strike="noStrike" dirty="0">
                <a:effectLst/>
                <a:latin typeface="Chalkboard" panose="03050602040202020205" pitchFamily="66" charset="0"/>
              </a:rPr>
              <a:t>共享相同的体系结构</a:t>
            </a:r>
            <a:r>
              <a:rPr lang="zh-CN" altLang="en-US" b="0" i="0" u="none" strike="noStrike" dirty="0">
                <a:effectLst/>
                <a:latin typeface="Chalkboard" panose="03050602040202020205" pitchFamily="66" charset="0"/>
              </a:rPr>
              <a:t>。不同的微架构可以采用不同的设计方法</a:t>
            </a:r>
            <a:endParaRPr lang="en-US" altLang="zh-CN" b="0" i="0" u="none" strike="noStrike" dirty="0">
              <a:effectLst/>
              <a:latin typeface="Chalkboard" panose="03050602040202020205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Chalkboard" panose="03050602040202020205" pitchFamily="66" charset="0"/>
              </a:rPr>
              <a:t>   </a:t>
            </a:r>
            <a:r>
              <a:rPr lang="zh-CN" altLang="en-US" b="0" i="0" u="none" strike="noStrike" dirty="0">
                <a:effectLst/>
                <a:latin typeface="Chalkboard" panose="03050602040202020205" pitchFamily="66" charset="0"/>
              </a:rPr>
              <a:t>和技术，以实现不同性能、功耗和特性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B3CE529-984E-6344-80D3-3D2F86E2227F}"/>
              </a:ext>
            </a:extLst>
          </p:cNvPr>
          <p:cNvSpPr txBox="1"/>
          <p:nvPr/>
        </p:nvSpPr>
        <p:spPr>
          <a:xfrm>
            <a:off x="493986" y="5274309"/>
            <a:ext cx="6515886" cy="1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x86-64 ISA 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Intel: Nehalem, Sandy Bridge, Ivy Bridge, Haswell, Skylake…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AMD: K8, Bulldozer, Piledriver, Zen, Zen2</a:t>
            </a:r>
            <a:endParaRPr kumimoji="1" lang="zh-CN" altLang="en-US" dirty="0">
              <a:solidFill>
                <a:schemeClr val="bg2">
                  <a:lumMod val="75000"/>
                </a:schemeClr>
              </a:solidFill>
              <a:latin typeface="Chalkboard" panose="03050602040202020205" pitchFamily="66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8CB4089-A7F7-F94E-BBB5-930D45BE0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283" y="3237185"/>
            <a:ext cx="2175714" cy="2936454"/>
          </a:xfrm>
          <a:prstGeom prst="rect">
            <a:avLst/>
          </a:prstGeom>
        </p:spPr>
      </p:pic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F94F9885-E6DC-C542-99A5-35E1B35C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5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967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0E0DF2F-44AB-7741-923E-6F5054E5B35A}"/>
              </a:ext>
            </a:extLst>
          </p:cNvPr>
          <p:cNvSpPr txBox="1"/>
          <p:nvPr/>
        </p:nvSpPr>
        <p:spPr>
          <a:xfrm>
            <a:off x="378373" y="432826"/>
            <a:ext cx="870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ISA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207C1A-EFD4-1845-9680-3F161DBEC36E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C744F2-A329-6F4E-9D72-14306FF625E6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E6C4EB-BAA5-1147-8664-48E709380F3F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C07783-2A6F-D249-8279-2205643F5BF4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87DC92-D089-B94D-9478-0DD490A46237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DA7011-0DD2-694C-9966-3D780CBE6607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E499C467-6DF3-BB46-8FAF-4B7132177B30}"/>
              </a:ext>
            </a:extLst>
          </p:cNvPr>
          <p:cNvSpPr/>
          <p:nvPr/>
        </p:nvSpPr>
        <p:spPr>
          <a:xfrm>
            <a:off x="378373" y="2870050"/>
            <a:ext cx="2354317" cy="56755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ISA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408D500-EDDD-0A4C-8DD8-AEC79B7E21A2}"/>
              </a:ext>
            </a:extLst>
          </p:cNvPr>
          <p:cNvSpPr/>
          <p:nvPr/>
        </p:nvSpPr>
        <p:spPr>
          <a:xfrm>
            <a:off x="3741683" y="1650125"/>
            <a:ext cx="3657599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s-ES" altLang="zh-CN" dirty="0">
                <a:latin typeface="Chalkboard" panose="03050602040202020205" pitchFamily="66" charset="0"/>
              </a:rPr>
              <a:t>﻿</a:t>
            </a:r>
            <a:r>
              <a:rPr kumimoji="1" lang="es-ES" altLang="zh-CN" dirty="0" err="1">
                <a:latin typeface="Chalkboard" panose="03050602040202020205" pitchFamily="66" charset="0"/>
              </a:rPr>
              <a:t>states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20FEAACA-482F-B840-B2C3-8BD2C83E0C53}"/>
              </a:ext>
            </a:extLst>
          </p:cNvPr>
          <p:cNvSpPr/>
          <p:nvPr/>
        </p:nvSpPr>
        <p:spPr>
          <a:xfrm>
            <a:off x="3741683" y="2893698"/>
            <a:ext cx="3657600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﻿instructions and their encodings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1452F69C-9D52-B644-90DC-FA139EE52736}"/>
              </a:ext>
            </a:extLst>
          </p:cNvPr>
          <p:cNvSpPr/>
          <p:nvPr/>
        </p:nvSpPr>
        <p:spPr>
          <a:xfrm>
            <a:off x="3741682" y="4142526"/>
            <a:ext cx="3657600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﻿ programming conventions</a:t>
            </a:r>
          </a:p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handling of exceptional events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D598021F-3DEF-6744-9D33-79C68828CEA4}"/>
              </a:ext>
            </a:extLst>
          </p:cNvPr>
          <p:cNvSpPr/>
          <p:nvPr/>
        </p:nvSpPr>
        <p:spPr>
          <a:xfrm>
            <a:off x="2953407" y="1889960"/>
            <a:ext cx="283779" cy="2617076"/>
          </a:xfrm>
          <a:prstGeom prst="leftBrace">
            <a:avLst>
              <a:gd name="adj1" fmla="val 6388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96D372-F527-3742-A85C-08AB30A7BE4A}"/>
              </a:ext>
            </a:extLst>
          </p:cNvPr>
          <p:cNvSpPr txBox="1"/>
          <p:nvPr/>
        </p:nvSpPr>
        <p:spPr>
          <a:xfrm>
            <a:off x="7629097" y="174923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halkboard" panose="03050602040202020205" pitchFamily="66" charset="0"/>
              </a:rPr>
              <a:t>各种状态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0DAC2D-9AB4-BA4F-8BB2-7A0820E4C8F4}"/>
              </a:ext>
            </a:extLst>
          </p:cNvPr>
          <p:cNvSpPr txBox="1"/>
          <p:nvPr/>
        </p:nvSpPr>
        <p:spPr>
          <a:xfrm>
            <a:off x="7629097" y="296916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halkboard" panose="03050602040202020205" pitchFamily="66" charset="0"/>
              </a:rPr>
              <a:t>指令及其编码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808176D-30CB-6749-A44F-4FCD91F9F572}"/>
              </a:ext>
            </a:extLst>
          </p:cNvPr>
          <p:cNvSpPr txBox="1"/>
          <p:nvPr/>
        </p:nvSpPr>
        <p:spPr>
          <a:xfrm>
            <a:off x="7629097" y="4255955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halkboard" panose="03050602040202020205" pitchFamily="66" charset="0"/>
              </a:rPr>
              <a:t>编程规范和异常事件处理</a:t>
            </a:r>
          </a:p>
        </p:txBody>
      </p:sp>
      <p:sp>
        <p:nvSpPr>
          <p:cNvPr id="26" name="灯片编号占位符 25">
            <a:extLst>
              <a:ext uri="{FF2B5EF4-FFF2-40B4-BE49-F238E27FC236}">
                <a16:creationId xmlns:a16="http://schemas.microsoft.com/office/drawing/2014/main" id="{04B1DF65-BA3F-FB42-902E-41B4B759E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5026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6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711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0E0DF2F-44AB-7741-923E-6F5054E5B35A}"/>
              </a:ext>
            </a:extLst>
          </p:cNvPr>
          <p:cNvSpPr txBox="1"/>
          <p:nvPr/>
        </p:nvSpPr>
        <p:spPr>
          <a:xfrm>
            <a:off x="378373" y="432826"/>
            <a:ext cx="870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ISA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207C1A-EFD4-1845-9680-3F161DBEC36E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C744F2-A329-6F4E-9D72-14306FF625E6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E6C4EB-BAA5-1147-8664-48E709380F3F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C07783-2A6F-D249-8279-2205643F5BF4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87DC92-D089-B94D-9478-0DD490A46237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DA7011-0DD2-694C-9966-3D780CBE6607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26" name="灯片编号占位符 25">
            <a:extLst>
              <a:ext uri="{FF2B5EF4-FFF2-40B4-BE49-F238E27FC236}">
                <a16:creationId xmlns:a16="http://schemas.microsoft.com/office/drawing/2014/main" id="{04B1DF65-BA3F-FB42-902E-41B4B759E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5026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7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3F649F2-F287-A049-931F-A366F7366645}"/>
              </a:ext>
            </a:extLst>
          </p:cNvPr>
          <p:cNvSpPr txBox="1"/>
          <p:nvPr/>
        </p:nvSpPr>
        <p:spPr>
          <a:xfrm>
            <a:off x="530818" y="1683558"/>
            <a:ext cx="8682756" cy="2806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Chalkboard" panose="03050602040202020205" pitchFamily="66" charset="0"/>
              </a:rPr>
              <a:t>以下概念是否由</a:t>
            </a:r>
            <a:r>
              <a:rPr lang="en-US" altLang="zh-CN" sz="2400" dirty="0">
                <a:latin typeface="Chalkboard" panose="03050602040202020205" pitchFamily="66" charset="0"/>
              </a:rPr>
              <a:t>ISA</a:t>
            </a:r>
            <a:r>
              <a:rPr lang="zh-CN" altLang="en-US" sz="2400" dirty="0">
                <a:latin typeface="Chalkboard" panose="03050602040202020205" pitchFamily="66" charset="0"/>
              </a:rPr>
              <a:t>规定？</a:t>
            </a:r>
            <a:endParaRPr lang="en-US" altLang="zh-CN" sz="2400" dirty="0"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halkboard" panose="03050602040202020205" pitchFamily="66" charset="0"/>
              </a:rPr>
              <a:t>1. r</a:t>
            </a:r>
            <a:r>
              <a:rPr lang="zh-CN" altLang="en-US" sz="2400" dirty="0">
                <a:latin typeface="Chalkboard" panose="03050602040202020205" pitchFamily="66" charset="0"/>
              </a:rPr>
              <a:t>egister</a:t>
            </a:r>
            <a:r>
              <a:rPr lang="en-US" altLang="zh-CN" sz="2400" dirty="0">
                <a:latin typeface="Chalkboard" panose="03050602040202020205" pitchFamily="66" charset="0"/>
              </a:rPr>
              <a:t>s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halkboard" panose="03050602040202020205" pitchFamily="66" charset="0"/>
              </a:rPr>
              <a:t>2.</a:t>
            </a:r>
            <a:r>
              <a:rPr lang="zh-CN" altLang="en-US" sz="2400" dirty="0">
                <a:latin typeface="Chalkboard" panose="03050602040202020205" pitchFamily="66" charset="0"/>
              </a:rPr>
              <a:t> </a:t>
            </a:r>
            <a:r>
              <a:rPr lang="en-US" altLang="zh-CN" sz="2400" dirty="0" err="1">
                <a:latin typeface="Chalkboard" panose="03050602040202020205" pitchFamily="66" charset="0"/>
              </a:rPr>
              <a:t>nop</a:t>
            </a:r>
            <a:r>
              <a:rPr lang="en-US" altLang="zh-CN" sz="2400" dirty="0">
                <a:latin typeface="Chalkboard" panose="03050602040202020205" pitchFamily="66" charset="0"/>
              </a:rPr>
              <a:t> instruction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halkboard" panose="03050602040202020205" pitchFamily="66" charset="0"/>
              </a:rPr>
              <a:t>3. m</a:t>
            </a:r>
            <a:r>
              <a:rPr lang="zh-CN" altLang="en-US" sz="2400" dirty="0">
                <a:latin typeface="Chalkboard" panose="03050602040202020205" pitchFamily="66" charset="0"/>
              </a:rPr>
              <a:t>emory address width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halkboard" panose="03050602040202020205" pitchFamily="66" charset="0"/>
              </a:rPr>
              <a:t>4. c</a:t>
            </a:r>
            <a:r>
              <a:rPr lang="zh-CN" altLang="en-US" sz="2400" dirty="0">
                <a:latin typeface="Chalkboard" panose="03050602040202020205" pitchFamily="66" charset="0"/>
              </a:rPr>
              <a:t>ondition codes, status flags</a:t>
            </a:r>
          </a:p>
        </p:txBody>
      </p:sp>
    </p:spTree>
    <p:extLst>
      <p:ext uri="{BB962C8B-B14F-4D97-AF65-F5344CB8AC3E}">
        <p14:creationId xmlns:p14="http://schemas.microsoft.com/office/powerpoint/2010/main" val="2830165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0E0DF2F-44AB-7741-923E-6F5054E5B35A}"/>
              </a:ext>
            </a:extLst>
          </p:cNvPr>
          <p:cNvSpPr txBox="1"/>
          <p:nvPr/>
        </p:nvSpPr>
        <p:spPr>
          <a:xfrm>
            <a:off x="378373" y="432826"/>
            <a:ext cx="870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ISA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207C1A-EFD4-1845-9680-3F161DBEC36E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C744F2-A329-6F4E-9D72-14306FF625E6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E6C4EB-BAA5-1147-8664-48E709380F3F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C07783-2A6F-D249-8279-2205643F5BF4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87DC92-D089-B94D-9478-0DD490A46237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DA7011-0DD2-694C-9966-3D780CBE6607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26" name="灯片编号占位符 25">
            <a:extLst>
              <a:ext uri="{FF2B5EF4-FFF2-40B4-BE49-F238E27FC236}">
                <a16:creationId xmlns:a16="http://schemas.microsoft.com/office/drawing/2014/main" id="{04B1DF65-BA3F-FB42-902E-41B4B759E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5026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8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3F649F2-F287-A049-931F-A366F7366645}"/>
              </a:ext>
            </a:extLst>
          </p:cNvPr>
          <p:cNvSpPr txBox="1"/>
          <p:nvPr/>
        </p:nvSpPr>
        <p:spPr>
          <a:xfrm>
            <a:off x="530818" y="1683558"/>
            <a:ext cx="8682756" cy="2806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Chalkboard" panose="03050602040202020205" pitchFamily="66" charset="0"/>
              </a:rPr>
              <a:t>以下概念是否由</a:t>
            </a:r>
            <a:r>
              <a:rPr lang="en-US" altLang="zh-CN" sz="2400" dirty="0">
                <a:latin typeface="Chalkboard" panose="03050602040202020205" pitchFamily="66" charset="0"/>
              </a:rPr>
              <a:t>ISA</a:t>
            </a:r>
            <a:r>
              <a:rPr lang="zh-CN" altLang="en-US" sz="2400" dirty="0">
                <a:latin typeface="Chalkboard" panose="03050602040202020205" pitchFamily="66" charset="0"/>
              </a:rPr>
              <a:t>规定？</a:t>
            </a:r>
            <a:endParaRPr lang="en-US" altLang="zh-CN" sz="2400" dirty="0"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halkboard" panose="03050602040202020205" pitchFamily="66" charset="0"/>
              </a:rPr>
              <a:t>1. r</a:t>
            </a:r>
            <a:r>
              <a:rPr lang="zh-CN" altLang="en-US" sz="2400" dirty="0">
                <a:latin typeface="Chalkboard" panose="03050602040202020205" pitchFamily="66" charset="0"/>
              </a:rPr>
              <a:t>egister</a:t>
            </a:r>
            <a:r>
              <a:rPr lang="en-US" altLang="zh-CN" sz="2400" dirty="0">
                <a:latin typeface="Chalkboard" panose="03050602040202020205" pitchFamily="66" charset="0"/>
              </a:rPr>
              <a:t>s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halkboard" panose="03050602040202020205" pitchFamily="66" charset="0"/>
              </a:rPr>
              <a:t>2.</a:t>
            </a:r>
            <a:r>
              <a:rPr lang="zh-CN" altLang="en-US" sz="2400" dirty="0">
                <a:latin typeface="Chalkboard" panose="03050602040202020205" pitchFamily="66" charset="0"/>
              </a:rPr>
              <a:t> </a:t>
            </a:r>
            <a:r>
              <a:rPr lang="en-US" altLang="zh-CN" sz="2400" dirty="0" err="1">
                <a:latin typeface="Chalkboard" panose="03050602040202020205" pitchFamily="66" charset="0"/>
              </a:rPr>
              <a:t>nop</a:t>
            </a:r>
            <a:r>
              <a:rPr lang="en-US" altLang="zh-CN" sz="2400" dirty="0">
                <a:latin typeface="Chalkboard" panose="03050602040202020205" pitchFamily="66" charset="0"/>
              </a:rPr>
              <a:t> instruction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halkboard" panose="03050602040202020205" pitchFamily="66" charset="0"/>
              </a:rPr>
              <a:t>3. m</a:t>
            </a:r>
            <a:r>
              <a:rPr lang="zh-CN" altLang="en-US" sz="2400" dirty="0">
                <a:latin typeface="Chalkboard" panose="03050602040202020205" pitchFamily="66" charset="0"/>
              </a:rPr>
              <a:t>emory address width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halkboard" panose="03050602040202020205" pitchFamily="66" charset="0"/>
              </a:rPr>
              <a:t>4. c</a:t>
            </a:r>
            <a:r>
              <a:rPr lang="zh-CN" altLang="en-US" sz="2400" dirty="0">
                <a:latin typeface="Chalkboard" panose="03050602040202020205" pitchFamily="66" charset="0"/>
              </a:rPr>
              <a:t>ondition codes, status flags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B68FBE-670C-104C-B811-237EFC729F9B}"/>
              </a:ext>
            </a:extLst>
          </p:cNvPr>
          <p:cNvSpPr txBox="1"/>
          <p:nvPr/>
        </p:nvSpPr>
        <p:spPr>
          <a:xfrm>
            <a:off x="5483182" y="2237685"/>
            <a:ext cx="365806" cy="2252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Chalkboard" panose="03050602040202020205" pitchFamily="66" charset="0"/>
              </a:rPr>
              <a:t>Y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Chalkboard" panose="03050602040202020205" pitchFamily="66" charset="0"/>
              </a:rPr>
              <a:t>Y</a:t>
            </a: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solidFill>
                  <a:srgbClr val="FF0000"/>
                </a:solidFill>
                <a:latin typeface="Chalkboard" panose="03050602040202020205" pitchFamily="66" charset="0"/>
              </a:rPr>
              <a:t>Y</a:t>
            </a: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solidFill>
                  <a:srgbClr val="FF0000"/>
                </a:solidFill>
                <a:latin typeface="Chalkboard" panose="03050602040202020205" pitchFamily="66" charset="0"/>
              </a:rPr>
              <a:t>Y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495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3001D6-7D8A-924F-822F-4612EAE34E32}"/>
              </a:ext>
            </a:extLst>
          </p:cNvPr>
          <p:cNvSpPr txBox="1"/>
          <p:nvPr/>
        </p:nvSpPr>
        <p:spPr>
          <a:xfrm>
            <a:off x="378373" y="432826"/>
            <a:ext cx="26100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RISC &amp; CISC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3862465-FBCE-774E-9889-1917E425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441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9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E3AABC-7DC8-B340-863C-6AA5DF044E28}"/>
              </a:ext>
            </a:extLst>
          </p:cNvPr>
          <p:cNvSpPr txBox="1"/>
          <p:nvPr/>
        </p:nvSpPr>
        <p:spPr>
          <a:xfrm>
            <a:off x="423289" y="1017601"/>
            <a:ext cx="8016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RISC: Reduced Instruction-Set Computer</a:t>
            </a:r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 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(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ARM, RISC-V, MIPS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)</a:t>
            </a:r>
          </a:p>
          <a:p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CISC: Complex Instruction-Set Computer (x86: IA32, x86-64; AVX)</a:t>
            </a:r>
            <a:endParaRPr kumimoji="1" lang="zh-CN" altLang="en-US" dirty="0">
              <a:solidFill>
                <a:schemeClr val="bg2">
                  <a:lumMod val="75000"/>
                </a:schemeClr>
              </a:solidFill>
              <a:latin typeface="Chalkboard" panose="03050602040202020205" pitchFamily="66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72EBA9E-F464-FB42-AA1D-FA69C8A6F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29" y="1663932"/>
            <a:ext cx="6522955" cy="4789005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2F6E65DD-1BCC-4648-9093-346E8C3CD535}"/>
              </a:ext>
            </a:extLst>
          </p:cNvPr>
          <p:cNvSpPr txBox="1"/>
          <p:nvPr/>
        </p:nvSpPr>
        <p:spPr>
          <a:xfrm>
            <a:off x="7367751" y="2985565"/>
            <a:ext cx="3699642" cy="2543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latin typeface="Chalkboard" panose="03050602040202020205" pitchFamily="66" charset="0"/>
              </a:rPr>
              <a:t>RISC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出现晚于</a:t>
            </a:r>
            <a:r>
              <a:rPr kumimoji="1" lang="en-US" altLang="zh-CN" dirty="0">
                <a:latin typeface="Chalkboard" panose="03050602040202020205" pitchFamily="66" charset="0"/>
              </a:rPr>
              <a:t>CISC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可以用很少的硬件实现，能以高效的流水线结构组织起来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load/store</a:t>
            </a:r>
            <a:r>
              <a:rPr kumimoji="1" lang="zh-CN" altLang="en-US" dirty="0">
                <a:solidFill>
                  <a:srgbClr val="FF0000"/>
                </a:solidFill>
                <a:latin typeface="Chalkboard" panose="03050602040202020205" pitchFamily="66" charset="0"/>
              </a:rPr>
              <a:t>体系结构</a:t>
            </a:r>
            <a:endParaRPr kumimoji="1" lang="en-US" altLang="zh-CN" dirty="0">
              <a:solidFill>
                <a:srgbClr val="FF0000"/>
              </a:solidFill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Chalkboard" panose="03050602040202020205" pitchFamily="66" charset="0"/>
              </a:rPr>
              <a:t>无条件码</a:t>
            </a:r>
          </a:p>
        </p:txBody>
      </p:sp>
    </p:spTree>
    <p:extLst>
      <p:ext uri="{BB962C8B-B14F-4D97-AF65-F5344CB8AC3E}">
        <p14:creationId xmlns:p14="http://schemas.microsoft.com/office/powerpoint/2010/main" val="3375919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3001D6-7D8A-924F-822F-4612EAE34E32}"/>
              </a:ext>
            </a:extLst>
          </p:cNvPr>
          <p:cNvSpPr txBox="1"/>
          <p:nvPr/>
        </p:nvSpPr>
        <p:spPr>
          <a:xfrm>
            <a:off x="378373" y="432826"/>
            <a:ext cx="26100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RISC &amp; CISC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3862465-FBCE-774E-9889-1917E425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441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10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graphicFrame>
        <p:nvGraphicFramePr>
          <p:cNvPr id="9" name="表格 10">
            <a:extLst>
              <a:ext uri="{FF2B5EF4-FFF2-40B4-BE49-F238E27FC236}">
                <a16:creationId xmlns:a16="http://schemas.microsoft.com/office/drawing/2014/main" id="{6A006D8B-8570-4F47-9890-B3128C7EF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076190"/>
              </p:ext>
            </p:extLst>
          </p:nvPr>
        </p:nvGraphicFramePr>
        <p:xfrm>
          <a:off x="491434" y="1017601"/>
          <a:ext cx="9447696" cy="5283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3848">
                  <a:extLst>
                    <a:ext uri="{9D8B030D-6E8A-4147-A177-3AD203B41FA5}">
                      <a16:colId xmlns:a16="http://schemas.microsoft.com/office/drawing/2014/main" val="4236144630"/>
                    </a:ext>
                  </a:extLst>
                </a:gridCol>
                <a:gridCol w="4723848">
                  <a:extLst>
                    <a:ext uri="{9D8B030D-6E8A-4147-A177-3AD203B41FA5}">
                      <a16:colId xmlns:a16="http://schemas.microsoft.com/office/drawing/2014/main" val="3280103118"/>
                    </a:ext>
                  </a:extLst>
                </a:gridCol>
              </a:tblGrid>
              <a:tr h="66047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Chalkboard" panose="03050602040202020205" pitchFamily="66" charset="0"/>
                        </a:rPr>
                        <a:t>CISC</a:t>
                      </a:r>
                      <a:endParaRPr lang="zh-CN" altLang="en-US" b="0" dirty="0">
                        <a:latin typeface="Chalkboard" panose="03050602040202020205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（早期）</a:t>
                      </a:r>
                      <a:r>
                        <a:rPr lang="en-US" altLang="zh-CN" b="0" dirty="0">
                          <a:latin typeface="Chalkboard" panose="03050602040202020205" pitchFamily="66" charset="0"/>
                        </a:rPr>
                        <a:t>RISC</a:t>
                      </a:r>
                      <a:endParaRPr lang="zh-CN" altLang="en-US" b="0" dirty="0">
                        <a:latin typeface="Chalkboard" panose="03050602040202020205" pitchFamily="66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631190"/>
                  </a:ext>
                </a:extLst>
              </a:tr>
              <a:tr h="66047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指令类型多，功能丰富；部分指令延迟高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指令类型少，功能简单，无延迟高的指令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742887"/>
                  </a:ext>
                </a:extLst>
              </a:tr>
              <a:tr h="66047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指令字节编码长度可变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指令字节编码长度不可变，通常为</a:t>
                      </a:r>
                      <a:r>
                        <a:rPr lang="en-US" altLang="zh-CN" b="0" dirty="0">
                          <a:latin typeface="Chalkboard" panose="03050602040202020205" pitchFamily="66" charset="0"/>
                        </a:rPr>
                        <a:t>4</a:t>
                      </a:r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字节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527033"/>
                  </a:ext>
                </a:extLst>
              </a:tr>
              <a:tr h="66047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简单</a:t>
                      </a:r>
                      <a:r>
                        <a:rPr lang="en-US" altLang="zh-CN" b="0" dirty="0">
                          <a:latin typeface="Chalkboard" panose="03050602040202020205" pitchFamily="66" charset="0"/>
                        </a:rPr>
                        <a:t>/</a:t>
                      </a:r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复杂寻址模式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简单寻址模式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368005"/>
                  </a:ext>
                </a:extLst>
              </a:tr>
              <a:tr h="66047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算术逻辑操作可以访问内存，访存模式多样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Chalkboard" panose="03050602040202020205" pitchFamily="66" charset="0"/>
                        </a:rPr>
                        <a:t>load/store</a:t>
                      </a:r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体系结构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292195"/>
                  </a:ext>
                </a:extLst>
              </a:tr>
              <a:tr h="66047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机器级程序不可见实现细节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机器级程序可见实现细节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724411"/>
                  </a:ext>
                </a:extLst>
              </a:tr>
              <a:tr h="66047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有条件码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无条件码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970247"/>
                  </a:ext>
                </a:extLst>
              </a:tr>
              <a:tr h="66047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栈密集型的过程链接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latin typeface="Chalkboard" panose="03050602040202020205" pitchFamily="66" charset="0"/>
                        </a:rPr>
                        <a:t>寄存器密集型的过程链接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648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718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3001D6-7D8A-924F-822F-4612EAE34E32}"/>
              </a:ext>
            </a:extLst>
          </p:cNvPr>
          <p:cNvSpPr txBox="1"/>
          <p:nvPr/>
        </p:nvSpPr>
        <p:spPr>
          <a:xfrm>
            <a:off x="378373" y="432826"/>
            <a:ext cx="2669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RISC</a:t>
            </a:r>
            <a:r>
              <a:rPr kumimoji="1" lang="zh-CN" altLang="en-US" sz="3200" dirty="0">
                <a:latin typeface="Chalkboard" panose="03050602040202020205" pitchFamily="66" charset="0"/>
              </a:rPr>
              <a:t>： </a:t>
            </a:r>
            <a:r>
              <a:rPr kumimoji="1" lang="en-US" altLang="zh-CN" sz="3200" dirty="0">
                <a:latin typeface="Chalkboard" panose="03050602040202020205" pitchFamily="66" charset="0"/>
              </a:rPr>
              <a:t>MIPS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3862465-FBCE-774E-9889-1917E425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441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11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62E769-2987-DE41-8829-DD535A6CA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97" y="1017601"/>
            <a:ext cx="8794969" cy="53208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E335A6B-D6AE-4844-A1D4-B9755C6B7737}"/>
              </a:ext>
            </a:extLst>
          </p:cNvPr>
          <p:cNvSpPr/>
          <p:nvPr/>
        </p:nvSpPr>
        <p:spPr>
          <a:xfrm>
            <a:off x="546653" y="1309793"/>
            <a:ext cx="496956" cy="39756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halkboard" panose="03050602040202020205" pitchFamily="66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F400DF-B736-6045-94F0-101767DF45B6}"/>
              </a:ext>
            </a:extLst>
          </p:cNvPr>
          <p:cNvSpPr/>
          <p:nvPr/>
        </p:nvSpPr>
        <p:spPr>
          <a:xfrm>
            <a:off x="2259496" y="2868867"/>
            <a:ext cx="2232990" cy="39756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halkboard" panose="03050602040202020205" pitchFamily="66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C6C954-6314-BD40-AF3D-2A861BBDABCA}"/>
              </a:ext>
            </a:extLst>
          </p:cNvPr>
          <p:cNvSpPr/>
          <p:nvPr/>
        </p:nvSpPr>
        <p:spPr>
          <a:xfrm>
            <a:off x="6914613" y="5058789"/>
            <a:ext cx="1424317" cy="33598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halkboard" panose="03050602040202020205" pitchFamily="66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8384FC-A823-5049-8FE0-055A4FE164A2}"/>
              </a:ext>
            </a:extLst>
          </p:cNvPr>
          <p:cNvSpPr txBox="1"/>
          <p:nvPr/>
        </p:nvSpPr>
        <p:spPr>
          <a:xfrm>
            <a:off x="3230903" y="597620"/>
            <a:ext cx="208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32*32bit registers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404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3001D6-7D8A-924F-822F-4612EAE34E32}"/>
              </a:ext>
            </a:extLst>
          </p:cNvPr>
          <p:cNvSpPr txBox="1"/>
          <p:nvPr/>
        </p:nvSpPr>
        <p:spPr>
          <a:xfrm>
            <a:off x="378373" y="432826"/>
            <a:ext cx="2669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RISC</a:t>
            </a:r>
            <a:r>
              <a:rPr kumimoji="1" lang="zh-CN" altLang="en-US" sz="3200" dirty="0">
                <a:latin typeface="Chalkboard" panose="03050602040202020205" pitchFamily="66" charset="0"/>
              </a:rPr>
              <a:t>： </a:t>
            </a:r>
            <a:r>
              <a:rPr kumimoji="1" lang="en-US" altLang="zh-CN" sz="3200" dirty="0">
                <a:latin typeface="Chalkboard" panose="03050602040202020205" pitchFamily="66" charset="0"/>
              </a:rPr>
              <a:t>MIPS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3862465-FBCE-774E-9889-1917E425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441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12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8384FC-A823-5049-8FE0-055A4FE164A2}"/>
              </a:ext>
            </a:extLst>
          </p:cNvPr>
          <p:cNvSpPr txBox="1"/>
          <p:nvPr/>
        </p:nvSpPr>
        <p:spPr>
          <a:xfrm>
            <a:off x="3230903" y="597620"/>
            <a:ext cx="2177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4-byte instructions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7FD66C6-4ED3-3A44-904A-55C78364B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89" y="1191474"/>
            <a:ext cx="7555962" cy="533572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DC6ED47-8A11-974C-97A8-9DA5606971C3}"/>
              </a:ext>
            </a:extLst>
          </p:cNvPr>
          <p:cNvSpPr/>
          <p:nvPr/>
        </p:nvSpPr>
        <p:spPr>
          <a:xfrm>
            <a:off x="834887" y="4661452"/>
            <a:ext cx="2117035" cy="34787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82DC2F1-A414-2149-95E1-85175709CF42}"/>
              </a:ext>
            </a:extLst>
          </p:cNvPr>
          <p:cNvSpPr/>
          <p:nvPr/>
        </p:nvSpPr>
        <p:spPr>
          <a:xfrm>
            <a:off x="1530626" y="2069509"/>
            <a:ext cx="1252332" cy="43515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845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3001D6-7D8A-924F-822F-4612EAE34E32}"/>
              </a:ext>
            </a:extLst>
          </p:cNvPr>
          <p:cNvSpPr txBox="1"/>
          <p:nvPr/>
        </p:nvSpPr>
        <p:spPr>
          <a:xfrm>
            <a:off x="378373" y="432826"/>
            <a:ext cx="2890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RISC or CISC?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3862465-FBCE-774E-9889-1917E425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441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13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pic>
        <p:nvPicPr>
          <p:cNvPr id="11" name="Picture 5" descr="C:\Users\asus\Desktop\ca\Fibonacci.asm  - MARS 4.5">
            <a:extLst>
              <a:ext uri="{FF2B5EF4-FFF2-40B4-BE49-F238E27FC236}">
                <a16:creationId xmlns:a16="http://schemas.microsoft.com/office/drawing/2014/main" id="{21AD011B-2B0E-2B41-9EC7-EC4ADD2641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8" t="14213" r="80853" b="56229"/>
          <a:stretch>
            <a:fillRect/>
          </a:stretch>
        </p:blipFill>
        <p:spPr>
          <a:xfrm>
            <a:off x="846300" y="1820346"/>
            <a:ext cx="4216471" cy="3955517"/>
          </a:xfrm>
          <a:prstGeom prst="rect">
            <a:avLst/>
          </a:prstGeom>
        </p:spPr>
      </p:pic>
      <p:pic>
        <p:nvPicPr>
          <p:cNvPr id="14" name="Picture 7" descr="C:\Users\asus\Desktop\ca\Fibonacci.asm  - MARS 4.5">
            <a:extLst>
              <a:ext uri="{FF2B5EF4-FFF2-40B4-BE49-F238E27FC236}">
                <a16:creationId xmlns:a16="http://schemas.microsoft.com/office/drawing/2014/main" id="{A56C5517-2C28-4545-B87E-CE5980B09A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8" t="17021" r="92286" b="71827"/>
          <a:stretch>
            <a:fillRect/>
          </a:stretch>
        </p:blipFill>
        <p:spPr>
          <a:xfrm>
            <a:off x="4938370" y="1441820"/>
            <a:ext cx="1814709" cy="29533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5144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3001D6-7D8A-924F-822F-4612EAE34E32}"/>
              </a:ext>
            </a:extLst>
          </p:cNvPr>
          <p:cNvSpPr txBox="1"/>
          <p:nvPr/>
        </p:nvSpPr>
        <p:spPr>
          <a:xfrm>
            <a:off x="378373" y="432826"/>
            <a:ext cx="2890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RISC or CISC?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3862465-FBCE-774E-9889-1917E425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441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14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2B016793-5C0E-8644-9F82-77406F23710E}"/>
              </a:ext>
            </a:extLst>
          </p:cNvPr>
          <p:cNvSpPr txBox="1"/>
          <p:nvPr/>
        </p:nvSpPr>
        <p:spPr>
          <a:xfrm>
            <a:off x="463893" y="1569505"/>
            <a:ext cx="8970882" cy="4616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halkboard" panose="03050602040202020205" pitchFamily="66" charset="0"/>
                <a:cs typeface="Courier New" panose="02070409020205090404" pitchFamily="49" charset="0"/>
              </a:rPr>
              <a:t>lock </a:t>
            </a:r>
            <a:r>
              <a:rPr lang="en-US" altLang="zh-CN" sz="2400" dirty="0" err="1">
                <a:latin typeface="Chalkboard" panose="03050602040202020205" pitchFamily="66" charset="0"/>
                <a:cs typeface="Courier New" panose="02070409020205090404" pitchFamily="49" charset="0"/>
              </a:rPr>
              <a:t>addl</a:t>
            </a:r>
            <a:r>
              <a:rPr lang="en-US" altLang="zh-CN" sz="2400" dirty="0">
                <a:latin typeface="Chalkboard" panose="03050602040202020205" pitchFamily="66" charset="0"/>
                <a:cs typeface="Courier New" panose="02070409020205090404" pitchFamily="49" charset="0"/>
              </a:rPr>
              <a:t> $0x12345678, %es</a:t>
            </a:r>
            <a:r>
              <a:rPr lang="en-US" altLang="zh-CN" sz="2400" dirty="0">
                <a:latin typeface="Chalkboard" panose="03050602040202020205" pitchFamily="66" charset="0"/>
                <a:cs typeface="Courier New" panose="02070409020205090404" pitchFamily="49" charset="0"/>
                <a:sym typeface="Wingdings" panose="05000000000000000000" pitchFamily="2" charset="2"/>
              </a:rPr>
              <a:t>:0x11223344(%</a:t>
            </a:r>
            <a:r>
              <a:rPr lang="en-US" altLang="zh-CN" sz="2400" dirty="0" err="1">
                <a:latin typeface="Chalkboard" panose="03050602040202020205" pitchFamily="66" charset="0"/>
                <a:cs typeface="Courier New" panose="02070409020205090404" pitchFamily="49" charset="0"/>
                <a:sym typeface="Wingdings" panose="05000000000000000000" pitchFamily="2" charset="2"/>
              </a:rPr>
              <a:t>eax</a:t>
            </a:r>
            <a:r>
              <a:rPr lang="en-US" altLang="zh-CN" sz="2400" dirty="0">
                <a:latin typeface="Chalkboard" panose="03050602040202020205" pitchFamily="66" charset="0"/>
                <a:cs typeface="Courier New" panose="02070409020205090404" pitchFamily="49" charset="0"/>
                <a:sym typeface="Wingdings" panose="05000000000000000000" pitchFamily="2" charset="2"/>
              </a:rPr>
              <a:t>, %</a:t>
            </a:r>
            <a:r>
              <a:rPr lang="en-US" altLang="zh-CN" sz="2400" dirty="0" err="1">
                <a:latin typeface="Chalkboard" panose="03050602040202020205" pitchFamily="66" charset="0"/>
                <a:cs typeface="Courier New" panose="02070409020205090404" pitchFamily="49" charset="0"/>
                <a:sym typeface="Wingdings" panose="05000000000000000000" pitchFamily="2" charset="2"/>
              </a:rPr>
              <a:t>ecx</a:t>
            </a:r>
            <a:r>
              <a:rPr lang="en-US" altLang="zh-CN" sz="2400" dirty="0">
                <a:latin typeface="Chalkboard" panose="03050602040202020205" pitchFamily="66" charset="0"/>
                <a:cs typeface="Courier New" panose="02070409020205090404" pitchFamily="49" charset="0"/>
                <a:sym typeface="Wingdings" panose="05000000000000000000" pitchFamily="2" charset="2"/>
              </a:rPr>
              <a:t>, 8)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0EE203-96B1-E444-923E-A794E75EA398}"/>
              </a:ext>
            </a:extLst>
          </p:cNvPr>
          <p:cNvSpPr txBox="1"/>
          <p:nvPr/>
        </p:nvSpPr>
        <p:spPr>
          <a:xfrm>
            <a:off x="463892" y="2079843"/>
            <a:ext cx="75172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halkboard" panose="03050602040202020205" pitchFamily="66" charset="0"/>
              </a:rPr>
              <a:t>26 66 67 F0 81 84 C8 44 33 22 11 78 56 34 12</a:t>
            </a:r>
          </a:p>
        </p:txBody>
      </p:sp>
    </p:spTree>
    <p:extLst>
      <p:ext uri="{BB962C8B-B14F-4D97-AF65-F5344CB8AC3E}">
        <p14:creationId xmlns:p14="http://schemas.microsoft.com/office/powerpoint/2010/main" val="3473729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3001D6-7D8A-924F-822F-4612EAE34E32}"/>
              </a:ext>
            </a:extLst>
          </p:cNvPr>
          <p:cNvSpPr txBox="1"/>
          <p:nvPr/>
        </p:nvSpPr>
        <p:spPr>
          <a:xfrm>
            <a:off x="378373" y="432826"/>
            <a:ext cx="2890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RISC or CISC?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3862465-FBCE-774E-9889-1917E425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441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15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2B016793-5C0E-8644-9F82-77406F23710E}"/>
              </a:ext>
            </a:extLst>
          </p:cNvPr>
          <p:cNvSpPr txBox="1"/>
          <p:nvPr/>
        </p:nvSpPr>
        <p:spPr>
          <a:xfrm>
            <a:off x="463893" y="1569505"/>
            <a:ext cx="8970882" cy="4616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halkboard" panose="03050602040202020205" pitchFamily="66" charset="0"/>
                <a:cs typeface="Courier New" panose="02070409020205090404" pitchFamily="49" charset="0"/>
              </a:rPr>
              <a:t>lock </a:t>
            </a:r>
            <a:r>
              <a:rPr lang="en-US" altLang="zh-CN" sz="2400" dirty="0" err="1">
                <a:latin typeface="Chalkboard" panose="03050602040202020205" pitchFamily="66" charset="0"/>
                <a:cs typeface="Courier New" panose="02070409020205090404" pitchFamily="49" charset="0"/>
              </a:rPr>
              <a:t>addl</a:t>
            </a:r>
            <a:r>
              <a:rPr lang="en-US" altLang="zh-CN" sz="2400" dirty="0">
                <a:latin typeface="Chalkboard" panose="03050602040202020205" pitchFamily="66" charset="0"/>
                <a:cs typeface="Courier New" panose="02070409020205090404" pitchFamily="49" charset="0"/>
              </a:rPr>
              <a:t> $0x12345678, %es</a:t>
            </a:r>
            <a:r>
              <a:rPr lang="en-US" altLang="zh-CN" sz="2400" dirty="0">
                <a:latin typeface="Chalkboard" panose="03050602040202020205" pitchFamily="66" charset="0"/>
                <a:cs typeface="Courier New" panose="02070409020205090404" pitchFamily="49" charset="0"/>
                <a:sym typeface="Wingdings" panose="05000000000000000000" pitchFamily="2" charset="2"/>
              </a:rPr>
              <a:t>:0x11223344(%</a:t>
            </a:r>
            <a:r>
              <a:rPr lang="en-US" altLang="zh-CN" sz="2400" dirty="0" err="1">
                <a:latin typeface="Chalkboard" panose="03050602040202020205" pitchFamily="66" charset="0"/>
                <a:cs typeface="Courier New" panose="02070409020205090404" pitchFamily="49" charset="0"/>
                <a:sym typeface="Wingdings" panose="05000000000000000000" pitchFamily="2" charset="2"/>
              </a:rPr>
              <a:t>eax</a:t>
            </a:r>
            <a:r>
              <a:rPr lang="en-US" altLang="zh-CN" sz="2400" dirty="0">
                <a:latin typeface="Chalkboard" panose="03050602040202020205" pitchFamily="66" charset="0"/>
                <a:cs typeface="Courier New" panose="02070409020205090404" pitchFamily="49" charset="0"/>
                <a:sym typeface="Wingdings" panose="05000000000000000000" pitchFamily="2" charset="2"/>
              </a:rPr>
              <a:t>, %</a:t>
            </a:r>
            <a:r>
              <a:rPr lang="en-US" altLang="zh-CN" sz="2400" dirty="0" err="1">
                <a:latin typeface="Chalkboard" panose="03050602040202020205" pitchFamily="66" charset="0"/>
                <a:cs typeface="Courier New" panose="02070409020205090404" pitchFamily="49" charset="0"/>
                <a:sym typeface="Wingdings" panose="05000000000000000000" pitchFamily="2" charset="2"/>
              </a:rPr>
              <a:t>ecx</a:t>
            </a:r>
            <a:r>
              <a:rPr lang="en-US" altLang="zh-CN" sz="2400" dirty="0">
                <a:latin typeface="Chalkboard" panose="03050602040202020205" pitchFamily="66" charset="0"/>
                <a:cs typeface="Courier New" panose="02070409020205090404" pitchFamily="49" charset="0"/>
                <a:sym typeface="Wingdings" panose="05000000000000000000" pitchFamily="2" charset="2"/>
              </a:rPr>
              <a:t>, 8)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0EE203-96B1-E444-923E-A794E75EA398}"/>
              </a:ext>
            </a:extLst>
          </p:cNvPr>
          <p:cNvSpPr txBox="1"/>
          <p:nvPr/>
        </p:nvSpPr>
        <p:spPr>
          <a:xfrm>
            <a:off x="463892" y="2079843"/>
            <a:ext cx="75172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halkboard" panose="03050602040202020205" pitchFamily="66" charset="0"/>
              </a:rPr>
              <a:t>26 66 67 F0 81 84 C8 44 33 22 11 78 56 34 12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4F3631-B88E-2947-821E-973172CBDD28}"/>
              </a:ext>
            </a:extLst>
          </p:cNvPr>
          <p:cNvSpPr txBox="1"/>
          <p:nvPr/>
        </p:nvSpPr>
        <p:spPr>
          <a:xfrm>
            <a:off x="463892" y="2908746"/>
            <a:ext cx="390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x86-32</a:t>
            </a:r>
            <a:r>
              <a:rPr kumimoji="1" lang="zh-CN" altLang="en-US" dirty="0">
                <a:latin typeface="Chalkboard" panose="03050602040202020205" pitchFamily="66" charset="0"/>
              </a:rPr>
              <a:t>中最复杂的指令，</a:t>
            </a:r>
            <a:r>
              <a:rPr kumimoji="1" lang="en-US" altLang="zh-CN" dirty="0">
                <a:latin typeface="Chalkboard" panose="03050602040202020205" pitchFamily="66" charset="0"/>
              </a:rPr>
              <a:t>15</a:t>
            </a:r>
            <a:r>
              <a:rPr kumimoji="1" lang="zh-CN" altLang="en-US" dirty="0">
                <a:latin typeface="Chalkboard" panose="03050602040202020205" pitchFamily="66" charset="0"/>
              </a:rPr>
              <a:t>字节编码</a:t>
            </a:r>
          </a:p>
        </p:txBody>
      </p:sp>
    </p:spTree>
    <p:extLst>
      <p:ext uri="{BB962C8B-B14F-4D97-AF65-F5344CB8AC3E}">
        <p14:creationId xmlns:p14="http://schemas.microsoft.com/office/powerpoint/2010/main" val="3722687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3001D6-7D8A-924F-822F-4612EAE34E32}"/>
              </a:ext>
            </a:extLst>
          </p:cNvPr>
          <p:cNvSpPr txBox="1"/>
          <p:nvPr/>
        </p:nvSpPr>
        <p:spPr>
          <a:xfrm>
            <a:off x="378373" y="432826"/>
            <a:ext cx="2890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RISC or CISC?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3862465-FBCE-774E-9889-1917E425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441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16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2E69FAC-DB76-1948-A813-6816CB4979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10"/>
          <a:stretch/>
        </p:blipFill>
        <p:spPr>
          <a:xfrm>
            <a:off x="524881" y="1017601"/>
            <a:ext cx="6203910" cy="583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11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193390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241738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625958" y="48347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Concepts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625957" y="1441820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RISC&amp;CISC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625956" y="949736"/>
            <a:ext cx="1566041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Components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3001D6-7D8A-924F-822F-4612EAE34E32}"/>
              </a:ext>
            </a:extLst>
          </p:cNvPr>
          <p:cNvSpPr txBox="1"/>
          <p:nvPr/>
        </p:nvSpPr>
        <p:spPr>
          <a:xfrm>
            <a:off x="378373" y="432826"/>
            <a:ext cx="2890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RISC or CISC?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E3862465-FBCE-774E-9889-1917E425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441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17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2E69FAC-DB76-1948-A813-6816CB497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81" y="1017601"/>
            <a:ext cx="7954736" cy="583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73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C51BAF-5F1E-854D-9FA7-183F318C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18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34AA05C-8CD6-C54D-9997-2D07FF6C3D66}"/>
              </a:ext>
            </a:extLst>
          </p:cNvPr>
          <p:cNvSpPr/>
          <p:nvPr/>
        </p:nvSpPr>
        <p:spPr>
          <a:xfrm>
            <a:off x="1971056" y="3351597"/>
            <a:ext cx="2354317" cy="56755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ISA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06663AB-8258-4B40-A033-456D1BC0B64A}"/>
              </a:ext>
            </a:extLst>
          </p:cNvPr>
          <p:cNvSpPr/>
          <p:nvPr/>
        </p:nvSpPr>
        <p:spPr>
          <a:xfrm>
            <a:off x="5334366" y="2131672"/>
            <a:ext cx="3657599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s-ES" altLang="zh-CN" dirty="0">
                <a:latin typeface="Chalkboard" panose="03050602040202020205" pitchFamily="66" charset="0"/>
              </a:rPr>
              <a:t>﻿</a:t>
            </a:r>
            <a:r>
              <a:rPr kumimoji="1" lang="es-ES" altLang="zh-CN" dirty="0" err="1">
                <a:latin typeface="Chalkboard" panose="03050602040202020205" pitchFamily="66" charset="0"/>
              </a:rPr>
              <a:t>states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476C1BC-BD2E-D445-BC34-3ED4FCA83609}"/>
              </a:ext>
            </a:extLst>
          </p:cNvPr>
          <p:cNvSpPr/>
          <p:nvPr/>
        </p:nvSpPr>
        <p:spPr>
          <a:xfrm>
            <a:off x="5334366" y="3375245"/>
            <a:ext cx="3657600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﻿instructions and their encodings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C56C574-2F85-544D-8178-12B3A45437CB}"/>
              </a:ext>
            </a:extLst>
          </p:cNvPr>
          <p:cNvSpPr/>
          <p:nvPr/>
        </p:nvSpPr>
        <p:spPr>
          <a:xfrm>
            <a:off x="5334365" y="4624073"/>
            <a:ext cx="3657600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﻿ programming conventions</a:t>
            </a:r>
          </a:p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handling of exceptional events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F261F6D0-47FA-6E4A-A788-D56101DDDFF5}"/>
              </a:ext>
            </a:extLst>
          </p:cNvPr>
          <p:cNvSpPr/>
          <p:nvPr/>
        </p:nvSpPr>
        <p:spPr>
          <a:xfrm>
            <a:off x="4546090" y="2371507"/>
            <a:ext cx="283779" cy="2617076"/>
          </a:xfrm>
          <a:prstGeom prst="leftBrace">
            <a:avLst>
              <a:gd name="adj1" fmla="val 6388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8A8CAC-0FDC-6142-BB63-0053FEF080E6}"/>
              </a:ext>
            </a:extLst>
          </p:cNvPr>
          <p:cNvSpPr txBox="1"/>
          <p:nvPr/>
        </p:nvSpPr>
        <p:spPr>
          <a:xfrm>
            <a:off x="378373" y="432826"/>
            <a:ext cx="24149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Y86-64 ISA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B1E373-B746-BF4C-BA95-CDC35D7FF08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48599D-668E-024F-931D-04741ABBEA24}"/>
              </a:ext>
            </a:extLst>
          </p:cNvPr>
          <p:cNvSpPr/>
          <p:nvPr/>
        </p:nvSpPr>
        <p:spPr>
          <a:xfrm>
            <a:off x="10258097" y="483476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solidFill>
                  <a:schemeClr val="tx1"/>
                </a:solidFill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3134C4-7657-6040-A63A-56AC695C007A}"/>
              </a:ext>
            </a:extLst>
          </p:cNvPr>
          <p:cNvSpPr/>
          <p:nvPr/>
        </p:nvSpPr>
        <p:spPr>
          <a:xfrm>
            <a:off x="10258097" y="2448912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0C5183-FEC5-1147-8469-0BC4B50F63E3}"/>
              </a:ext>
            </a:extLst>
          </p:cNvPr>
          <p:cNvSpPr/>
          <p:nvPr/>
        </p:nvSpPr>
        <p:spPr>
          <a:xfrm>
            <a:off x="10510345" y="966952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Chalkboard" panose="03050602040202020205" pitchFamily="66" charset="0"/>
              </a:rPr>
              <a:t>﻿Programmer-Visible States</a:t>
            </a:r>
            <a:endParaRPr kumimoji="1" lang="zh-CN" altLang="en-US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4B9513-350A-B741-9B40-87C26D8CC2C2}"/>
              </a:ext>
            </a:extLst>
          </p:cNvPr>
          <p:cNvSpPr/>
          <p:nvPr/>
        </p:nvSpPr>
        <p:spPr>
          <a:xfrm>
            <a:off x="10510345" y="1450428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 err="1">
                <a:solidFill>
                  <a:schemeClr val="bg1"/>
                </a:solidFill>
                <a:latin typeface="Chalkboard" panose="03050602040202020205" pitchFamily="66" charset="0"/>
              </a:rPr>
              <a:t>Instructions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A8AB47A-B691-514F-AC68-A7CCDB47BD1E}"/>
              </a:ext>
            </a:extLst>
          </p:cNvPr>
          <p:cNvSpPr/>
          <p:nvPr/>
        </p:nvSpPr>
        <p:spPr>
          <a:xfrm>
            <a:off x="10510345" y="1949670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Exceptions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6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483476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solidFill>
                  <a:schemeClr val="tx1"/>
                </a:solidFill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7" y="2448912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510345" y="966952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﻿Programmer-Visible States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510345" y="1450428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 err="1">
                <a:solidFill>
                  <a:schemeClr val="bg1"/>
                </a:solidFill>
                <a:latin typeface="Chalkboard" panose="03050602040202020205" pitchFamily="66" charset="0"/>
              </a:rPr>
              <a:t>Instructions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510345" y="1949670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Exceptions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C51BAF-5F1E-854D-9FA7-183F318C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19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06663AB-8258-4B40-A033-456D1BC0B64A}"/>
              </a:ext>
            </a:extLst>
          </p:cNvPr>
          <p:cNvSpPr/>
          <p:nvPr/>
        </p:nvSpPr>
        <p:spPr>
          <a:xfrm>
            <a:off x="5684223" y="420414"/>
            <a:ext cx="1364590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s-ES" altLang="zh-CN" dirty="0">
                <a:latin typeface="Chalkboard" panose="03050602040202020205" pitchFamily="66" charset="0"/>
              </a:rPr>
              <a:t>﻿</a:t>
            </a:r>
            <a:r>
              <a:rPr kumimoji="1" lang="es-ES" altLang="zh-CN" dirty="0" err="1">
                <a:latin typeface="Chalkboard" panose="03050602040202020205" pitchFamily="66" charset="0"/>
              </a:rPr>
              <a:t>states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8A8CAC-0FDC-6142-BB63-0053FEF080E6}"/>
              </a:ext>
            </a:extLst>
          </p:cNvPr>
          <p:cNvSpPr txBox="1"/>
          <p:nvPr/>
        </p:nvSpPr>
        <p:spPr>
          <a:xfrm>
            <a:off x="368385" y="411806"/>
            <a:ext cx="51346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latin typeface="Chalkboard" panose="03050602040202020205" pitchFamily="66" charset="0"/>
              </a:rPr>
              <a:t>﻿Programmer-Visible States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graphicFrame>
        <p:nvGraphicFramePr>
          <p:cNvPr id="3" name="表格 17">
            <a:extLst>
              <a:ext uri="{FF2B5EF4-FFF2-40B4-BE49-F238E27FC236}">
                <a16:creationId xmlns:a16="http://schemas.microsoft.com/office/drawing/2014/main" id="{9724306E-EC35-8248-8A66-1256B11B3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505323"/>
              </p:ext>
            </p:extLst>
          </p:nvPr>
        </p:nvGraphicFramePr>
        <p:xfrm>
          <a:off x="482600" y="1450428"/>
          <a:ext cx="5539828" cy="1483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84957">
                  <a:extLst>
                    <a:ext uri="{9D8B030D-6E8A-4147-A177-3AD203B41FA5}">
                      <a16:colId xmlns:a16="http://schemas.microsoft.com/office/drawing/2014/main" val="2042863355"/>
                    </a:ext>
                  </a:extLst>
                </a:gridCol>
                <a:gridCol w="1384957">
                  <a:extLst>
                    <a:ext uri="{9D8B030D-6E8A-4147-A177-3AD203B41FA5}">
                      <a16:colId xmlns:a16="http://schemas.microsoft.com/office/drawing/2014/main" val="3239621004"/>
                    </a:ext>
                  </a:extLst>
                </a:gridCol>
                <a:gridCol w="1384957">
                  <a:extLst>
                    <a:ext uri="{9D8B030D-6E8A-4147-A177-3AD203B41FA5}">
                      <a16:colId xmlns:a16="http://schemas.microsoft.com/office/drawing/2014/main" val="1362747701"/>
                    </a:ext>
                  </a:extLst>
                </a:gridCol>
                <a:gridCol w="1384957">
                  <a:extLst>
                    <a:ext uri="{9D8B030D-6E8A-4147-A177-3AD203B41FA5}">
                      <a16:colId xmlns:a16="http://schemas.microsoft.com/office/drawing/2014/main" val="3083828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rax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rsp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%r8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%r12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rcx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rbp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%r9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%r13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191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rdx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rsi</a:t>
                      </a:r>
                      <a:endParaRPr lang="en-US" altLang="zh-CN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%r10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%r14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825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rbx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rdi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%r11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305151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7C22FDD5-B7FB-A54D-8337-0088F15BA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604302"/>
              </p:ext>
            </p:extLst>
          </p:nvPr>
        </p:nvGraphicFramePr>
        <p:xfrm>
          <a:off x="482601" y="3990340"/>
          <a:ext cx="1409262" cy="365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69754">
                  <a:extLst>
                    <a:ext uri="{9D8B030D-6E8A-4147-A177-3AD203B41FA5}">
                      <a16:colId xmlns:a16="http://schemas.microsoft.com/office/drawing/2014/main" val="181460250"/>
                    </a:ext>
                  </a:extLst>
                </a:gridCol>
                <a:gridCol w="469754">
                  <a:extLst>
                    <a:ext uri="{9D8B030D-6E8A-4147-A177-3AD203B41FA5}">
                      <a16:colId xmlns:a16="http://schemas.microsoft.com/office/drawing/2014/main" val="982081026"/>
                    </a:ext>
                  </a:extLst>
                </a:gridCol>
                <a:gridCol w="469754">
                  <a:extLst>
                    <a:ext uri="{9D8B030D-6E8A-4147-A177-3AD203B41FA5}">
                      <a16:colId xmlns:a16="http://schemas.microsoft.com/office/drawing/2014/main" val="2383608515"/>
                    </a:ext>
                  </a:extLst>
                </a:gridCol>
              </a:tblGrid>
              <a:tr h="3194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ZF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SF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OF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067455"/>
                  </a:ext>
                </a:extLst>
              </a:tr>
            </a:tbl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CCB6DB59-2B3E-D040-BECD-D2629036A76A}"/>
              </a:ext>
            </a:extLst>
          </p:cNvPr>
          <p:cNvSpPr/>
          <p:nvPr/>
        </p:nvSpPr>
        <p:spPr>
          <a:xfrm>
            <a:off x="482599" y="4607516"/>
            <a:ext cx="442310" cy="378373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  <p:graphicFrame>
        <p:nvGraphicFramePr>
          <p:cNvPr id="24" name="表格 24">
            <a:extLst>
              <a:ext uri="{FF2B5EF4-FFF2-40B4-BE49-F238E27FC236}">
                <a16:creationId xmlns:a16="http://schemas.microsoft.com/office/drawing/2014/main" id="{41D27877-E732-2A4B-ABAC-8805C9BA2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244206"/>
              </p:ext>
            </p:extLst>
          </p:nvPr>
        </p:nvGraphicFramePr>
        <p:xfrm>
          <a:off x="482600" y="3368084"/>
          <a:ext cx="1409262" cy="370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09262">
                  <a:extLst>
                    <a:ext uri="{9D8B030D-6E8A-4147-A177-3AD203B41FA5}">
                      <a16:colId xmlns:a16="http://schemas.microsoft.com/office/drawing/2014/main" val="2720870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655318"/>
                  </a:ext>
                </a:extLst>
              </a:tr>
            </a:tbl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0E1DC293-B979-8447-A077-F93072417FF3}"/>
              </a:ext>
            </a:extLst>
          </p:cNvPr>
          <p:cNvSpPr/>
          <p:nvPr/>
        </p:nvSpPr>
        <p:spPr>
          <a:xfrm>
            <a:off x="482599" y="5368377"/>
            <a:ext cx="5539827" cy="987973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ADE185B-5B61-1F4C-8FEA-35F71E10C0E4}"/>
              </a:ext>
            </a:extLst>
          </p:cNvPr>
          <p:cNvSpPr txBox="1"/>
          <p:nvPr/>
        </p:nvSpPr>
        <p:spPr>
          <a:xfrm>
            <a:off x="6589986" y="1923393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RF: </a:t>
            </a:r>
            <a:r>
              <a:rPr kumimoji="1" lang="zh-CN" altLang="en-US" dirty="0">
                <a:latin typeface="Chalkboard" panose="03050602040202020205" pitchFamily="66" charset="0"/>
              </a:rPr>
              <a:t>程序寄存器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487D695-695C-044C-A083-A463A0C50D16}"/>
              </a:ext>
            </a:extLst>
          </p:cNvPr>
          <p:cNvSpPr txBox="1"/>
          <p:nvPr/>
        </p:nvSpPr>
        <p:spPr>
          <a:xfrm>
            <a:off x="2207172" y="3340689"/>
            <a:ext cx="2024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PC: </a:t>
            </a:r>
            <a:r>
              <a:rPr kumimoji="1" lang="zh-CN" altLang="en-US" dirty="0">
                <a:latin typeface="Chalkboard" panose="03050602040202020205" pitchFamily="66" charset="0"/>
              </a:rPr>
              <a:t>程序计数器   </a:t>
            </a:r>
            <a:endParaRPr kumimoji="1" lang="zh-CN" altLang="en-US" dirty="0">
              <a:solidFill>
                <a:srgbClr val="FF0000"/>
              </a:solidFill>
              <a:latin typeface="Chalkboard" panose="03050602040202020205" pitchFamily="66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B76017-8EBA-634F-ABE8-B80BF3FCA0F4}"/>
              </a:ext>
            </a:extLst>
          </p:cNvPr>
          <p:cNvSpPr txBox="1"/>
          <p:nvPr/>
        </p:nvSpPr>
        <p:spPr>
          <a:xfrm>
            <a:off x="2207172" y="399965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CC: </a:t>
            </a:r>
            <a:r>
              <a:rPr kumimoji="1" lang="zh-CN" altLang="en-US" dirty="0">
                <a:latin typeface="Chalkboard" panose="03050602040202020205" pitchFamily="66" charset="0"/>
              </a:rPr>
              <a:t>条件码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F308957-8D77-D840-B1EF-CF05EADF10D5}"/>
              </a:ext>
            </a:extLst>
          </p:cNvPr>
          <p:cNvSpPr txBox="1"/>
          <p:nvPr/>
        </p:nvSpPr>
        <p:spPr>
          <a:xfrm>
            <a:off x="2207172" y="4612036"/>
            <a:ext cx="16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Stat: </a:t>
            </a:r>
            <a:r>
              <a:rPr kumimoji="1" lang="zh-CN" altLang="en-US" dirty="0">
                <a:latin typeface="Chalkboard" panose="03050602040202020205" pitchFamily="66" charset="0"/>
              </a:rPr>
              <a:t>程序状态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A8C1C83-2AB5-1749-9EC2-3C64DDE420F7}"/>
              </a:ext>
            </a:extLst>
          </p:cNvPr>
          <p:cNvSpPr txBox="1"/>
          <p:nvPr/>
        </p:nvSpPr>
        <p:spPr>
          <a:xfrm>
            <a:off x="6588589" y="5677697"/>
            <a:ext cx="4461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DMEM: </a:t>
            </a:r>
            <a:r>
              <a:rPr kumimoji="1" lang="zh-CN" altLang="en-US" dirty="0">
                <a:latin typeface="Chalkboard" panose="03050602040202020205" pitchFamily="66" charset="0"/>
              </a:rPr>
              <a:t>内存    用虚拟地址引用内存位置</a:t>
            </a:r>
          </a:p>
        </p:txBody>
      </p:sp>
    </p:spTree>
    <p:extLst>
      <p:ext uri="{BB962C8B-B14F-4D97-AF65-F5344CB8AC3E}">
        <p14:creationId xmlns:p14="http://schemas.microsoft.com/office/powerpoint/2010/main" val="733342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483476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solidFill>
                  <a:schemeClr val="tx1"/>
                </a:solidFill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7" y="2448912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510345" y="966952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Chalkboard" panose="03050602040202020205" pitchFamily="66" charset="0"/>
              </a:rPr>
              <a:t>﻿Programmer-Visible States</a:t>
            </a:r>
            <a:endParaRPr kumimoji="1" lang="zh-CN" altLang="en-US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510345" y="1450428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 err="1">
                <a:solidFill>
                  <a:schemeClr val="tx1"/>
                </a:solidFill>
                <a:latin typeface="Chalkboard" panose="03050602040202020205" pitchFamily="66" charset="0"/>
              </a:rPr>
              <a:t>Instructions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510345" y="1949670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Exceptions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C51BAF-5F1E-854D-9FA7-183F318C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1000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20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8A8CAC-0FDC-6142-BB63-0053FEF080E6}"/>
              </a:ext>
            </a:extLst>
          </p:cNvPr>
          <p:cNvSpPr txBox="1"/>
          <p:nvPr/>
        </p:nvSpPr>
        <p:spPr>
          <a:xfrm>
            <a:off x="346701" y="403197"/>
            <a:ext cx="2404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latin typeface="Chalkboard" panose="03050602040202020205" pitchFamily="66" charset="0"/>
              </a:rPr>
              <a:t>﻿Instructions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9731968-1D94-B948-B982-D669F6676E5D}"/>
              </a:ext>
            </a:extLst>
          </p:cNvPr>
          <p:cNvSpPr/>
          <p:nvPr/>
        </p:nvSpPr>
        <p:spPr>
          <a:xfrm>
            <a:off x="3226676" y="409904"/>
            <a:ext cx="3657600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﻿instructions and their encodings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2FCF7D-FD30-C24B-9577-B6976DA26D93}"/>
              </a:ext>
            </a:extLst>
          </p:cNvPr>
          <p:cNvSpPr/>
          <p:nvPr/>
        </p:nvSpPr>
        <p:spPr>
          <a:xfrm>
            <a:off x="2432362" y="1082150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D28273-3F9F-084E-918E-04D349260208}"/>
              </a:ext>
            </a:extLst>
          </p:cNvPr>
          <p:cNvSpPr/>
          <p:nvPr/>
        </p:nvSpPr>
        <p:spPr>
          <a:xfrm>
            <a:off x="2768693" y="1082150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236BB7-538F-2D48-8A79-92FAE4954722}"/>
              </a:ext>
            </a:extLst>
          </p:cNvPr>
          <p:cNvSpPr/>
          <p:nvPr/>
        </p:nvSpPr>
        <p:spPr>
          <a:xfrm>
            <a:off x="2432362" y="1534098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1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02A192-005A-1249-913A-603F96E87727}"/>
              </a:ext>
            </a:extLst>
          </p:cNvPr>
          <p:cNvSpPr/>
          <p:nvPr/>
        </p:nvSpPr>
        <p:spPr>
          <a:xfrm>
            <a:off x="2768693" y="1534098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F28C8B-6C90-9345-A2EC-2A7778BE65A1}"/>
              </a:ext>
            </a:extLst>
          </p:cNvPr>
          <p:cNvSpPr/>
          <p:nvPr/>
        </p:nvSpPr>
        <p:spPr>
          <a:xfrm>
            <a:off x="2432361" y="1987245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2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1BFA5A-4B7A-CA46-B0A9-425ED1EC0CC6}"/>
              </a:ext>
            </a:extLst>
          </p:cNvPr>
          <p:cNvSpPr/>
          <p:nvPr/>
        </p:nvSpPr>
        <p:spPr>
          <a:xfrm>
            <a:off x="2768692" y="1987245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DF830E-F060-EA4B-9039-B1EF19F98E42}"/>
              </a:ext>
            </a:extLst>
          </p:cNvPr>
          <p:cNvSpPr/>
          <p:nvPr/>
        </p:nvSpPr>
        <p:spPr>
          <a:xfrm>
            <a:off x="3105023" y="1987244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D9DF0EC-8ADD-CB45-86DC-3BF7E9EDE9F5}"/>
              </a:ext>
            </a:extLst>
          </p:cNvPr>
          <p:cNvSpPr/>
          <p:nvPr/>
        </p:nvSpPr>
        <p:spPr>
          <a:xfrm>
            <a:off x="3441354" y="1987244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C8A03C-895E-754F-A30C-AC5FEE1CC77B}"/>
              </a:ext>
            </a:extLst>
          </p:cNvPr>
          <p:cNvSpPr/>
          <p:nvPr/>
        </p:nvSpPr>
        <p:spPr>
          <a:xfrm>
            <a:off x="2432362" y="2887911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3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E31466D-5334-D64A-8628-38FE1B02BC1D}"/>
              </a:ext>
            </a:extLst>
          </p:cNvPr>
          <p:cNvSpPr/>
          <p:nvPr/>
        </p:nvSpPr>
        <p:spPr>
          <a:xfrm>
            <a:off x="2768693" y="2887911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s-E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7402E2-0972-A048-9997-CF70037EF0F4}"/>
              </a:ext>
            </a:extLst>
          </p:cNvPr>
          <p:cNvSpPr/>
          <p:nvPr/>
        </p:nvSpPr>
        <p:spPr>
          <a:xfrm>
            <a:off x="3105024" y="2887910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F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DBE9B9-42E3-CB47-93BC-8909BB997D14}"/>
              </a:ext>
            </a:extLst>
          </p:cNvPr>
          <p:cNvSpPr/>
          <p:nvPr/>
        </p:nvSpPr>
        <p:spPr>
          <a:xfrm>
            <a:off x="3441355" y="2887910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17239CE-70DA-E842-9EEB-ED086E807EBA}"/>
              </a:ext>
            </a:extLst>
          </p:cNvPr>
          <p:cNvSpPr/>
          <p:nvPr/>
        </p:nvSpPr>
        <p:spPr>
          <a:xfrm>
            <a:off x="2432362" y="3338433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4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D2BA6EE-896D-B241-AE7B-6887978D7DD3}"/>
              </a:ext>
            </a:extLst>
          </p:cNvPr>
          <p:cNvSpPr/>
          <p:nvPr/>
        </p:nvSpPr>
        <p:spPr>
          <a:xfrm>
            <a:off x="2768693" y="3338433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B55EAB5-C411-B143-B12A-A28209863358}"/>
              </a:ext>
            </a:extLst>
          </p:cNvPr>
          <p:cNvSpPr/>
          <p:nvPr/>
        </p:nvSpPr>
        <p:spPr>
          <a:xfrm>
            <a:off x="2432361" y="3790598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5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1B7F0CD-F092-0D4B-A421-A975DBF8DE21}"/>
              </a:ext>
            </a:extLst>
          </p:cNvPr>
          <p:cNvSpPr/>
          <p:nvPr/>
        </p:nvSpPr>
        <p:spPr>
          <a:xfrm>
            <a:off x="2768692" y="3790598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730B9F-C144-FA49-94DE-52C9CF1F6634}"/>
              </a:ext>
            </a:extLst>
          </p:cNvPr>
          <p:cNvSpPr/>
          <p:nvPr/>
        </p:nvSpPr>
        <p:spPr>
          <a:xfrm>
            <a:off x="2431106" y="4242762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6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0CC7514-04C1-CE4F-B5FF-66E4E6B177C9}"/>
              </a:ext>
            </a:extLst>
          </p:cNvPr>
          <p:cNvSpPr/>
          <p:nvPr/>
        </p:nvSpPr>
        <p:spPr>
          <a:xfrm>
            <a:off x="2767437" y="4242762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 err="1">
                <a:solidFill>
                  <a:schemeClr val="tx1"/>
                </a:solidFill>
                <a:latin typeface="Chalkboard" panose="03050602040202020205" pitchFamily="66" charset="0"/>
              </a:rPr>
              <a:t>fn</a:t>
            </a:r>
            <a:endParaRPr kumimoji="1" lang="zh-CN" altLang="en-US" sz="12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D69D48F-C04B-564A-9356-F326FF2DCCB7}"/>
              </a:ext>
            </a:extLst>
          </p:cNvPr>
          <p:cNvSpPr/>
          <p:nvPr/>
        </p:nvSpPr>
        <p:spPr>
          <a:xfrm>
            <a:off x="3777685" y="2887910"/>
            <a:ext cx="3657601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V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26CB8DA-A287-3640-8A12-139D5A88F739}"/>
              </a:ext>
            </a:extLst>
          </p:cNvPr>
          <p:cNvSpPr/>
          <p:nvPr/>
        </p:nvSpPr>
        <p:spPr>
          <a:xfrm>
            <a:off x="3783566" y="3344855"/>
            <a:ext cx="3657601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D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5427342-8B0E-694C-9B01-A8448E86D6A2}"/>
              </a:ext>
            </a:extLst>
          </p:cNvPr>
          <p:cNvSpPr/>
          <p:nvPr/>
        </p:nvSpPr>
        <p:spPr>
          <a:xfrm>
            <a:off x="3103768" y="4694590"/>
            <a:ext cx="3657601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  <a:latin typeface="Chalkboard" panose="03050602040202020205" pitchFamily="66" charset="0"/>
              </a:rPr>
              <a:t>Dest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4BE510E-6C63-3B42-A63A-CFF4BA4A2FC4}"/>
              </a:ext>
            </a:extLst>
          </p:cNvPr>
          <p:cNvSpPr/>
          <p:nvPr/>
        </p:nvSpPr>
        <p:spPr>
          <a:xfrm>
            <a:off x="2432361" y="4697603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7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F070461-1AA2-D54D-8714-DD0F39D86808}"/>
              </a:ext>
            </a:extLst>
          </p:cNvPr>
          <p:cNvSpPr/>
          <p:nvPr/>
        </p:nvSpPr>
        <p:spPr>
          <a:xfrm>
            <a:off x="2768692" y="4697603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s-ES" altLang="zh-CN" sz="1200" dirty="0" err="1">
                <a:solidFill>
                  <a:schemeClr val="tx1"/>
                </a:solidFill>
                <a:latin typeface="Chalkboard" panose="03050602040202020205" pitchFamily="66" charset="0"/>
              </a:rPr>
              <a:t>fn</a:t>
            </a:r>
            <a:endParaRPr kumimoji="1" lang="es-ES" altLang="zh-CN" sz="12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B584D15-6356-414F-90C8-CD37431FEC8A}"/>
              </a:ext>
            </a:extLst>
          </p:cNvPr>
          <p:cNvSpPr/>
          <p:nvPr/>
        </p:nvSpPr>
        <p:spPr>
          <a:xfrm>
            <a:off x="2429851" y="5152349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8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00D5FD2-0092-DE41-AC13-747232C53FC5}"/>
              </a:ext>
            </a:extLst>
          </p:cNvPr>
          <p:cNvSpPr/>
          <p:nvPr/>
        </p:nvSpPr>
        <p:spPr>
          <a:xfrm>
            <a:off x="2766182" y="5152349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6EA3342-09F0-BE4F-9E7D-6514D0DD1200}"/>
              </a:ext>
            </a:extLst>
          </p:cNvPr>
          <p:cNvSpPr/>
          <p:nvPr/>
        </p:nvSpPr>
        <p:spPr>
          <a:xfrm>
            <a:off x="3103768" y="5152348"/>
            <a:ext cx="3657601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  <a:latin typeface="Chalkboard" panose="03050602040202020205" pitchFamily="66" charset="0"/>
              </a:rPr>
              <a:t>Dest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5D6EDE5-634A-DA4B-805F-37E983187538}"/>
              </a:ext>
            </a:extLst>
          </p:cNvPr>
          <p:cNvSpPr/>
          <p:nvPr/>
        </p:nvSpPr>
        <p:spPr>
          <a:xfrm>
            <a:off x="2429851" y="5602870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9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040F7F7-65E6-B248-BD2E-50ACC812764A}"/>
              </a:ext>
            </a:extLst>
          </p:cNvPr>
          <p:cNvSpPr/>
          <p:nvPr/>
        </p:nvSpPr>
        <p:spPr>
          <a:xfrm>
            <a:off x="2766182" y="5602870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AA76491-2D8E-EB45-89FF-C0E7193F76AF}"/>
              </a:ext>
            </a:extLst>
          </p:cNvPr>
          <p:cNvSpPr/>
          <p:nvPr/>
        </p:nvSpPr>
        <p:spPr>
          <a:xfrm>
            <a:off x="2432361" y="6053392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A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3363A29-F76C-A540-91E4-D2B634D1E193}"/>
              </a:ext>
            </a:extLst>
          </p:cNvPr>
          <p:cNvSpPr/>
          <p:nvPr/>
        </p:nvSpPr>
        <p:spPr>
          <a:xfrm>
            <a:off x="2768692" y="6053392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B1A04DD-65C2-2549-A8E2-6CFFF01F1AD4}"/>
              </a:ext>
            </a:extLst>
          </p:cNvPr>
          <p:cNvSpPr/>
          <p:nvPr/>
        </p:nvSpPr>
        <p:spPr>
          <a:xfrm>
            <a:off x="3441354" y="6053391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F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9D650F0-B321-034D-9E22-7A98ECA7298A}"/>
              </a:ext>
            </a:extLst>
          </p:cNvPr>
          <p:cNvSpPr/>
          <p:nvPr/>
        </p:nvSpPr>
        <p:spPr>
          <a:xfrm>
            <a:off x="2432361" y="6510006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B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A417624-F6E4-5049-8766-755ADECAA9F7}"/>
              </a:ext>
            </a:extLst>
          </p:cNvPr>
          <p:cNvSpPr/>
          <p:nvPr/>
        </p:nvSpPr>
        <p:spPr>
          <a:xfrm>
            <a:off x="2768692" y="6510006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649707C-68CD-5549-B113-76F1E1448DE9}"/>
              </a:ext>
            </a:extLst>
          </p:cNvPr>
          <p:cNvSpPr/>
          <p:nvPr/>
        </p:nvSpPr>
        <p:spPr>
          <a:xfrm>
            <a:off x="3441354" y="6510005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F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6579400-8E51-4943-99F8-ABB1739570E8}"/>
              </a:ext>
            </a:extLst>
          </p:cNvPr>
          <p:cNvSpPr/>
          <p:nvPr/>
        </p:nvSpPr>
        <p:spPr>
          <a:xfrm>
            <a:off x="2429851" y="2432822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2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9A2D9AA-BBD3-9F4D-847A-9C82B338028A}"/>
              </a:ext>
            </a:extLst>
          </p:cNvPr>
          <p:cNvSpPr/>
          <p:nvPr/>
        </p:nvSpPr>
        <p:spPr>
          <a:xfrm>
            <a:off x="2766182" y="2432822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 err="1">
                <a:solidFill>
                  <a:schemeClr val="tx1"/>
                </a:solidFill>
                <a:latin typeface="Chalkboard" panose="03050602040202020205" pitchFamily="66" charset="0"/>
              </a:rPr>
              <a:t>fn</a:t>
            </a:r>
            <a:endParaRPr kumimoji="1" lang="zh-CN" altLang="en-US" sz="12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CF7874C-D349-0E45-964D-EA243B2F706F}"/>
              </a:ext>
            </a:extLst>
          </p:cNvPr>
          <p:cNvSpPr/>
          <p:nvPr/>
        </p:nvSpPr>
        <p:spPr>
          <a:xfrm>
            <a:off x="3102513" y="2432821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696D44B-91DF-5443-8D6B-5A4BF2F7D2B8}"/>
              </a:ext>
            </a:extLst>
          </p:cNvPr>
          <p:cNvSpPr/>
          <p:nvPr/>
        </p:nvSpPr>
        <p:spPr>
          <a:xfrm>
            <a:off x="3438844" y="2432821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7EC4C05-9244-0B4B-8ECC-502D776F959F}"/>
              </a:ext>
            </a:extLst>
          </p:cNvPr>
          <p:cNvSpPr txBox="1"/>
          <p:nvPr/>
        </p:nvSpPr>
        <p:spPr>
          <a:xfrm>
            <a:off x="346701" y="1081096"/>
            <a:ext cx="581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halt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F84A7A2-A117-7D41-8782-828F1A47251A}"/>
              </a:ext>
            </a:extLst>
          </p:cNvPr>
          <p:cNvSpPr txBox="1"/>
          <p:nvPr/>
        </p:nvSpPr>
        <p:spPr>
          <a:xfrm>
            <a:off x="346701" y="1526998"/>
            <a:ext cx="54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nop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88C4D3F5-74B5-8042-A974-EB96A6521CCF}"/>
              </a:ext>
            </a:extLst>
          </p:cNvPr>
          <p:cNvSpPr txBox="1"/>
          <p:nvPr/>
        </p:nvSpPr>
        <p:spPr>
          <a:xfrm>
            <a:off x="351261" y="1987203"/>
            <a:ext cx="1637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rrmovq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rA</a:t>
            </a:r>
            <a:r>
              <a:rPr kumimoji="1" lang="en-US" altLang="zh-CN" dirty="0">
                <a:latin typeface="Chalkboard" panose="03050602040202020205" pitchFamily="66" charset="0"/>
              </a:rPr>
              <a:t>, </a:t>
            </a:r>
            <a:r>
              <a:rPr kumimoji="1" lang="en-US" altLang="zh-CN" dirty="0" err="1">
                <a:latin typeface="Chalkboard" panose="03050602040202020205" pitchFamily="66" charset="0"/>
              </a:rPr>
              <a:t>rB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D524521-259A-F34E-BE1D-C2BC40AA8A98}"/>
              </a:ext>
            </a:extLst>
          </p:cNvPr>
          <p:cNvSpPr txBox="1"/>
          <p:nvPr/>
        </p:nvSpPr>
        <p:spPr>
          <a:xfrm>
            <a:off x="362639" y="2880225"/>
            <a:ext cx="142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irmovq</a:t>
            </a:r>
            <a:r>
              <a:rPr kumimoji="1" lang="en-US" altLang="zh-CN" dirty="0">
                <a:latin typeface="Chalkboard" panose="03050602040202020205" pitchFamily="66" charset="0"/>
              </a:rPr>
              <a:t> V, </a:t>
            </a:r>
            <a:r>
              <a:rPr kumimoji="1" lang="en-US" altLang="zh-CN" dirty="0" err="1">
                <a:latin typeface="Chalkboard" panose="03050602040202020205" pitchFamily="66" charset="0"/>
              </a:rPr>
              <a:t>rB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33D285A-31BE-B04B-8DCD-1332CBC9FB96}"/>
              </a:ext>
            </a:extLst>
          </p:cNvPr>
          <p:cNvSpPr txBox="1"/>
          <p:nvPr/>
        </p:nvSpPr>
        <p:spPr>
          <a:xfrm>
            <a:off x="350770" y="3336500"/>
            <a:ext cx="1977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rmmovq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rA</a:t>
            </a:r>
            <a:r>
              <a:rPr kumimoji="1" lang="en-US" altLang="zh-CN" dirty="0">
                <a:latin typeface="Chalkboard" panose="03050602040202020205" pitchFamily="66" charset="0"/>
              </a:rPr>
              <a:t>, D(</a:t>
            </a:r>
            <a:r>
              <a:rPr kumimoji="1" lang="en-US" altLang="zh-CN" dirty="0" err="1">
                <a:latin typeface="Chalkboard" panose="03050602040202020205" pitchFamily="66" charset="0"/>
              </a:rPr>
              <a:t>rB</a:t>
            </a:r>
            <a:r>
              <a:rPr kumimoji="1" lang="en-US" altLang="zh-CN" dirty="0">
                <a:latin typeface="Chalkboard" panose="03050602040202020205" pitchFamily="66" charset="0"/>
              </a:rPr>
              <a:t>)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C863F09-E9DF-F443-ABB2-D7283485BC68}"/>
              </a:ext>
            </a:extLst>
          </p:cNvPr>
          <p:cNvSpPr txBox="1"/>
          <p:nvPr/>
        </p:nvSpPr>
        <p:spPr>
          <a:xfrm>
            <a:off x="366708" y="3788161"/>
            <a:ext cx="1970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mrmovq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D(</a:t>
            </a: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rB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), </a:t>
            </a: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dirty="0">
              <a:solidFill>
                <a:srgbClr val="FF0000"/>
              </a:solidFill>
              <a:latin typeface="Chalkboard" panose="03050602040202020205" pitchFamily="66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85E3C2E-F87B-7648-A3C9-19E6FE106857}"/>
              </a:ext>
            </a:extLst>
          </p:cNvPr>
          <p:cNvSpPr txBox="1"/>
          <p:nvPr/>
        </p:nvSpPr>
        <p:spPr>
          <a:xfrm>
            <a:off x="357887" y="4241545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OPq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rA</a:t>
            </a:r>
            <a:r>
              <a:rPr kumimoji="1" lang="en-US" altLang="zh-CN" dirty="0">
                <a:latin typeface="Chalkboard" panose="03050602040202020205" pitchFamily="66" charset="0"/>
              </a:rPr>
              <a:t>, </a:t>
            </a:r>
            <a:r>
              <a:rPr kumimoji="1" lang="en-US" altLang="zh-CN" dirty="0" err="1">
                <a:latin typeface="Chalkboard" panose="03050602040202020205" pitchFamily="66" charset="0"/>
              </a:rPr>
              <a:t>rB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F2E712F-513B-B345-AE49-04736406C797}"/>
              </a:ext>
            </a:extLst>
          </p:cNvPr>
          <p:cNvSpPr txBox="1"/>
          <p:nvPr/>
        </p:nvSpPr>
        <p:spPr>
          <a:xfrm>
            <a:off x="366708" y="4688600"/>
            <a:ext cx="1130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jXX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Dest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F667C61-4842-1D48-A3B6-4358DFA2106B}"/>
              </a:ext>
            </a:extLst>
          </p:cNvPr>
          <p:cNvSpPr txBox="1"/>
          <p:nvPr/>
        </p:nvSpPr>
        <p:spPr>
          <a:xfrm>
            <a:off x="361041" y="5155650"/>
            <a:ext cx="110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call </a:t>
            </a:r>
            <a:r>
              <a:rPr kumimoji="1" lang="en-US" altLang="zh-CN" dirty="0" err="1">
                <a:latin typeface="Chalkboard" panose="03050602040202020205" pitchFamily="66" charset="0"/>
              </a:rPr>
              <a:t>Dest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E79669C-C254-EA46-9716-2E9B004081D4}"/>
              </a:ext>
            </a:extLst>
          </p:cNvPr>
          <p:cNvSpPr txBox="1"/>
          <p:nvPr/>
        </p:nvSpPr>
        <p:spPr>
          <a:xfrm>
            <a:off x="346701" y="2409245"/>
            <a:ext cx="1714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cmovXX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rA</a:t>
            </a:r>
            <a:r>
              <a:rPr kumimoji="1" lang="en-US" altLang="zh-CN" dirty="0">
                <a:latin typeface="Chalkboard" panose="03050602040202020205" pitchFamily="66" charset="0"/>
              </a:rPr>
              <a:t>, </a:t>
            </a:r>
            <a:r>
              <a:rPr kumimoji="1" lang="en-US" altLang="zh-CN" dirty="0" err="1">
                <a:latin typeface="Chalkboard" panose="03050602040202020205" pitchFamily="66" charset="0"/>
              </a:rPr>
              <a:t>rB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8A25C288-CD6D-E74F-8F78-5234295FE6CD}"/>
              </a:ext>
            </a:extLst>
          </p:cNvPr>
          <p:cNvSpPr txBox="1"/>
          <p:nvPr/>
        </p:nvSpPr>
        <p:spPr>
          <a:xfrm>
            <a:off x="366708" y="5602948"/>
            <a:ext cx="497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ret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C671818-4F2D-E444-AB18-5036AD450146}"/>
              </a:ext>
            </a:extLst>
          </p:cNvPr>
          <p:cNvSpPr txBox="1"/>
          <p:nvPr/>
        </p:nvSpPr>
        <p:spPr>
          <a:xfrm>
            <a:off x="364600" y="6041411"/>
            <a:ext cx="111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pushq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rA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C47CD10-6986-2C4A-9216-08CFEC0B096B}"/>
              </a:ext>
            </a:extLst>
          </p:cNvPr>
          <p:cNvSpPr txBox="1"/>
          <p:nvPr/>
        </p:nvSpPr>
        <p:spPr>
          <a:xfrm>
            <a:off x="381071" y="6457454"/>
            <a:ext cx="100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popq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rA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887C3138-B5A3-C149-8817-8DE5E9637E7F}"/>
              </a:ext>
            </a:extLst>
          </p:cNvPr>
          <p:cNvSpPr/>
          <p:nvPr/>
        </p:nvSpPr>
        <p:spPr>
          <a:xfrm>
            <a:off x="3110904" y="3342490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28F902E-6BE9-E24C-B249-42DA5A9BA081}"/>
              </a:ext>
            </a:extLst>
          </p:cNvPr>
          <p:cNvSpPr/>
          <p:nvPr/>
        </p:nvSpPr>
        <p:spPr>
          <a:xfrm>
            <a:off x="3443858" y="3342491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B8512D9D-3541-774B-B60D-E517E904468C}"/>
              </a:ext>
            </a:extLst>
          </p:cNvPr>
          <p:cNvSpPr/>
          <p:nvPr/>
        </p:nvSpPr>
        <p:spPr>
          <a:xfrm>
            <a:off x="3102513" y="3790164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76D7921-AF76-EA4C-981A-09C99219D5FD}"/>
              </a:ext>
            </a:extLst>
          </p:cNvPr>
          <p:cNvSpPr/>
          <p:nvPr/>
        </p:nvSpPr>
        <p:spPr>
          <a:xfrm>
            <a:off x="3443858" y="3786147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E64E63B-F501-3C44-BAF3-4B41634D27B7}"/>
              </a:ext>
            </a:extLst>
          </p:cNvPr>
          <p:cNvSpPr/>
          <p:nvPr/>
        </p:nvSpPr>
        <p:spPr>
          <a:xfrm>
            <a:off x="3105890" y="4247109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98BC06E7-2EBD-4D46-8A32-AE92C6A17030}"/>
              </a:ext>
            </a:extLst>
          </p:cNvPr>
          <p:cNvSpPr/>
          <p:nvPr/>
        </p:nvSpPr>
        <p:spPr>
          <a:xfrm>
            <a:off x="3447235" y="4243092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A641B625-9F2F-D546-9DDD-3BB24CBC14F6}"/>
              </a:ext>
            </a:extLst>
          </p:cNvPr>
          <p:cNvSpPr/>
          <p:nvPr/>
        </p:nvSpPr>
        <p:spPr>
          <a:xfrm>
            <a:off x="3110904" y="6053391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5C30444-0586-304F-9986-A9A4A1A45D38}"/>
              </a:ext>
            </a:extLst>
          </p:cNvPr>
          <p:cNvSpPr/>
          <p:nvPr/>
        </p:nvSpPr>
        <p:spPr>
          <a:xfrm>
            <a:off x="3110904" y="6510006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66F4F30-193D-6745-B022-1329EAE8B57E}"/>
              </a:ext>
            </a:extLst>
          </p:cNvPr>
          <p:cNvSpPr/>
          <p:nvPr/>
        </p:nvSpPr>
        <p:spPr>
          <a:xfrm>
            <a:off x="3780189" y="3786147"/>
            <a:ext cx="3657601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D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DD04612-FD73-D544-AC58-7B53849895FB}"/>
              </a:ext>
            </a:extLst>
          </p:cNvPr>
          <p:cNvSpPr/>
          <p:nvPr/>
        </p:nvSpPr>
        <p:spPr>
          <a:xfrm>
            <a:off x="8235436" y="5346306"/>
            <a:ext cx="336332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51EAC233-9D1F-084A-8581-550BE37464FD}"/>
              </a:ext>
            </a:extLst>
          </p:cNvPr>
          <p:cNvSpPr/>
          <p:nvPr/>
        </p:nvSpPr>
        <p:spPr>
          <a:xfrm>
            <a:off x="8240270" y="4275151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s-ES" altLang="zh-CN" sz="12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29DAF274-7C94-8042-8175-CDD57C5BFBD0}"/>
              </a:ext>
            </a:extLst>
          </p:cNvPr>
          <p:cNvSpPr/>
          <p:nvPr/>
        </p:nvSpPr>
        <p:spPr>
          <a:xfrm>
            <a:off x="8240270" y="3737450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B6D3345-F09A-DE4F-A57A-B670FB74090F}"/>
              </a:ext>
            </a:extLst>
          </p:cNvPr>
          <p:cNvSpPr/>
          <p:nvPr/>
        </p:nvSpPr>
        <p:spPr>
          <a:xfrm>
            <a:off x="8235436" y="4802948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8EE614D-23DC-0B4D-A1EB-153AA85CC386}"/>
              </a:ext>
            </a:extLst>
          </p:cNvPr>
          <p:cNvSpPr txBox="1"/>
          <p:nvPr/>
        </p:nvSpPr>
        <p:spPr>
          <a:xfrm>
            <a:off x="8797158" y="3719229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icode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EB224E0-F41D-6D45-B4E6-FB72189BC8D9}"/>
              </a:ext>
            </a:extLst>
          </p:cNvPr>
          <p:cNvSpPr txBox="1"/>
          <p:nvPr/>
        </p:nvSpPr>
        <p:spPr>
          <a:xfrm>
            <a:off x="8797158" y="4241545"/>
            <a:ext cx="574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ifun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577F4D7D-4250-204E-83FD-B0C47B09FC78}"/>
              </a:ext>
            </a:extLst>
          </p:cNvPr>
          <p:cNvSpPr txBox="1"/>
          <p:nvPr/>
        </p:nvSpPr>
        <p:spPr>
          <a:xfrm>
            <a:off x="8797158" y="4790968"/>
            <a:ext cx="133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register ID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5AD2125-EECB-D740-865D-A09E588A09D6}"/>
              </a:ext>
            </a:extLst>
          </p:cNvPr>
          <p:cNvSpPr txBox="1"/>
          <p:nvPr/>
        </p:nvSpPr>
        <p:spPr>
          <a:xfrm>
            <a:off x="8832306" y="5332212"/>
            <a:ext cx="1043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constant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382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483476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solidFill>
                  <a:schemeClr val="tx1"/>
                </a:solidFill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7" y="2448912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510345" y="966952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Chalkboard" panose="03050602040202020205" pitchFamily="66" charset="0"/>
              </a:rPr>
              <a:t>﻿Programmer-Visible States</a:t>
            </a:r>
            <a:endParaRPr kumimoji="1" lang="zh-CN" altLang="en-US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510345" y="1450428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 err="1">
                <a:solidFill>
                  <a:schemeClr val="tx1"/>
                </a:solidFill>
                <a:latin typeface="Chalkboard" panose="03050602040202020205" pitchFamily="66" charset="0"/>
              </a:rPr>
              <a:t>Instructions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510345" y="1949670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Exceptions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C51BAF-5F1E-854D-9FA7-183F318C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21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8A8CAC-0FDC-6142-BB63-0053FEF080E6}"/>
              </a:ext>
            </a:extLst>
          </p:cNvPr>
          <p:cNvSpPr txBox="1"/>
          <p:nvPr/>
        </p:nvSpPr>
        <p:spPr>
          <a:xfrm>
            <a:off x="346701" y="403197"/>
            <a:ext cx="2404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latin typeface="Chalkboard" panose="03050602040202020205" pitchFamily="66" charset="0"/>
              </a:rPr>
              <a:t>﻿Instructions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9731968-1D94-B948-B982-D669F6676E5D}"/>
              </a:ext>
            </a:extLst>
          </p:cNvPr>
          <p:cNvSpPr/>
          <p:nvPr/>
        </p:nvSpPr>
        <p:spPr>
          <a:xfrm>
            <a:off x="3226676" y="409904"/>
            <a:ext cx="3657600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﻿instructions and their encodings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730B9F-C144-FA49-94DE-52C9CF1F6634}"/>
              </a:ext>
            </a:extLst>
          </p:cNvPr>
          <p:cNvSpPr/>
          <p:nvPr/>
        </p:nvSpPr>
        <p:spPr>
          <a:xfrm>
            <a:off x="2412354" y="1770994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6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0CC7514-04C1-CE4F-B5FF-66E4E6B177C9}"/>
              </a:ext>
            </a:extLst>
          </p:cNvPr>
          <p:cNvSpPr/>
          <p:nvPr/>
        </p:nvSpPr>
        <p:spPr>
          <a:xfrm>
            <a:off x="2748685" y="1770994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 err="1">
                <a:solidFill>
                  <a:schemeClr val="tx1"/>
                </a:solidFill>
                <a:latin typeface="Chalkboard" panose="03050602040202020205" pitchFamily="66" charset="0"/>
              </a:rPr>
              <a:t>fn</a:t>
            </a:r>
            <a:endParaRPr kumimoji="1" lang="zh-CN" altLang="en-US" sz="12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5427342-8B0E-694C-9B01-A8448E86D6A2}"/>
              </a:ext>
            </a:extLst>
          </p:cNvPr>
          <p:cNvSpPr/>
          <p:nvPr/>
        </p:nvSpPr>
        <p:spPr>
          <a:xfrm>
            <a:off x="3075952" y="2284919"/>
            <a:ext cx="3657601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  <a:latin typeface="Chalkboard" panose="03050602040202020205" pitchFamily="66" charset="0"/>
              </a:rPr>
              <a:t>Dest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4BE510E-6C63-3B42-A63A-CFF4BA4A2FC4}"/>
              </a:ext>
            </a:extLst>
          </p:cNvPr>
          <p:cNvSpPr/>
          <p:nvPr/>
        </p:nvSpPr>
        <p:spPr>
          <a:xfrm>
            <a:off x="2404545" y="2287932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7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F070461-1AA2-D54D-8714-DD0F39D86808}"/>
              </a:ext>
            </a:extLst>
          </p:cNvPr>
          <p:cNvSpPr/>
          <p:nvPr/>
        </p:nvSpPr>
        <p:spPr>
          <a:xfrm>
            <a:off x="2740876" y="2287932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s-ES" altLang="zh-CN" sz="1200" dirty="0" err="1">
                <a:solidFill>
                  <a:schemeClr val="tx1"/>
                </a:solidFill>
                <a:latin typeface="Chalkboard" panose="03050602040202020205" pitchFamily="66" charset="0"/>
              </a:rPr>
              <a:t>fn</a:t>
            </a:r>
            <a:endParaRPr kumimoji="1" lang="es-ES" altLang="zh-CN" sz="12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6579400-8E51-4943-99F8-ABB1739570E8}"/>
              </a:ext>
            </a:extLst>
          </p:cNvPr>
          <p:cNvSpPr/>
          <p:nvPr/>
        </p:nvSpPr>
        <p:spPr>
          <a:xfrm>
            <a:off x="2422042" y="1271753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2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9A2D9AA-BBD3-9F4D-847A-9C82B338028A}"/>
              </a:ext>
            </a:extLst>
          </p:cNvPr>
          <p:cNvSpPr/>
          <p:nvPr/>
        </p:nvSpPr>
        <p:spPr>
          <a:xfrm>
            <a:off x="2758373" y="1271753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 err="1">
                <a:solidFill>
                  <a:schemeClr val="tx1"/>
                </a:solidFill>
                <a:latin typeface="Chalkboard" panose="03050602040202020205" pitchFamily="66" charset="0"/>
              </a:rPr>
              <a:t>fn</a:t>
            </a:r>
            <a:endParaRPr kumimoji="1" lang="zh-CN" altLang="en-US" sz="12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CF7874C-D349-0E45-964D-EA243B2F706F}"/>
              </a:ext>
            </a:extLst>
          </p:cNvPr>
          <p:cNvSpPr/>
          <p:nvPr/>
        </p:nvSpPr>
        <p:spPr>
          <a:xfrm>
            <a:off x="3094704" y="1271752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696D44B-91DF-5443-8D6B-5A4BF2F7D2B8}"/>
              </a:ext>
            </a:extLst>
          </p:cNvPr>
          <p:cNvSpPr/>
          <p:nvPr/>
        </p:nvSpPr>
        <p:spPr>
          <a:xfrm>
            <a:off x="3431035" y="1271752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85E3C2E-F87B-7648-A3C9-19E6FE106857}"/>
              </a:ext>
            </a:extLst>
          </p:cNvPr>
          <p:cNvSpPr txBox="1"/>
          <p:nvPr/>
        </p:nvSpPr>
        <p:spPr>
          <a:xfrm>
            <a:off x="339135" y="1769777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OPq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rA</a:t>
            </a:r>
            <a:r>
              <a:rPr kumimoji="1" lang="en-US" altLang="zh-CN" dirty="0">
                <a:latin typeface="Chalkboard" panose="03050602040202020205" pitchFamily="66" charset="0"/>
              </a:rPr>
              <a:t>, </a:t>
            </a:r>
            <a:r>
              <a:rPr kumimoji="1" lang="en-US" altLang="zh-CN" dirty="0" err="1">
                <a:latin typeface="Chalkboard" panose="03050602040202020205" pitchFamily="66" charset="0"/>
              </a:rPr>
              <a:t>rB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F2E712F-513B-B345-AE49-04736406C797}"/>
              </a:ext>
            </a:extLst>
          </p:cNvPr>
          <p:cNvSpPr txBox="1"/>
          <p:nvPr/>
        </p:nvSpPr>
        <p:spPr>
          <a:xfrm>
            <a:off x="338892" y="2278929"/>
            <a:ext cx="1130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jXX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Dest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E79669C-C254-EA46-9716-2E9B004081D4}"/>
              </a:ext>
            </a:extLst>
          </p:cNvPr>
          <p:cNvSpPr txBox="1"/>
          <p:nvPr/>
        </p:nvSpPr>
        <p:spPr>
          <a:xfrm>
            <a:off x="338892" y="1248176"/>
            <a:ext cx="1714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cmovXX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rA</a:t>
            </a:r>
            <a:r>
              <a:rPr kumimoji="1" lang="en-US" altLang="zh-CN" dirty="0">
                <a:latin typeface="Chalkboard" panose="03050602040202020205" pitchFamily="66" charset="0"/>
              </a:rPr>
              <a:t>, </a:t>
            </a:r>
            <a:r>
              <a:rPr kumimoji="1" lang="en-US" altLang="zh-CN" dirty="0" err="1">
                <a:latin typeface="Chalkboard" panose="03050602040202020205" pitchFamily="66" charset="0"/>
              </a:rPr>
              <a:t>rB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E64E63B-F501-3C44-BAF3-4B41634D27B7}"/>
              </a:ext>
            </a:extLst>
          </p:cNvPr>
          <p:cNvSpPr/>
          <p:nvPr/>
        </p:nvSpPr>
        <p:spPr>
          <a:xfrm>
            <a:off x="3087138" y="1775341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98BC06E7-2EBD-4D46-8A32-AE92C6A17030}"/>
              </a:ext>
            </a:extLst>
          </p:cNvPr>
          <p:cNvSpPr/>
          <p:nvPr/>
        </p:nvSpPr>
        <p:spPr>
          <a:xfrm>
            <a:off x="3428483" y="1771324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B290EEB-B9CC-1C4A-9790-9CA699CAE0E5}"/>
              </a:ext>
            </a:extLst>
          </p:cNvPr>
          <p:cNvSpPr/>
          <p:nvPr/>
        </p:nvSpPr>
        <p:spPr>
          <a:xfrm>
            <a:off x="7597036" y="2279663"/>
            <a:ext cx="336332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797E2AC-6BF3-2440-BA95-A0311A0F38DD}"/>
              </a:ext>
            </a:extLst>
          </p:cNvPr>
          <p:cNvSpPr/>
          <p:nvPr/>
        </p:nvSpPr>
        <p:spPr>
          <a:xfrm>
            <a:off x="7601870" y="1208508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s-ES" altLang="zh-CN" sz="12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BA8D49ED-E6C6-C84D-AEE3-5B6A0C3479FB}"/>
              </a:ext>
            </a:extLst>
          </p:cNvPr>
          <p:cNvSpPr/>
          <p:nvPr/>
        </p:nvSpPr>
        <p:spPr>
          <a:xfrm>
            <a:off x="7601870" y="670807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0D99965-5674-C94C-A102-E61A6D32F81C}"/>
              </a:ext>
            </a:extLst>
          </p:cNvPr>
          <p:cNvSpPr/>
          <p:nvPr/>
        </p:nvSpPr>
        <p:spPr>
          <a:xfrm>
            <a:off x="7597036" y="1736305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A068BCD-5019-6B46-83A6-67ED6653CE40}"/>
              </a:ext>
            </a:extLst>
          </p:cNvPr>
          <p:cNvSpPr txBox="1"/>
          <p:nvPr/>
        </p:nvSpPr>
        <p:spPr>
          <a:xfrm>
            <a:off x="8158758" y="652586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icode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887F750-26E2-E74D-9042-9652C96193A5}"/>
              </a:ext>
            </a:extLst>
          </p:cNvPr>
          <p:cNvSpPr txBox="1"/>
          <p:nvPr/>
        </p:nvSpPr>
        <p:spPr>
          <a:xfrm>
            <a:off x="8158758" y="1174902"/>
            <a:ext cx="574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ifun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23D67B8-652F-6A40-97D9-A3D8C8374ED5}"/>
              </a:ext>
            </a:extLst>
          </p:cNvPr>
          <p:cNvSpPr txBox="1"/>
          <p:nvPr/>
        </p:nvSpPr>
        <p:spPr>
          <a:xfrm>
            <a:off x="8158758" y="1724325"/>
            <a:ext cx="133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register ID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3366BB4-40F2-094F-964F-F1CE17BC3785}"/>
              </a:ext>
            </a:extLst>
          </p:cNvPr>
          <p:cNvSpPr txBox="1"/>
          <p:nvPr/>
        </p:nvSpPr>
        <p:spPr>
          <a:xfrm>
            <a:off x="8193906" y="2265569"/>
            <a:ext cx="1043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constant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graphicFrame>
        <p:nvGraphicFramePr>
          <p:cNvPr id="11" name="表格 24">
            <a:extLst>
              <a:ext uri="{FF2B5EF4-FFF2-40B4-BE49-F238E27FC236}">
                <a16:creationId xmlns:a16="http://schemas.microsoft.com/office/drawing/2014/main" id="{1B9C1FE7-3B6A-824A-B7F3-A820454E5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297662"/>
              </p:ext>
            </p:extLst>
          </p:nvPr>
        </p:nvGraphicFramePr>
        <p:xfrm>
          <a:off x="346701" y="3013944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288856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791146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706138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9179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>
                          <a:latin typeface="Chalkboard" panose="03050602040202020205" pitchFamily="66" charset="0"/>
                        </a:rPr>
                        <a:t>fn</a:t>
                      </a:r>
                      <a:endParaRPr lang="zh-CN" altLang="en-US" b="0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>
                          <a:latin typeface="Chalkboard" panose="03050602040202020205" pitchFamily="66" charset="0"/>
                        </a:rPr>
                        <a:t>cmovXX</a:t>
                      </a:r>
                      <a:endParaRPr lang="zh-CN" altLang="en-US" b="0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>
                          <a:latin typeface="Chalkboard" panose="03050602040202020205" pitchFamily="66" charset="0"/>
                        </a:rPr>
                        <a:t>OPq</a:t>
                      </a:r>
                      <a:endParaRPr lang="zh-CN" altLang="en-US" b="0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>
                          <a:latin typeface="Chalkboard" panose="03050602040202020205" pitchFamily="66" charset="0"/>
                        </a:rPr>
                        <a:t>jXX</a:t>
                      </a:r>
                      <a:endParaRPr lang="zh-CN" altLang="en-US" b="0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345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0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rrmovq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addq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jmp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686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1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cmovle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subq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jle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43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2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cmovl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andq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jl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352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3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cmove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xorq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je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51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4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cmovne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jne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3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5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cmovge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jge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232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6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cmovg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jg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3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457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483476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solidFill>
                  <a:schemeClr val="tx1"/>
                </a:solidFill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7" y="2448912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510345" y="966952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Chalkboard" panose="03050602040202020205" pitchFamily="66" charset="0"/>
              </a:rPr>
              <a:t>﻿Programmer-Visible States</a:t>
            </a:r>
            <a:endParaRPr kumimoji="1" lang="zh-CN" altLang="en-US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510345" y="1450428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 err="1">
                <a:solidFill>
                  <a:schemeClr val="tx1"/>
                </a:solidFill>
                <a:latin typeface="Chalkboard" panose="03050602040202020205" pitchFamily="66" charset="0"/>
              </a:rPr>
              <a:t>Instructions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510345" y="1949670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Exceptions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C51BAF-5F1E-854D-9FA7-183F318C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22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8A8CAC-0FDC-6142-BB63-0053FEF080E6}"/>
              </a:ext>
            </a:extLst>
          </p:cNvPr>
          <p:cNvSpPr txBox="1"/>
          <p:nvPr/>
        </p:nvSpPr>
        <p:spPr>
          <a:xfrm>
            <a:off x="389182" y="403197"/>
            <a:ext cx="2319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latin typeface="Chalkboard" panose="03050602040202020205" pitchFamily="66" charset="0"/>
              </a:rPr>
              <a:t>Register ID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656E33-1881-EE44-8CCB-4A6F1CAB3A6C}"/>
              </a:ext>
            </a:extLst>
          </p:cNvPr>
          <p:cNvSpPr/>
          <p:nvPr/>
        </p:nvSpPr>
        <p:spPr>
          <a:xfrm>
            <a:off x="488139" y="1355835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50F6A99-E794-7249-BFB6-22FCCFE718DC}"/>
              </a:ext>
            </a:extLst>
          </p:cNvPr>
          <p:cNvSpPr/>
          <p:nvPr/>
        </p:nvSpPr>
        <p:spPr>
          <a:xfrm>
            <a:off x="824470" y="1355835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graphicFrame>
        <p:nvGraphicFramePr>
          <p:cNvPr id="37" name="表格 17">
            <a:extLst>
              <a:ext uri="{FF2B5EF4-FFF2-40B4-BE49-F238E27FC236}">
                <a16:creationId xmlns:a16="http://schemas.microsoft.com/office/drawing/2014/main" id="{720DAA44-14DD-0147-AB14-628312F87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437720"/>
              </p:ext>
            </p:extLst>
          </p:nvPr>
        </p:nvGraphicFramePr>
        <p:xfrm>
          <a:off x="488139" y="2070540"/>
          <a:ext cx="5539828" cy="1483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84957">
                  <a:extLst>
                    <a:ext uri="{9D8B030D-6E8A-4147-A177-3AD203B41FA5}">
                      <a16:colId xmlns:a16="http://schemas.microsoft.com/office/drawing/2014/main" val="2042863355"/>
                    </a:ext>
                  </a:extLst>
                </a:gridCol>
                <a:gridCol w="1384957">
                  <a:extLst>
                    <a:ext uri="{9D8B030D-6E8A-4147-A177-3AD203B41FA5}">
                      <a16:colId xmlns:a16="http://schemas.microsoft.com/office/drawing/2014/main" val="3239621004"/>
                    </a:ext>
                  </a:extLst>
                </a:gridCol>
                <a:gridCol w="1384957">
                  <a:extLst>
                    <a:ext uri="{9D8B030D-6E8A-4147-A177-3AD203B41FA5}">
                      <a16:colId xmlns:a16="http://schemas.microsoft.com/office/drawing/2014/main" val="1362747701"/>
                    </a:ext>
                  </a:extLst>
                </a:gridCol>
                <a:gridCol w="1384957">
                  <a:extLst>
                    <a:ext uri="{9D8B030D-6E8A-4147-A177-3AD203B41FA5}">
                      <a16:colId xmlns:a16="http://schemas.microsoft.com/office/drawing/2014/main" val="3083828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0:%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rax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4:%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rsp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8:%r8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C:%r12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5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1:%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rcx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5:%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rbp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9:%r9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D:%r13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191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2:%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rdx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6:%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rsi</a:t>
                      </a:r>
                      <a:endParaRPr lang="en-US" altLang="zh-CN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A:%r10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E:%r14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825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3:%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rbx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7:%</a:t>
                      </a:r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rdi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B:%r11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F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305151"/>
                  </a:ext>
                </a:extLst>
              </a:tr>
            </a:tbl>
          </a:graphicData>
        </a:graphic>
      </p:graphicFrame>
      <p:sp>
        <p:nvSpPr>
          <p:cNvPr id="130" name="矩形 129">
            <a:extLst>
              <a:ext uri="{FF2B5EF4-FFF2-40B4-BE49-F238E27FC236}">
                <a16:creationId xmlns:a16="http://schemas.microsoft.com/office/drawing/2014/main" id="{C1021574-04C1-6048-A53A-7E6BA613EE08}"/>
              </a:ext>
            </a:extLst>
          </p:cNvPr>
          <p:cNvSpPr/>
          <p:nvPr/>
        </p:nvSpPr>
        <p:spPr>
          <a:xfrm>
            <a:off x="488139" y="3911253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80B53C1-AB03-D54E-A5DE-675A3349FAA0}"/>
              </a:ext>
            </a:extLst>
          </p:cNvPr>
          <p:cNvSpPr txBox="1"/>
          <p:nvPr/>
        </p:nvSpPr>
        <p:spPr>
          <a:xfrm>
            <a:off x="1049861" y="3899273"/>
            <a:ext cx="133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register ID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3B9F1D-27D0-A94D-BF05-1AFE996156CE}"/>
              </a:ext>
            </a:extLst>
          </p:cNvPr>
          <p:cNvSpPr txBox="1"/>
          <p:nvPr/>
        </p:nvSpPr>
        <p:spPr>
          <a:xfrm>
            <a:off x="488139" y="4429312"/>
            <a:ext cx="5147117" cy="1712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Chalkboard" panose="03050602040202020205" pitchFamily="66" charset="0"/>
              </a:rPr>
              <a:t>register file: </a:t>
            </a:r>
            <a:r>
              <a:rPr kumimoji="1" lang="zh-CN" altLang="en-US" dirty="0">
                <a:latin typeface="Chalkboard" panose="03050602040202020205" pitchFamily="66" charset="0"/>
              </a:rPr>
              <a:t>寄存器堆（寄存器文件）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dirty="0">
                <a:solidFill>
                  <a:srgbClr val="FF0000"/>
                </a:solidFill>
                <a:latin typeface="Chalkboard" panose="03050602040202020205" pitchFamily="66" charset="0"/>
              </a:rPr>
              <a:t>存储在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CPU</a:t>
            </a:r>
            <a:r>
              <a:rPr kumimoji="1" lang="zh-CN" altLang="en-US" dirty="0">
                <a:solidFill>
                  <a:srgbClr val="FF0000"/>
                </a:solidFill>
                <a:latin typeface="Chalkboard" panose="03050602040202020205" pitchFamily="66" charset="0"/>
              </a:rPr>
              <a:t>中</a:t>
            </a:r>
            <a:r>
              <a:rPr kumimoji="1" lang="zh-CN" altLang="en-US" dirty="0">
                <a:latin typeface="Chalkboard" panose="03050602040202020205" pitchFamily="66" charset="0"/>
              </a:rPr>
              <a:t>的随机访问存储器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dirty="0">
                <a:latin typeface="Chalkboard" panose="03050602040202020205" pitchFamily="66" charset="0"/>
              </a:rPr>
              <a:t>以</a:t>
            </a:r>
            <a:r>
              <a:rPr kumimoji="1" lang="en-US" altLang="zh-CN" dirty="0">
                <a:latin typeface="Chalkboard" panose="03050602040202020205" pitchFamily="66" charset="0"/>
              </a:rPr>
              <a:t>register ID</a:t>
            </a:r>
            <a:r>
              <a:rPr kumimoji="1" lang="zh-CN" altLang="en-US" dirty="0">
                <a:latin typeface="Chalkboard" panose="03050602040202020205" pitchFamily="66" charset="0"/>
              </a:rPr>
              <a:t>作为地址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Chalkboard" panose="03050602040202020205" pitchFamily="66" charset="0"/>
              </a:rPr>
              <a:t>register ID: </a:t>
            </a:r>
            <a:r>
              <a:rPr kumimoji="1" lang="zh-CN" altLang="en-US" dirty="0">
                <a:latin typeface="Chalkboard" panose="03050602040202020205" pitchFamily="66" charset="0"/>
              </a:rPr>
              <a:t>寄存器标识符，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4 bit</a:t>
            </a:r>
          </a:p>
        </p:txBody>
      </p:sp>
    </p:spTree>
    <p:extLst>
      <p:ext uri="{BB962C8B-B14F-4D97-AF65-F5344CB8AC3E}">
        <p14:creationId xmlns:p14="http://schemas.microsoft.com/office/powerpoint/2010/main" val="2025806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483476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solidFill>
                  <a:schemeClr val="tx1"/>
                </a:solidFill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7" y="2448912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510345" y="966952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Chalkboard" panose="03050602040202020205" pitchFamily="66" charset="0"/>
              </a:rPr>
              <a:t>﻿Programmer-Visible States</a:t>
            </a:r>
            <a:endParaRPr kumimoji="1" lang="zh-CN" altLang="en-US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510345" y="1450428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 err="1">
                <a:solidFill>
                  <a:schemeClr val="tx1"/>
                </a:solidFill>
                <a:latin typeface="Chalkboard" panose="03050602040202020205" pitchFamily="66" charset="0"/>
              </a:rPr>
              <a:t>Instructions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510345" y="1949670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Exceptions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C51BAF-5F1E-854D-9FA7-183F318C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23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8A8CAC-0FDC-6142-BB63-0053FEF080E6}"/>
              </a:ext>
            </a:extLst>
          </p:cNvPr>
          <p:cNvSpPr txBox="1"/>
          <p:nvPr/>
        </p:nvSpPr>
        <p:spPr>
          <a:xfrm>
            <a:off x="240858" y="402382"/>
            <a:ext cx="2865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latin typeface="Chalkboard" panose="03050602040202020205" pitchFamily="66" charset="0"/>
              </a:rPr>
              <a:t>Constant Word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77A0897-3F93-E640-8183-02331BD5F9F8}"/>
              </a:ext>
            </a:extLst>
          </p:cNvPr>
          <p:cNvSpPr/>
          <p:nvPr/>
        </p:nvSpPr>
        <p:spPr>
          <a:xfrm>
            <a:off x="2428293" y="1369057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3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A959D65-DBC8-F040-8C64-C350A065D8DD}"/>
              </a:ext>
            </a:extLst>
          </p:cNvPr>
          <p:cNvSpPr/>
          <p:nvPr/>
        </p:nvSpPr>
        <p:spPr>
          <a:xfrm>
            <a:off x="2764624" y="1369057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s-E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604FD35-4978-FA48-8AA1-D7300499A2DB}"/>
              </a:ext>
            </a:extLst>
          </p:cNvPr>
          <p:cNvSpPr/>
          <p:nvPr/>
        </p:nvSpPr>
        <p:spPr>
          <a:xfrm>
            <a:off x="3100955" y="1369056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F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3008238-F210-794E-8592-222FF2197E4B}"/>
              </a:ext>
            </a:extLst>
          </p:cNvPr>
          <p:cNvSpPr/>
          <p:nvPr/>
        </p:nvSpPr>
        <p:spPr>
          <a:xfrm>
            <a:off x="3437286" y="1369056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F06F090-665D-E84D-B3ED-3B0EF78A736A}"/>
              </a:ext>
            </a:extLst>
          </p:cNvPr>
          <p:cNvSpPr/>
          <p:nvPr/>
        </p:nvSpPr>
        <p:spPr>
          <a:xfrm>
            <a:off x="2428293" y="1819579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4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EF4352F2-11DD-6C45-B1F5-D65846F93A21}"/>
              </a:ext>
            </a:extLst>
          </p:cNvPr>
          <p:cNvSpPr/>
          <p:nvPr/>
        </p:nvSpPr>
        <p:spPr>
          <a:xfrm>
            <a:off x="2764624" y="1819579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2D2A94F-F915-994B-BFC5-2A341954F12E}"/>
              </a:ext>
            </a:extLst>
          </p:cNvPr>
          <p:cNvSpPr/>
          <p:nvPr/>
        </p:nvSpPr>
        <p:spPr>
          <a:xfrm>
            <a:off x="2428292" y="2271744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5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BBB2957C-3734-814E-BEC3-B490E7BC0601}"/>
              </a:ext>
            </a:extLst>
          </p:cNvPr>
          <p:cNvSpPr/>
          <p:nvPr/>
        </p:nvSpPr>
        <p:spPr>
          <a:xfrm>
            <a:off x="2764623" y="2271744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9E80887-480D-E34A-BE5F-4B72ED16466F}"/>
              </a:ext>
            </a:extLst>
          </p:cNvPr>
          <p:cNvSpPr/>
          <p:nvPr/>
        </p:nvSpPr>
        <p:spPr>
          <a:xfrm>
            <a:off x="3773616" y="1369056"/>
            <a:ext cx="3657601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V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9C642284-1512-1247-83C0-5737F43026C8}"/>
              </a:ext>
            </a:extLst>
          </p:cNvPr>
          <p:cNvSpPr/>
          <p:nvPr/>
        </p:nvSpPr>
        <p:spPr>
          <a:xfrm>
            <a:off x="3779497" y="1826001"/>
            <a:ext cx="3657601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D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FDC09D2-D8D7-8B4E-99E2-2298B79C0271}"/>
              </a:ext>
            </a:extLst>
          </p:cNvPr>
          <p:cNvSpPr/>
          <p:nvPr/>
        </p:nvSpPr>
        <p:spPr>
          <a:xfrm>
            <a:off x="3098444" y="2728254"/>
            <a:ext cx="3657601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  <a:latin typeface="Chalkboard" panose="03050602040202020205" pitchFamily="66" charset="0"/>
              </a:rPr>
              <a:t>Dest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0D558876-A62C-3A4F-A4DE-04E04F779AE9}"/>
              </a:ext>
            </a:extLst>
          </p:cNvPr>
          <p:cNvSpPr/>
          <p:nvPr/>
        </p:nvSpPr>
        <p:spPr>
          <a:xfrm>
            <a:off x="2427037" y="2731267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7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34D5B70-CADD-6040-AE64-DB500F3F7BE6}"/>
              </a:ext>
            </a:extLst>
          </p:cNvPr>
          <p:cNvSpPr/>
          <p:nvPr/>
        </p:nvSpPr>
        <p:spPr>
          <a:xfrm>
            <a:off x="2763368" y="2731267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s-ES" altLang="zh-CN" sz="1200" dirty="0" err="1">
                <a:solidFill>
                  <a:schemeClr val="tx1"/>
                </a:solidFill>
                <a:latin typeface="Chalkboard" panose="03050602040202020205" pitchFamily="66" charset="0"/>
              </a:rPr>
              <a:t>fn</a:t>
            </a:r>
            <a:endParaRPr kumimoji="1" lang="es-ES" altLang="zh-CN" sz="12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E855200A-F65D-124A-8F49-E1E117672753}"/>
              </a:ext>
            </a:extLst>
          </p:cNvPr>
          <p:cNvSpPr/>
          <p:nvPr/>
        </p:nvSpPr>
        <p:spPr>
          <a:xfrm>
            <a:off x="2424527" y="3186013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8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8BED6D5-A0ED-6E4A-AEF6-3EDDDBC2D509}"/>
              </a:ext>
            </a:extLst>
          </p:cNvPr>
          <p:cNvSpPr/>
          <p:nvPr/>
        </p:nvSpPr>
        <p:spPr>
          <a:xfrm>
            <a:off x="2760858" y="3186013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57236BE-CA7E-8347-8F7D-836362BDF238}"/>
              </a:ext>
            </a:extLst>
          </p:cNvPr>
          <p:cNvSpPr/>
          <p:nvPr/>
        </p:nvSpPr>
        <p:spPr>
          <a:xfrm>
            <a:off x="3098444" y="3186012"/>
            <a:ext cx="3657601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  <a:latin typeface="Chalkboard" panose="03050602040202020205" pitchFamily="66" charset="0"/>
              </a:rPr>
              <a:t>Dest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4A7FC6EA-0527-D843-8967-D0DC078DE8F2}"/>
              </a:ext>
            </a:extLst>
          </p:cNvPr>
          <p:cNvSpPr txBox="1"/>
          <p:nvPr/>
        </p:nvSpPr>
        <p:spPr>
          <a:xfrm>
            <a:off x="358570" y="1361371"/>
            <a:ext cx="142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irmovq</a:t>
            </a:r>
            <a:r>
              <a:rPr kumimoji="1" lang="en-US" altLang="zh-CN" dirty="0">
                <a:latin typeface="Chalkboard" panose="03050602040202020205" pitchFamily="66" charset="0"/>
              </a:rPr>
              <a:t> V, </a:t>
            </a:r>
            <a:r>
              <a:rPr kumimoji="1" lang="en-US" altLang="zh-CN" dirty="0" err="1">
                <a:latin typeface="Chalkboard" panose="03050602040202020205" pitchFamily="66" charset="0"/>
              </a:rPr>
              <a:t>rB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9820CD8-C868-2543-8FB5-C2AEC250815D}"/>
              </a:ext>
            </a:extLst>
          </p:cNvPr>
          <p:cNvSpPr txBox="1"/>
          <p:nvPr/>
        </p:nvSpPr>
        <p:spPr>
          <a:xfrm>
            <a:off x="346701" y="1817646"/>
            <a:ext cx="1977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rmmovq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rA</a:t>
            </a:r>
            <a:r>
              <a:rPr kumimoji="1" lang="en-US" altLang="zh-CN" dirty="0">
                <a:latin typeface="Chalkboard" panose="03050602040202020205" pitchFamily="66" charset="0"/>
              </a:rPr>
              <a:t>, D(</a:t>
            </a:r>
            <a:r>
              <a:rPr kumimoji="1" lang="en-US" altLang="zh-CN" dirty="0" err="1">
                <a:latin typeface="Chalkboard" panose="03050602040202020205" pitchFamily="66" charset="0"/>
              </a:rPr>
              <a:t>rB</a:t>
            </a:r>
            <a:r>
              <a:rPr kumimoji="1" lang="en-US" altLang="zh-CN" dirty="0">
                <a:latin typeface="Chalkboard" panose="03050602040202020205" pitchFamily="66" charset="0"/>
              </a:rPr>
              <a:t>)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11789391-A2C3-2E41-9C93-B073229C8A2C}"/>
              </a:ext>
            </a:extLst>
          </p:cNvPr>
          <p:cNvSpPr txBox="1"/>
          <p:nvPr/>
        </p:nvSpPr>
        <p:spPr>
          <a:xfrm>
            <a:off x="362639" y="2269307"/>
            <a:ext cx="1970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mrmovq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D(</a:t>
            </a: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rB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), </a:t>
            </a: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dirty="0">
              <a:solidFill>
                <a:srgbClr val="FF0000"/>
              </a:solidFill>
              <a:latin typeface="Chalkboard" panose="03050602040202020205" pitchFamily="66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C432D4A-8733-7E42-9F77-28B2EED7EC7C}"/>
              </a:ext>
            </a:extLst>
          </p:cNvPr>
          <p:cNvSpPr txBox="1"/>
          <p:nvPr/>
        </p:nvSpPr>
        <p:spPr>
          <a:xfrm>
            <a:off x="361384" y="2722264"/>
            <a:ext cx="1130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jXX</a:t>
            </a:r>
            <a:r>
              <a:rPr kumimoji="1" lang="en-US" altLang="zh-CN" dirty="0">
                <a:latin typeface="Chalkboard" panose="03050602040202020205" pitchFamily="66" charset="0"/>
              </a:rPr>
              <a:t> </a:t>
            </a:r>
            <a:r>
              <a:rPr kumimoji="1" lang="en-US" altLang="zh-CN" dirty="0" err="1">
                <a:latin typeface="Chalkboard" panose="03050602040202020205" pitchFamily="66" charset="0"/>
              </a:rPr>
              <a:t>Dest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2C0723FB-A200-E64F-A2DD-30124E833E07}"/>
              </a:ext>
            </a:extLst>
          </p:cNvPr>
          <p:cNvSpPr txBox="1"/>
          <p:nvPr/>
        </p:nvSpPr>
        <p:spPr>
          <a:xfrm>
            <a:off x="355717" y="3189314"/>
            <a:ext cx="110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call </a:t>
            </a:r>
            <a:r>
              <a:rPr kumimoji="1" lang="en-US" altLang="zh-CN" dirty="0" err="1">
                <a:latin typeface="Chalkboard" panose="03050602040202020205" pitchFamily="66" charset="0"/>
              </a:rPr>
              <a:t>Dest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D61AC44-11F6-0B4F-8478-D5E4BD60DE19}"/>
              </a:ext>
            </a:extLst>
          </p:cNvPr>
          <p:cNvSpPr/>
          <p:nvPr/>
        </p:nvSpPr>
        <p:spPr>
          <a:xfrm>
            <a:off x="3106835" y="1823636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F169250-B766-1543-81FA-2D1ACAD6332C}"/>
              </a:ext>
            </a:extLst>
          </p:cNvPr>
          <p:cNvSpPr/>
          <p:nvPr/>
        </p:nvSpPr>
        <p:spPr>
          <a:xfrm>
            <a:off x="3439789" y="1823637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F16A2D37-9ED8-9441-8E6F-DF2AA213CD60}"/>
              </a:ext>
            </a:extLst>
          </p:cNvPr>
          <p:cNvSpPr/>
          <p:nvPr/>
        </p:nvSpPr>
        <p:spPr>
          <a:xfrm>
            <a:off x="3098444" y="2271310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rA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DCE087E-71C3-064A-95D6-450A97795C55}"/>
              </a:ext>
            </a:extLst>
          </p:cNvPr>
          <p:cNvSpPr/>
          <p:nvPr/>
        </p:nvSpPr>
        <p:spPr>
          <a:xfrm>
            <a:off x="3439789" y="2267293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 err="1">
                <a:solidFill>
                  <a:schemeClr val="tx1"/>
                </a:solidFill>
                <a:latin typeface="Chalkboard" panose="03050602040202020205" pitchFamily="66" charset="0"/>
              </a:rPr>
              <a:t>rB</a:t>
            </a:r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8EFD34E2-99EC-904A-98BB-38DCF44D0BA5}"/>
              </a:ext>
            </a:extLst>
          </p:cNvPr>
          <p:cNvSpPr/>
          <p:nvPr/>
        </p:nvSpPr>
        <p:spPr>
          <a:xfrm>
            <a:off x="3776120" y="2267293"/>
            <a:ext cx="3657601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D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E963E759-0A09-104E-B928-2A4B31A7D44C}"/>
              </a:ext>
            </a:extLst>
          </p:cNvPr>
          <p:cNvSpPr/>
          <p:nvPr/>
        </p:nvSpPr>
        <p:spPr>
          <a:xfrm>
            <a:off x="7768594" y="3077505"/>
            <a:ext cx="336332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2650A26A-E6BF-E547-81A1-C396AF0A9213}"/>
              </a:ext>
            </a:extLst>
          </p:cNvPr>
          <p:cNvSpPr/>
          <p:nvPr/>
        </p:nvSpPr>
        <p:spPr>
          <a:xfrm>
            <a:off x="7773428" y="2006350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s-ES" altLang="zh-CN" sz="12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C58EE3BD-E0B2-D546-AAA5-315A37AFBB55}"/>
              </a:ext>
            </a:extLst>
          </p:cNvPr>
          <p:cNvSpPr/>
          <p:nvPr/>
        </p:nvSpPr>
        <p:spPr>
          <a:xfrm>
            <a:off x="7773428" y="1468649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6C81AB84-3744-DE44-9B00-BF2CCC2C24AF}"/>
              </a:ext>
            </a:extLst>
          </p:cNvPr>
          <p:cNvSpPr/>
          <p:nvPr/>
        </p:nvSpPr>
        <p:spPr>
          <a:xfrm>
            <a:off x="7768594" y="2534147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3BC916F-5612-C147-BD91-E3D57EA7F7F3}"/>
              </a:ext>
            </a:extLst>
          </p:cNvPr>
          <p:cNvSpPr txBox="1"/>
          <p:nvPr/>
        </p:nvSpPr>
        <p:spPr>
          <a:xfrm>
            <a:off x="8330316" y="1450428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icode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EDF69A95-1F4A-1A4D-B34B-94956D0C883F}"/>
              </a:ext>
            </a:extLst>
          </p:cNvPr>
          <p:cNvSpPr txBox="1"/>
          <p:nvPr/>
        </p:nvSpPr>
        <p:spPr>
          <a:xfrm>
            <a:off x="8330316" y="1972744"/>
            <a:ext cx="574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ifun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872053B-AABB-614D-AEF4-059FF99D8647}"/>
              </a:ext>
            </a:extLst>
          </p:cNvPr>
          <p:cNvSpPr txBox="1"/>
          <p:nvPr/>
        </p:nvSpPr>
        <p:spPr>
          <a:xfrm>
            <a:off x="8330316" y="2522167"/>
            <a:ext cx="133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register ID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E89251CA-5429-C543-800A-63B09E075BDC}"/>
              </a:ext>
            </a:extLst>
          </p:cNvPr>
          <p:cNvSpPr txBox="1"/>
          <p:nvPr/>
        </p:nvSpPr>
        <p:spPr>
          <a:xfrm>
            <a:off x="8365464" y="3063411"/>
            <a:ext cx="1043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constant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3C73903-6EDA-2A42-8865-94E63C645F2D}"/>
              </a:ext>
            </a:extLst>
          </p:cNvPr>
          <p:cNvSpPr/>
          <p:nvPr/>
        </p:nvSpPr>
        <p:spPr>
          <a:xfrm>
            <a:off x="373527" y="3862010"/>
            <a:ext cx="336332" cy="3573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963259E-8009-F44C-B7B8-CD8AB0DC1566}"/>
              </a:ext>
            </a:extLst>
          </p:cNvPr>
          <p:cNvSpPr txBox="1"/>
          <p:nvPr/>
        </p:nvSpPr>
        <p:spPr>
          <a:xfrm>
            <a:off x="970397" y="3847916"/>
            <a:ext cx="1043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constant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CCB6A3-279D-F941-9184-10BD3909C1C2}"/>
              </a:ext>
            </a:extLst>
          </p:cNvPr>
          <p:cNvSpPr txBox="1"/>
          <p:nvPr/>
        </p:nvSpPr>
        <p:spPr>
          <a:xfrm>
            <a:off x="346701" y="4314966"/>
            <a:ext cx="7084516" cy="1296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均为</a:t>
            </a:r>
            <a:r>
              <a:rPr kumimoji="1" lang="en-US" altLang="zh-CN" dirty="0">
                <a:latin typeface="Chalkboard" panose="03050602040202020205" pitchFamily="66" charset="0"/>
              </a:rPr>
              <a:t>8</a:t>
            </a:r>
            <a:r>
              <a:rPr kumimoji="1" lang="zh-CN" altLang="en-US" dirty="0">
                <a:latin typeface="Chalkboard" panose="03050602040202020205" pitchFamily="66" charset="0"/>
              </a:rPr>
              <a:t>字节（</a:t>
            </a:r>
            <a:r>
              <a:rPr kumimoji="1" lang="en-US" altLang="zh-CN" dirty="0">
                <a:latin typeface="Chalkboard" panose="03050602040202020205" pitchFamily="66" charset="0"/>
              </a:rPr>
              <a:t>word</a:t>
            </a:r>
            <a:r>
              <a:rPr kumimoji="1" lang="zh-CN" altLang="en-US" dirty="0">
                <a:latin typeface="Chalkboard" panose="03050602040202020205" pitchFamily="66" charset="0"/>
              </a:rPr>
              <a:t>）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在内存中为</a:t>
            </a:r>
            <a:r>
              <a:rPr kumimoji="1" lang="zh-CN" altLang="en-US" dirty="0">
                <a:solidFill>
                  <a:srgbClr val="FF0000"/>
                </a:solidFill>
                <a:latin typeface="Chalkboard" panose="03050602040202020205" pitchFamily="66" charset="0"/>
              </a:rPr>
              <a:t>小端法</a:t>
            </a:r>
            <a:r>
              <a:rPr kumimoji="1" lang="zh-CN" altLang="en-US" dirty="0">
                <a:latin typeface="Chalkboard" panose="03050602040202020205" pitchFamily="66" charset="0"/>
              </a:rPr>
              <a:t>编码，因此在指令对应的字节编码中应当从低位字节到高位字节（二进制目标代码存储在内存中）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B794DA7-BF49-E549-A025-43603ACBB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01" y="5893575"/>
            <a:ext cx="7883359" cy="36512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205D984-E3CC-9248-B88B-4EAFDA37A92F}"/>
              </a:ext>
            </a:extLst>
          </p:cNvPr>
          <p:cNvSpPr/>
          <p:nvPr/>
        </p:nvSpPr>
        <p:spPr>
          <a:xfrm>
            <a:off x="2324357" y="5893575"/>
            <a:ext cx="1769177" cy="365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940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483476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solidFill>
                  <a:schemeClr val="tx1"/>
                </a:solidFill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7" y="2448912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510345" y="966952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Chalkboard" panose="03050602040202020205" pitchFamily="66" charset="0"/>
              </a:rPr>
              <a:t>﻿Programmer-Visible States</a:t>
            </a:r>
            <a:endParaRPr kumimoji="1" lang="zh-CN" altLang="en-US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510345" y="1450428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 err="1">
                <a:solidFill>
                  <a:schemeClr val="tx1"/>
                </a:solidFill>
                <a:latin typeface="Chalkboard" panose="03050602040202020205" pitchFamily="66" charset="0"/>
              </a:rPr>
              <a:t>Instructions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510345" y="1949670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bg1"/>
                </a:solidFill>
                <a:latin typeface="Chalkboard" panose="03050602040202020205" pitchFamily="66" charset="0"/>
              </a:rPr>
              <a:t>Exceptions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C51BAF-5F1E-854D-9FA7-183F318C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24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8A8CAC-0FDC-6142-BB63-0053FEF080E6}"/>
              </a:ext>
            </a:extLst>
          </p:cNvPr>
          <p:cNvSpPr txBox="1"/>
          <p:nvPr/>
        </p:nvSpPr>
        <p:spPr>
          <a:xfrm>
            <a:off x="303070" y="432826"/>
            <a:ext cx="14169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latin typeface="Chalkboard" panose="03050602040202020205" pitchFamily="66" charset="0"/>
              </a:rPr>
              <a:t>﻿Details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356880-58FB-034E-9712-4506A5B4B542}"/>
              </a:ext>
            </a:extLst>
          </p:cNvPr>
          <p:cNvSpPr/>
          <p:nvPr/>
        </p:nvSpPr>
        <p:spPr>
          <a:xfrm>
            <a:off x="2414462" y="1277743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A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5603BF-D997-FD46-9435-5B4373191CEF}"/>
              </a:ext>
            </a:extLst>
          </p:cNvPr>
          <p:cNvSpPr/>
          <p:nvPr/>
        </p:nvSpPr>
        <p:spPr>
          <a:xfrm>
            <a:off x="2750793" y="1277743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774D4A-4F70-4F4C-B25F-8FFE286B6730}"/>
              </a:ext>
            </a:extLst>
          </p:cNvPr>
          <p:cNvSpPr/>
          <p:nvPr/>
        </p:nvSpPr>
        <p:spPr>
          <a:xfrm>
            <a:off x="3423455" y="1277742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F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DBD74FB-46D7-FF40-BD8A-8A735B84C3B1}"/>
              </a:ext>
            </a:extLst>
          </p:cNvPr>
          <p:cNvSpPr txBox="1"/>
          <p:nvPr/>
        </p:nvSpPr>
        <p:spPr>
          <a:xfrm>
            <a:off x="346701" y="1265762"/>
            <a:ext cx="137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pushq</a:t>
            </a:r>
            <a:r>
              <a:rPr kumimoji="1" lang="en-US" altLang="zh-CN" dirty="0">
                <a:latin typeface="Chalkboard" panose="03050602040202020205" pitchFamily="66" charset="0"/>
              </a:rPr>
              <a:t> %</a:t>
            </a:r>
            <a:r>
              <a:rPr kumimoji="1" lang="en-US" altLang="zh-CN" dirty="0" err="1">
                <a:latin typeface="Chalkboard" panose="03050602040202020205" pitchFamily="66" charset="0"/>
              </a:rPr>
              <a:t>rsp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5CCBB64-D052-164F-B869-8D7B93E22370}"/>
              </a:ext>
            </a:extLst>
          </p:cNvPr>
          <p:cNvSpPr/>
          <p:nvPr/>
        </p:nvSpPr>
        <p:spPr>
          <a:xfrm>
            <a:off x="3093005" y="1277742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4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2A3FC8D-22AE-A84F-A3F3-E6BA9072B052}"/>
              </a:ext>
            </a:extLst>
          </p:cNvPr>
          <p:cNvSpPr txBox="1"/>
          <p:nvPr/>
        </p:nvSpPr>
        <p:spPr>
          <a:xfrm>
            <a:off x="346701" y="1822076"/>
            <a:ext cx="2311787" cy="1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 err="1">
                <a:latin typeface="Chalkboard" panose="03050602040202020205" pitchFamily="66" charset="0"/>
              </a:rPr>
              <a:t>irmovq</a:t>
            </a:r>
            <a:r>
              <a:rPr kumimoji="1" lang="en-US" altLang="zh-CN" dirty="0">
                <a:latin typeface="Chalkboard" panose="03050602040202020205" pitchFamily="66" charset="0"/>
              </a:rPr>
              <a:t>	$8,%rbx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 err="1">
                <a:latin typeface="Chalkboard" panose="03050602040202020205" pitchFamily="66" charset="0"/>
              </a:rPr>
              <a:t>subq</a:t>
            </a:r>
            <a:r>
              <a:rPr kumimoji="1" lang="en-US" altLang="zh-CN" dirty="0">
                <a:latin typeface="Chalkboard" panose="03050602040202020205" pitchFamily="66" charset="0"/>
              </a:rPr>
              <a:t> 	%</a:t>
            </a:r>
            <a:r>
              <a:rPr kumimoji="1" lang="en-US" altLang="zh-CN" dirty="0" err="1">
                <a:latin typeface="Chalkboard" panose="03050602040202020205" pitchFamily="66" charset="0"/>
              </a:rPr>
              <a:t>rbx</a:t>
            </a:r>
            <a:r>
              <a:rPr kumimoji="1" lang="en-US" altLang="zh-CN" dirty="0">
                <a:latin typeface="Chalkboard" panose="03050602040202020205" pitchFamily="66" charset="0"/>
              </a:rPr>
              <a:t>,%</a:t>
            </a:r>
            <a:r>
              <a:rPr kumimoji="1" lang="en-US" altLang="zh-CN" dirty="0" err="1">
                <a:latin typeface="Chalkboard" panose="03050602040202020205" pitchFamily="66" charset="0"/>
              </a:rPr>
              <a:t>rsp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 err="1">
                <a:latin typeface="Chalkboard" panose="03050602040202020205" pitchFamily="66" charset="0"/>
              </a:rPr>
              <a:t>rmmovq</a:t>
            </a:r>
            <a:r>
              <a:rPr kumimoji="1" lang="en-US" altLang="zh-CN" dirty="0">
                <a:latin typeface="Chalkboard" panose="03050602040202020205" pitchFamily="66" charset="0"/>
              </a:rPr>
              <a:t>	%</a:t>
            </a:r>
            <a:r>
              <a:rPr kumimoji="1" lang="en-US" altLang="zh-CN" dirty="0" err="1">
                <a:latin typeface="Chalkboard" panose="03050602040202020205" pitchFamily="66" charset="0"/>
              </a:rPr>
              <a:t>rsp</a:t>
            </a:r>
            <a:r>
              <a:rPr kumimoji="1" lang="en-US" altLang="zh-CN" dirty="0">
                <a:latin typeface="Chalkboard" panose="03050602040202020205" pitchFamily="66" charset="0"/>
              </a:rPr>
              <a:t>,(%</a:t>
            </a:r>
            <a:r>
              <a:rPr kumimoji="1" lang="en-US" altLang="zh-CN" dirty="0" err="1">
                <a:latin typeface="Chalkboard" panose="03050602040202020205" pitchFamily="66" charset="0"/>
              </a:rPr>
              <a:t>rsp</a:t>
            </a:r>
            <a:r>
              <a:rPr kumimoji="1" lang="en-US" altLang="zh-CN" dirty="0">
                <a:latin typeface="Chalkboard" panose="03050602040202020205" pitchFamily="66" charset="0"/>
              </a:rPr>
              <a:t>)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48526F42-A28A-8243-BC23-D4CB84E58771}"/>
              </a:ext>
            </a:extLst>
          </p:cNvPr>
          <p:cNvSpPr txBox="1"/>
          <p:nvPr/>
        </p:nvSpPr>
        <p:spPr>
          <a:xfrm>
            <a:off x="3406984" y="1822076"/>
            <a:ext cx="2553841" cy="1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irmovq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	$8,%rbx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rmmovq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	%rsp,-8(%</a:t>
            </a: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rsp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subq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 	%</a:t>
            </a: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rbx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,%</a:t>
            </a: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rsp</a:t>
            </a:r>
            <a:endParaRPr kumimoji="1" lang="en-US" altLang="zh-CN" dirty="0">
              <a:solidFill>
                <a:srgbClr val="FF0000"/>
              </a:solidFill>
              <a:latin typeface="Chalkboard" panose="03050602040202020205" pitchFamily="66" charset="0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4A42CA5-8EE1-A74B-BD68-33D93CCBE24E}"/>
              </a:ext>
            </a:extLst>
          </p:cNvPr>
          <p:cNvSpPr/>
          <p:nvPr/>
        </p:nvSpPr>
        <p:spPr>
          <a:xfrm>
            <a:off x="2397991" y="3787610"/>
            <a:ext cx="336331" cy="3573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B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32B13CE-2191-2A44-8D9C-8C3CA3AB1986}"/>
              </a:ext>
            </a:extLst>
          </p:cNvPr>
          <p:cNvSpPr/>
          <p:nvPr/>
        </p:nvSpPr>
        <p:spPr>
          <a:xfrm>
            <a:off x="2734322" y="3787610"/>
            <a:ext cx="336331" cy="3573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0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2FFAD724-71AC-9D4A-9A2D-057EDBCADFE7}"/>
              </a:ext>
            </a:extLst>
          </p:cNvPr>
          <p:cNvSpPr/>
          <p:nvPr/>
        </p:nvSpPr>
        <p:spPr>
          <a:xfrm>
            <a:off x="3406984" y="3787609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F</a:t>
            </a:r>
            <a:endParaRPr kumimoji="1" lang="zh-CN" altLang="en-US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DAA539E1-E441-514E-ABD8-5BF3C721E7C9}"/>
              </a:ext>
            </a:extLst>
          </p:cNvPr>
          <p:cNvSpPr txBox="1"/>
          <p:nvPr/>
        </p:nvSpPr>
        <p:spPr>
          <a:xfrm>
            <a:off x="346701" y="3735058"/>
            <a:ext cx="1270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halkboard" panose="03050602040202020205" pitchFamily="66" charset="0"/>
              </a:rPr>
              <a:t>popq</a:t>
            </a:r>
            <a:r>
              <a:rPr kumimoji="1" lang="en-US" altLang="zh-CN" dirty="0">
                <a:latin typeface="Chalkboard" panose="03050602040202020205" pitchFamily="66" charset="0"/>
              </a:rPr>
              <a:t> %</a:t>
            </a:r>
            <a:r>
              <a:rPr kumimoji="1" lang="en-US" altLang="zh-CN" dirty="0" err="1">
                <a:latin typeface="Chalkboard" panose="03050602040202020205" pitchFamily="66" charset="0"/>
              </a:rPr>
              <a:t>rsp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BDD59A6-71F4-7446-BB63-8F8040BFC7F6}"/>
              </a:ext>
            </a:extLst>
          </p:cNvPr>
          <p:cNvSpPr/>
          <p:nvPr/>
        </p:nvSpPr>
        <p:spPr>
          <a:xfrm>
            <a:off x="3076534" y="3787610"/>
            <a:ext cx="336331" cy="357352"/>
          </a:xfrm>
          <a:prstGeom prst="rect">
            <a:avLst/>
          </a:prstGeom>
          <a:solidFill>
            <a:srgbClr val="F84C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halkboard" panose="03050602040202020205" pitchFamily="66" charset="0"/>
              </a:rPr>
              <a:t>4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3B2530C-FD44-AA49-9A98-E515C11ADA41}"/>
              </a:ext>
            </a:extLst>
          </p:cNvPr>
          <p:cNvSpPr txBox="1"/>
          <p:nvPr/>
        </p:nvSpPr>
        <p:spPr>
          <a:xfrm>
            <a:off x="303070" y="4291371"/>
            <a:ext cx="2571923" cy="1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irmovq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	$8,%rax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addq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 	%</a:t>
            </a: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rax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,%</a:t>
            </a: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rsp</a:t>
            </a:r>
            <a:endParaRPr kumimoji="1" lang="en-US" altLang="zh-CN" dirty="0">
              <a:solidFill>
                <a:srgbClr val="FF0000"/>
              </a:solidFill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mrmovq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	-8(%</a:t>
            </a: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rsp</a:t>
            </a:r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),%</a:t>
            </a:r>
            <a:r>
              <a:rPr kumimoji="1" lang="en-US" altLang="zh-CN" dirty="0" err="1">
                <a:solidFill>
                  <a:srgbClr val="FF0000"/>
                </a:solidFill>
                <a:latin typeface="Chalkboard" panose="03050602040202020205" pitchFamily="66" charset="0"/>
              </a:rPr>
              <a:t>rsp</a:t>
            </a:r>
            <a:endParaRPr kumimoji="1" lang="zh-CN" altLang="en-US" dirty="0">
              <a:solidFill>
                <a:srgbClr val="FF0000"/>
              </a:solidFill>
              <a:latin typeface="Chalkboard" panose="03050602040202020205" pitchFamily="66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3A719247-E2FA-624A-A202-C0F29F825357}"/>
              </a:ext>
            </a:extLst>
          </p:cNvPr>
          <p:cNvSpPr txBox="1"/>
          <p:nvPr/>
        </p:nvSpPr>
        <p:spPr>
          <a:xfrm>
            <a:off x="3379824" y="4295280"/>
            <a:ext cx="2329869" cy="12969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 err="1">
                <a:latin typeface="Chalkboard" panose="03050602040202020205" pitchFamily="66" charset="0"/>
              </a:rPr>
              <a:t>irmovq</a:t>
            </a:r>
            <a:r>
              <a:rPr kumimoji="1" lang="en-US" altLang="zh-CN" dirty="0">
                <a:latin typeface="Chalkboard" panose="03050602040202020205" pitchFamily="66" charset="0"/>
              </a:rPr>
              <a:t>	$8,%rax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 err="1">
                <a:latin typeface="Chalkboard" panose="03050602040202020205" pitchFamily="66" charset="0"/>
              </a:rPr>
              <a:t>mrmovq</a:t>
            </a:r>
            <a:r>
              <a:rPr kumimoji="1" lang="en-US" altLang="zh-CN" dirty="0">
                <a:latin typeface="Chalkboard" panose="03050602040202020205" pitchFamily="66" charset="0"/>
              </a:rPr>
              <a:t>	(%</a:t>
            </a:r>
            <a:r>
              <a:rPr kumimoji="1" lang="en-US" altLang="zh-CN" dirty="0" err="1">
                <a:latin typeface="Chalkboard" panose="03050602040202020205" pitchFamily="66" charset="0"/>
              </a:rPr>
              <a:t>rsp</a:t>
            </a:r>
            <a:r>
              <a:rPr kumimoji="1" lang="en-US" altLang="zh-CN" dirty="0">
                <a:latin typeface="Chalkboard" panose="03050602040202020205" pitchFamily="66" charset="0"/>
              </a:rPr>
              <a:t>),%</a:t>
            </a:r>
            <a:r>
              <a:rPr kumimoji="1" lang="en-US" altLang="zh-CN" dirty="0" err="1">
                <a:latin typeface="Chalkboard" panose="03050602040202020205" pitchFamily="66" charset="0"/>
              </a:rPr>
              <a:t>rsp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 err="1">
                <a:latin typeface="Chalkboard" panose="03050602040202020205" pitchFamily="66" charset="0"/>
              </a:rPr>
              <a:t>addq</a:t>
            </a:r>
            <a:r>
              <a:rPr kumimoji="1" lang="en-US" altLang="zh-CN" dirty="0">
                <a:latin typeface="Chalkboard" panose="03050602040202020205" pitchFamily="66" charset="0"/>
              </a:rPr>
              <a:t> 	%</a:t>
            </a:r>
            <a:r>
              <a:rPr kumimoji="1" lang="en-US" altLang="zh-CN" dirty="0" err="1">
                <a:latin typeface="Chalkboard" panose="03050602040202020205" pitchFamily="66" charset="0"/>
              </a:rPr>
              <a:t>rax</a:t>
            </a:r>
            <a:r>
              <a:rPr kumimoji="1" lang="en-US" altLang="zh-CN" dirty="0">
                <a:latin typeface="Chalkboard" panose="03050602040202020205" pitchFamily="66" charset="0"/>
              </a:rPr>
              <a:t>,%</a:t>
            </a:r>
            <a:r>
              <a:rPr kumimoji="1" lang="en-US" altLang="zh-CN" dirty="0" err="1">
                <a:latin typeface="Chalkboard" panose="03050602040202020205" pitchFamily="66" charset="0"/>
              </a:rPr>
              <a:t>rsp</a:t>
            </a:r>
            <a:endParaRPr kumimoji="1" lang="en-US" altLang="zh-CN" dirty="0">
              <a:latin typeface="Chalkboard" panose="03050602040202020205" pitchFamily="66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E9DA20F-7AED-DC4B-8E5A-6404E9AF7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27" y="1146292"/>
            <a:ext cx="4145466" cy="18825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5A737C9-A750-F646-BCA2-83EB9527F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764" y="3919724"/>
            <a:ext cx="4294333" cy="171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10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483476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solidFill>
                  <a:schemeClr val="tx1"/>
                </a:solidFill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7" y="2448912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0F509-982D-3C4C-8A9D-E19152A72F47}"/>
              </a:ext>
            </a:extLst>
          </p:cNvPr>
          <p:cNvSpPr/>
          <p:nvPr/>
        </p:nvSpPr>
        <p:spPr>
          <a:xfrm>
            <a:off x="10510345" y="966952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Chalkboard" panose="03050602040202020205" pitchFamily="66" charset="0"/>
              </a:rPr>
              <a:t>﻿Programmer-Visible States</a:t>
            </a:r>
            <a:endParaRPr kumimoji="1" lang="zh-CN" altLang="en-US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5A63E-22AD-5742-B40E-DE8E188A1DFC}"/>
              </a:ext>
            </a:extLst>
          </p:cNvPr>
          <p:cNvSpPr/>
          <p:nvPr/>
        </p:nvSpPr>
        <p:spPr>
          <a:xfrm>
            <a:off x="10510345" y="1450428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s-ES" altLang="zh-CN" sz="2000" dirty="0" err="1">
                <a:solidFill>
                  <a:schemeClr val="bg1"/>
                </a:solidFill>
                <a:latin typeface="Chalkboard" panose="03050602040202020205" pitchFamily="66" charset="0"/>
              </a:rPr>
              <a:t>Instructions</a:t>
            </a:r>
            <a:endParaRPr kumimoji="1" lang="zh-CN" altLang="en-US" sz="20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F98C8-1180-724A-8BAF-90F3BD7EC446}"/>
              </a:ext>
            </a:extLst>
          </p:cNvPr>
          <p:cNvSpPr/>
          <p:nvPr/>
        </p:nvSpPr>
        <p:spPr>
          <a:xfrm>
            <a:off x="10510345" y="1949670"/>
            <a:ext cx="1681655" cy="4834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Chalkboard" panose="03050602040202020205" pitchFamily="66" charset="0"/>
              </a:rPr>
              <a:t>Exceptions</a:t>
            </a:r>
            <a:endParaRPr kumimoji="1" lang="zh-CN" altLang="en-US" sz="20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C51BAF-5F1E-854D-9FA7-183F318C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25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8A8CAC-0FDC-6142-BB63-0053FEF080E6}"/>
              </a:ext>
            </a:extLst>
          </p:cNvPr>
          <p:cNvSpPr txBox="1"/>
          <p:nvPr/>
        </p:nvSpPr>
        <p:spPr>
          <a:xfrm>
            <a:off x="355489" y="399394"/>
            <a:ext cx="21136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latin typeface="Chalkboard" panose="03050602040202020205" pitchFamily="66" charset="0"/>
              </a:rPr>
              <a:t>﻿Exceptions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9951551-8703-2148-B7CD-AB6DB2F27FA8}"/>
              </a:ext>
            </a:extLst>
          </p:cNvPr>
          <p:cNvSpPr/>
          <p:nvPr/>
        </p:nvSpPr>
        <p:spPr>
          <a:xfrm>
            <a:off x="2953405" y="399394"/>
            <a:ext cx="3657600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﻿ programming conventions</a:t>
            </a:r>
          </a:p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handling of exceptional events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A07B86-2AE9-D847-A979-B00F656F65E6}"/>
              </a:ext>
            </a:extLst>
          </p:cNvPr>
          <p:cNvSpPr/>
          <p:nvPr/>
        </p:nvSpPr>
        <p:spPr>
          <a:xfrm>
            <a:off x="450701" y="1530844"/>
            <a:ext cx="442310" cy="378373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52A30B5-6146-4247-8DBB-053CEA9F9FBF}"/>
              </a:ext>
            </a:extLst>
          </p:cNvPr>
          <p:cNvSpPr txBox="1"/>
          <p:nvPr/>
        </p:nvSpPr>
        <p:spPr>
          <a:xfrm>
            <a:off x="1165181" y="1550273"/>
            <a:ext cx="16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Stat: </a:t>
            </a:r>
            <a:r>
              <a:rPr kumimoji="1" lang="zh-CN" altLang="en-US" dirty="0">
                <a:latin typeface="Chalkboard" panose="03050602040202020205" pitchFamily="66" charset="0"/>
              </a:rPr>
              <a:t>程序状态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7F2281-8FFB-3242-A90B-AD41BEBFE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29" y="2233953"/>
            <a:ext cx="4270032" cy="187546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C8A3D24-CAAC-A542-8202-5680D076BC6E}"/>
              </a:ext>
            </a:extLst>
          </p:cNvPr>
          <p:cNvSpPr txBox="1"/>
          <p:nvPr/>
        </p:nvSpPr>
        <p:spPr>
          <a:xfrm>
            <a:off x="393138" y="4295553"/>
            <a:ext cx="7258718" cy="17123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latin typeface="Chalkboard" panose="03050602040202020205" pitchFamily="66" charset="0"/>
              </a:rPr>
              <a:t>HLT: </a:t>
            </a:r>
            <a:r>
              <a:rPr kumimoji="1" lang="zh-CN" altLang="en-US" dirty="0">
                <a:latin typeface="Chalkboard" panose="03050602040202020205" pitchFamily="66" charset="0"/>
              </a:rPr>
              <a:t>处理器执行了一条</a:t>
            </a:r>
            <a:r>
              <a:rPr kumimoji="1" lang="en-US" altLang="zh-CN" dirty="0">
                <a:latin typeface="Chalkboard" panose="03050602040202020205" pitchFamily="66" charset="0"/>
              </a:rPr>
              <a:t>halt</a:t>
            </a:r>
            <a:r>
              <a:rPr kumimoji="1" lang="zh-CN" altLang="en-US" dirty="0">
                <a:latin typeface="Chalkboard" panose="03050602040202020205" pitchFamily="66" charset="0"/>
              </a:rPr>
              <a:t>指令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Chalkboard" panose="03050602040202020205" pitchFamily="66" charset="0"/>
              </a:rPr>
              <a:t>ADR: </a:t>
            </a:r>
            <a:r>
              <a:rPr kumimoji="1" lang="zh-CN" altLang="en-US" dirty="0">
                <a:latin typeface="Chalkboard" panose="03050602040202020205" pitchFamily="66" charset="0"/>
              </a:rPr>
              <a:t>处理器试图从（向）非法内存地址读（写）    取指令</a:t>
            </a:r>
            <a:r>
              <a:rPr kumimoji="1" lang="en-US" altLang="zh-CN" dirty="0">
                <a:latin typeface="Chalkboard" panose="03050602040202020205" pitchFamily="66" charset="0"/>
              </a:rPr>
              <a:t>/</a:t>
            </a:r>
            <a:r>
              <a:rPr kumimoji="1" lang="zh-CN" altLang="en-US" dirty="0">
                <a:latin typeface="Chalkboard" panose="03050602040202020205" pitchFamily="66" charset="0"/>
              </a:rPr>
              <a:t>读写数据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Chalkboard" panose="03050602040202020205" pitchFamily="66" charset="0"/>
              </a:rPr>
              <a:t>INS: </a:t>
            </a:r>
            <a:r>
              <a:rPr kumimoji="1" lang="zh-CN" altLang="en-US" dirty="0">
                <a:latin typeface="Chalkboard" panose="03050602040202020205" pitchFamily="66" charset="0"/>
              </a:rPr>
              <a:t>遇到非法指令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b="1" dirty="0">
                <a:latin typeface="Chalkboard" panose="03050602040202020205" pitchFamily="66" charset="0"/>
              </a:rPr>
              <a:t>停止处理器执行指令</a:t>
            </a:r>
            <a:r>
              <a:rPr kumimoji="1" lang="en-US" altLang="zh-CN" b="1" dirty="0">
                <a:latin typeface="Chalkboard" panose="03050602040202020205" pitchFamily="66" charset="0"/>
              </a:rPr>
              <a:t>/</a:t>
            </a:r>
            <a:r>
              <a:rPr kumimoji="1" lang="zh-CN" altLang="en-US" b="1" dirty="0">
                <a:latin typeface="Chalkboard" panose="03050602040202020205" pitchFamily="66" charset="0"/>
              </a:rPr>
              <a:t>调用异常处理程序</a:t>
            </a:r>
            <a:endParaRPr kumimoji="1" lang="en-US" altLang="zh-CN" b="1" dirty="0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261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483476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Y86-64</a:t>
            </a:r>
            <a:r>
              <a:rPr kumimoji="1" lang="zh-CN" altLang="en-US" sz="2400" dirty="0">
                <a:solidFill>
                  <a:schemeClr val="tx1"/>
                </a:solidFill>
                <a:latin typeface="Chalkboard" panose="03050602040202020205" pitchFamily="66" charset="0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ISA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984169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C51BAF-5F1E-854D-9FA7-183F318C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26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8A8CAC-0FDC-6142-BB63-0053FEF080E6}"/>
              </a:ext>
            </a:extLst>
          </p:cNvPr>
          <p:cNvSpPr txBox="1"/>
          <p:nvPr/>
        </p:nvSpPr>
        <p:spPr>
          <a:xfrm>
            <a:off x="324381" y="432826"/>
            <a:ext cx="38132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latin typeface="Chalkboard" panose="03050602040202020205" pitchFamily="66" charset="0"/>
              </a:rPr>
              <a:t>﻿Y86-64 &lt;-&gt; x86-64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2C950E8-C93D-284E-8589-C4C10E40B50E}"/>
              </a:ext>
            </a:extLst>
          </p:cNvPr>
          <p:cNvSpPr txBox="1"/>
          <p:nvPr/>
        </p:nvSpPr>
        <p:spPr>
          <a:xfrm>
            <a:off x="324381" y="1225907"/>
            <a:ext cx="8824916" cy="5124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不支持第二变址寄存器和任何寄存器值的伸缩，只支持简单寻址模式 </a:t>
            </a:r>
            <a:r>
              <a:rPr kumimoji="1" lang="en-US" altLang="zh-CN" sz="2000" dirty="0">
                <a:latin typeface="Chalkboard" panose="03050602040202020205" pitchFamily="66" charset="0"/>
              </a:rPr>
              <a:t>D(</a:t>
            </a:r>
            <a:r>
              <a:rPr kumimoji="1" lang="en-US" altLang="zh-CN" sz="2000" dirty="0" err="1">
                <a:latin typeface="Chalkboard" panose="03050602040202020205" pitchFamily="66" charset="0"/>
              </a:rPr>
              <a:t>rB</a:t>
            </a:r>
            <a:r>
              <a:rPr kumimoji="1" lang="en-US" altLang="zh-CN" sz="2000" dirty="0">
                <a:latin typeface="Chalkboard" panose="03050602040202020205" pitchFamily="66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不允许将立即数传送到内存</a:t>
            </a:r>
            <a:r>
              <a:rPr kumimoji="1" lang="en-US" altLang="zh-CN" sz="2000" dirty="0">
                <a:solidFill>
                  <a:srgbClr val="FF0000"/>
                </a:solidFill>
                <a:latin typeface="Chalkboard" panose="03050602040202020205" pitchFamily="66" charset="0"/>
              </a:rPr>
              <a:t> </a:t>
            </a:r>
            <a:r>
              <a:rPr kumimoji="1" lang="en-US" altLang="zh-CN" sz="2000" dirty="0" err="1">
                <a:solidFill>
                  <a:srgbClr val="FF0000"/>
                </a:solidFill>
                <a:latin typeface="Chalkboard" panose="03050602040202020205" pitchFamily="66" charset="0"/>
              </a:rPr>
              <a:t>immovq</a:t>
            </a:r>
            <a:endParaRPr kumimoji="1" lang="en-US" altLang="zh-CN" sz="2000" dirty="0">
              <a:solidFill>
                <a:srgbClr val="FF0000"/>
              </a:solidFill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>
                <a:latin typeface="Chalkboard" panose="03050602040202020205" pitchFamily="66" charset="0"/>
              </a:rPr>
              <a:t>Opq</a:t>
            </a:r>
            <a:r>
              <a:rPr kumimoji="1" lang="zh-CN" altLang="en-US" sz="2000" dirty="0">
                <a:latin typeface="Chalkboard" panose="03050602040202020205" pitchFamily="66" charset="0"/>
              </a:rPr>
              <a:t>指令只对寄存器数据操作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没有</a:t>
            </a:r>
            <a:r>
              <a:rPr kumimoji="1" lang="en-US" altLang="zh-CN" sz="2000" dirty="0">
                <a:latin typeface="Chalkboard" panose="03050602040202020205" pitchFamily="66" charset="0"/>
              </a:rPr>
              <a:t>pc</a:t>
            </a:r>
            <a:r>
              <a:rPr kumimoji="1" lang="zh-CN" altLang="en-US" sz="2000" dirty="0">
                <a:latin typeface="Chalkboard" panose="03050602040202020205" pitchFamily="66" charset="0"/>
              </a:rPr>
              <a:t>相对寻址方式，使用绝对地址，因此代码在内存中不能直接被迁移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允许程序使用</a:t>
            </a:r>
            <a:r>
              <a:rPr kumimoji="1" lang="en-US" altLang="zh-CN" sz="2000" dirty="0">
                <a:latin typeface="Chalkboard" panose="03050602040202020205" pitchFamily="66" charset="0"/>
              </a:rPr>
              <a:t>halt</a:t>
            </a:r>
            <a:r>
              <a:rPr kumimoji="1" lang="zh-CN" altLang="en-US" sz="2000" dirty="0">
                <a:latin typeface="Chalkboard" panose="03050602040202020205" pitchFamily="66" charset="0"/>
              </a:rPr>
              <a:t>指令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常数值只能被编码为</a:t>
            </a:r>
            <a:r>
              <a:rPr kumimoji="1" lang="en-US" altLang="zh-CN" sz="2000" dirty="0">
                <a:latin typeface="Chalkboard" panose="03050602040202020205" pitchFamily="66" charset="0"/>
              </a:rPr>
              <a:t>8</a:t>
            </a:r>
            <a:r>
              <a:rPr kumimoji="1" lang="zh-CN" altLang="en-US" sz="2000" dirty="0">
                <a:latin typeface="Chalkboard" panose="03050602040202020205" pitchFamily="66" charset="0"/>
              </a:rPr>
              <a:t>个字节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无</a:t>
            </a:r>
            <a:r>
              <a:rPr kumimoji="1" lang="en-US" altLang="zh-CN" sz="2000" dirty="0" err="1">
                <a:latin typeface="Chalkboard" panose="03050602040202020205" pitchFamily="66" charset="0"/>
              </a:rPr>
              <a:t>leaq</a:t>
            </a:r>
            <a:r>
              <a:rPr kumimoji="1" lang="zh-CN" altLang="en-US" sz="2000" dirty="0">
                <a:latin typeface="Chalkboard" panose="03050602040202020205" pitchFamily="66" charset="0"/>
              </a:rPr>
              <a:t>指令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指令集数据类型、指令和寻址方式更少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指令的字节级编码简单，机器代码没有那么紧凑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Chalkboard" panose="03050602040202020205" pitchFamily="66" charset="0"/>
              </a:rPr>
              <a:t>CPU</a:t>
            </a:r>
            <a:r>
              <a:rPr kumimoji="1" lang="zh-CN" altLang="en-US" sz="2000" dirty="0">
                <a:latin typeface="Chalkboard" panose="03050602040202020205" pitchFamily="66" charset="0"/>
              </a:rPr>
              <a:t>译码逻辑更简单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Chalkboard" panose="03050602040202020205" pitchFamily="66" charset="0"/>
              </a:rPr>
              <a:t>……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B221A0-2D52-FB45-90BE-78E811D0E1D2}"/>
              </a:ext>
            </a:extLst>
          </p:cNvPr>
          <p:cNvSpPr txBox="1"/>
          <p:nvPr/>
        </p:nvSpPr>
        <p:spPr>
          <a:xfrm>
            <a:off x="6480610" y="4663045"/>
            <a:ext cx="5387009" cy="969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Chalkboard" panose="03050602040202020205" pitchFamily="66" charset="0"/>
              </a:rPr>
              <a:t>总的来看，</a:t>
            </a:r>
            <a:r>
              <a:rPr kumimoji="1" lang="en-US" altLang="zh-CN" sz="20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2000" dirty="0">
                <a:latin typeface="Chalkboard" panose="03050602040202020205" pitchFamily="66" charset="0"/>
              </a:rPr>
              <a:t>是在</a:t>
            </a:r>
            <a:r>
              <a:rPr kumimoji="1" lang="en-US" altLang="zh-CN" sz="2000" dirty="0">
                <a:latin typeface="Chalkboard" panose="03050602040202020205" pitchFamily="66" charset="0"/>
              </a:rPr>
              <a:t>x86-64</a:t>
            </a:r>
            <a:r>
              <a:rPr kumimoji="1" lang="zh-CN" altLang="en-US" sz="2000" dirty="0">
                <a:latin typeface="Chalkboard" panose="03050602040202020205" pitchFamily="66" charset="0"/>
              </a:rPr>
              <a:t>的基础上利用</a:t>
            </a:r>
            <a:r>
              <a:rPr kumimoji="1" lang="en-US" altLang="zh-CN" sz="2000" dirty="0">
                <a:latin typeface="Chalkboard" panose="03050602040202020205" pitchFamily="66" charset="0"/>
              </a:rPr>
              <a:t>RISC</a:t>
            </a:r>
            <a:r>
              <a:rPr kumimoji="1" lang="zh-CN" altLang="en-US" sz="2000" dirty="0">
                <a:latin typeface="Chalkboard" panose="03050602040202020205" pitchFamily="66" charset="0"/>
              </a:rPr>
              <a:t>的思路进行简化后得到的</a:t>
            </a:r>
            <a:r>
              <a:rPr kumimoji="1" lang="en-US" altLang="zh-CN" sz="2000" dirty="0">
                <a:latin typeface="Chalkboard" panose="03050602040202020205" pitchFamily="66" charset="0"/>
              </a:rPr>
              <a:t>ISA</a:t>
            </a:r>
            <a:endParaRPr kumimoji="1" lang="zh-CN" altLang="en-US" sz="2000" dirty="0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496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483476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Y86-64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96695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898422-40D6-D74D-B782-2FAFDB18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27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1F1E37-6BFF-8447-89CC-430B6DA4CE5C}"/>
              </a:ext>
            </a:extLst>
          </p:cNvPr>
          <p:cNvSpPr txBox="1"/>
          <p:nvPr/>
        </p:nvSpPr>
        <p:spPr>
          <a:xfrm>
            <a:off x="234460" y="432826"/>
            <a:ext cx="5675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latin typeface="Chalkboard" panose="03050602040202020205" pitchFamily="66" charset="0"/>
              </a:rPr>
              <a:t>写一个简单的</a:t>
            </a:r>
            <a:r>
              <a:rPr lang="en-US" altLang="zh-CN" sz="3200" dirty="0">
                <a:latin typeface="Chalkboard" panose="03050602040202020205" pitchFamily="66" charset="0"/>
              </a:rPr>
              <a:t>Y86-64</a:t>
            </a:r>
            <a:r>
              <a:rPr lang="zh-CN" altLang="en-US" sz="3200" dirty="0">
                <a:latin typeface="Chalkboard" panose="03050602040202020205" pitchFamily="66" charset="0"/>
              </a:rPr>
              <a:t>汇编程序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D09B54-BAE6-DB45-AD19-DA1591F89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0" y="1037257"/>
            <a:ext cx="5216992" cy="56381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D7A503E-41C0-184C-8C99-E0FA0876B669}"/>
              </a:ext>
            </a:extLst>
          </p:cNvPr>
          <p:cNvSpPr txBox="1"/>
          <p:nvPr/>
        </p:nvSpPr>
        <p:spPr>
          <a:xfrm>
            <a:off x="6606210" y="2572964"/>
            <a:ext cx="3474028" cy="2127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设置栈指针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初始化数据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指定程序在内存中的起始位置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指定栈在内存中的起始位置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FF0000"/>
                </a:solidFill>
                <a:latin typeface="Chalkboard" panose="03050602040202020205" pitchFamily="66" charset="0"/>
              </a:rPr>
              <a:t>汇编器伪指令不能缺省</a:t>
            </a:r>
            <a:endParaRPr kumimoji="1" lang="en-US" altLang="zh-CN" dirty="0">
              <a:solidFill>
                <a:srgbClr val="FF0000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EA2DA1-DA3A-7845-BA99-7482887AD912}"/>
              </a:ext>
            </a:extLst>
          </p:cNvPr>
          <p:cNvSpPr/>
          <p:nvPr/>
        </p:nvSpPr>
        <p:spPr>
          <a:xfrm>
            <a:off x="1303015" y="1237825"/>
            <a:ext cx="1769177" cy="4418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DAF9D6-161E-DC4E-A687-B701F81D5536}"/>
              </a:ext>
            </a:extLst>
          </p:cNvPr>
          <p:cNvSpPr/>
          <p:nvPr/>
        </p:nvSpPr>
        <p:spPr>
          <a:xfrm>
            <a:off x="1303015" y="6242612"/>
            <a:ext cx="1261281" cy="2502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789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6E95FB-C07C-C649-8F1B-C089F79EB761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Introduction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16494-B871-264E-A2CB-474C0E279260}"/>
              </a:ext>
            </a:extLst>
          </p:cNvPr>
          <p:cNvSpPr/>
          <p:nvPr/>
        </p:nvSpPr>
        <p:spPr>
          <a:xfrm>
            <a:off x="10258097" y="483476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Y86-64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879E02-5F6F-9049-B1F8-C9F97C18455E}"/>
              </a:ext>
            </a:extLst>
          </p:cNvPr>
          <p:cNvSpPr/>
          <p:nvPr/>
        </p:nvSpPr>
        <p:spPr>
          <a:xfrm>
            <a:off x="10258096" y="966954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Complement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898422-40D6-D74D-B782-2FAFDB18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28</a:t>
            </a:fld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1F1E37-6BFF-8447-89CC-430B6DA4CE5C}"/>
              </a:ext>
            </a:extLst>
          </p:cNvPr>
          <p:cNvSpPr txBox="1"/>
          <p:nvPr/>
        </p:nvSpPr>
        <p:spPr>
          <a:xfrm>
            <a:off x="239928" y="424978"/>
            <a:ext cx="28028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latin typeface="Chalkboard" panose="03050602040202020205" pitchFamily="66" charset="0"/>
              </a:rPr>
              <a:t>Y86-64</a:t>
            </a:r>
            <a:r>
              <a:rPr kumimoji="1" lang="zh-CN" altLang="en-US" sz="3200" dirty="0">
                <a:latin typeface="Chalkboard" panose="03050602040202020205" pitchFamily="66" charset="0"/>
              </a:rPr>
              <a:t>工具链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9E0F67-6030-5B43-90A1-3BEE44FC5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63" y="1208692"/>
            <a:ext cx="4254500" cy="6604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4130D4E-0558-6845-9187-816852096B5A}"/>
              </a:ext>
            </a:extLst>
          </p:cNvPr>
          <p:cNvSpPr txBox="1"/>
          <p:nvPr/>
        </p:nvSpPr>
        <p:spPr>
          <a:xfrm>
            <a:off x="463504" y="2068031"/>
            <a:ext cx="7887096" cy="1296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运行汇编器</a:t>
            </a:r>
            <a:r>
              <a:rPr kumimoji="1" lang="en-US" altLang="zh-CN" dirty="0" err="1">
                <a:latin typeface="Chalkboard" panose="03050602040202020205" pitchFamily="66" charset="0"/>
              </a:rPr>
              <a:t>yas</a:t>
            </a:r>
            <a:r>
              <a:rPr kumimoji="1" lang="zh-CN" altLang="en-US" dirty="0">
                <a:latin typeface="Chalkboard" panose="03050602040202020205" pitchFamily="66" charset="0"/>
              </a:rPr>
              <a:t>，汇编我们手写的汇编代码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可读机器级代码</a:t>
            </a:r>
            <a:r>
              <a:rPr kumimoji="1" lang="en-US" altLang="zh-CN" dirty="0">
                <a:latin typeface="Chalkboard" panose="03050602040202020205" pitchFamily="66" charset="0"/>
              </a:rPr>
              <a:t>-&gt;</a:t>
            </a:r>
            <a:r>
              <a:rPr kumimoji="1" lang="zh-CN" altLang="en-US" dirty="0">
                <a:latin typeface="Chalkboard" panose="03050602040202020205" pitchFamily="66" charset="0"/>
              </a:rPr>
              <a:t>二进制目标代码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输出结果是</a:t>
            </a:r>
            <a:r>
              <a:rPr kumimoji="1" lang="en-US" altLang="zh-CN" dirty="0">
                <a:latin typeface="Chalkboard" panose="03050602040202020205" pitchFamily="66" charset="0"/>
              </a:rPr>
              <a:t>ASCII</a:t>
            </a:r>
            <a:r>
              <a:rPr kumimoji="1" lang="zh-CN" altLang="en-US" dirty="0">
                <a:latin typeface="Chalkboard" panose="03050602040202020205" pitchFamily="66" charset="0"/>
              </a:rPr>
              <a:t>码格式，方便阅读（类似</a:t>
            </a:r>
            <a:r>
              <a:rPr kumimoji="1" lang="en-US" altLang="zh-CN" dirty="0" err="1">
                <a:latin typeface="Chalkboard" panose="03050602040202020205" pitchFamily="66" charset="0"/>
              </a:rPr>
              <a:t>objdump</a:t>
            </a:r>
            <a:r>
              <a:rPr kumimoji="1" lang="zh-CN" altLang="en-US" dirty="0">
                <a:latin typeface="Chalkboard" panose="03050602040202020205" pitchFamily="66" charset="0"/>
              </a:rPr>
              <a:t>反汇编得到的结果）</a:t>
            </a:r>
            <a:endParaRPr kumimoji="1" lang="en-US" altLang="zh-CN" dirty="0">
              <a:latin typeface="Chalkboard" panose="03050602040202020205" pitchFamily="66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0BBDE00-D68D-6D4F-8DCD-BA63BF51F3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2"/>
          <a:stretch/>
        </p:blipFill>
        <p:spPr>
          <a:xfrm>
            <a:off x="427083" y="3563543"/>
            <a:ext cx="4181659" cy="69868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4F418F6-AF38-A546-B66D-B130EC341F6B}"/>
              </a:ext>
            </a:extLst>
          </p:cNvPr>
          <p:cNvSpPr txBox="1"/>
          <p:nvPr/>
        </p:nvSpPr>
        <p:spPr>
          <a:xfrm>
            <a:off x="463504" y="4410768"/>
            <a:ext cx="7708200" cy="1296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运行指令集模拟器</a:t>
            </a:r>
            <a:r>
              <a:rPr kumimoji="1" lang="en-US" altLang="zh-CN" dirty="0" err="1">
                <a:latin typeface="Chalkboard" panose="03050602040202020205" pitchFamily="66" charset="0"/>
              </a:rPr>
              <a:t>yis</a:t>
            </a:r>
            <a:r>
              <a:rPr kumimoji="1" lang="zh-CN" altLang="en-US" dirty="0">
                <a:latin typeface="Chalkboard" panose="03050602040202020205" pitchFamily="66" charset="0"/>
              </a:rPr>
              <a:t>，模拟</a:t>
            </a:r>
            <a:r>
              <a:rPr kumimoji="1" lang="en-US" altLang="zh-CN" dirty="0">
                <a:latin typeface="Chalkboard" panose="03050602040202020205" pitchFamily="66" charset="0"/>
              </a:rPr>
              <a:t>Y86-64</a:t>
            </a:r>
            <a:r>
              <a:rPr kumimoji="1" lang="zh-CN" altLang="en-US" dirty="0">
                <a:latin typeface="Chalkboard" panose="03050602040202020205" pitchFamily="66" charset="0"/>
              </a:rPr>
              <a:t>可执行程序的执行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不模拟处理器层面的实现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输出在模拟过程中被改变了的寄存器或内存部分，显示原始值和最终值</a:t>
            </a:r>
            <a:endParaRPr kumimoji="1" lang="en-US" altLang="zh-CN" dirty="0">
              <a:latin typeface="Chalkboard" panose="03050602040202020205" pitchFamily="66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C052FD1-D726-AF4E-B2C6-EC1E4B8A2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285" y="3563543"/>
            <a:ext cx="5327375" cy="17716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8C19C3F-4125-3A4B-AD21-68F7380C9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729" y="267809"/>
            <a:ext cx="4930219" cy="191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32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898422-40D6-D74D-B782-2FAFDB18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29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810EF3-DEEA-0C44-B0F0-D7549062A6F7}"/>
              </a:ext>
            </a:extLst>
          </p:cNvPr>
          <p:cNvSpPr txBox="1"/>
          <p:nvPr/>
        </p:nvSpPr>
        <p:spPr>
          <a:xfrm>
            <a:off x="325357" y="432826"/>
            <a:ext cx="1900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latin typeface="Chalkboard" panose="03050602040202020205" pitchFamily="66" charset="0"/>
              </a:rPr>
              <a:t>﻿Summary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D3F7DC7-A913-9F49-A2AA-70AE9AB9E4AF}"/>
              </a:ext>
            </a:extLst>
          </p:cNvPr>
          <p:cNvSpPr/>
          <p:nvPr/>
        </p:nvSpPr>
        <p:spPr>
          <a:xfrm>
            <a:off x="441434" y="1776250"/>
            <a:ext cx="2354317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Application Program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29DB950-2094-544B-8E55-9B431E0E1612}"/>
              </a:ext>
            </a:extLst>
          </p:cNvPr>
          <p:cNvSpPr/>
          <p:nvPr/>
        </p:nvSpPr>
        <p:spPr>
          <a:xfrm>
            <a:off x="441434" y="2417380"/>
            <a:ext cx="1177159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Compiler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442624F-A51F-1446-90DA-A6DB854FD0A3}"/>
              </a:ext>
            </a:extLst>
          </p:cNvPr>
          <p:cNvSpPr/>
          <p:nvPr/>
        </p:nvSpPr>
        <p:spPr>
          <a:xfrm>
            <a:off x="1618592" y="2417380"/>
            <a:ext cx="1177159" cy="56755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OS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C7D88C1D-F035-2C46-9615-37332382CEA0}"/>
              </a:ext>
            </a:extLst>
          </p:cNvPr>
          <p:cNvSpPr/>
          <p:nvPr/>
        </p:nvSpPr>
        <p:spPr>
          <a:xfrm>
            <a:off x="441434" y="3058510"/>
            <a:ext cx="2354317" cy="56755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ISA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4C3AEFC-1C0B-E04C-8174-75A8406A0972}"/>
              </a:ext>
            </a:extLst>
          </p:cNvPr>
          <p:cNvSpPr/>
          <p:nvPr/>
        </p:nvSpPr>
        <p:spPr>
          <a:xfrm>
            <a:off x="441434" y="3699640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  <a:latin typeface="Chalkboard" panose="03050602040202020205" pitchFamily="66" charset="0"/>
              </a:rPr>
              <a:t>CPU Design</a:t>
            </a:r>
            <a:endParaRPr kumimoji="1" lang="zh-CN" altLang="en-US" dirty="0">
              <a:solidFill>
                <a:srgbClr val="FF0000"/>
              </a:solidFill>
              <a:latin typeface="Chalkboard" panose="03050602040202020205" pitchFamily="66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3C54064-8AC4-2F4F-A46C-33EC7533BC1D}"/>
              </a:ext>
            </a:extLst>
          </p:cNvPr>
          <p:cNvSpPr/>
          <p:nvPr/>
        </p:nvSpPr>
        <p:spPr>
          <a:xfrm>
            <a:off x="441434" y="4340770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Circuit Design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EB4529B5-6C94-5149-B4B1-6C14FA984E36}"/>
              </a:ext>
            </a:extLst>
          </p:cNvPr>
          <p:cNvSpPr/>
          <p:nvPr/>
        </p:nvSpPr>
        <p:spPr>
          <a:xfrm>
            <a:off x="441434" y="4981900"/>
            <a:ext cx="2354317" cy="56755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Chip Layout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D078EEC-E832-D744-AF63-E052D2A474A0}"/>
              </a:ext>
            </a:extLst>
          </p:cNvPr>
          <p:cNvSpPr/>
          <p:nvPr/>
        </p:nvSpPr>
        <p:spPr>
          <a:xfrm>
            <a:off x="3478925" y="1776248"/>
            <a:ext cx="3657599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s-ES" altLang="zh-CN" dirty="0">
                <a:latin typeface="Chalkboard" panose="03050602040202020205" pitchFamily="66" charset="0"/>
              </a:rPr>
              <a:t>﻿</a:t>
            </a:r>
            <a:r>
              <a:rPr kumimoji="1" lang="es-ES" altLang="zh-CN" dirty="0" err="1">
                <a:latin typeface="Chalkboard" panose="03050602040202020205" pitchFamily="66" charset="0"/>
              </a:rPr>
              <a:t>states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704F0FC6-77B6-CF40-BE93-9A3638D04423}"/>
              </a:ext>
            </a:extLst>
          </p:cNvPr>
          <p:cNvSpPr/>
          <p:nvPr/>
        </p:nvSpPr>
        <p:spPr>
          <a:xfrm>
            <a:off x="3478925" y="3019821"/>
            <a:ext cx="3657600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﻿instructions and their encodings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04AB8B4-ED02-BD49-B5CC-A429968860FC}"/>
              </a:ext>
            </a:extLst>
          </p:cNvPr>
          <p:cNvSpPr/>
          <p:nvPr/>
        </p:nvSpPr>
        <p:spPr>
          <a:xfrm>
            <a:off x="3478924" y="4268649"/>
            <a:ext cx="3657600" cy="56755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﻿ programming conventions</a:t>
            </a:r>
          </a:p>
          <a:p>
            <a:pPr algn="ctr"/>
            <a:r>
              <a:rPr kumimoji="1" lang="en-US" altLang="zh-CN" dirty="0">
                <a:latin typeface="Chalkboard" panose="03050602040202020205" pitchFamily="66" charset="0"/>
              </a:rPr>
              <a:t>handling of exceptional events</a:t>
            </a:r>
            <a:endParaRPr kumimoji="1" lang="zh-CN" altLang="en-US" dirty="0">
              <a:latin typeface="Chalkboard" panose="03050602040202020205" pitchFamily="66" charset="0"/>
            </a:endParaRPr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F51D5DB2-D79D-0E46-98BC-310866B3036E}"/>
              </a:ext>
            </a:extLst>
          </p:cNvPr>
          <p:cNvSpPr/>
          <p:nvPr/>
        </p:nvSpPr>
        <p:spPr>
          <a:xfrm>
            <a:off x="2995448" y="2016085"/>
            <a:ext cx="283779" cy="2617076"/>
          </a:xfrm>
          <a:prstGeom prst="leftBrace">
            <a:avLst>
              <a:gd name="adj1" fmla="val 63889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CAE3759-A7D3-CE4D-B637-5F5DD6329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99" y="100138"/>
            <a:ext cx="4092267" cy="191594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E24A504-062A-8C4A-A8F6-1273A3303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299" y="2205850"/>
            <a:ext cx="3657599" cy="21955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3BC4F7E-F88E-F746-BC9A-D6B58BF84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299" y="4568207"/>
            <a:ext cx="3208745" cy="191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35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FC390E7-F782-A740-8CB1-A5919F41F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s-ES" altLang="zh-CN" dirty="0" err="1">
                <a:latin typeface="Chalkboard" panose="03050602040202020205" pitchFamily="66" charset="0"/>
                <a:cs typeface="Times New Roman" panose="02020603050405020304" pitchFamily="18" charset="0"/>
              </a:rPr>
              <a:t>Logic</a:t>
            </a:r>
            <a:r>
              <a:rPr kumimoji="1" lang="es-ES" altLang="zh-CN" dirty="0">
                <a:latin typeface="Chalkboard" panose="03050602040202020205" pitchFamily="66" charset="0"/>
                <a:cs typeface="Times New Roman" panose="02020603050405020304" pitchFamily="18" charset="0"/>
              </a:rPr>
              <a:t> and Hardware </a:t>
            </a:r>
            <a:r>
              <a:rPr kumimoji="1" lang="es-ES" altLang="zh-CN" dirty="0" err="1">
                <a:latin typeface="Chalkboard" panose="03050602040202020205" pitchFamily="66" charset="0"/>
                <a:cs typeface="Times New Roman" panose="02020603050405020304" pitchFamily="18" charset="0"/>
              </a:rPr>
              <a:t>Unit</a:t>
            </a:r>
            <a:r>
              <a:rPr kumimoji="1" lang="es-ES" altLang="zh-CN" dirty="0">
                <a:latin typeface="Chalkboard" panose="03050602040202020205" pitchFamily="66" charset="0"/>
                <a:cs typeface="Times New Roman" panose="02020603050405020304" pitchFamily="18" charset="0"/>
              </a:rPr>
              <a:t> </a:t>
            </a:r>
            <a:r>
              <a:rPr kumimoji="1" lang="es-ES" altLang="zh-CN" dirty="0" err="1">
                <a:latin typeface="Chalkboard" panose="03050602040202020205" pitchFamily="66" charset="0"/>
                <a:cs typeface="Times New Roman" panose="02020603050405020304" pitchFamily="18" charset="0"/>
              </a:rPr>
              <a:t>Design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6922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31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16C206A-1FE7-F448-9248-E7CA5A9ED1BD}"/>
              </a:ext>
            </a:extLst>
          </p:cNvPr>
          <p:cNvSpPr txBox="1"/>
          <p:nvPr/>
        </p:nvSpPr>
        <p:spPr>
          <a:xfrm>
            <a:off x="294429" y="432826"/>
            <a:ext cx="8931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﻿HCL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99A5BF6-6C7E-5546-B63F-AB6189C8580F}"/>
              </a:ext>
            </a:extLst>
          </p:cNvPr>
          <p:cNvSpPr txBox="1"/>
          <p:nvPr/>
        </p:nvSpPr>
        <p:spPr>
          <a:xfrm>
            <a:off x="366290" y="1207578"/>
            <a:ext cx="6372257" cy="32773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硬件控制语言（</a:t>
            </a:r>
            <a:r>
              <a:rPr kumimoji="1" lang="en-US" altLang="zh-CN" sz="2000" dirty="0">
                <a:latin typeface="Chalkboard" panose="03050602040202020205" pitchFamily="66" charset="0"/>
              </a:rPr>
              <a:t>Hardware Control </a:t>
            </a:r>
            <a:r>
              <a:rPr kumimoji="1" lang="en-US" altLang="zh-CN" sz="2000" dirty="0" err="1">
                <a:latin typeface="Chalkboard" panose="03050602040202020205" pitchFamily="66" charset="0"/>
              </a:rPr>
              <a:t>Languege</a:t>
            </a:r>
            <a:r>
              <a:rPr kumimoji="1" lang="zh-CN" altLang="en-US" sz="2000" dirty="0">
                <a:latin typeface="Chalkboard" panose="03050602040202020205" pitchFamily="66" charset="0"/>
              </a:rPr>
              <a:t>）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语法与</a:t>
            </a:r>
            <a:r>
              <a:rPr kumimoji="1" lang="en-US" altLang="zh-CN" sz="2000" dirty="0">
                <a:latin typeface="Chalkboard" panose="03050602040202020205" pitchFamily="66" charset="0"/>
              </a:rPr>
              <a:t>C</a:t>
            </a:r>
            <a:r>
              <a:rPr kumimoji="1" lang="zh-CN" altLang="en-US" sz="2000" dirty="0">
                <a:latin typeface="Chalkboard" panose="03050602040202020205" pitchFamily="66" charset="0"/>
              </a:rPr>
              <a:t>中逻辑表达式很相似，但也有不同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sz="2000" dirty="0">
                <a:latin typeface="Chalkboard" panose="03050602040202020205" pitchFamily="66" charset="0"/>
              </a:rPr>
              <a:t>HCL</a:t>
            </a:r>
            <a:r>
              <a:rPr kumimoji="1" lang="zh-CN" altLang="en-US" sz="2000" dirty="0">
                <a:latin typeface="Chalkboard" panose="03050602040202020205" pitchFamily="66" charset="0"/>
              </a:rPr>
              <a:t>不存在部分求值规则（短路表达式）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lvl="1" algn="just">
              <a:lnSpc>
                <a:spcPct val="150000"/>
              </a:lnSpc>
            </a:pPr>
            <a:r>
              <a:rPr kumimoji="1" lang="zh-CN" altLang="en-US" sz="2000" dirty="0">
                <a:latin typeface="Chalkboard" panose="03050602040202020205" pitchFamily="66" charset="0"/>
              </a:rPr>
              <a:t>   </a:t>
            </a:r>
            <a:r>
              <a:rPr kumimoji="1" lang="en-US" altLang="zh-CN" sz="2000" dirty="0">
                <a:latin typeface="Chalkboard" panose="03050602040202020205" pitchFamily="66" charset="0"/>
              </a:rPr>
              <a:t>(a&amp;&amp;!a) &amp;&amp; </a:t>
            </a:r>
            <a:r>
              <a:rPr kumimoji="1" lang="en-US" altLang="zh-CN" sz="2000" dirty="0" err="1">
                <a:latin typeface="Chalkboard" panose="03050602040202020205" pitchFamily="66" charset="0"/>
              </a:rPr>
              <a:t>func</a:t>
            </a:r>
            <a:r>
              <a:rPr kumimoji="1" lang="en-US" altLang="zh-CN" sz="2000" dirty="0">
                <a:latin typeface="Chalkboard" panose="03050602040202020205" pitchFamily="66" charset="0"/>
              </a:rPr>
              <a:t>(</a:t>
            </a:r>
            <a:r>
              <a:rPr kumimoji="1" lang="en-US" altLang="zh-CN" sz="2000" dirty="0" err="1">
                <a:latin typeface="Chalkboard" panose="03050602040202020205" pitchFamily="66" charset="0"/>
              </a:rPr>
              <a:t>b,c</a:t>
            </a:r>
            <a:r>
              <a:rPr kumimoji="1" lang="en-US" altLang="zh-CN" sz="2000" dirty="0">
                <a:latin typeface="Chalkboard" panose="03050602040202020205" pitchFamily="66" charset="0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我们只用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HCL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表达硬件设计的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控制部分（组合逻辑）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halkboard" panose="03050602040202020205" pitchFamily="66" charset="0"/>
              <a:ea typeface="等线" panose="02010600030101010101" pitchFamily="2" charset="-122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000" dirty="0">
                <a:latin typeface="Chalkboard" panose="03050602040202020205" pitchFamily="66" charset="0"/>
                <a:ea typeface="等线" panose="02010600030101010101" pitchFamily="2" charset="-122"/>
              </a:rPr>
              <a:t>不关注大部分硬件单元的具体实现，把它们当作黑箱</a:t>
            </a:r>
            <a:endParaRPr kumimoji="1" lang="en-US" altLang="zh-CN" sz="2000" dirty="0">
              <a:latin typeface="Chalkboard" panose="03050602040202020205" pitchFamily="66" charset="0"/>
              <a:ea typeface="等线" panose="02010600030101010101" pitchFamily="2" charset="-12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逻辑合成程序根据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HCL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可以生成有效的电路设计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halkboard" panose="03050602040202020205" pitchFamily="66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696CDB3-4F83-F847-8A77-A79671241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35" y="1951606"/>
            <a:ext cx="3364775" cy="4541269"/>
          </a:xfrm>
          <a:prstGeom prst="rect">
            <a:avLst/>
          </a:prstGeom>
        </p:spPr>
      </p:pic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804D8740-116C-F644-A20B-6B332EC4A9B1}"/>
              </a:ext>
            </a:extLst>
          </p:cNvPr>
          <p:cNvCxnSpPr>
            <a:cxnSpLocks/>
          </p:cNvCxnSpPr>
          <p:nvPr/>
        </p:nvCxnSpPr>
        <p:spPr>
          <a:xfrm flipH="1">
            <a:off x="6480313" y="2384599"/>
            <a:ext cx="2544418" cy="9151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2A781A44-77D0-BF4F-A591-2E63370AF815}"/>
              </a:ext>
            </a:extLst>
          </p:cNvPr>
          <p:cNvCxnSpPr>
            <a:cxnSpLocks/>
          </p:cNvCxnSpPr>
          <p:nvPr/>
        </p:nvCxnSpPr>
        <p:spPr>
          <a:xfrm flipH="1" flipV="1">
            <a:off x="7971182" y="5138530"/>
            <a:ext cx="1331845" cy="6062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808DB30D-46FC-294F-BED5-6CEF48EB4407}"/>
              </a:ext>
            </a:extLst>
          </p:cNvPr>
          <p:cNvSpPr/>
          <p:nvPr/>
        </p:nvSpPr>
        <p:spPr>
          <a:xfrm>
            <a:off x="6639336" y="4750904"/>
            <a:ext cx="1331846" cy="3876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ysClr val="windowText" lastClr="000000"/>
                </a:solidFill>
              </a:rPr>
              <a:t>硬件单元</a:t>
            </a:r>
          </a:p>
        </p:txBody>
      </p:sp>
    </p:spTree>
    <p:extLst>
      <p:ext uri="{BB962C8B-B14F-4D97-AF65-F5344CB8AC3E}">
        <p14:creationId xmlns:p14="http://schemas.microsoft.com/office/powerpoint/2010/main" val="2405880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32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4429" y="432826"/>
            <a:ext cx="11077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200" dirty="0">
                <a:latin typeface="Chalkboard" panose="03050602040202020205" pitchFamily="66" charset="0"/>
              </a:rPr>
              <a:t>﻿Units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F8E54BF-9233-9444-92C2-6BC0CCC43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8" y="1530351"/>
            <a:ext cx="2401241" cy="167998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6AA4511-7A9C-0D44-80E5-0B629B6AA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709" y="1530145"/>
            <a:ext cx="2401241" cy="167733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6E06431-6916-FD4B-8A4D-F54997CD1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620" y="1450426"/>
            <a:ext cx="2139929" cy="183677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6FCB560-0905-3841-B622-431A9FEBC9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98" y="3647661"/>
            <a:ext cx="6479209" cy="229765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E18D3584-D760-284E-AEA1-DE0A77810232}"/>
              </a:ext>
            </a:extLst>
          </p:cNvPr>
          <p:cNvSpPr txBox="1"/>
          <p:nvPr/>
        </p:nvSpPr>
        <p:spPr>
          <a:xfrm>
            <a:off x="7633253" y="4114800"/>
            <a:ext cx="3294492" cy="14303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/>
              <a:t>输出与输入几乎同步变化</a:t>
            </a:r>
            <a:endParaRPr kumimoji="1"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/>
              <a:t>有微小的延迟</a:t>
            </a:r>
            <a:endParaRPr kumimoji="1"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/>
              <a:t>单个逻辑门</a:t>
            </a:r>
            <a:r>
              <a:rPr kumimoji="1" lang="zh-CN" altLang="en-US" sz="2000" dirty="0">
                <a:solidFill>
                  <a:srgbClr val="FF0000"/>
                </a:solidFill>
              </a:rPr>
              <a:t>没有存储功能</a:t>
            </a:r>
          </a:p>
        </p:txBody>
      </p:sp>
    </p:spTree>
    <p:extLst>
      <p:ext uri="{BB962C8B-B14F-4D97-AF65-F5344CB8AC3E}">
        <p14:creationId xmlns:p14="http://schemas.microsoft.com/office/powerpoint/2010/main" val="966602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33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4257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﻿Combinational Circuits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18D3584-D760-284E-AEA1-DE0A77810232}"/>
              </a:ext>
            </a:extLst>
          </p:cNvPr>
          <p:cNvSpPr txBox="1"/>
          <p:nvPr/>
        </p:nvSpPr>
        <p:spPr>
          <a:xfrm>
            <a:off x="388185" y="1559481"/>
            <a:ext cx="7358296" cy="4200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组合电路</a:t>
            </a:r>
            <a:r>
              <a:rPr kumimoji="1" lang="en-US" altLang="zh-CN" sz="2000" dirty="0">
                <a:latin typeface="Chalkboard" panose="03050602040202020205" pitchFamily="66" charset="0"/>
              </a:rPr>
              <a:t>/</a:t>
            </a:r>
            <a:r>
              <a:rPr kumimoji="1" lang="zh-CN" altLang="en-US" sz="2000" dirty="0">
                <a:latin typeface="Chalkboard" panose="03050602040202020205" pitchFamily="66" charset="0"/>
              </a:rPr>
              <a:t>组合逻辑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halkboard" panose="03050602040202020205" pitchFamily="66" charset="0"/>
              </a:rPr>
              <a:t>由很多逻辑门组合起来的计算块（</a:t>
            </a:r>
            <a:r>
              <a:rPr kumimoji="1" lang="en-US" altLang="zh-CN" sz="2000" dirty="0">
                <a:latin typeface="Chalkboard" panose="03050602040202020205" pitchFamily="66" charset="0"/>
              </a:rPr>
              <a:t>computational block</a:t>
            </a:r>
            <a:r>
              <a:rPr kumimoji="1" lang="zh-CN" altLang="en-US" sz="2000" dirty="0">
                <a:latin typeface="Chalkboard" panose="03050602040202020205" pitchFamily="66" charset="0"/>
              </a:rPr>
              <a:t>）网络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latin typeface="Chalkboard" panose="03050602040202020205" pitchFamily="66" charset="0"/>
              </a:rPr>
              <a:t>三类输入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sz="2000" dirty="0">
                <a:latin typeface="Chalkboard" panose="03050602040202020205" pitchFamily="66" charset="0"/>
              </a:rPr>
              <a:t>系统输入（主输入）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sz="2000" dirty="0">
                <a:latin typeface="Chalkboard" panose="03050602040202020205" pitchFamily="66" charset="0"/>
              </a:rPr>
              <a:t>某个存储器单元的输出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sz="2000" dirty="0">
                <a:latin typeface="Chalkboard" panose="03050602040202020205" pitchFamily="66" charset="0"/>
              </a:rPr>
              <a:t>某个逻辑门的输出</a:t>
            </a:r>
            <a:endParaRPr kumimoji="1" lang="en-US" altLang="zh-CN" sz="2000" dirty="0">
              <a:latin typeface="Chalkboard" panose="03050602040202020205" pitchFamily="66" charset="0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逻辑门的输出不能连接在一起：矛盾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/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短路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alkboard" panose="03050602040202020205" pitchFamily="66" charset="0"/>
              <a:ea typeface="等线" panose="02010600030101010101" pitchFamily="2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网络中无回路，只能计算布尔函数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alkboard" panose="03050602040202020205" pitchFamily="66" charset="0"/>
              <a:ea typeface="等线" panose="02010600030101010101" pitchFamily="2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没有存储功能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，实现与或非的逻辑运算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halkboard" panose="03050602040202020205" pitchFamily="66" charset="0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05570C-610F-D94B-9CD1-93967F007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885" y="2782957"/>
            <a:ext cx="5843666" cy="287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92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34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2289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﻿Bit Equality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F9B07F2-46D8-174F-AE9B-01F412586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32" y="1516270"/>
            <a:ext cx="8731526" cy="248898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5DEB1DA-7162-904D-BD63-5FD353A59B01}"/>
              </a:ext>
            </a:extLst>
          </p:cNvPr>
          <p:cNvSpPr txBox="1"/>
          <p:nvPr/>
        </p:nvSpPr>
        <p:spPr>
          <a:xfrm>
            <a:off x="421233" y="4460335"/>
            <a:ext cx="4334841" cy="8813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Chalkboard" panose="03050602040202020205" pitchFamily="66" charset="0"/>
              </a:rPr>
              <a:t>bool</a:t>
            </a:r>
            <a:r>
              <a:rPr kumimoji="1" lang="zh-CN" altLang="en-US" dirty="0">
                <a:latin typeface="Chalkboard" panose="03050602040202020205" pitchFamily="66" charset="0"/>
              </a:rPr>
              <a:t>定义位级信号</a:t>
            </a:r>
            <a:endParaRPr kumimoji="1" lang="en-US" altLang="zh-CN" dirty="0">
              <a:latin typeface="Chalkboard" panose="03050602040202020205" pitchFamily="66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Chalkboard" panose="03050602040202020205" pitchFamily="66" charset="0"/>
              </a:rPr>
              <a:t>根据电路直接翻译即可得到</a:t>
            </a:r>
            <a:r>
              <a:rPr kumimoji="1" lang="en-US" altLang="zh-CN" dirty="0">
                <a:latin typeface="Chalkboard" panose="03050602040202020205" pitchFamily="66" charset="0"/>
              </a:rPr>
              <a:t>HCL</a:t>
            </a:r>
            <a:r>
              <a:rPr kumimoji="1" lang="zh-CN" altLang="en-US" dirty="0">
                <a:latin typeface="Chalkboard" panose="03050602040202020205" pitchFamily="66" charset="0"/>
              </a:rPr>
              <a:t>表达式</a:t>
            </a:r>
          </a:p>
        </p:txBody>
      </p:sp>
    </p:spTree>
    <p:extLst>
      <p:ext uri="{BB962C8B-B14F-4D97-AF65-F5344CB8AC3E}">
        <p14:creationId xmlns:p14="http://schemas.microsoft.com/office/powerpoint/2010/main" val="2639630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35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2777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﻿Word Equality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967AA1-6446-3A40-B53B-1B2B9D219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48" y="1204889"/>
            <a:ext cx="7518400" cy="47879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68995EE-28F8-EC4A-A0EC-BC012D9D761B}"/>
              </a:ext>
            </a:extLst>
          </p:cNvPr>
          <p:cNvSpPr txBox="1"/>
          <p:nvPr/>
        </p:nvSpPr>
        <p:spPr>
          <a:xfrm>
            <a:off x="4999282" y="4204251"/>
            <a:ext cx="6061275" cy="969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Chalkboard" panose="03050602040202020205" pitchFamily="66" charset="0"/>
              </a:rPr>
              <a:t>int A,B;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Chalkboard" panose="03050602040202020205" pitchFamily="66" charset="0"/>
              </a:rPr>
              <a:t>HCL</a:t>
            </a:r>
            <a:r>
              <a:rPr kumimoji="1" lang="zh-CN" altLang="en-US" sz="2000" dirty="0">
                <a:latin typeface="Chalkboard" panose="03050602040202020205" pitchFamily="66" charset="0"/>
              </a:rPr>
              <a:t>中将所有字级信号都声明为</a:t>
            </a:r>
            <a:r>
              <a:rPr kumimoji="1" lang="en-US" altLang="zh-CN" sz="2000" dirty="0">
                <a:latin typeface="Chalkboard" panose="03050602040202020205" pitchFamily="66" charset="0"/>
              </a:rPr>
              <a:t>int</a:t>
            </a:r>
            <a:r>
              <a:rPr kumimoji="1" lang="zh-CN" altLang="en-US" sz="2000" dirty="0">
                <a:latin typeface="Chalkboard" panose="03050602040202020205" pitchFamily="66" charset="0"/>
              </a:rPr>
              <a:t>类型，不区分字长</a:t>
            </a:r>
          </a:p>
        </p:txBody>
      </p:sp>
    </p:spTree>
    <p:extLst>
      <p:ext uri="{BB962C8B-B14F-4D97-AF65-F5344CB8AC3E}">
        <p14:creationId xmlns:p14="http://schemas.microsoft.com/office/powerpoint/2010/main" val="3526482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36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Hardware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halkboard" panose="03050602040202020205" pitchFamily="66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2887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﻿Bit Multiplexor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919E025-FE89-D04A-AE66-4ECEE7EAB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68" y="2019845"/>
            <a:ext cx="9290329" cy="293666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048DFFE-33D3-9249-8925-AB16EB0940FB}"/>
              </a:ext>
            </a:extLst>
          </p:cNvPr>
          <p:cNvSpPr txBox="1"/>
          <p:nvPr/>
        </p:nvSpPr>
        <p:spPr>
          <a:xfrm>
            <a:off x="298732" y="107729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位多路复用器</a:t>
            </a:r>
          </a:p>
        </p:txBody>
      </p:sp>
    </p:spTree>
    <p:extLst>
      <p:ext uri="{BB962C8B-B14F-4D97-AF65-F5344CB8AC3E}">
        <p14:creationId xmlns:p14="http://schemas.microsoft.com/office/powerpoint/2010/main" val="1015009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37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Hardware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halkboard" panose="03050602040202020205" pitchFamily="66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3375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﻿Word Multiplexor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44741D-6501-EA47-AB09-4CAAB0029E82}"/>
              </a:ext>
            </a:extLst>
          </p:cNvPr>
          <p:cNvSpPr txBox="1"/>
          <p:nvPr/>
        </p:nvSpPr>
        <p:spPr>
          <a:xfrm>
            <a:off x="298732" y="115443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字级多路复用器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597220-4AF0-BC4B-8F6A-1CCB2C8FA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663" y="1200190"/>
            <a:ext cx="6823213" cy="522878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36CEEE2-693D-7343-B138-4FC8BF12AA1C}"/>
              </a:ext>
            </a:extLst>
          </p:cNvPr>
          <p:cNvSpPr txBox="1"/>
          <p:nvPr/>
        </p:nvSpPr>
        <p:spPr>
          <a:xfrm>
            <a:off x="298732" y="2033725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HCL</a:t>
            </a:r>
            <a:r>
              <a:rPr kumimoji="1" lang="zh-CN" altLang="en-US" dirty="0">
                <a:latin typeface="Chalkboard" panose="03050602040202020205" pitchFamily="66" charset="0"/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  <a:latin typeface="Chalkboard" panose="03050602040202020205" pitchFamily="66" charset="0"/>
              </a:rPr>
              <a:t>情况表达式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45CDF44-93C1-D947-BC68-A4981705A6C6}"/>
              </a:ext>
            </a:extLst>
          </p:cNvPr>
          <p:cNvSpPr txBox="1"/>
          <p:nvPr/>
        </p:nvSpPr>
        <p:spPr>
          <a:xfrm>
            <a:off x="298732" y="2403057"/>
            <a:ext cx="2921546" cy="337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altLang="zh-CN" dirty="0">
                <a:latin typeface="Chalkboard" panose="03050602040202020205" pitchFamily="66" charset="0"/>
              </a:rPr>
              <a:t>word out = [</a:t>
            </a:r>
          </a:p>
          <a:p>
            <a:pPr>
              <a:lnSpc>
                <a:spcPct val="150000"/>
              </a:lnSpc>
            </a:pPr>
            <a:r>
              <a:rPr lang="en-GB" altLang="zh-CN" dirty="0">
                <a:latin typeface="Chalkboard" panose="03050602040202020205" pitchFamily="66" charset="0"/>
              </a:rPr>
              <a:t>	</a:t>
            </a:r>
            <a:r>
              <a:rPr lang="en-GB" altLang="zh-CN" i="1" dirty="0">
                <a:latin typeface="Chalkboard" panose="03050602040202020205" pitchFamily="66" charset="0"/>
              </a:rPr>
              <a:t>select</a:t>
            </a:r>
            <a:r>
              <a:rPr lang="en-GB" altLang="zh-CN" i="1" baseline="-25000" dirty="0">
                <a:latin typeface="Chalkboard" panose="03050602040202020205" pitchFamily="66" charset="0"/>
              </a:rPr>
              <a:t>1</a:t>
            </a:r>
            <a:r>
              <a:rPr lang="en-GB" altLang="zh-CN" i="1" dirty="0">
                <a:latin typeface="Chalkboard" panose="03050602040202020205" pitchFamily="66" charset="0"/>
              </a:rPr>
              <a:t> : expr</a:t>
            </a:r>
            <a:r>
              <a:rPr lang="en-GB" altLang="zh-CN" i="1" baseline="-25000" dirty="0">
                <a:latin typeface="Chalkboard" panose="03050602040202020205" pitchFamily="66" charset="0"/>
              </a:rPr>
              <a:t>1</a:t>
            </a:r>
            <a:r>
              <a:rPr lang="en-US" altLang="zh-CN" i="1" dirty="0">
                <a:latin typeface="Chalkboard" panose="03050602040202020205" pitchFamily="66" charset="0"/>
              </a:rPr>
              <a:t>;</a:t>
            </a:r>
            <a:endParaRPr lang="en-GB" altLang="zh-CN" i="1" dirty="0"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lang="en-GB" altLang="zh-CN" i="1" dirty="0">
                <a:latin typeface="Chalkboard" panose="03050602040202020205" pitchFamily="66" charset="0"/>
              </a:rPr>
              <a:t>	select</a:t>
            </a:r>
            <a:r>
              <a:rPr lang="en-GB" altLang="zh-CN" i="1" baseline="-25000" dirty="0">
                <a:latin typeface="Chalkboard" panose="03050602040202020205" pitchFamily="66" charset="0"/>
              </a:rPr>
              <a:t>2</a:t>
            </a:r>
            <a:r>
              <a:rPr lang="en-GB" altLang="zh-CN" i="1" dirty="0">
                <a:latin typeface="Chalkboard" panose="03050602040202020205" pitchFamily="66" charset="0"/>
              </a:rPr>
              <a:t> : expr</a:t>
            </a:r>
            <a:r>
              <a:rPr lang="en-GB" altLang="zh-CN" i="1" baseline="-25000" dirty="0">
                <a:latin typeface="Chalkboard" panose="03050602040202020205" pitchFamily="66" charset="0"/>
              </a:rPr>
              <a:t>2</a:t>
            </a:r>
            <a:r>
              <a:rPr lang="en-GB" altLang="zh-CN" i="1" dirty="0">
                <a:latin typeface="Chalkboard" panose="03050602040202020205" pitchFamily="66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GB" altLang="zh-CN" i="1" dirty="0">
                <a:latin typeface="Chalkboard" panose="03050602040202020205" pitchFamily="66" charset="0"/>
              </a:rPr>
              <a:t>	</a:t>
            </a:r>
            <a:r>
              <a:rPr lang="en-US" altLang="zh-CN" i="1" dirty="0">
                <a:latin typeface="Chalkboard" panose="03050602040202020205" pitchFamily="66" charset="0"/>
              </a:rPr>
              <a:t>···</a:t>
            </a:r>
            <a:endParaRPr lang="en-GB" altLang="zh-CN" i="1" dirty="0"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lang="en-GB" altLang="zh-CN" i="1" dirty="0">
                <a:latin typeface="Chalkboard" panose="03050602040202020205" pitchFamily="66" charset="0"/>
              </a:rPr>
              <a:t>	</a:t>
            </a:r>
            <a:r>
              <a:rPr lang="en-GB" altLang="zh-CN" i="1" dirty="0" err="1">
                <a:latin typeface="Chalkboard" panose="03050602040202020205" pitchFamily="66" charset="0"/>
              </a:rPr>
              <a:t>select</a:t>
            </a:r>
            <a:r>
              <a:rPr lang="en-GB" altLang="zh-CN" i="1" baseline="-25000" dirty="0" err="1">
                <a:latin typeface="Chalkboard" panose="03050602040202020205" pitchFamily="66" charset="0"/>
              </a:rPr>
              <a:t>k</a:t>
            </a:r>
            <a:r>
              <a:rPr lang="en-GB" altLang="zh-CN" i="1" dirty="0">
                <a:latin typeface="Chalkboard" panose="03050602040202020205" pitchFamily="66" charset="0"/>
              </a:rPr>
              <a:t> : </a:t>
            </a:r>
            <a:r>
              <a:rPr lang="en-GB" altLang="zh-CN" i="1" dirty="0" err="1">
                <a:latin typeface="Chalkboard" panose="03050602040202020205" pitchFamily="66" charset="0"/>
              </a:rPr>
              <a:t>expr</a:t>
            </a:r>
            <a:r>
              <a:rPr lang="en-GB" altLang="zh-CN" i="1" baseline="-25000" dirty="0" err="1">
                <a:latin typeface="Chalkboard" panose="03050602040202020205" pitchFamily="66" charset="0"/>
              </a:rPr>
              <a:t>k</a:t>
            </a:r>
            <a:r>
              <a:rPr lang="en-GB" altLang="zh-CN" i="1" dirty="0">
                <a:latin typeface="Chalkboard" panose="03050602040202020205" pitchFamily="66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GB" altLang="zh-CN" dirty="0">
                <a:latin typeface="Chalkboard" panose="03050602040202020205" pitchFamily="66" charset="0"/>
              </a:rPr>
              <a:t>]</a:t>
            </a:r>
            <a:r>
              <a:rPr lang="en-US" altLang="zh-CN" dirty="0">
                <a:latin typeface="Chalkboard" panose="03050602040202020205" pitchFamily="66" charset="0"/>
              </a:rPr>
              <a:t>;</a:t>
            </a:r>
            <a:endParaRPr lang="en-GB" altLang="zh-CN" dirty="0">
              <a:latin typeface="Chalkboard" panose="03050602040202020205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GB" dirty="0">
                <a:latin typeface="Chalkboard" panose="03050602040202020205" pitchFamily="66" charset="0"/>
              </a:rPr>
              <a:t>顺序</a:t>
            </a:r>
            <a:r>
              <a:rPr lang="zh-CN" altLang="en-US" dirty="0">
                <a:latin typeface="Chalkboard" panose="03050602040202020205" pitchFamily="66" charset="0"/>
              </a:rPr>
              <a:t>求值，选择第一个求值为</a:t>
            </a:r>
            <a:r>
              <a:rPr lang="en-US" altLang="zh-CN" dirty="0">
                <a:latin typeface="Chalkboard" panose="03050602040202020205" pitchFamily="66" charset="0"/>
              </a:rPr>
              <a:t>1</a:t>
            </a:r>
            <a:r>
              <a:rPr lang="zh-CN" altLang="en-US" dirty="0">
                <a:latin typeface="Chalkboard" panose="03050602040202020205" pitchFamily="66" charset="0"/>
              </a:rPr>
              <a:t>的情况</a:t>
            </a:r>
            <a:endParaRPr lang="en-US" altLang="zh-CN" dirty="0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973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38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halkboard" panose="03050602040202020205" pitchFamily="66" charset="0"/>
                <a:ea typeface="等线" panose="02010600030101010101" pitchFamily="2" charset="-122"/>
                <a:cs typeface="+mn-cs"/>
              </a:rPr>
              <a:t>Hardware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halkboard" panose="03050602040202020205" pitchFamily="66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3375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﻿Word Multiplexor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44741D-6501-EA47-AB09-4CAAB0029E82}"/>
              </a:ext>
            </a:extLst>
          </p:cNvPr>
          <p:cNvSpPr txBox="1"/>
          <p:nvPr/>
        </p:nvSpPr>
        <p:spPr>
          <a:xfrm>
            <a:off x="298732" y="115443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字级四路复用器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6CEEE2-693D-7343-B138-4FC8BF12AA1C}"/>
              </a:ext>
            </a:extLst>
          </p:cNvPr>
          <p:cNvSpPr txBox="1"/>
          <p:nvPr/>
        </p:nvSpPr>
        <p:spPr>
          <a:xfrm>
            <a:off x="298732" y="2033725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HCL</a:t>
            </a:r>
            <a:r>
              <a:rPr kumimoji="1" lang="zh-CN" altLang="en-US" dirty="0">
                <a:latin typeface="Chalkboard" panose="03050602040202020205" pitchFamily="66" charset="0"/>
              </a:rPr>
              <a:t> </a:t>
            </a:r>
            <a:r>
              <a:rPr kumimoji="1" lang="zh-CN" altLang="en-US" dirty="0">
                <a:solidFill>
                  <a:srgbClr val="FF0000"/>
                </a:solidFill>
                <a:latin typeface="Chalkboard" panose="03050602040202020205" pitchFamily="66" charset="0"/>
              </a:rPr>
              <a:t>集合关系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45CDF44-93C1-D947-BC68-A4981705A6C6}"/>
              </a:ext>
            </a:extLst>
          </p:cNvPr>
          <p:cNvSpPr txBox="1"/>
          <p:nvPr/>
        </p:nvSpPr>
        <p:spPr>
          <a:xfrm>
            <a:off x="298731" y="2403057"/>
            <a:ext cx="4014851" cy="1296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altLang="zh-CN" dirty="0">
                <a:latin typeface="Chalkboard" panose="03050602040202020205" pitchFamily="66" charset="0"/>
              </a:rPr>
              <a:t>bool s = code in { item1, item2, ... };</a:t>
            </a:r>
          </a:p>
          <a:p>
            <a:pPr>
              <a:lnSpc>
                <a:spcPct val="150000"/>
              </a:lnSpc>
            </a:pPr>
            <a:r>
              <a:rPr lang="en-GB" altLang="zh-CN" dirty="0">
                <a:latin typeface="Chalkboard" panose="03050602040202020205" pitchFamily="66" charset="0"/>
              </a:rPr>
              <a:t>bool s1 = code in {2,3};</a:t>
            </a:r>
          </a:p>
          <a:p>
            <a:pPr>
              <a:lnSpc>
                <a:spcPct val="150000"/>
              </a:lnSpc>
            </a:pPr>
            <a:r>
              <a:rPr lang="en-GB" altLang="zh-CN" dirty="0">
                <a:latin typeface="Chalkboard" panose="03050602040202020205" pitchFamily="66" charset="0"/>
              </a:rPr>
              <a:t>bool s0 = code in {1,3};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3741B5-F6B2-974C-8F9B-E141BD4EC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521" y="1154430"/>
            <a:ext cx="4298122" cy="248976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B2AA806-DEE7-0445-AEF7-2FCD55A61DB6}"/>
              </a:ext>
            </a:extLst>
          </p:cNvPr>
          <p:cNvSpPr txBox="1"/>
          <p:nvPr/>
        </p:nvSpPr>
        <p:spPr>
          <a:xfrm>
            <a:off x="4819653" y="3620851"/>
            <a:ext cx="6117534" cy="2543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halkboard" panose="03050602040202020205" pitchFamily="66" charset="0"/>
              </a:rPr>
              <a:t>word</a:t>
            </a:r>
            <a:r>
              <a:rPr lang="en-GB" altLang="zh-CN" dirty="0">
                <a:latin typeface="Chalkboard" panose="03050602040202020205" pitchFamily="66" charset="0"/>
              </a:rPr>
              <a:t> </a:t>
            </a:r>
            <a:r>
              <a:rPr lang="en-US" altLang="zh-CN" dirty="0">
                <a:latin typeface="Chalkboard" panose="03050602040202020205" pitchFamily="66" charset="0"/>
              </a:rPr>
              <a:t>Out4=[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halkboard" panose="03050602040202020205" pitchFamily="66" charset="0"/>
              </a:rPr>
              <a:t>	code == 1 : A;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halkboard" panose="03050602040202020205" pitchFamily="66" charset="0"/>
              </a:rPr>
              <a:t>	code == 2 : B;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halkboard" panose="03050602040202020205" pitchFamily="66" charset="0"/>
              </a:rPr>
              <a:t>	code == 3 : C;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halkboard" panose="03050602040202020205" pitchFamily="66" charset="0"/>
              </a:rPr>
              <a:t>	code == 4 : D;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halkboard" panose="03050602040202020205" pitchFamily="66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2450983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39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4257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﻿Combinational Circuits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pic>
        <p:nvPicPr>
          <p:cNvPr id="11" name="Picture 15">
            <a:extLst>
              <a:ext uri="{FF2B5EF4-FFF2-40B4-BE49-F238E27FC236}">
                <a16:creationId xmlns:a16="http://schemas.microsoft.com/office/drawing/2014/main" id="{33EBE822-977B-094E-BABF-4E6CE7F107E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898" y="1692166"/>
            <a:ext cx="7211850" cy="385169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4">
            <a:extLst>
              <a:ext uri="{FF2B5EF4-FFF2-40B4-BE49-F238E27FC236}">
                <a16:creationId xmlns:a16="http://schemas.microsoft.com/office/drawing/2014/main" id="{E4E913F5-CCE9-1445-847A-978858A3D124}"/>
              </a:ext>
            </a:extLst>
          </p:cNvPr>
          <p:cNvSpPr txBox="1"/>
          <p:nvPr/>
        </p:nvSpPr>
        <p:spPr>
          <a:xfrm>
            <a:off x="1002844" y="2027202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endParaRPr lang="zh-CN" altLang="en-US" dirty="0"/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7863DBB9-77B6-954D-B837-5E714A951D34}"/>
              </a:ext>
            </a:extLst>
          </p:cNvPr>
          <p:cNvSpPr txBox="1"/>
          <p:nvPr/>
        </p:nvSpPr>
        <p:spPr>
          <a:xfrm>
            <a:off x="1013666" y="4715585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endParaRPr lang="zh-CN" altLang="en-US" dirty="0"/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55B453B1-BDD5-EF4F-87A0-168E6D14CAAA}"/>
              </a:ext>
            </a:extLst>
          </p:cNvPr>
          <p:cNvSpPr txBox="1"/>
          <p:nvPr/>
        </p:nvSpPr>
        <p:spPr>
          <a:xfrm>
            <a:off x="3525219" y="1796369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!a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DD4C16E6-9879-4843-A9BF-468A4B35AA2F}"/>
              </a:ext>
            </a:extLst>
          </p:cNvPr>
          <p:cNvSpPr txBox="1"/>
          <p:nvPr/>
        </p:nvSpPr>
        <p:spPr>
          <a:xfrm>
            <a:off x="3502476" y="5008715"/>
            <a:ext cx="64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!b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79107755-F62F-7F42-AFC8-3754FF46B5D2}"/>
              </a:ext>
            </a:extLst>
          </p:cNvPr>
          <p:cNvSpPr txBox="1"/>
          <p:nvPr/>
        </p:nvSpPr>
        <p:spPr>
          <a:xfrm>
            <a:off x="5580377" y="2001299"/>
            <a:ext cx="1566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!a &amp;&amp; b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92E99CF6-71DB-424A-9A1F-F3872E8F3CEF}"/>
              </a:ext>
            </a:extLst>
          </p:cNvPr>
          <p:cNvSpPr txBox="1"/>
          <p:nvPr/>
        </p:nvSpPr>
        <p:spPr>
          <a:xfrm>
            <a:off x="5509257" y="5010564"/>
            <a:ext cx="1566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!b &amp;&amp;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1AC14277-A684-A94C-87C3-A156612270E3}"/>
              </a:ext>
            </a:extLst>
          </p:cNvPr>
          <p:cNvSpPr txBox="1"/>
          <p:nvPr/>
        </p:nvSpPr>
        <p:spPr>
          <a:xfrm>
            <a:off x="7585458" y="3896935"/>
            <a:ext cx="2940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(!a &amp;&amp; b) || (!b &amp;&amp; a)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232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40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3023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﻿Hardware Units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5155D7D-694A-1745-987C-50B20D8DD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391" y="227124"/>
            <a:ext cx="4132958" cy="557804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DFBC3D2-19D3-1242-9BB6-A620364EF1A7}"/>
              </a:ext>
            </a:extLst>
          </p:cNvPr>
          <p:cNvSpPr txBox="1"/>
          <p:nvPr/>
        </p:nvSpPr>
        <p:spPr>
          <a:xfrm>
            <a:off x="298732" y="1052829"/>
            <a:ext cx="6013185" cy="3374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硬件单元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一般不关注其硬件实现，当作黑箱即可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介绍三种硬件单元的大致原理（显然都不是组合逻辑）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en-US" altLang="zh-CN" dirty="0"/>
              <a:t>ALU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dirty="0"/>
              <a:t>时钟寄存器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dirty="0"/>
              <a:t>随机访问存储器</a:t>
            </a:r>
            <a:endParaRPr kumimoji="1" lang="en-US" altLang="zh-CN" dirty="0"/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寄存器文件</a:t>
            </a:r>
            <a:endParaRPr kumimoji="1" lang="en-US" altLang="zh-CN" dirty="0"/>
          </a:p>
          <a:p>
            <a:pPr marL="1200150" lvl="2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虚拟内存系统</a:t>
            </a:r>
          </a:p>
        </p:txBody>
      </p:sp>
    </p:spTree>
    <p:extLst>
      <p:ext uri="{BB962C8B-B14F-4D97-AF65-F5344CB8AC3E}">
        <p14:creationId xmlns:p14="http://schemas.microsoft.com/office/powerpoint/2010/main" val="2687681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41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9157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﻿ALU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8CB9227-8AEA-CC47-8A6F-117A6CCE3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833466"/>
              </p:ext>
            </p:extLst>
          </p:nvPr>
        </p:nvGraphicFramePr>
        <p:xfrm>
          <a:off x="3505526" y="1141840"/>
          <a:ext cx="2032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36996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>
                          <a:latin typeface="Chalkboard" panose="03050602040202020205" pitchFamily="66" charset="0"/>
                        </a:rPr>
                        <a:t>OPq</a:t>
                      </a:r>
                      <a:endParaRPr lang="zh-CN" altLang="en-US" b="0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1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addq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0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subq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54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andq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882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halkboard" panose="03050602040202020205" pitchFamily="66" charset="0"/>
                        </a:rPr>
                        <a:t>xorq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38232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036A78-A387-6843-A799-AB0539BF2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597390"/>
              </p:ext>
            </p:extLst>
          </p:nvPr>
        </p:nvGraphicFramePr>
        <p:xfrm>
          <a:off x="1473523" y="1141840"/>
          <a:ext cx="2032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04855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>
                          <a:latin typeface="Chalkboard" panose="03050602040202020205" pitchFamily="66" charset="0"/>
                        </a:rPr>
                        <a:t>fn</a:t>
                      </a:r>
                      <a:endParaRPr lang="zh-CN" altLang="en-US" b="0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911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0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026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1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00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2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649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3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842054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875EEF7F-BB0B-CA49-9896-E8C2B2E4C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96" y="3558209"/>
            <a:ext cx="8302486" cy="177910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8505F69-2E2B-2448-B967-C5FB597AFC5A}"/>
              </a:ext>
            </a:extLst>
          </p:cNvPr>
          <p:cNvSpPr txBox="1"/>
          <p:nvPr/>
        </p:nvSpPr>
        <p:spPr>
          <a:xfrm>
            <a:off x="6071981" y="2626708"/>
            <a:ext cx="4748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ALU</a:t>
            </a:r>
            <a:r>
              <a:rPr kumimoji="1" lang="zh-CN" altLang="en-US" dirty="0"/>
              <a:t>也是组合逻辑，但我们不关注其具体实现</a:t>
            </a:r>
          </a:p>
        </p:txBody>
      </p:sp>
    </p:spTree>
    <p:extLst>
      <p:ext uri="{BB962C8B-B14F-4D97-AF65-F5344CB8AC3E}">
        <p14:creationId xmlns:p14="http://schemas.microsoft.com/office/powerpoint/2010/main" val="1873155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42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3275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﻿Clocked Register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3CF5D2-91B2-C340-802C-96918DB35BBD}"/>
              </a:ext>
            </a:extLst>
          </p:cNvPr>
          <p:cNvSpPr txBox="1"/>
          <p:nvPr/>
        </p:nvSpPr>
        <p:spPr>
          <a:xfrm>
            <a:off x="298732" y="1087057"/>
            <a:ext cx="5782352" cy="2127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时钟寄存器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存储单个位</a:t>
            </a:r>
            <a:r>
              <a:rPr kumimoji="1" lang="en-US" altLang="zh-CN" dirty="0"/>
              <a:t>/</a:t>
            </a:r>
            <a:r>
              <a:rPr kumimoji="1" lang="zh-CN" altLang="en-US" dirty="0"/>
              <a:t>字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受周期性的时钟信号控制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不同于汇编中的寄存器，更像是一种电路实现的原理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作为</a:t>
            </a:r>
            <a:r>
              <a:rPr kumimoji="1" lang="zh-CN" altLang="en-US" b="1" dirty="0"/>
              <a:t>输入与输出之间的屏障</a:t>
            </a:r>
            <a:r>
              <a:rPr kumimoji="1" lang="zh-CN" altLang="en-US" dirty="0"/>
              <a:t>，有</a:t>
            </a:r>
            <a:r>
              <a:rPr kumimoji="1" lang="zh-CN" altLang="en-US" b="1" dirty="0"/>
              <a:t>短暂的存储功能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ECAF822-4EEE-C14A-8D3C-8C9E65488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541031"/>
              </p:ext>
            </p:extLst>
          </p:nvPr>
        </p:nvGraphicFramePr>
        <p:xfrm>
          <a:off x="6364359" y="1854540"/>
          <a:ext cx="1409262" cy="365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69754">
                  <a:extLst>
                    <a:ext uri="{9D8B030D-6E8A-4147-A177-3AD203B41FA5}">
                      <a16:colId xmlns:a16="http://schemas.microsoft.com/office/drawing/2014/main" val="181460250"/>
                    </a:ext>
                  </a:extLst>
                </a:gridCol>
                <a:gridCol w="469754">
                  <a:extLst>
                    <a:ext uri="{9D8B030D-6E8A-4147-A177-3AD203B41FA5}">
                      <a16:colId xmlns:a16="http://schemas.microsoft.com/office/drawing/2014/main" val="982081026"/>
                    </a:ext>
                  </a:extLst>
                </a:gridCol>
                <a:gridCol w="469754">
                  <a:extLst>
                    <a:ext uri="{9D8B030D-6E8A-4147-A177-3AD203B41FA5}">
                      <a16:colId xmlns:a16="http://schemas.microsoft.com/office/drawing/2014/main" val="2383608515"/>
                    </a:ext>
                  </a:extLst>
                </a:gridCol>
              </a:tblGrid>
              <a:tr h="31942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ZF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SF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halkboard" panose="03050602040202020205" pitchFamily="66" charset="0"/>
                        </a:rPr>
                        <a:t>OF</a:t>
                      </a:r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067455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FC102C20-430F-B34F-80BE-3CAD69BD87C5}"/>
              </a:ext>
            </a:extLst>
          </p:cNvPr>
          <p:cNvSpPr/>
          <p:nvPr/>
        </p:nvSpPr>
        <p:spPr>
          <a:xfrm>
            <a:off x="6364357" y="2471716"/>
            <a:ext cx="442310" cy="378373"/>
          </a:xfrm>
          <a:prstGeom prst="rect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halkboard" panose="03050602040202020205" pitchFamily="66" charset="0"/>
            </a:endParaRPr>
          </a:p>
        </p:txBody>
      </p:sp>
      <p:graphicFrame>
        <p:nvGraphicFramePr>
          <p:cNvPr id="13" name="表格 24">
            <a:extLst>
              <a:ext uri="{FF2B5EF4-FFF2-40B4-BE49-F238E27FC236}">
                <a16:creationId xmlns:a16="http://schemas.microsoft.com/office/drawing/2014/main" id="{839740B8-BE3B-D44F-873F-FB82E911A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612131"/>
              </p:ext>
            </p:extLst>
          </p:nvPr>
        </p:nvGraphicFramePr>
        <p:xfrm>
          <a:off x="6364358" y="1232284"/>
          <a:ext cx="1409262" cy="370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09262">
                  <a:extLst>
                    <a:ext uri="{9D8B030D-6E8A-4147-A177-3AD203B41FA5}">
                      <a16:colId xmlns:a16="http://schemas.microsoft.com/office/drawing/2014/main" val="2720870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halkboard" panose="03050602040202020205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655318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B4024A66-7C3F-724F-A3D6-5432063405C1}"/>
              </a:ext>
            </a:extLst>
          </p:cNvPr>
          <p:cNvSpPr txBox="1"/>
          <p:nvPr/>
        </p:nvSpPr>
        <p:spPr>
          <a:xfrm>
            <a:off x="8088930" y="1204889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PC: </a:t>
            </a:r>
            <a:r>
              <a:rPr kumimoji="1" lang="zh-CN" altLang="en-US" dirty="0">
                <a:latin typeface="Chalkboard" panose="03050602040202020205" pitchFamily="66" charset="0"/>
              </a:rPr>
              <a:t>程序计数器</a:t>
            </a:r>
            <a:endParaRPr kumimoji="1" lang="zh-CN" altLang="en-US" dirty="0">
              <a:solidFill>
                <a:srgbClr val="FF0000"/>
              </a:solidFill>
              <a:latin typeface="Chalkboard" panose="03050602040202020205" pitchFamily="66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8885B5-7250-E34A-A989-72F786B6DE87}"/>
              </a:ext>
            </a:extLst>
          </p:cNvPr>
          <p:cNvSpPr txBox="1"/>
          <p:nvPr/>
        </p:nvSpPr>
        <p:spPr>
          <a:xfrm>
            <a:off x="8088930" y="186385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CC: </a:t>
            </a:r>
            <a:r>
              <a:rPr kumimoji="1" lang="zh-CN" altLang="en-US" dirty="0">
                <a:latin typeface="Chalkboard" panose="03050602040202020205" pitchFamily="66" charset="0"/>
              </a:rPr>
              <a:t>条件码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986877D-22F5-0F42-A93D-4DAA9F42C54E}"/>
              </a:ext>
            </a:extLst>
          </p:cNvPr>
          <p:cNvSpPr txBox="1"/>
          <p:nvPr/>
        </p:nvSpPr>
        <p:spPr>
          <a:xfrm>
            <a:off x="8088930" y="2476236"/>
            <a:ext cx="16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halkboard" panose="03050602040202020205" pitchFamily="66" charset="0"/>
              </a:rPr>
              <a:t>Stat: </a:t>
            </a:r>
            <a:r>
              <a:rPr kumimoji="1" lang="zh-CN" altLang="en-US" dirty="0">
                <a:latin typeface="Chalkboard" panose="03050602040202020205" pitchFamily="66" charset="0"/>
              </a:rPr>
              <a:t>程序状态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3739B1-4614-A940-91DF-DC1DEA2F4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0" y="3408155"/>
            <a:ext cx="4670011" cy="33759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16BC746-F3C7-C547-B894-905E4ED7B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221" y="3941040"/>
            <a:ext cx="6481417" cy="182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43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3275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﻿Clocked Register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A378120-7A91-DE46-B201-4F09E6A04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4889"/>
            <a:ext cx="6672243" cy="504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3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44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32759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﻿Clocked Register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6EA63F29-EA47-5A44-9CCB-AA6AEEADFF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4011046"/>
              </p:ext>
            </p:extLst>
          </p:nvPr>
        </p:nvGraphicFramePr>
        <p:xfrm>
          <a:off x="372994" y="2247118"/>
          <a:ext cx="8790342" cy="3452323"/>
        </p:xfrm>
        <a:graphic>
          <a:graphicData uri="http://schemas.openxmlformats.org/drawingml/2006/table">
            <a:tbl>
              <a:tblPr firstRow="1" firstCol="1" bandRow="1"/>
              <a:tblGrid>
                <a:gridCol w="97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63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69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635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529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635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34991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138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12951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4931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时钟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indent="66675"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66675"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  <a:p>
                      <a:pPr indent="66675"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G</a:t>
                      </a:r>
                    </a:p>
                    <a:p>
                      <a:pPr indent="66675" algn="ctr">
                        <a:spcAft>
                          <a:spcPts val="0"/>
                        </a:spcAft>
                      </a:pPr>
                      <a:endParaRPr lang="en-US" alt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1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1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输入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输入</a:t>
                      </a: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输出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1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1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1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输出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1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时钟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Courier New" panose="02070409020205090404" pitchFamily="49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2400" kern="100" dirty="0">
                        <a:effectLst/>
                        <a:latin typeface="Courier New" panose="02070409020205090404" pitchFamily="49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2" name="Group 15">
            <a:extLst>
              <a:ext uri="{FF2B5EF4-FFF2-40B4-BE49-F238E27FC236}">
                <a16:creationId xmlns:a16="http://schemas.microsoft.com/office/drawing/2014/main" id="{3AE9FC6A-1413-AA43-8D3A-8DCE26215743}"/>
              </a:ext>
            </a:extLst>
          </p:cNvPr>
          <p:cNvGrpSpPr/>
          <p:nvPr/>
        </p:nvGrpSpPr>
        <p:grpSpPr>
          <a:xfrm>
            <a:off x="6353872" y="3572681"/>
            <a:ext cx="2902772" cy="1544470"/>
            <a:chOff x="6399848" y="3214142"/>
            <a:chExt cx="1409700" cy="55626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E760BD9-2E5D-5C4B-A9B5-5FE244EB2326}"/>
                </a:ext>
              </a:extLst>
            </p:cNvPr>
            <p:cNvCxnSpPr/>
            <p:nvPr/>
          </p:nvCxnSpPr>
          <p:spPr>
            <a:xfrm>
              <a:off x="6399848" y="3214142"/>
              <a:ext cx="571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2523D61-13F5-FF4D-B7D8-674A4BBA910A}"/>
                </a:ext>
              </a:extLst>
            </p:cNvPr>
            <p:cNvCxnSpPr/>
            <p:nvPr/>
          </p:nvCxnSpPr>
          <p:spPr>
            <a:xfrm>
              <a:off x="7238048" y="3226207"/>
              <a:ext cx="571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D8469DD-9547-914A-99AC-A78EE6F6F0E0}"/>
                </a:ext>
              </a:extLst>
            </p:cNvPr>
            <p:cNvCxnSpPr/>
            <p:nvPr/>
          </p:nvCxnSpPr>
          <p:spPr>
            <a:xfrm flipV="1">
              <a:off x="6620828" y="3595142"/>
              <a:ext cx="464820" cy="175260"/>
            </a:xfrm>
            <a:prstGeom prst="bentConnector3">
              <a:avLst>
                <a:gd name="adj1" fmla="val 10082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F1E0BBD0-7DCB-354B-A1CC-346304E33C5C}"/>
              </a:ext>
            </a:extLst>
          </p:cNvPr>
          <p:cNvSpPr txBox="1"/>
          <p:nvPr/>
        </p:nvSpPr>
        <p:spPr>
          <a:xfrm>
            <a:off x="905938" y="1446627"/>
            <a:ext cx="4357205" cy="3693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latin typeface="Courier New" panose="02070409020205090404" pitchFamily="49" charset="0"/>
                <a:cs typeface="Courier New" panose="02070409020205090404" pitchFamily="49" charset="0"/>
              </a:rPr>
              <a:t>在时钟上升沿采样。假设一开始输出为</a:t>
            </a:r>
            <a:r>
              <a:rPr lang="en-US" altLang="zh-CN" dirty="0">
                <a:latin typeface="Courier New" panose="02070409020205090404" pitchFamily="49" charset="0"/>
                <a:cs typeface="Courier New" panose="02070409020205090404" pitchFamily="49" charset="0"/>
              </a:rPr>
              <a:t>0</a:t>
            </a:r>
          </a:p>
        </p:txBody>
      </p:sp>
      <p:cxnSp>
        <p:nvCxnSpPr>
          <p:cNvPr id="17" name="Straight Connector 18">
            <a:extLst>
              <a:ext uri="{FF2B5EF4-FFF2-40B4-BE49-F238E27FC236}">
                <a16:creationId xmlns:a16="http://schemas.microsoft.com/office/drawing/2014/main" id="{F8C7E634-BC1B-DB4B-9732-21F265C58504}"/>
              </a:ext>
            </a:extLst>
          </p:cNvPr>
          <p:cNvCxnSpPr/>
          <p:nvPr/>
        </p:nvCxnSpPr>
        <p:spPr>
          <a:xfrm>
            <a:off x="2323999" y="2116486"/>
            <a:ext cx="0" cy="340567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9">
            <a:extLst>
              <a:ext uri="{FF2B5EF4-FFF2-40B4-BE49-F238E27FC236}">
                <a16:creationId xmlns:a16="http://schemas.microsoft.com/office/drawing/2014/main" id="{884EBB2F-8952-A94D-A97D-0333518F1F37}"/>
              </a:ext>
            </a:extLst>
          </p:cNvPr>
          <p:cNvCxnSpPr/>
          <p:nvPr/>
        </p:nvCxnSpPr>
        <p:spPr>
          <a:xfrm>
            <a:off x="4295868" y="2116486"/>
            <a:ext cx="0" cy="340567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2B6D5955-9210-134C-A906-D53DEEB15103}"/>
              </a:ext>
            </a:extLst>
          </p:cNvPr>
          <p:cNvCxnSpPr/>
          <p:nvPr/>
        </p:nvCxnSpPr>
        <p:spPr>
          <a:xfrm>
            <a:off x="1362947" y="5018305"/>
            <a:ext cx="108235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22">
            <a:extLst>
              <a:ext uri="{FF2B5EF4-FFF2-40B4-BE49-F238E27FC236}">
                <a16:creationId xmlns:a16="http://schemas.microsoft.com/office/drawing/2014/main" id="{9A26A055-B57B-614D-A044-31CF4E7E580F}"/>
              </a:ext>
            </a:extLst>
          </p:cNvPr>
          <p:cNvCxnSpPr/>
          <p:nvPr/>
        </p:nvCxnSpPr>
        <p:spPr>
          <a:xfrm>
            <a:off x="2445298" y="4670970"/>
            <a:ext cx="19594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4">
            <a:extLst>
              <a:ext uri="{FF2B5EF4-FFF2-40B4-BE49-F238E27FC236}">
                <a16:creationId xmlns:a16="http://schemas.microsoft.com/office/drawing/2014/main" id="{D9127084-8441-AB49-BD70-22FBDBD77E17}"/>
              </a:ext>
            </a:extLst>
          </p:cNvPr>
          <p:cNvCxnSpPr/>
          <p:nvPr/>
        </p:nvCxnSpPr>
        <p:spPr>
          <a:xfrm>
            <a:off x="4404727" y="5018305"/>
            <a:ext cx="152088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6">
            <a:extLst>
              <a:ext uri="{FF2B5EF4-FFF2-40B4-BE49-F238E27FC236}">
                <a16:creationId xmlns:a16="http://schemas.microsoft.com/office/drawing/2014/main" id="{3645C694-0697-AA41-A79C-C0458F356114}"/>
              </a:ext>
            </a:extLst>
          </p:cNvPr>
          <p:cNvSpPr/>
          <p:nvPr/>
        </p:nvSpPr>
        <p:spPr>
          <a:xfrm>
            <a:off x="2146718" y="3030885"/>
            <a:ext cx="354562" cy="387210"/>
          </a:xfrm>
          <a:prstGeom prst="ellipse">
            <a:avLst/>
          </a:prstGeom>
          <a:noFill/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val 27">
            <a:extLst>
              <a:ext uri="{FF2B5EF4-FFF2-40B4-BE49-F238E27FC236}">
                <a16:creationId xmlns:a16="http://schemas.microsoft.com/office/drawing/2014/main" id="{1E5AF39C-881C-0749-9513-1EE0772C1F24}"/>
              </a:ext>
            </a:extLst>
          </p:cNvPr>
          <p:cNvSpPr/>
          <p:nvPr/>
        </p:nvSpPr>
        <p:spPr>
          <a:xfrm>
            <a:off x="4118587" y="3538456"/>
            <a:ext cx="354562" cy="387210"/>
          </a:xfrm>
          <a:prstGeom prst="ellipse">
            <a:avLst/>
          </a:prstGeom>
          <a:noFill/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Straight Connector 28">
            <a:extLst>
              <a:ext uri="{FF2B5EF4-FFF2-40B4-BE49-F238E27FC236}">
                <a16:creationId xmlns:a16="http://schemas.microsoft.com/office/drawing/2014/main" id="{DCB1A910-FB68-0D47-AB7D-F576A60CA3EF}"/>
              </a:ext>
            </a:extLst>
          </p:cNvPr>
          <p:cNvCxnSpPr/>
          <p:nvPr/>
        </p:nvCxnSpPr>
        <p:spPr>
          <a:xfrm flipV="1">
            <a:off x="2445294" y="4680301"/>
            <a:ext cx="0" cy="3473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31">
            <a:extLst>
              <a:ext uri="{FF2B5EF4-FFF2-40B4-BE49-F238E27FC236}">
                <a16:creationId xmlns:a16="http://schemas.microsoft.com/office/drawing/2014/main" id="{3190BF4F-A6CF-8940-8ADA-8B3F8E1DDDEE}"/>
              </a:ext>
            </a:extLst>
          </p:cNvPr>
          <p:cNvCxnSpPr/>
          <p:nvPr/>
        </p:nvCxnSpPr>
        <p:spPr>
          <a:xfrm flipV="1">
            <a:off x="4417163" y="4670970"/>
            <a:ext cx="0" cy="34733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2725F7D-E004-6747-9DF2-BF32EF421776}"/>
              </a:ext>
            </a:extLst>
          </p:cNvPr>
          <p:cNvSpPr txBox="1"/>
          <p:nvPr/>
        </p:nvSpPr>
        <p:spPr>
          <a:xfrm>
            <a:off x="2501280" y="515010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有一些延迟</a:t>
            </a:r>
          </a:p>
        </p:txBody>
      </p:sp>
    </p:spTree>
    <p:extLst>
      <p:ext uri="{BB962C8B-B14F-4D97-AF65-F5344CB8AC3E}">
        <p14:creationId xmlns:p14="http://schemas.microsoft.com/office/powerpoint/2010/main" val="939409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45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7453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﻿﻿Random Access Memories: Register File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CDF7BF4-0618-AE42-884D-5B9F42992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147" y="1088036"/>
            <a:ext cx="5343297" cy="258026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21822DB-0590-824C-88E6-3C8E94C7E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09" y="3785546"/>
            <a:ext cx="6076674" cy="200761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E777ED5-21A7-A344-918F-DA6D0089AA07}"/>
              </a:ext>
            </a:extLst>
          </p:cNvPr>
          <p:cNvSpPr/>
          <p:nvPr/>
        </p:nvSpPr>
        <p:spPr>
          <a:xfrm>
            <a:off x="5069509" y="3734897"/>
            <a:ext cx="6076674" cy="20076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DEDD8C-55A4-EF41-ABF6-A7CD4C25FFBF}"/>
              </a:ext>
            </a:extLst>
          </p:cNvPr>
          <p:cNvSpPr/>
          <p:nvPr/>
        </p:nvSpPr>
        <p:spPr>
          <a:xfrm>
            <a:off x="5496339" y="1692166"/>
            <a:ext cx="1878496" cy="79261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27A7C87C-CB28-4F40-98C3-0B2B8BBA4F8E}"/>
              </a:ext>
            </a:extLst>
          </p:cNvPr>
          <p:cNvCxnSpPr/>
          <p:nvPr/>
        </p:nvCxnSpPr>
        <p:spPr>
          <a:xfrm>
            <a:off x="6818243" y="2484783"/>
            <a:ext cx="0" cy="12577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EFA6DCB-99F3-E448-9B17-F70136A6FAD7}"/>
              </a:ext>
            </a:extLst>
          </p:cNvPr>
          <p:cNvSpPr txBox="1"/>
          <p:nvPr/>
        </p:nvSpPr>
        <p:spPr>
          <a:xfrm>
            <a:off x="7019381" y="3211969"/>
            <a:ext cx="21146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halkboard" panose="03050602040202020205" pitchFamily="66" charset="0"/>
              </a:rPr>
              <a:t>Clocked Register</a:t>
            </a:r>
            <a:endParaRPr kumimoji="1" lang="zh-CN" altLang="en-US" sz="2000" dirty="0">
              <a:latin typeface="Chalkboard" panose="03050602040202020205" pitchFamily="66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6E423EF-864A-4A43-8E52-248EF0CBE58F}"/>
              </a:ext>
            </a:extLst>
          </p:cNvPr>
          <p:cNvSpPr txBox="1"/>
          <p:nvPr/>
        </p:nvSpPr>
        <p:spPr>
          <a:xfrm>
            <a:off x="504867" y="3563806"/>
            <a:ext cx="2462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Chalkboard" panose="03050602040202020205" pitchFamily="66" charset="0"/>
              </a:rPr>
              <a:t>Combinational Logic</a:t>
            </a:r>
            <a:endParaRPr kumimoji="1" lang="zh-CN" altLang="en-US" sz="2000" dirty="0">
              <a:latin typeface="Chalkboard" panose="03050602040202020205" pitchFamily="66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260267-A75C-D84B-8352-DA5113D03E7C}"/>
              </a:ext>
            </a:extLst>
          </p:cNvPr>
          <p:cNvSpPr/>
          <p:nvPr/>
        </p:nvSpPr>
        <p:spPr>
          <a:xfrm>
            <a:off x="2365515" y="1292087"/>
            <a:ext cx="2136910" cy="169959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E071C312-523E-CE46-9092-FD48CFB6CD99}"/>
              </a:ext>
            </a:extLst>
          </p:cNvPr>
          <p:cNvCxnSpPr/>
          <p:nvPr/>
        </p:nvCxnSpPr>
        <p:spPr>
          <a:xfrm>
            <a:off x="3193774" y="3001781"/>
            <a:ext cx="0" cy="12577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ADCD9451-8330-7440-AE04-4634B6412EFE}"/>
              </a:ext>
            </a:extLst>
          </p:cNvPr>
          <p:cNvSpPr/>
          <p:nvPr/>
        </p:nvSpPr>
        <p:spPr>
          <a:xfrm>
            <a:off x="894523" y="4259533"/>
            <a:ext cx="3091068" cy="241205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445C250-A1DB-8244-AAF6-BE7BDBC56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817" y="4413022"/>
            <a:ext cx="2790686" cy="2116426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22D892D2-FE9F-9743-B2AB-1D2064F6548B}"/>
              </a:ext>
            </a:extLst>
          </p:cNvPr>
          <p:cNvSpPr txBox="1"/>
          <p:nvPr/>
        </p:nvSpPr>
        <p:spPr>
          <a:xfrm>
            <a:off x="5028296" y="6160116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同时读写同一个寄存器？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8A25E7C-294F-584B-9596-5442284E69A3}"/>
              </a:ext>
            </a:extLst>
          </p:cNvPr>
          <p:cNvSpPr txBox="1"/>
          <p:nvPr/>
        </p:nvSpPr>
        <p:spPr>
          <a:xfrm>
            <a:off x="504867" y="3119354"/>
            <a:ext cx="1865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rPr>
              <a:t>with some delay</a:t>
            </a:r>
            <a:endParaRPr kumimoji="1" lang="zh-CN" altLang="en-US" dirty="0">
              <a:solidFill>
                <a:schemeClr val="bg2">
                  <a:lumMod val="75000"/>
                </a:schemeClr>
              </a:solidFill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033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AF1987-95C5-5144-AF6D-9E9636ADC3FA}"/>
              </a:ext>
            </a:extLst>
          </p:cNvPr>
          <p:cNvSpPr/>
          <p:nvPr/>
        </p:nvSpPr>
        <p:spPr>
          <a:xfrm>
            <a:off x="10258094" y="479675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Units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549DD1-78CC-2B41-B001-8F73FC71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7" y="6492875"/>
            <a:ext cx="2743200" cy="365125"/>
          </a:xfrm>
        </p:spPr>
        <p:txBody>
          <a:bodyPr/>
          <a:lstStyle/>
          <a:p>
            <a:fld id="{697F29E1-2E1E-C747-8838-53A453061372}" type="slidenum">
              <a:rPr kumimoji="1" lang="zh-CN" altLang="en-US" smtClean="0">
                <a:latin typeface="Chalkboard" panose="03050602040202020205" pitchFamily="66" charset="0"/>
              </a:rPr>
              <a:t>46</a:t>
            </a:fld>
            <a:endParaRPr kumimoji="1" lang="zh-CN" altLang="en-US">
              <a:latin typeface="Chalkboard" panose="03050602040202020205" pitchFamily="66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4C5EDE-C4A3-DC46-8CBD-A834BD571960}"/>
              </a:ext>
            </a:extLst>
          </p:cNvPr>
          <p:cNvSpPr/>
          <p:nvPr/>
        </p:nvSpPr>
        <p:spPr>
          <a:xfrm>
            <a:off x="10258097" y="0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latin typeface="Chalkboard" panose="03050602040202020205" pitchFamily="66" charset="0"/>
              </a:rPr>
              <a:t>HCL</a:t>
            </a:r>
            <a:endParaRPr kumimoji="1" lang="zh-CN" altLang="en-US" sz="2400" dirty="0">
              <a:latin typeface="Chalkboard" panose="03050602040202020205" pitchFamily="66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D1AC8A-6FC2-7D44-840B-3C4D6DFF83D7}"/>
              </a:ext>
            </a:extLst>
          </p:cNvPr>
          <p:cNvSpPr/>
          <p:nvPr/>
        </p:nvSpPr>
        <p:spPr>
          <a:xfrm>
            <a:off x="10258094" y="963151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bg1"/>
                </a:solidFill>
                <a:latin typeface="Chalkboard" panose="03050602040202020205" pitchFamily="66" charset="0"/>
              </a:rPr>
              <a:t>Combination</a:t>
            </a:r>
            <a:endParaRPr kumimoji="1" lang="zh-CN" altLang="en-US" sz="2400" dirty="0">
              <a:solidFill>
                <a:schemeClr val="bg1"/>
              </a:solidFill>
              <a:latin typeface="Chalkboard" panose="03050602040202020205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FD38D-5A65-4141-9A6D-9A5C6911E9E3}"/>
              </a:ext>
            </a:extLst>
          </p:cNvPr>
          <p:cNvSpPr/>
          <p:nvPr/>
        </p:nvSpPr>
        <p:spPr>
          <a:xfrm>
            <a:off x="10258097" y="1450428"/>
            <a:ext cx="1933903" cy="483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Chalkboard" panose="03050602040202020205" pitchFamily="66" charset="0"/>
              </a:rPr>
              <a:t>Hardware</a:t>
            </a:r>
            <a:endParaRPr kumimoji="1" lang="zh-CN" altLang="en-US" sz="2400" dirty="0">
              <a:solidFill>
                <a:schemeClr val="tx1"/>
              </a:solidFill>
              <a:latin typeface="Chalkboard" panose="03050602040202020205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570AE2-E9B7-8643-9788-DB36ACC3DC40}"/>
              </a:ext>
            </a:extLst>
          </p:cNvPr>
          <p:cNvSpPr txBox="1"/>
          <p:nvPr/>
        </p:nvSpPr>
        <p:spPr>
          <a:xfrm>
            <a:off x="298732" y="429025"/>
            <a:ext cx="66160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Chalkboard" panose="03050602040202020205" pitchFamily="66" charset="0"/>
              </a:rPr>
              <a:t>﻿﻿Random Access Memories: Memory</a:t>
            </a:r>
            <a:endParaRPr kumimoji="1" lang="zh-CN" altLang="en-US" sz="3200" dirty="0">
              <a:latin typeface="Chalkboard" panose="03050602040202020205" pitchFamily="66" charset="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B12EA29-927E-A549-93CF-C6752D0F9A6C}"/>
              </a:ext>
            </a:extLst>
          </p:cNvPr>
          <p:cNvGrpSpPr/>
          <p:nvPr/>
        </p:nvGrpSpPr>
        <p:grpSpPr>
          <a:xfrm>
            <a:off x="455172" y="1540219"/>
            <a:ext cx="8235516" cy="3805337"/>
            <a:chOff x="455172" y="1540219"/>
            <a:chExt cx="8235516" cy="3805337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3D787F36-9EC9-1A4C-A039-8D644D7CC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01311" y="1540219"/>
              <a:ext cx="5189377" cy="3777562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3F3B29D-C480-F746-9232-B40CAF87E6E6}"/>
                </a:ext>
              </a:extLst>
            </p:cNvPr>
            <p:cNvSpPr/>
            <p:nvPr/>
          </p:nvSpPr>
          <p:spPr>
            <a:xfrm>
              <a:off x="3756991" y="2822712"/>
              <a:ext cx="1391478" cy="39756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4367B3C-ADD7-094D-9080-02ADC0F9B4DB}"/>
                </a:ext>
              </a:extLst>
            </p:cNvPr>
            <p:cNvSpPr txBox="1"/>
            <p:nvPr/>
          </p:nvSpPr>
          <p:spPr>
            <a:xfrm>
              <a:off x="455172" y="3038829"/>
              <a:ext cx="24627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>
                  <a:latin typeface="Chalkboard" panose="03050602040202020205" pitchFamily="66" charset="0"/>
                </a:rPr>
                <a:t>Combinational Logic</a:t>
              </a:r>
              <a:endParaRPr kumimoji="1" lang="zh-CN" altLang="en-US" sz="2000" dirty="0">
                <a:latin typeface="Chalkboard" panose="03050602040202020205" pitchFamily="66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B5DA566-BCCE-2645-B461-D6ECC6C8EC9F}"/>
                </a:ext>
              </a:extLst>
            </p:cNvPr>
            <p:cNvSpPr txBox="1"/>
            <p:nvPr/>
          </p:nvSpPr>
          <p:spPr>
            <a:xfrm>
              <a:off x="455172" y="2594377"/>
              <a:ext cx="1865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solidFill>
                    <a:schemeClr val="bg2">
                      <a:lumMod val="75000"/>
                    </a:schemeClr>
                  </a:solidFill>
                  <a:latin typeface="Chalkboard" panose="03050602040202020205" pitchFamily="66" charset="0"/>
                </a:rPr>
                <a:t>with some delay</a:t>
              </a:r>
              <a:endParaRPr kumimoji="1" lang="zh-CN" altLang="en-US" dirty="0">
                <a:solidFill>
                  <a:schemeClr val="bg2">
                    <a:lumMod val="75000"/>
                  </a:schemeClr>
                </a:solidFill>
                <a:latin typeface="Chalkboard" panose="03050602040202020205" pitchFamily="66" charset="0"/>
              </a:endParaRPr>
            </a:p>
          </p:txBody>
        </p: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81D59A29-DBDF-0441-94B4-6C2955729DF3}"/>
                </a:ext>
              </a:extLst>
            </p:cNvPr>
            <p:cNvCxnSpPr>
              <a:cxnSpLocks/>
              <a:endCxn id="17" idx="3"/>
            </p:cNvCxnSpPr>
            <p:nvPr/>
          </p:nvCxnSpPr>
          <p:spPr>
            <a:xfrm flipH="1">
              <a:off x="2917897" y="2963709"/>
              <a:ext cx="83909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85F5CD1-EC1A-354C-9975-C03910BAAC66}"/>
                </a:ext>
              </a:extLst>
            </p:cNvPr>
            <p:cNvSpPr/>
            <p:nvPr/>
          </p:nvSpPr>
          <p:spPr>
            <a:xfrm>
              <a:off x="455172" y="2456813"/>
              <a:ext cx="2462725" cy="1013792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33C9FD-C0EB-1C41-ADC3-F88F1290DACE}"/>
                </a:ext>
              </a:extLst>
            </p:cNvPr>
            <p:cNvSpPr/>
            <p:nvPr/>
          </p:nvSpPr>
          <p:spPr>
            <a:xfrm>
              <a:off x="3756991" y="3528391"/>
              <a:ext cx="1391478" cy="397566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C254860-724C-4B4A-A922-D59CC9F4F6A2}"/>
                </a:ext>
              </a:extLst>
            </p:cNvPr>
            <p:cNvSpPr/>
            <p:nvPr/>
          </p:nvSpPr>
          <p:spPr>
            <a:xfrm>
              <a:off x="1933902" y="4625623"/>
              <a:ext cx="2407740" cy="71993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929C790-A328-774F-8CAB-CB1E9C2B4BEB}"/>
                </a:ext>
              </a:extLst>
            </p:cNvPr>
            <p:cNvSpPr txBox="1"/>
            <p:nvPr/>
          </p:nvSpPr>
          <p:spPr>
            <a:xfrm>
              <a:off x="2052937" y="4803910"/>
              <a:ext cx="21146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dirty="0">
                  <a:latin typeface="Chalkboard" panose="03050602040202020205" pitchFamily="66" charset="0"/>
                </a:rPr>
                <a:t>Clocked Register</a:t>
              </a:r>
              <a:endParaRPr kumimoji="1" lang="zh-CN" altLang="en-US" sz="2000" dirty="0">
                <a:latin typeface="Chalkboard" panose="03050602040202020205" pitchFamily="66" charset="0"/>
              </a:endParaRPr>
            </a:p>
          </p:txBody>
        </p: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219A32A7-B87B-2E4D-A235-2F8A81BED1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7618" y="3925957"/>
              <a:ext cx="0" cy="699666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9691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80138-68DB-A04C-A15B-A851AD8C5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4800" dirty="0">
                <a:latin typeface="Chalkboard" panose="03050602040202020205" pitchFamily="66" charset="0"/>
              </a:rPr>
              <a:t>Thanks for watching!</a:t>
            </a:r>
            <a:endParaRPr kumimoji="1" lang="zh-CN" altLang="en-US" sz="4800" dirty="0">
              <a:latin typeface="Chalkboard" panose="030506020402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660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1673</TotalTime>
  <Words>2463</Words>
  <Application>Microsoft Macintosh PowerPoint</Application>
  <PresentationFormat>Widescreen</PresentationFormat>
  <Paragraphs>820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等线</vt:lpstr>
      <vt:lpstr>等线 Light</vt:lpstr>
      <vt:lpstr>Arial</vt:lpstr>
      <vt:lpstr>Chalkboard</vt:lpstr>
      <vt:lpstr>Courier New</vt:lpstr>
      <vt:lpstr>Wingdings</vt:lpstr>
      <vt:lpstr>Office 主题​​</vt:lpstr>
      <vt:lpstr>Processor Arch: ISA &amp; Logic</vt:lpstr>
      <vt:lpstr>Instruction-Set Architecture (ISA)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Logic and Hardware Unit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for watching!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Processor Arch: ISA &amp; Logic</dc:title>
  <dc:creator>刘 沛雨</dc:creator>
  <cp:lastModifiedBy>刘 沛雨</cp:lastModifiedBy>
  <cp:revision>11</cp:revision>
  <dcterms:created xsi:type="dcterms:W3CDTF">2023-10-16T05:19:50Z</dcterms:created>
  <dcterms:modified xsi:type="dcterms:W3CDTF">2024-10-15T14:35:13Z</dcterms:modified>
</cp:coreProperties>
</file>