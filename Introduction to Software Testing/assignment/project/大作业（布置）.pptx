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7" r:id="rId6"/>
    <p:sldId id="26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356"/>
  </p:normalViewPr>
  <p:slideViewPr>
    <p:cSldViewPr snapToGrid="0" snapToObjects="1">
      <p:cViewPr varScale="1">
        <p:scale>
          <a:sx n="102" d="100"/>
          <a:sy n="102" d="100"/>
        </p:scale>
        <p:origin x="97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2970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478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7607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137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607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241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857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09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616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534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496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1FE6D-1381-1549-84E5-9A4548AFE38C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D97FD-AAAA-AD49-8118-F9F16B3FE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623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大作业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65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307" y="574158"/>
            <a:ext cx="11473841" cy="56028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zh-CN" altLang="en-US" sz="3600" dirty="0"/>
              <a:t>要求：</a:t>
            </a:r>
          </a:p>
          <a:p>
            <a:r>
              <a:rPr kumimoji="1" lang="en-US" altLang="zh-CN" sz="3600" dirty="0"/>
              <a:t>3</a:t>
            </a:r>
            <a:r>
              <a:rPr kumimoji="1" lang="zh-CN" altLang="en-US" sz="3600" dirty="0"/>
              <a:t>人一组，纸质报告和口头报告相结合；明确分工（具体工作描述）</a:t>
            </a:r>
          </a:p>
          <a:p>
            <a:pPr marL="0" indent="0">
              <a:buNone/>
            </a:pPr>
            <a:endParaRPr kumimoji="1" lang="zh-CN" altLang="en-US" sz="3600" dirty="0"/>
          </a:p>
          <a:p>
            <a:pPr marL="0" indent="0">
              <a:buNone/>
            </a:pPr>
            <a:r>
              <a:rPr kumimoji="1" lang="zh-CN" altLang="en-US" sz="3600" dirty="0"/>
              <a:t>时间点：</a:t>
            </a:r>
          </a:p>
          <a:p>
            <a:r>
              <a:rPr kumimoji="1" lang="zh-CN" altLang="en-US" sz="3600" dirty="0"/>
              <a:t>开题报告（</a:t>
            </a:r>
            <a:r>
              <a:rPr kumimoji="1" lang="en-US" altLang="zh-CN" sz="3600" dirty="0"/>
              <a:t>3</a:t>
            </a:r>
            <a:r>
              <a:rPr kumimoji="1" lang="zh-CN" altLang="en-US" sz="3600" dirty="0"/>
              <a:t>分钟）：组队、题目、内容、计划</a:t>
            </a:r>
            <a:endParaRPr kumimoji="1" lang="en-US" altLang="zh-CN" sz="3600" dirty="0"/>
          </a:p>
          <a:p>
            <a:r>
              <a:rPr kumimoji="1" lang="zh-CN" altLang="en-US" sz="3600" dirty="0"/>
              <a:t>中期报告（</a:t>
            </a:r>
            <a:r>
              <a:rPr kumimoji="1" lang="en-US" altLang="zh-CN" sz="3600" dirty="0"/>
              <a:t>5</a:t>
            </a:r>
            <a:r>
              <a:rPr kumimoji="1" lang="zh-CN" altLang="en-US" sz="3600" dirty="0"/>
              <a:t>分钟）和提问：进展、问题</a:t>
            </a:r>
            <a:endParaRPr kumimoji="1" lang="en-US" altLang="zh-CN" sz="3600" dirty="0"/>
          </a:p>
          <a:p>
            <a:r>
              <a:rPr kumimoji="1" lang="zh-CN" altLang="en-US" sz="3600" dirty="0"/>
              <a:t>口头报告（</a:t>
            </a:r>
            <a:r>
              <a:rPr kumimoji="1" lang="en-US" altLang="zh-CN" sz="3600" dirty="0"/>
              <a:t>15</a:t>
            </a:r>
            <a:r>
              <a:rPr kumimoji="1" lang="zh-CN" altLang="en-US" sz="3600" dirty="0"/>
              <a:t>分钟）和答辩（</a:t>
            </a:r>
            <a:r>
              <a:rPr kumimoji="1" lang="en-US" altLang="zh-CN" sz="3600" dirty="0"/>
              <a:t>5</a:t>
            </a:r>
            <a:r>
              <a:rPr kumimoji="1" lang="zh-CN" altLang="en-US" sz="3600" dirty="0"/>
              <a:t>分钟）。</a:t>
            </a:r>
          </a:p>
          <a:p>
            <a:r>
              <a:rPr kumimoji="1" lang="zh-CN" altLang="en-US" sz="3600" dirty="0"/>
              <a:t>纸质报告（不超过</a:t>
            </a:r>
            <a:r>
              <a:rPr kumimoji="1" lang="en-US" altLang="zh-CN" sz="3600" dirty="0"/>
              <a:t>20</a:t>
            </a:r>
            <a:r>
              <a:rPr kumimoji="1" lang="zh-CN" altLang="en-US" sz="3600" dirty="0"/>
              <a:t>页，不含代码）</a:t>
            </a:r>
          </a:p>
          <a:p>
            <a:endParaRPr kumimoji="1" lang="zh-CN" altLang="en-US" sz="3600" dirty="0"/>
          </a:p>
          <a:p>
            <a:pPr marL="0" indent="0">
              <a:buNone/>
            </a:pPr>
            <a:r>
              <a:rPr kumimoji="1" lang="zh-CN" altLang="en-US" sz="3600" dirty="0"/>
              <a:t>提交内容：</a:t>
            </a:r>
          </a:p>
          <a:p>
            <a:r>
              <a:rPr kumimoji="1" lang="zh-CN" altLang="en-US" sz="3600" dirty="0"/>
              <a:t>报告内容：研究问题、过程、结果与分析、思考</a:t>
            </a:r>
          </a:p>
          <a:p>
            <a:r>
              <a:rPr kumimoji="1" lang="zh-CN" altLang="en-US" sz="3600" dirty="0"/>
              <a:t>提交</a:t>
            </a:r>
            <a:r>
              <a:rPr kumimoji="1" lang="en-US" altLang="zh-CN" sz="3600" dirty="0"/>
              <a:t>pdf</a:t>
            </a:r>
            <a:r>
              <a:rPr kumimoji="1" lang="zh-CN" altLang="en-US" sz="3600" dirty="0"/>
              <a:t>报告和分析代码</a:t>
            </a:r>
            <a:endParaRPr kumimoji="1" lang="en-US" altLang="zh-CN" sz="3600" dirty="0"/>
          </a:p>
          <a:p>
            <a:pPr marL="0" indent="0">
              <a:buNone/>
            </a:pPr>
            <a:endParaRPr kumimoji="1" lang="zh-CN" altLang="en-US" sz="3600" dirty="0"/>
          </a:p>
          <a:p>
            <a:pPr marL="0" indent="0">
              <a:buNone/>
            </a:pPr>
            <a:endParaRPr kumimoji="1" lang="en-US" altLang="zh-CN" sz="3600" dirty="0"/>
          </a:p>
          <a:p>
            <a:endParaRPr kumimoji="1"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6368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从下面若干题目任选一项或自提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围绕着</a:t>
            </a:r>
            <a:r>
              <a:rPr kumimoji="1" lang="en-US" altLang="zh-CN" dirty="0"/>
              <a:t>bug</a:t>
            </a:r>
            <a:r>
              <a:rPr kumimoji="1" lang="zh-CN" altLang="en-US" dirty="0"/>
              <a:t>的技术研究，包括测试和调试技术研究</a:t>
            </a:r>
          </a:p>
          <a:p>
            <a:pPr lvl="1"/>
            <a:r>
              <a:rPr kumimoji="1" lang="zh-CN" altLang="en-US" dirty="0"/>
              <a:t>测试输入生成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面向网页</a:t>
            </a:r>
            <a:r>
              <a:rPr kumimoji="1" lang="en-US" altLang="zh-CN" dirty="0"/>
              <a:t>GUI</a:t>
            </a:r>
            <a:r>
              <a:rPr kumimoji="1" lang="zh-CN" altLang="en-US" dirty="0"/>
              <a:t>的测试输入生成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面向安卓</a:t>
            </a:r>
            <a:r>
              <a:rPr kumimoji="1" lang="en-US" altLang="zh-CN" dirty="0"/>
              <a:t>APP</a:t>
            </a:r>
            <a:r>
              <a:rPr kumimoji="1" lang="zh-CN" altLang="en-US" dirty="0"/>
              <a:t>的测试输入生成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面向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代码的单元测试生成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面向文件系统的测试输入生成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……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测试预言生成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面向文件系统的测试预言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面向深度学习编译器的测试预言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……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测试充分性度量</a:t>
            </a:r>
          </a:p>
          <a:p>
            <a:pPr lvl="1"/>
            <a:r>
              <a:rPr kumimoji="1" lang="mr-IN" altLang="zh-CN" dirty="0"/>
              <a:t>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7233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453" y="627597"/>
            <a:ext cx="11575093" cy="56028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kumimoji="1" lang="zh-CN" altLang="en-US" sz="3600" dirty="0"/>
              <a:t>题目：针对</a:t>
            </a:r>
            <a:r>
              <a:rPr kumimoji="1" lang="en-US" altLang="zh-CN" sz="3600" dirty="0"/>
              <a:t>Java</a:t>
            </a:r>
            <a:r>
              <a:rPr kumimoji="1" lang="zh-CN" altLang="en-US" sz="3600" dirty="0"/>
              <a:t>程序的单元测试生成方法</a:t>
            </a:r>
          </a:p>
          <a:p>
            <a:pPr marL="0" indent="0">
              <a:buNone/>
            </a:pPr>
            <a:endParaRPr kumimoji="1" lang="zh-CN" altLang="en-US" sz="3600" dirty="0"/>
          </a:p>
          <a:p>
            <a:pPr marL="0" indent="0">
              <a:buNone/>
            </a:pPr>
            <a:r>
              <a:rPr kumimoji="1" lang="zh-CN" altLang="en-US" sz="3600" dirty="0"/>
              <a:t>描述：</a:t>
            </a:r>
          </a:p>
          <a:p>
            <a:pPr marL="0" indent="0">
              <a:buNone/>
            </a:pPr>
            <a:r>
              <a:rPr kumimoji="1" lang="zh-CN" altLang="en-US" sz="3600" dirty="0"/>
              <a:t>已知</a:t>
            </a:r>
            <a:r>
              <a:rPr kumimoji="1" lang="en-US" altLang="zh-CN" sz="3600" dirty="0"/>
              <a:t>Java</a:t>
            </a:r>
            <a:r>
              <a:rPr kumimoji="1" lang="zh-CN" altLang="en-US" sz="3600" dirty="0"/>
              <a:t>项目代码，提出一种新的测试输入生成方法，使其生成满足方法覆盖的单元测试</a:t>
            </a:r>
          </a:p>
          <a:p>
            <a:pPr marL="0" indent="0">
              <a:buNone/>
            </a:pPr>
            <a:endParaRPr kumimoji="1" lang="zh-CN" altLang="en-US" sz="3600" dirty="0"/>
          </a:p>
          <a:p>
            <a:r>
              <a:rPr kumimoji="1" lang="zh-CN" altLang="en-US" sz="3600" dirty="0"/>
              <a:t>调研</a:t>
            </a:r>
            <a:r>
              <a:rPr kumimoji="1" lang="en-US" altLang="zh-CN" sz="3600" dirty="0"/>
              <a:t>2025/2026</a:t>
            </a:r>
            <a:r>
              <a:rPr kumimoji="1" lang="zh-CN" altLang="en-US" sz="3600" dirty="0"/>
              <a:t>最新发表论文（参考</a:t>
            </a:r>
            <a:r>
              <a:rPr kumimoji="1" lang="en-US" altLang="zh-CN" sz="3600" dirty="0"/>
              <a:t>CCF</a:t>
            </a:r>
            <a:r>
              <a:rPr kumimoji="1" lang="zh-CN" altLang="en-US" sz="3600" dirty="0"/>
              <a:t>推荐列表）</a:t>
            </a:r>
            <a:endParaRPr kumimoji="1" lang="en-US" altLang="zh-CN" sz="3600" dirty="0"/>
          </a:p>
          <a:p>
            <a:r>
              <a:rPr kumimoji="1" lang="zh-CN" altLang="en-US" sz="3600" dirty="0"/>
              <a:t>设计新方法，明确“新”之处；通过实例说明方法的合理之处和具体细节</a:t>
            </a:r>
          </a:p>
          <a:p>
            <a:r>
              <a:rPr kumimoji="1" lang="zh-CN" altLang="en-US" sz="3600" dirty="0"/>
              <a:t>实验：</a:t>
            </a:r>
            <a:endParaRPr kumimoji="1" lang="en-US" altLang="zh-CN" sz="3600" dirty="0"/>
          </a:p>
          <a:p>
            <a:pPr lvl="1"/>
            <a:r>
              <a:rPr kumimoji="1" lang="zh-CN" altLang="en-US" sz="3200" dirty="0"/>
              <a:t>普版：</a:t>
            </a:r>
            <a:r>
              <a:rPr kumimoji="1" lang="en-US" altLang="zh-CN" sz="3200" dirty="0"/>
              <a:t>1-2</a:t>
            </a:r>
            <a:r>
              <a:rPr kumimoji="1" lang="zh-CN" altLang="en-US" sz="3200" dirty="0"/>
              <a:t>个简单示例程序，对比现有技术，验证其有效性和优越性</a:t>
            </a:r>
            <a:endParaRPr kumimoji="1" lang="en-US" altLang="zh-CN" sz="3200" dirty="0"/>
          </a:p>
          <a:p>
            <a:pPr lvl="1"/>
            <a:r>
              <a:rPr kumimoji="1" lang="zh-CN" altLang="en-US" sz="3200" dirty="0"/>
              <a:t>增强版：标准数据集上对比</a:t>
            </a:r>
          </a:p>
        </p:txBody>
      </p:sp>
    </p:spTree>
    <p:extLst>
      <p:ext uri="{BB962C8B-B14F-4D97-AF65-F5344CB8AC3E}">
        <p14:creationId xmlns:p14="http://schemas.microsoft.com/office/powerpoint/2010/main" val="1251840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19D9-48C7-1825-958D-9F2DCC7C2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06F51-72BC-A893-B3F0-AF2B47712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53" y="627597"/>
            <a:ext cx="11575093" cy="5602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3600" dirty="0"/>
              <a:t>实例</a:t>
            </a:r>
            <a:r>
              <a:rPr kumimoji="1" lang="en-US" altLang="zh-CN" sz="3600" dirty="0"/>
              <a:t>1</a:t>
            </a:r>
            <a:r>
              <a:rPr kumimoji="1" lang="zh-CN" altLang="en-US" sz="3600" dirty="0"/>
              <a:t>：基于图文多模态的安卓测试用例迁移</a:t>
            </a:r>
            <a:endParaRPr kumimoji="1" lang="en-US" altLang="zh-CN" sz="3600" dirty="0"/>
          </a:p>
          <a:p>
            <a:pPr marL="0" indent="0">
              <a:buNone/>
            </a:pPr>
            <a:endParaRPr kumimoji="1" lang="zh-CN" altLang="en-US" sz="3600" dirty="0"/>
          </a:p>
          <a:p>
            <a:pPr marL="0" indent="0">
              <a:buNone/>
            </a:pPr>
            <a:r>
              <a:rPr kumimoji="1" lang="zh-CN" altLang="en-US" sz="3600" dirty="0"/>
              <a:t>描述：</a:t>
            </a:r>
          </a:p>
          <a:p>
            <a:pPr marL="0" indent="0">
              <a:buNone/>
            </a:pPr>
            <a:r>
              <a:rPr kumimoji="1" lang="zh-CN" altLang="en-US" sz="3600" dirty="0"/>
              <a:t>将源</a:t>
            </a:r>
            <a:r>
              <a:rPr kumimoji="1" lang="en-US" altLang="zh-CN" sz="3600" dirty="0"/>
              <a:t>APP</a:t>
            </a:r>
            <a:r>
              <a:rPr kumimoji="1" lang="zh-CN" altLang="en-US" sz="3600" dirty="0"/>
              <a:t>上的测试用例迁移到目标</a:t>
            </a:r>
            <a:r>
              <a:rPr kumimoji="1" lang="en-US" altLang="zh-CN" sz="3600" dirty="0"/>
              <a:t>APP</a:t>
            </a:r>
            <a:endParaRPr kumimoji="1" lang="zh-CN" altLang="en-US" sz="3600" dirty="0"/>
          </a:p>
          <a:p>
            <a:pPr marL="0" indent="0">
              <a:buNone/>
            </a:pPr>
            <a:endParaRPr kumimoji="1" lang="zh-CN" altLang="en-US" sz="3600" dirty="0"/>
          </a:p>
          <a:p>
            <a:r>
              <a:rPr kumimoji="1" lang="zh-CN" altLang="en-US" sz="3600" dirty="0"/>
              <a:t>现有的技术迁移成功率</a:t>
            </a:r>
            <a:r>
              <a:rPr kumimoji="1" lang="en-US" altLang="zh-CN" sz="3600" dirty="0"/>
              <a:t>55%</a:t>
            </a:r>
            <a:r>
              <a:rPr kumimoji="1" lang="zh-CN" altLang="en-US" sz="3600" dirty="0"/>
              <a:t>以下</a:t>
            </a:r>
            <a:endParaRPr kumimoji="1" lang="en-US" altLang="zh-CN" sz="3600" dirty="0"/>
          </a:p>
          <a:p>
            <a:r>
              <a:rPr kumimoji="1" lang="zh-CN" altLang="en-US" sz="3600" dirty="0"/>
              <a:t>技术仅利用了文本信息</a:t>
            </a:r>
          </a:p>
        </p:txBody>
      </p:sp>
    </p:spTree>
    <p:extLst>
      <p:ext uri="{BB962C8B-B14F-4D97-AF65-F5344CB8AC3E}">
        <p14:creationId xmlns:p14="http://schemas.microsoft.com/office/powerpoint/2010/main" val="37473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69A2-600F-7800-F4A9-E42F9FC64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F75851-A953-9FFD-9377-088FE226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53" y="627597"/>
            <a:ext cx="11575093" cy="5602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3600" dirty="0"/>
              <a:t>实例</a:t>
            </a:r>
            <a:r>
              <a:rPr kumimoji="1" lang="en-US" altLang="zh-CN" sz="3600" dirty="0"/>
              <a:t>2</a:t>
            </a:r>
            <a:r>
              <a:rPr kumimoji="1" lang="zh-CN" altLang="en-US" sz="3600" dirty="0"/>
              <a:t>：</a:t>
            </a:r>
            <a:r>
              <a:rPr kumimoji="1" lang="en" altLang="zh-CN" sz="3600" dirty="0"/>
              <a:t>FL-Eval: </a:t>
            </a:r>
            <a:r>
              <a:rPr kumimoji="1" lang="zh-CN" altLang="en-US" sz="3600" dirty="0"/>
              <a:t>评估大语言模型的故障定位能力</a:t>
            </a:r>
            <a:endParaRPr kumimoji="1" lang="en-US" altLang="zh-CN" sz="3600" dirty="0"/>
          </a:p>
          <a:p>
            <a:pPr marL="0" indent="0">
              <a:buNone/>
            </a:pPr>
            <a:endParaRPr kumimoji="1" lang="zh-CN" altLang="en-US" sz="3600" dirty="0"/>
          </a:p>
          <a:p>
            <a:pPr marL="0" indent="0">
              <a:buNone/>
            </a:pPr>
            <a:r>
              <a:rPr kumimoji="1" lang="zh-CN" altLang="en-US" sz="3600" dirty="0"/>
              <a:t>描述：</a:t>
            </a:r>
          </a:p>
          <a:p>
            <a:pPr marL="0" indent="0">
              <a:buNone/>
            </a:pPr>
            <a:r>
              <a:rPr kumimoji="1" lang="zh-CN" altLang="en-US" sz="3600" dirty="0"/>
              <a:t>构建数据集，评估主流大语言模型的故障定位能力</a:t>
            </a:r>
            <a:endParaRPr kumimoji="1" lang="en-US" altLang="zh-CN" sz="3600" dirty="0"/>
          </a:p>
          <a:p>
            <a:pPr marL="0" indent="0">
              <a:buNone/>
            </a:pPr>
            <a:endParaRPr kumimoji="1" lang="zh-CN" altLang="en-US" sz="3600" dirty="0"/>
          </a:p>
          <a:p>
            <a:r>
              <a:rPr kumimoji="1" lang="zh-CN" altLang="en-US" sz="3600" dirty="0"/>
              <a:t>现有数据集缺乏</a:t>
            </a:r>
            <a:endParaRPr kumimoji="1" lang="en-US" altLang="zh-CN" sz="3600" dirty="0"/>
          </a:p>
          <a:p>
            <a:r>
              <a:rPr kumimoji="1" lang="zh-CN" altLang="en-US" sz="3600" dirty="0"/>
              <a:t>大语言模型的故障定位能力未知</a:t>
            </a:r>
          </a:p>
        </p:txBody>
      </p:sp>
    </p:spTree>
    <p:extLst>
      <p:ext uri="{BB962C8B-B14F-4D97-AF65-F5344CB8AC3E}">
        <p14:creationId xmlns:p14="http://schemas.microsoft.com/office/powerpoint/2010/main" val="24070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3981</TotalTime>
  <Words>359</Words>
  <Application>Microsoft Macintosh PowerPoint</Application>
  <PresentationFormat>宽屏</PresentationFormat>
  <Paragraphs>52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主题</vt:lpstr>
      <vt:lpstr>大作业</vt:lpstr>
      <vt:lpstr>PowerPoint 演示文稿</vt:lpstr>
      <vt:lpstr>从下面若干题目任选一项或自提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第一次作业</dc:title>
  <dc:creator>Microsoft Office 用户</dc:creator>
  <cp:lastModifiedBy>郝丹</cp:lastModifiedBy>
  <cp:revision>70</cp:revision>
  <dcterms:created xsi:type="dcterms:W3CDTF">2017-09-27T00:21:31Z</dcterms:created>
  <dcterms:modified xsi:type="dcterms:W3CDTF">2026-04-13T00:58:32Z</dcterms:modified>
</cp:coreProperties>
</file>