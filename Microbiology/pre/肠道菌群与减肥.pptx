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4" r:id="rId7"/>
    <p:sldId id="266" r:id="rId8"/>
    <p:sldId id="265" r:id="rId9"/>
    <p:sldId id="267" r:id="rId10"/>
    <p:sldId id="268" r:id="rId11"/>
    <p:sldId id="277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703"/>
  </p:normalViewPr>
  <p:slideViewPr>
    <p:cSldViewPr snapToGrid="0" snapToObjects="1">
      <p:cViewPr varScale="1">
        <p:scale>
          <a:sx n="123" d="100"/>
          <a:sy n="123" d="100"/>
        </p:scale>
        <p:origin x="2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76ACB-BB8E-F14D-8283-E0B87B2A3512}" type="datetimeFigureOut">
              <a:rPr kumimoji="1" lang="zh-CN" altLang="en-US" smtClean="0"/>
              <a:t>2025/5/30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36170-1A96-E84B-BAED-C2E9A817A6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412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microbiology/articles/10.3389/fmicb.2023.1098386/ful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translmed.adg2773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82C7FF"/>
                </a:solidFill>
                <a:effectLst/>
                <a:latin typeface="system-ui"/>
                <a:hlinkClick r:id="rId3" tooltip="View page"/>
              </a:rPr>
              <a:t>Frontiers | Role of gut microbiota in infectious and inflammatory diseases</a:t>
            </a:r>
            <a:endParaRPr lang="en-US" b="1" i="0" u="none" strike="noStrike" dirty="0">
              <a:solidFill>
                <a:srgbClr val="82C7FF"/>
              </a:solidFill>
              <a:effectLst/>
              <a:latin typeface="system-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333333"/>
                </a:solidFill>
                <a:effectLst/>
                <a:latin typeface="IBM Plex Sans" panose="020F0502020204030204" pitchFamily="34" charset="0"/>
              </a:rPr>
              <a:t>Environmental Factors Affecting the Gut Microbiota and Their Consequences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333333"/>
                </a:solidFill>
                <a:effectLst/>
                <a:latin typeface="IBM Plex Sans" panose="020F0502020204030204" pitchFamily="34" charset="0"/>
              </a:rPr>
              <a:t>https://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IBM Plex Sans" panose="020F0502020204030204" pitchFamily="34" charset="0"/>
              </a:rPr>
              <a:t>cellnatsci.com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IBM Plex Sans" panose="020F0502020204030204" pitchFamily="34" charset="0"/>
              </a:rPr>
              <a:t>/2958-695X/article/10-61474-ncs-2024-00009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4989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2773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Kasai, C., Sugimoto, K., 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Moritani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, I. </a:t>
            </a:r>
            <a:r>
              <a:rPr lang="en-US" b="0" i="1" u="none" strike="noStrike" dirty="0">
                <a:solidFill>
                  <a:srgbClr val="333333"/>
                </a:solidFill>
                <a:effectLst/>
                <a:latin typeface="-apple-system"/>
              </a:rPr>
              <a:t>et al.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 Comparison of the gut microbiota composition between obese and non-obese individuals in a Japanese population, as analyzed by terminal restriction fragment length polymorphism and next-generation 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sequencing.</a:t>
            </a:r>
            <a:r>
              <a:rPr lang="en-US" b="0" i="1" u="none" strike="noStrike" dirty="0" err="1">
                <a:solidFill>
                  <a:srgbClr val="333333"/>
                </a:solidFill>
                <a:effectLst/>
                <a:latin typeface="-apple-system"/>
              </a:rPr>
              <a:t>BMC</a:t>
            </a:r>
            <a:r>
              <a:rPr lang="en-US" b="0" i="1" u="none" strike="noStrike" dirty="0">
                <a:solidFill>
                  <a:srgbClr val="333333"/>
                </a:solidFill>
                <a:effectLst/>
                <a:latin typeface="-apple-system"/>
              </a:rPr>
              <a:t> Gastroenterol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en-US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15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, 100 (2015). https://</a:t>
            </a:r>
            <a:r>
              <a:rPr lang="en-US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doi.org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/10.1186/s12876-015-0330-2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K. </a:t>
            </a:r>
            <a:r>
              <a:rPr lang="en-US" sz="1800" u="sng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Mitev</a:t>
            </a:r>
            <a:r>
              <a:rPr lang="en-US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, Vaso </a:t>
            </a:r>
            <a:r>
              <a:rPr lang="en-US" sz="1800" u="sng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Taleski</a:t>
            </a:r>
            <a:r>
              <a:rPr lang="en-US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Association between the Gut Microbiota and Obesity.</a:t>
            </a:r>
            <a:r>
              <a:rPr lang="zh-CN" sz="1800" u="sng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”</a:t>
            </a:r>
            <a:endParaRPr lang="en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648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0636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390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Douwe</a:t>
            </a:r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 F. de Wit </a:t>
            </a:r>
            <a:r>
              <a:rPr lang="en-US" b="0" i="1" u="none" strike="noStrike" dirty="0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et al.</a:t>
            </a:r>
            <a:endParaRPr lang="en-US" b="0" i="0" u="none" strike="noStrike" dirty="0">
              <a:solidFill>
                <a:srgbClr val="595959"/>
              </a:solidFill>
              <a:effectLst/>
              <a:latin typeface="roboto" panose="020F0502020204030204" pitchFamily="34" charset="0"/>
            </a:endParaRPr>
          </a:p>
          <a:p>
            <a:pPr algn="l"/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 </a:t>
            </a:r>
          </a:p>
          <a:p>
            <a:pPr algn="l"/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F0502020204030204" pitchFamily="34" charset="0"/>
              </a:rPr>
              <a:t>,</a:t>
            </a:r>
          </a:p>
          <a:p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Evidence for the contribution of the gut microbiome to obesity and its </a:t>
            </a:r>
            <a:r>
              <a:rPr lang="en-US" b="0" i="0" u="none" strike="noStrike" dirty="0" err="1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reversal.</a:t>
            </a:r>
            <a:r>
              <a:rPr lang="en-US" b="0" i="1" u="none" strike="noStrike" dirty="0" err="1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Sci</a:t>
            </a:r>
            <a:r>
              <a:rPr lang="en-US" b="0" i="1" u="none" strike="noStrike" dirty="0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. Transl. Med.</a:t>
            </a:r>
            <a:r>
              <a:rPr lang="en-US" b="1" i="0" u="none" strike="noStrike" dirty="0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15</a:t>
            </a:r>
            <a:r>
              <a:rPr lang="en-US" b="0" i="0" u="none" strike="noStrike" dirty="0">
                <a:solidFill>
                  <a:srgbClr val="595959"/>
                </a:solidFill>
                <a:effectLst/>
                <a:latin typeface="roboto" panose="02000000000000000000" pitchFamily="2" charset="0"/>
              </a:rPr>
              <a:t>,eadg2773(2023).DOI:</a:t>
            </a:r>
            <a:r>
              <a:rPr lang="en-US" b="0" i="0" u="none" strike="noStrike" dirty="0">
                <a:solidFill>
                  <a:srgbClr val="CA2015"/>
                </a:solidFill>
                <a:effectLst/>
                <a:latin typeface="roboto" panose="02000000000000000000" pitchFamily="2" charset="0"/>
                <a:hlinkClick r:id="rId3"/>
              </a:rPr>
              <a:t>10.1126/scitranslmed.adg2773</a:t>
            </a:r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3787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271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u="none" strike="noStrike" dirty="0">
              <a:solidFill>
                <a:srgbClr val="333333"/>
              </a:solidFill>
              <a:effectLst/>
              <a:latin typeface="IBM Plex Sans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6170-1A96-E84B-BAED-C2E9A817A68E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33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39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CBC1-B711-9B48-9C83-DBF7A53FA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F2A11-BEC8-2843-A92F-5C74FFDD3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CN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E7E9A-AF6D-7449-A1AF-F081251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F2B5-AB47-AD46-A871-80FDD98E01AC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40CF-6F78-6B46-B570-A0A38625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8004-BED1-B744-9CD9-2024242D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273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3E1B-5E60-6C43-B656-FEC63F06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8FCD2-923B-854A-AE6D-8029ADD99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7498B-4044-A844-A7B3-ECA560CB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E0AF-814D-9F48-A071-F5D75D71C59A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9E06B-7D6D-CF42-A783-E5F489E4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33E16-128D-DC45-823F-23BEE83A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8412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8174-F67A-3441-8237-5085CF60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B1971-483A-0247-8F5E-6690E4E1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B6BAC-BB7A-B849-93E3-1A983A17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9F970-C3BC-7746-BA67-8A67981FCD36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1875D-CDC1-7640-AEBD-76B36B7AA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31723-C16B-FD4D-857C-49E149C3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7134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5786-F45F-7B4D-A228-B8931867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B2F34-A9FE-A547-9076-22C8CFB9C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1EC51-251B-004F-AB2A-25F748090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2A372-9798-8645-AAEB-D12C3952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9F231-618B-564F-B185-8DC011C1E3F9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01E05-44DF-674F-AD40-A7D32706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1C8AF-4041-6A49-BF7B-9196792E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5970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C93B-3510-7B49-8E46-F7658227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C886A-ACD8-394F-9077-B27812865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6C498-577A-1B4A-A9F0-AF7BDABBA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CFAA-0565-A540-A115-E19C0D619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777A9-9D89-D64A-8E4B-8D06095B8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DE337-2E93-E04A-95DF-D4DE4E73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A89C-3147-5144-BB44-EDF44E8E71E7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2B5B9-80D2-FC4E-8DC1-0E6CDFEA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6D99E-10C2-4B4B-8CC5-2E96BA78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1365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9375-4220-AF4D-AF5F-339F281F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F8DF5-A5EE-D741-ABA7-B8C2C58B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5A04-64A5-9E48-B50D-348A0CDEF3DA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D87C0-DA90-1F4B-87B9-946CB803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22726-DDD9-B74D-8E42-F2646D46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2449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DA207-6548-B647-AB17-1A8147E0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7129-4393-C846-91EE-E2188F62EDDB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2CC47-FF7C-0946-8EE7-D2F68A49A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20F37-8F95-9248-85C2-4265267C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434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DF9F-97D6-0544-816F-22DF04C1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09ED5-9E8B-6F4F-89B9-C89043039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442BF-431C-4D44-85CC-D9179F1CC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58B7-B41D-A940-8A56-AD1BD971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EAD98-102F-424B-9CD8-2F41F4D7D493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33D52-F89C-5644-A6EE-4E320CCA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8570D-2116-9C4E-9273-73A03A9C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3810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7E38-070A-1548-BF29-7AC56645D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676ED-BD6E-2144-A9AC-F421409FB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3E79B-CB2A-4848-A8E0-F1E1056EE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FFBB3-78B6-574C-942E-BB09BB17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D4CC6-DA70-EB42-8B3C-403CD4FC96B8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225BB-C9B4-0D41-8779-F94017CD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77C73-EB1A-964D-9AAB-FDEFDD5E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461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6A71-9367-1944-A31B-662EB400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2BF7E-F104-5246-AC4C-2DD25EA6C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8B830-F9B1-474F-B30B-A40FCA60D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F5E50-BA50-9945-AC2C-1C0FF38AD474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92B0-499F-7C42-8A56-B8F6ADA69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4853-7251-2849-941C-2F72EAA4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7517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56933-5FA1-DD46-83F0-1A8973C7A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D832B-17F4-1A42-80B4-DE400E9EE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D015E-9EA9-4848-8C73-13C84959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6F83-F711-C241-8A7F-2A04C460F23F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B3214-0899-9740-B6A6-86FE8836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06390-F34E-3944-9E9B-047FACF6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2290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4A715-44B8-D74A-A925-2E1D1041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76E37-A017-4348-B6BB-11E6E13DD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50269-0D88-2748-8EBD-940DE636B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68A2F-454D-6E4F-909A-ECEF1046A795}" type="datetime1">
              <a:rPr kumimoji="1" lang="en-US" altLang="zh-CN" smtClean="0"/>
              <a:t>5/30/25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877EA-8211-7C44-8402-3C110806E0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14258-1A82-F444-B8B0-07B6C6434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689CC-AF78-724C-807D-DE5B105C300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306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mbridge.org/core/books/hunger-winter/introduction/B79B9D43B2DC2E7FA2C1C515D62E067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296A-A7A9-A744-8F69-A5EB9FA13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5400" b="1" dirty="0">
                <a:latin typeface="DengXian" panose="02010600030101010101" pitchFamily="2" charset="-122"/>
                <a:ea typeface="DengXian" panose="02010600030101010101" pitchFamily="2" charset="-122"/>
              </a:rPr>
              <a:t>肠道菌群与减肥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40F40-4C6A-7C4E-8BBB-CB1732300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kumimoji="1"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耿宇恒</a:t>
            </a:r>
            <a:r>
              <a:rPr kumimoji="1"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刘沛雨</a:t>
            </a:r>
            <a:r>
              <a:rPr kumimoji="1" lang="en-US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苗钧涵</a:t>
            </a:r>
            <a:r>
              <a:rPr kumimoji="1" lang="en-US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许慧琳</a:t>
            </a:r>
            <a:r>
              <a:rPr kumimoji="1" lang="en-US" altLang="zh-TW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TW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徐依禾</a:t>
            </a:r>
            <a:endParaRPr kumimoji="1"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7189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3C7A5-8C96-4048-860C-BDD00717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6D8F5-51E8-594B-976C-57E0B220F9ED}"/>
              </a:ext>
            </a:extLst>
          </p:cNvPr>
          <p:cNvSpPr txBox="1"/>
          <p:nvPr/>
        </p:nvSpPr>
        <p:spPr>
          <a:xfrm>
            <a:off x="402524" y="54112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大纲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82E66-F338-6D4B-B065-D6AD8079A906}"/>
              </a:ext>
            </a:extLst>
          </p:cNvPr>
          <p:cNvSpPr txBox="1"/>
          <p:nvPr/>
        </p:nvSpPr>
        <p:spPr>
          <a:xfrm>
            <a:off x="402524" y="1064347"/>
            <a:ext cx="7619812" cy="350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肠道菌群简介</a:t>
            </a:r>
            <a:endParaRPr kumimoji="1" lang="en-US" altLang="zh-CN" sz="2000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科学研究的热门课题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减肥减脂的关注对象</a:t>
            </a:r>
            <a:endParaRPr kumimoji="1"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肠道菌群减肥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实验证据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潜在问题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未来发展方向</a:t>
            </a:r>
            <a:endParaRPr kumimoji="1"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总结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319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AF562-96EF-5F4A-9164-3D391011FBA0}"/>
              </a:ext>
            </a:extLst>
          </p:cNvPr>
          <p:cNvSpPr txBox="1"/>
          <p:nvPr/>
        </p:nvSpPr>
        <p:spPr>
          <a:xfrm>
            <a:off x="402524" y="541127"/>
            <a:ext cx="5030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肠道菌群</a:t>
            </a:r>
            <a:r>
              <a:rPr kumimoji="1" lang="en-US" altLang="zh-CN" sz="2800" dirty="0"/>
              <a:t>: </a:t>
            </a:r>
            <a:r>
              <a:rPr kumimoji="1" lang="zh-CN" altLang="en-US" sz="2800" dirty="0"/>
              <a:t>科学研究的热门课题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58AC05-39B4-F148-A795-EA25FE960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02" y="2396386"/>
            <a:ext cx="2800055" cy="280718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3</a:t>
            </a:fld>
            <a:endParaRPr kumimoji="1"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B49E9-B0E6-654C-AF45-BAB8DDA1DBE9}"/>
              </a:ext>
            </a:extLst>
          </p:cNvPr>
          <p:cNvSpPr txBox="1"/>
          <p:nvPr/>
        </p:nvSpPr>
        <p:spPr>
          <a:xfrm>
            <a:off x="6642600" y="3304358"/>
            <a:ext cx="1911697" cy="1027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CFU/ml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拟杆菌门、厚壁菌门、变形菌门、放线菌门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7A0EA-C028-0A40-A2B3-9FDB95FFB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15" y="4625336"/>
            <a:ext cx="857250" cy="78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0E7000-75F9-564D-9C23-0C3DBFB3A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300" y="3604651"/>
            <a:ext cx="605692" cy="787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6FA864-881A-B248-A08A-3E3FB86F6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24" y="1679475"/>
            <a:ext cx="2026373" cy="11970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610D5C-20F6-2E47-A60A-8F9D97F73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897" y="1674484"/>
            <a:ext cx="1332888" cy="1265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54F2ED-B6B7-4D48-B959-EFB6A2108A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200" y="3507854"/>
            <a:ext cx="1101912" cy="10670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2D1A6C-76BE-AA43-B94B-D7BC78AFF2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2063" y="4577788"/>
            <a:ext cx="883257" cy="787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C3FE48-99AE-7049-9172-1F6AA13F99EF}"/>
              </a:ext>
            </a:extLst>
          </p:cNvPr>
          <p:cNvSpPr txBox="1"/>
          <p:nvPr/>
        </p:nvSpPr>
        <p:spPr>
          <a:xfrm>
            <a:off x="740151" y="293988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影响肠道菌群的常见因素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95899-8BA4-B143-8326-8641C3B49B9A}"/>
              </a:ext>
            </a:extLst>
          </p:cNvPr>
          <p:cNvSpPr txBox="1"/>
          <p:nvPr/>
        </p:nvSpPr>
        <p:spPr>
          <a:xfrm>
            <a:off x="740151" y="552655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影响肠道菌群的其它因素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889E0E3-58C4-8A44-8CB0-C2A249A20C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3540" y="1836300"/>
            <a:ext cx="746423" cy="6697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5BEB9AE-A3D0-0C44-B703-118B7A67CA6A}"/>
              </a:ext>
            </a:extLst>
          </p:cNvPr>
          <p:cNvSpPr txBox="1"/>
          <p:nvPr/>
        </p:nvSpPr>
        <p:spPr>
          <a:xfrm>
            <a:off x="9798798" y="19716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焦虑、抑郁状态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D13CBE4-022F-5C44-8F42-1FF58271E4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9713" y="2693343"/>
            <a:ext cx="528517" cy="71222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5E13EC7-404B-BD48-92AD-E2FA6343AC26}"/>
              </a:ext>
            </a:extLst>
          </p:cNvPr>
          <p:cNvSpPr txBox="1"/>
          <p:nvPr/>
        </p:nvSpPr>
        <p:spPr>
          <a:xfrm>
            <a:off x="9823876" y="288572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心血管疾病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3CB43E-4784-2E48-B1D5-D34AEF3752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8996" y="3604651"/>
            <a:ext cx="672987" cy="72716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5168CE9-7405-E748-B66C-639F035E8555}"/>
              </a:ext>
            </a:extLst>
          </p:cNvPr>
          <p:cNvSpPr txBox="1"/>
          <p:nvPr/>
        </p:nvSpPr>
        <p:spPr>
          <a:xfrm>
            <a:off x="9823876" y="38567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慢阻肺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4573BD0-238F-4A46-9FDC-F13CCC26DA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2277" y="4669285"/>
            <a:ext cx="746423" cy="489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B72E1DE-20D8-0540-924B-67AE1B89FC76}"/>
              </a:ext>
            </a:extLst>
          </p:cNvPr>
          <p:cNvSpPr txBox="1"/>
          <p:nvPr/>
        </p:nvSpPr>
        <p:spPr>
          <a:xfrm>
            <a:off x="9858439" y="470686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非酒精性脂肪肝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222361-9E55-B140-B842-72AE844B8D00}"/>
              </a:ext>
            </a:extLst>
          </p:cNvPr>
          <p:cNvSpPr txBox="1"/>
          <p:nvPr/>
        </p:nvSpPr>
        <p:spPr>
          <a:xfrm>
            <a:off x="8554297" y="550258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肠道菌群影响着身体的方方面面</a:t>
            </a:r>
          </a:p>
        </p:txBody>
      </p:sp>
    </p:spTree>
    <p:extLst>
      <p:ext uri="{BB962C8B-B14F-4D97-AF65-F5344CB8AC3E}">
        <p14:creationId xmlns:p14="http://schemas.microsoft.com/office/powerpoint/2010/main" val="3336900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19" grpId="0"/>
      <p:bldP spid="23" grpId="0"/>
      <p:bldP spid="25" grpId="0"/>
      <p:bldP spid="27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4</a:t>
            </a:fld>
            <a:endParaRPr kumimoji="1" lang="zh-CN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FA952A-309D-324C-856E-359DF7FFA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27" y="1542325"/>
            <a:ext cx="2214819" cy="2960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C3FBC3-947B-B94C-8C83-EA1EF8E0040D}"/>
              </a:ext>
            </a:extLst>
          </p:cNvPr>
          <p:cNvSpPr txBox="1"/>
          <p:nvPr/>
        </p:nvSpPr>
        <p:spPr>
          <a:xfrm>
            <a:off x="628429" y="4720190"/>
            <a:ext cx="1967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“</a:t>
            </a:r>
            <a:r>
              <a:rPr kumimoji="1" lang="zh-CN" altLang="en-CN" sz="1600" dirty="0"/>
              <a:t>胖子菌</a:t>
            </a:r>
            <a:r>
              <a:rPr kumimoji="1" lang="en-US" altLang="zh-CN" sz="1600" dirty="0"/>
              <a:t>”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”</a:t>
            </a:r>
            <a:r>
              <a:rPr kumimoji="1" lang="zh-CN" altLang="en-US" sz="1600" dirty="0"/>
              <a:t>瘦子菌</a:t>
            </a:r>
            <a:r>
              <a:rPr kumimoji="1" lang="en-US" altLang="zh-CN" sz="1600" dirty="0"/>
              <a:t>”</a:t>
            </a:r>
            <a:endParaRPr kumimoji="1" lang="zh-CN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7D6A1-1769-0742-AE5B-D74E1FC66FA3}"/>
              </a:ext>
            </a:extLst>
          </p:cNvPr>
          <p:cNvSpPr txBox="1"/>
          <p:nvPr/>
        </p:nvSpPr>
        <p:spPr>
          <a:xfrm>
            <a:off x="6745578" y="472019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益生菌保健品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ED16D6-23BF-FF4E-B54E-D8B799C00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90" y="1542324"/>
            <a:ext cx="2221037" cy="296022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29FA05E-1FAF-9342-A9F9-DD5A77FCACF1}"/>
              </a:ext>
            </a:extLst>
          </p:cNvPr>
          <p:cNvSpPr txBox="1"/>
          <p:nvPr/>
        </p:nvSpPr>
        <p:spPr>
          <a:xfrm>
            <a:off x="9999396" y="473332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600" dirty="0"/>
              <a:t>干噎酸奶</a:t>
            </a:r>
            <a:endParaRPr kumimoji="1" lang="zh-CN" alt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E0D8AC-9B00-7540-A1EE-72E0BBD37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876" y="1542324"/>
            <a:ext cx="2221037" cy="296022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9E0B25B-7A7C-F34B-8335-7F71A68CDBDF}"/>
              </a:ext>
            </a:extLst>
          </p:cNvPr>
          <p:cNvSpPr txBox="1"/>
          <p:nvPr/>
        </p:nvSpPr>
        <p:spPr>
          <a:xfrm>
            <a:off x="402524" y="541127"/>
            <a:ext cx="5030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肠道菌群</a:t>
            </a:r>
            <a:r>
              <a:rPr kumimoji="1" lang="en-US" altLang="zh-CN" sz="2800" dirty="0"/>
              <a:t>: </a:t>
            </a:r>
            <a:r>
              <a:rPr kumimoji="1" lang="zh-CN" altLang="en-US" sz="2800" dirty="0"/>
              <a:t>减重减脂的关注对象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189A241-AB3B-0949-ACBB-FE177802A1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4083" y="1542324"/>
            <a:ext cx="2220169" cy="29602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0F18986-FC54-8C4F-96D6-B51E0552CBFD}"/>
              </a:ext>
            </a:extLst>
          </p:cNvPr>
          <p:cNvSpPr txBox="1"/>
          <p:nvPr/>
        </p:nvSpPr>
        <p:spPr>
          <a:xfrm>
            <a:off x="3994780" y="4731052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肠道菌群</a:t>
            </a:r>
            <a:r>
              <a:rPr kumimoji="1" lang="zh-CN" altLang="en-CN" sz="1600" dirty="0"/>
              <a:t>移植</a:t>
            </a:r>
            <a:endParaRPr kumimoji="1" lang="zh-CN" alt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5B07BE-26BE-6140-A215-ACD706A4B9ED}"/>
              </a:ext>
            </a:extLst>
          </p:cNvPr>
          <p:cNvSpPr txBox="1"/>
          <p:nvPr/>
        </p:nvSpPr>
        <p:spPr>
          <a:xfrm>
            <a:off x="402524" y="5315675"/>
            <a:ext cx="5551520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越来越多有减肥需求的人们寄希望于调节肠道菌群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solidFill>
                  <a:srgbClr val="FF0000"/>
                </a:solidFill>
              </a:rPr>
              <a:t>肥胖是否真的与肠道菌群有关？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>
                <a:solidFill>
                  <a:srgbClr val="FF0000"/>
                </a:solidFill>
              </a:rPr>
              <a:t>调节肠道菌群是否真的有助于减肥？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1ABA7005-BC2D-FE4C-8958-D81320A08428}"/>
              </a:ext>
            </a:extLst>
          </p:cNvPr>
          <p:cNvSpPr/>
          <p:nvPr/>
        </p:nvSpPr>
        <p:spPr>
          <a:xfrm>
            <a:off x="5416953" y="6120384"/>
            <a:ext cx="1002937" cy="131797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5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6E01FF-1F4C-CC48-9C52-E191628E1A9F}"/>
              </a:ext>
            </a:extLst>
          </p:cNvPr>
          <p:cNvSpPr txBox="1"/>
          <p:nvPr/>
        </p:nvSpPr>
        <p:spPr>
          <a:xfrm>
            <a:off x="6667019" y="5990427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5"/>
                </a:solidFill>
              </a:rPr>
              <a:t>实验证据、潜在问题、未来发展方向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3743E3-F252-2749-AAD3-289B2CECADB2}"/>
              </a:ext>
            </a:extLst>
          </p:cNvPr>
          <p:cNvSpPr txBox="1"/>
          <p:nvPr/>
        </p:nvSpPr>
        <p:spPr>
          <a:xfrm>
            <a:off x="10406107" y="121139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accent3"/>
                </a:solidFill>
              </a:rPr>
              <a:t>内容来自网络</a:t>
            </a:r>
          </a:p>
        </p:txBody>
      </p:sp>
    </p:spTree>
    <p:extLst>
      <p:ext uri="{BB962C8B-B14F-4D97-AF65-F5344CB8AC3E}">
        <p14:creationId xmlns:p14="http://schemas.microsoft.com/office/powerpoint/2010/main" val="970686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31" grpId="0"/>
      <p:bldP spid="34" grpId="0"/>
      <p:bldP spid="36" grpId="0"/>
      <p:bldP spid="39" grpId="0" animBg="1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127746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5</a:t>
            </a:fld>
            <a:endParaRPr kumimoji="1" lang="zh-C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7E335E-264E-6F4C-A014-6C52E6E6188F}"/>
              </a:ext>
            </a:extLst>
          </p:cNvPr>
          <p:cNvGrpSpPr/>
          <p:nvPr/>
        </p:nvGrpSpPr>
        <p:grpSpPr>
          <a:xfrm>
            <a:off x="0" y="6492873"/>
            <a:ext cx="12192000" cy="365127"/>
            <a:chOff x="0" y="6492873"/>
            <a:chExt cx="7604568" cy="365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53E0EF-5221-A042-BA46-7AF289364708}"/>
                </a:ext>
              </a:extLst>
            </p:cNvPr>
            <p:cNvSpPr/>
            <p:nvPr/>
          </p:nvSpPr>
          <p:spPr>
            <a:xfrm>
              <a:off x="0" y="6492875"/>
              <a:ext cx="2534856" cy="3651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实验证据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B9EB9-18BF-1146-99B4-A88621A139FA}"/>
                </a:ext>
              </a:extLst>
            </p:cNvPr>
            <p:cNvSpPr/>
            <p:nvPr/>
          </p:nvSpPr>
          <p:spPr>
            <a:xfrm>
              <a:off x="2534856" y="6492874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潜在问题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72AA77-1142-364C-BEF7-BF104F704058}"/>
                </a:ext>
              </a:extLst>
            </p:cNvPr>
            <p:cNvSpPr/>
            <p:nvPr/>
          </p:nvSpPr>
          <p:spPr>
            <a:xfrm>
              <a:off x="5069712" y="6492873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未来发展方向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5E29B13-8CC1-7042-892F-343AB50A752A}"/>
              </a:ext>
            </a:extLst>
          </p:cNvPr>
          <p:cNvSpPr txBox="1"/>
          <p:nvPr/>
        </p:nvSpPr>
        <p:spPr>
          <a:xfrm>
            <a:off x="226502" y="981398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肥胖个体与健康个体的肠道菌群组成存在显著差异</a:t>
            </a:r>
          </a:p>
        </p:txBody>
      </p:sp>
      <p:pic>
        <p:nvPicPr>
          <p:cNvPr id="1026" name="Picture 2" descr="figure 3">
            <a:extLst>
              <a:ext uri="{FF2B5EF4-FFF2-40B4-BE49-F238E27FC236}">
                <a16:creationId xmlns:a16="http://schemas.microsoft.com/office/drawing/2014/main" id="{874A0C15-115D-9140-A2A9-29A7C7E0F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58" y="1620295"/>
            <a:ext cx="5041469" cy="2703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50E14E-FBE6-FA40-9916-5BAFC5DDB7B3}"/>
              </a:ext>
            </a:extLst>
          </p:cNvPr>
          <p:cNvSpPr txBox="1"/>
          <p:nvPr/>
        </p:nvSpPr>
        <p:spPr>
          <a:xfrm>
            <a:off x="111085" y="4560192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肥胖者体内</a:t>
            </a:r>
            <a:r>
              <a:rPr kumimoji="1" lang="zh-CN" altLang="en-CN" dirty="0">
                <a:latin typeface="Arial" panose="020B0604020202020204" pitchFamily="34" charset="0"/>
                <a:cs typeface="Arial" panose="020B0604020202020204" pitchFamily="34" charset="0"/>
              </a:rPr>
              <a:t>拟杆菌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门（</a:t>
            </a:r>
            <a:r>
              <a:rPr kumimoji="1" lang="en-US" altLang="zh-CN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Bacteroidetes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）比例显著下降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CB483-868B-7D47-8D0F-0272DA5B0792}"/>
              </a:ext>
            </a:extLst>
          </p:cNvPr>
          <p:cNvSpPr txBox="1"/>
          <p:nvPr/>
        </p:nvSpPr>
        <p:spPr>
          <a:xfrm>
            <a:off x="457334" y="542760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0B050"/>
                </a:solidFill>
              </a:rPr>
              <a:t>与胆汁酸代谢相关，参与</a:t>
            </a:r>
            <a:r>
              <a:rPr kumimoji="1" lang="zh-CN" altLang="en-CN" dirty="0">
                <a:solidFill>
                  <a:srgbClr val="00B050"/>
                </a:solidFill>
              </a:rPr>
              <a:t>多糖降解</a:t>
            </a:r>
            <a:r>
              <a:rPr kumimoji="1" lang="zh-CN" altLang="en-US" dirty="0">
                <a:solidFill>
                  <a:srgbClr val="00B050"/>
                </a:solidFill>
              </a:rPr>
              <a:t>与营养吸收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79EBCF-2542-CC42-9737-49C996E03CF6}"/>
              </a:ext>
            </a:extLst>
          </p:cNvPr>
          <p:cNvCxnSpPr/>
          <p:nvPr/>
        </p:nvCxnSpPr>
        <p:spPr>
          <a:xfrm>
            <a:off x="2857991" y="4994823"/>
            <a:ext cx="0" cy="30218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0399151-B6B1-C346-B4C9-BA2DD357D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815" y="1799329"/>
            <a:ext cx="2447825" cy="1402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0FC8DA-C8B3-4443-BBC8-215EF90D2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815" y="3656400"/>
            <a:ext cx="2417572" cy="13384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F097AE-D11F-D340-A58C-97ED0F96A230}"/>
              </a:ext>
            </a:extLst>
          </p:cNvPr>
          <p:cNvSpPr txBox="1"/>
          <p:nvPr/>
        </p:nvSpPr>
        <p:spPr>
          <a:xfrm>
            <a:off x="6579184" y="3275111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obese</a:t>
            </a:r>
            <a:endParaRPr kumimoji="1"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F5FF32-1568-D34B-AA12-98559576DE6A}"/>
              </a:ext>
            </a:extLst>
          </p:cNvPr>
          <p:cNvSpPr txBox="1"/>
          <p:nvPr/>
        </p:nvSpPr>
        <p:spPr>
          <a:xfrm>
            <a:off x="6401148" y="4946423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non-obese</a:t>
            </a:r>
            <a:endParaRPr kumimoji="1"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54E171-515A-E742-839F-CA8E353F8CF9}"/>
              </a:ext>
            </a:extLst>
          </p:cNvPr>
          <p:cNvCxnSpPr>
            <a:cxnSpLocks/>
          </p:cNvCxnSpPr>
          <p:nvPr/>
        </p:nvCxnSpPr>
        <p:spPr>
          <a:xfrm>
            <a:off x="7512689" y="2389632"/>
            <a:ext cx="8754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EB0B83-263E-904C-99C9-54D3F6CECD8D}"/>
              </a:ext>
            </a:extLst>
          </p:cNvPr>
          <p:cNvCxnSpPr>
            <a:cxnSpLocks/>
          </p:cNvCxnSpPr>
          <p:nvPr/>
        </p:nvCxnSpPr>
        <p:spPr>
          <a:xfrm>
            <a:off x="7361112" y="4236720"/>
            <a:ext cx="10269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7D8146A-B4FF-3F47-AD9C-16C93B51BC10}"/>
              </a:ext>
            </a:extLst>
          </p:cNvPr>
          <p:cNvSpPr txBox="1"/>
          <p:nvPr/>
        </p:nvSpPr>
        <p:spPr>
          <a:xfrm>
            <a:off x="8461093" y="2217158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germ-free mouse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DA805A-82B2-AF4E-9811-8D4859FCB3BB}"/>
              </a:ext>
            </a:extLst>
          </p:cNvPr>
          <p:cNvSpPr txBox="1"/>
          <p:nvPr/>
        </p:nvSpPr>
        <p:spPr>
          <a:xfrm>
            <a:off x="8461093" y="4064246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germ-free mouse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E8AA51-B370-C242-BF52-F4453A59E07E}"/>
              </a:ext>
            </a:extLst>
          </p:cNvPr>
          <p:cNvCxnSpPr>
            <a:cxnSpLocks/>
          </p:cNvCxnSpPr>
          <p:nvPr/>
        </p:nvCxnSpPr>
        <p:spPr>
          <a:xfrm>
            <a:off x="10225409" y="2401824"/>
            <a:ext cx="74055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B699FE-FA1E-8C40-A24F-BF883AFE6D16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10241434" y="4233523"/>
            <a:ext cx="724534" cy="31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0F59CFD-BBD0-A342-A401-A519CD479113}"/>
              </a:ext>
            </a:extLst>
          </p:cNvPr>
          <p:cNvSpPr txBox="1"/>
          <p:nvPr/>
        </p:nvSpPr>
        <p:spPr>
          <a:xfrm>
            <a:off x="10965968" y="2232547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obese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2DE5B9-9261-C44C-BCAA-33129BD2ABD2}"/>
              </a:ext>
            </a:extLst>
          </p:cNvPr>
          <p:cNvSpPr txBox="1"/>
          <p:nvPr/>
        </p:nvSpPr>
        <p:spPr>
          <a:xfrm>
            <a:off x="10965968" y="4064246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non-obese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69C3DD-1A35-2F42-8A6D-B4F579147595}"/>
              </a:ext>
            </a:extLst>
          </p:cNvPr>
          <p:cNvSpPr txBox="1"/>
          <p:nvPr/>
        </p:nvSpPr>
        <p:spPr>
          <a:xfrm>
            <a:off x="6096000" y="978816"/>
            <a:ext cx="5545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移植不同类型小鼠的肠道菌群导致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GFM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出现不同表型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DFCDE3-115F-EE49-9BBE-21006253FE07}"/>
              </a:ext>
            </a:extLst>
          </p:cNvPr>
          <p:cNvSpPr txBox="1"/>
          <p:nvPr/>
        </p:nvSpPr>
        <p:spPr>
          <a:xfrm>
            <a:off x="5628903" y="5963902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许多研究均表明肠道菌群的组成和状态与肥胖与否存在相关性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07B81E-6049-864B-A931-A9AEEC495188}"/>
              </a:ext>
            </a:extLst>
          </p:cNvPr>
          <p:cNvSpPr txBox="1"/>
          <p:nvPr/>
        </p:nvSpPr>
        <p:spPr>
          <a:xfrm>
            <a:off x="-196105" y="5919470"/>
            <a:ext cx="610819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Kasai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BMC Gastroenterol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2015.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68CA28-547A-A24C-B278-84B68550169F}"/>
              </a:ext>
            </a:extLst>
          </p:cNvPr>
          <p:cNvSpPr txBox="1"/>
          <p:nvPr/>
        </p:nvSpPr>
        <p:spPr>
          <a:xfrm>
            <a:off x="6235875" y="5338968"/>
            <a:ext cx="619963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i="0" u="none" strike="noStrike" dirty="0" err="1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Mitev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K, </a:t>
            </a:r>
            <a:r>
              <a:rPr lang="en-US" sz="1400" b="0" i="0" u="none" strike="noStrike" dirty="0" err="1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Taleski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V.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Access </a:t>
            </a:r>
            <a:r>
              <a:rPr lang="en-US" sz="1400" b="0" i="1" u="none" strike="noStrike" dirty="0" err="1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Maced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 Med Sci. 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r>
              <a:rPr lang="en-US" sz="1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b="0" i="0" u="none" strike="noStrike" dirty="0"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086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0" grpId="0"/>
      <p:bldP spid="28" grpId="0"/>
      <p:bldP spid="25" grpId="0"/>
      <p:bldP spid="38" grpId="0"/>
      <p:bldP spid="42" grpId="0"/>
      <p:bldP spid="43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127746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7E335E-264E-6F4C-A014-6C52E6E6188F}"/>
              </a:ext>
            </a:extLst>
          </p:cNvPr>
          <p:cNvGrpSpPr/>
          <p:nvPr/>
        </p:nvGrpSpPr>
        <p:grpSpPr>
          <a:xfrm>
            <a:off x="0" y="6492873"/>
            <a:ext cx="12192000" cy="365127"/>
            <a:chOff x="0" y="6492873"/>
            <a:chExt cx="7604568" cy="365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53E0EF-5221-A042-BA46-7AF289364708}"/>
                </a:ext>
              </a:extLst>
            </p:cNvPr>
            <p:cNvSpPr/>
            <p:nvPr/>
          </p:nvSpPr>
          <p:spPr>
            <a:xfrm>
              <a:off x="0" y="6492875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实验证据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B9EB9-18BF-1146-99B4-A88621A139FA}"/>
                </a:ext>
              </a:extLst>
            </p:cNvPr>
            <p:cNvSpPr/>
            <p:nvPr/>
          </p:nvSpPr>
          <p:spPr>
            <a:xfrm>
              <a:off x="2534856" y="6492874"/>
              <a:ext cx="2534856" cy="36512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潜在问题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72AA77-1142-364C-BEF7-BF104F704058}"/>
                </a:ext>
              </a:extLst>
            </p:cNvPr>
            <p:cNvSpPr/>
            <p:nvPr/>
          </p:nvSpPr>
          <p:spPr>
            <a:xfrm>
              <a:off x="5069712" y="6492873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未来发展方向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2C6464-4870-ED43-A7AE-1AE6E699FD2B}"/>
              </a:ext>
            </a:extLst>
          </p:cNvPr>
          <p:cNvSpPr txBox="1"/>
          <p:nvPr/>
        </p:nvSpPr>
        <p:spPr>
          <a:xfrm>
            <a:off x="3695343" y="72822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导致肥胖的因素并非只有肠道菌群</a:t>
            </a:r>
          </a:p>
        </p:txBody>
      </p:sp>
      <p:pic>
        <p:nvPicPr>
          <p:cNvPr id="2050" name="Picture 2" descr="Image result for agouti mouse">
            <a:extLst>
              <a:ext uri="{FF2B5EF4-FFF2-40B4-BE49-F238E27FC236}">
                <a16:creationId xmlns:a16="http://schemas.microsoft.com/office/drawing/2014/main" id="{7435D7F0-F946-1C47-B036-F84CDBDC9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587" y="1645450"/>
            <a:ext cx="3506333" cy="312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C903D4-8283-9C45-9232-B064B2DC0A68}"/>
              </a:ext>
            </a:extLst>
          </p:cNvPr>
          <p:cNvSpPr txBox="1"/>
          <p:nvPr/>
        </p:nvSpPr>
        <p:spPr>
          <a:xfrm>
            <a:off x="2753055" y="496240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Agouti</a:t>
            </a:r>
            <a:endParaRPr kumimoji="1"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71977-486A-CE42-AD3D-3403033EA156}"/>
              </a:ext>
            </a:extLst>
          </p:cNvPr>
          <p:cNvSpPr txBox="1"/>
          <p:nvPr/>
        </p:nvSpPr>
        <p:spPr>
          <a:xfrm>
            <a:off x="7096273" y="4957624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Dutch Hunger Winter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Image result for dutch hunger winter epigenetics">
            <a:extLst>
              <a:ext uri="{FF2B5EF4-FFF2-40B4-BE49-F238E27FC236}">
                <a16:creationId xmlns:a16="http://schemas.microsoft.com/office/drawing/2014/main" id="{51F9A395-D345-4D49-B6D4-D024856772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83"/>
          <a:stretch/>
        </p:blipFill>
        <p:spPr bwMode="auto">
          <a:xfrm>
            <a:off x="6675016" y="1640299"/>
            <a:ext cx="3506332" cy="312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BDF237-6A23-064B-A5EE-C4F52496BE93}"/>
              </a:ext>
            </a:extLst>
          </p:cNvPr>
          <p:cNvSpPr txBox="1"/>
          <p:nvPr/>
        </p:nvSpPr>
        <p:spPr>
          <a:xfrm>
            <a:off x="3538921" y="5561707"/>
            <a:ext cx="4728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i="1" dirty="0"/>
              <a:t>You are what your grandmother ate.</a:t>
            </a:r>
            <a:endParaRPr kumimoji="1" lang="zh-CN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707518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127746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7</a:t>
            </a:fld>
            <a:endParaRPr kumimoji="1" lang="zh-C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7E335E-264E-6F4C-A014-6C52E6E6188F}"/>
              </a:ext>
            </a:extLst>
          </p:cNvPr>
          <p:cNvGrpSpPr/>
          <p:nvPr/>
        </p:nvGrpSpPr>
        <p:grpSpPr>
          <a:xfrm>
            <a:off x="0" y="6492873"/>
            <a:ext cx="12192000" cy="365127"/>
            <a:chOff x="0" y="6492873"/>
            <a:chExt cx="7604568" cy="365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53E0EF-5221-A042-BA46-7AF289364708}"/>
                </a:ext>
              </a:extLst>
            </p:cNvPr>
            <p:cNvSpPr/>
            <p:nvPr/>
          </p:nvSpPr>
          <p:spPr>
            <a:xfrm>
              <a:off x="0" y="6492875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实验证据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B9EB9-18BF-1146-99B4-A88621A139FA}"/>
                </a:ext>
              </a:extLst>
            </p:cNvPr>
            <p:cNvSpPr/>
            <p:nvPr/>
          </p:nvSpPr>
          <p:spPr>
            <a:xfrm>
              <a:off x="2534856" y="6492874"/>
              <a:ext cx="2534856" cy="36512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潜在问题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72AA77-1142-364C-BEF7-BF104F704058}"/>
                </a:ext>
              </a:extLst>
            </p:cNvPr>
            <p:cNvSpPr/>
            <p:nvPr/>
          </p:nvSpPr>
          <p:spPr>
            <a:xfrm>
              <a:off x="5069712" y="6492873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未来发展方向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2C6464-4870-ED43-A7AE-1AE6E699FD2B}"/>
              </a:ext>
            </a:extLst>
          </p:cNvPr>
          <p:cNvSpPr txBox="1"/>
          <p:nvPr/>
        </p:nvSpPr>
        <p:spPr>
          <a:xfrm>
            <a:off x="4310896" y="769120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肠道菌群减肥的“痛点”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47FC7-F484-534E-A98F-698C0AABBC8A}"/>
              </a:ext>
            </a:extLst>
          </p:cNvPr>
          <p:cNvSpPr txBox="1"/>
          <p:nvPr/>
        </p:nvSpPr>
        <p:spPr>
          <a:xfrm>
            <a:off x="1014602" y="4583694"/>
            <a:ext cx="2127505" cy="879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相关性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!= 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因果关系</a:t>
            </a:r>
            <a:endParaRPr kumimoji="1"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谁是因</a:t>
            </a:r>
            <a:r>
              <a:rPr kumimoji="1" lang="zh-CN" altLang="en-CN" dirty="0">
                <a:latin typeface="Arial" panose="020B0604020202020204" pitchFamily="34" charset="0"/>
                <a:cs typeface="Arial" panose="020B0604020202020204" pitchFamily="34" charset="0"/>
              </a:rPr>
              <a:t>谁是果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BC524F-8F01-0E4F-923C-4795E6A89A40}"/>
              </a:ext>
            </a:extLst>
          </p:cNvPr>
          <p:cNvSpPr txBox="1"/>
          <p:nvPr/>
        </p:nvSpPr>
        <p:spPr>
          <a:xfrm>
            <a:off x="4565254" y="4586055"/>
            <a:ext cx="3007554" cy="880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/>
              <a:t>个体差异</a:t>
            </a:r>
            <a:endParaRPr kumimoji="1" lang="en-US" altLang="zh-CN" b="1" dirty="0"/>
          </a:p>
          <a:p>
            <a:pPr algn="ctr">
              <a:lnSpc>
                <a:spcPct val="150000"/>
              </a:lnSpc>
            </a:pPr>
            <a:r>
              <a:rPr kumimoji="1" lang="zh-CN" altLang="en-US" dirty="0"/>
              <a:t>宿主特征往往主导干预效果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2A0919-E307-6346-AF15-E7364F595F20}"/>
              </a:ext>
            </a:extLst>
          </p:cNvPr>
          <p:cNvSpPr txBox="1"/>
          <p:nvPr/>
        </p:nvSpPr>
        <p:spPr>
          <a:xfrm>
            <a:off x="8557043" y="4583694"/>
            <a:ext cx="2954656" cy="880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/>
              <a:t>潜在健康风险</a:t>
            </a:r>
            <a:endParaRPr kumimoji="1" lang="en-US" altLang="zh-CN" b="1" dirty="0"/>
          </a:p>
          <a:p>
            <a:pPr algn="ctr">
              <a:lnSpc>
                <a:spcPct val="150000"/>
              </a:lnSpc>
            </a:pPr>
            <a:r>
              <a:rPr kumimoji="1" lang="zh-CN" altLang="en-US" dirty="0"/>
              <a:t>例如益生菌入血导致败血症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61F7A4-484F-9B4F-8653-447F12D9FC1C}"/>
              </a:ext>
            </a:extLst>
          </p:cNvPr>
          <p:cNvSpPr txBox="1"/>
          <p:nvPr/>
        </p:nvSpPr>
        <p:spPr>
          <a:xfrm>
            <a:off x="4056819" y="5745102"/>
            <a:ext cx="4078361" cy="4654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/>
              <a:t>虚假宣传 缺乏监管</a:t>
            </a:r>
            <a:r>
              <a:rPr kumimoji="1" lang="en-US" altLang="zh-CN" dirty="0"/>
              <a:t>: </a:t>
            </a:r>
            <a:r>
              <a:rPr kumimoji="1" lang="zh-CN" altLang="en-US" dirty="0"/>
              <a:t>活菌数不足</a:t>
            </a:r>
            <a:r>
              <a:rPr kumimoji="1" lang="en-US" altLang="zh-CN" dirty="0"/>
              <a:t>/</a:t>
            </a:r>
            <a:r>
              <a:rPr kumimoji="1" lang="zh-CN" altLang="en-US" dirty="0"/>
              <a:t>超标</a:t>
            </a:r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41AF5A-A6EF-D442-B130-BEFFFB5B8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93" y="1395219"/>
            <a:ext cx="1146293" cy="11492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5FA256-1BE6-4942-902B-8E175632B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860" y="3388560"/>
            <a:ext cx="793116" cy="114920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176C6C-B9D2-A047-BC35-2F6A879FC85D}"/>
              </a:ext>
            </a:extLst>
          </p:cNvPr>
          <p:cNvCxnSpPr/>
          <p:nvPr/>
        </p:nvCxnSpPr>
        <p:spPr>
          <a:xfrm>
            <a:off x="2023872" y="2605388"/>
            <a:ext cx="0" cy="7230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CF23E5-865C-3B4B-91D9-9544BB05E130}"/>
              </a:ext>
            </a:extLst>
          </p:cNvPr>
          <p:cNvCxnSpPr>
            <a:cxnSpLocks/>
          </p:cNvCxnSpPr>
          <p:nvPr/>
        </p:nvCxnSpPr>
        <p:spPr>
          <a:xfrm flipV="1">
            <a:off x="2115312" y="2605388"/>
            <a:ext cx="0" cy="7230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F3B48543-52AA-0649-890E-840745F76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643" y="1785167"/>
            <a:ext cx="1890776" cy="23634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8BE2F7E-2FBA-8D42-AEE8-3B1010302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1882" y="1464680"/>
            <a:ext cx="2132650" cy="308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52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127746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7E335E-264E-6F4C-A014-6C52E6E6188F}"/>
              </a:ext>
            </a:extLst>
          </p:cNvPr>
          <p:cNvGrpSpPr/>
          <p:nvPr/>
        </p:nvGrpSpPr>
        <p:grpSpPr>
          <a:xfrm>
            <a:off x="0" y="6492873"/>
            <a:ext cx="12192000" cy="365127"/>
            <a:chOff x="0" y="6492873"/>
            <a:chExt cx="7604568" cy="3651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53E0EF-5221-A042-BA46-7AF289364708}"/>
                </a:ext>
              </a:extLst>
            </p:cNvPr>
            <p:cNvSpPr/>
            <p:nvPr/>
          </p:nvSpPr>
          <p:spPr>
            <a:xfrm>
              <a:off x="0" y="6492875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实验证据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B9EB9-18BF-1146-99B4-A88621A139FA}"/>
                </a:ext>
              </a:extLst>
            </p:cNvPr>
            <p:cNvSpPr/>
            <p:nvPr/>
          </p:nvSpPr>
          <p:spPr>
            <a:xfrm>
              <a:off x="2534856" y="6492874"/>
              <a:ext cx="2534856" cy="36512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潜在问题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72AA77-1142-364C-BEF7-BF104F704058}"/>
                </a:ext>
              </a:extLst>
            </p:cNvPr>
            <p:cNvSpPr/>
            <p:nvPr/>
          </p:nvSpPr>
          <p:spPr>
            <a:xfrm>
              <a:off x="5069712" y="6492873"/>
              <a:ext cx="2534856" cy="36512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未来发展方向</a:t>
              </a:r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E00F545C-7151-7F4C-9824-E5C4C84B68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78"/>
          <a:stretch/>
        </p:blipFill>
        <p:spPr bwMode="auto">
          <a:xfrm>
            <a:off x="221456" y="336546"/>
            <a:ext cx="7685087" cy="569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1E5302-7676-BB41-B361-F76A9F6834E7}"/>
              </a:ext>
            </a:extLst>
          </p:cNvPr>
          <p:cNvSpPr txBox="1"/>
          <p:nvPr/>
        </p:nvSpPr>
        <p:spPr>
          <a:xfrm>
            <a:off x="8128000" y="970698"/>
            <a:ext cx="4064000" cy="4620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三种主要疗法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CN" dirty="0"/>
              <a:t>粪菌移植</a:t>
            </a:r>
            <a:r>
              <a:rPr kumimoji="1" lang="zh-CN" altLang="en-US" dirty="0"/>
              <a:t>（</a:t>
            </a:r>
            <a:r>
              <a:rPr lang="en-US" altLang="zh-CN" dirty="0">
                <a:solidFill>
                  <a:srgbClr val="333333"/>
                </a:solidFill>
              </a:rPr>
              <a:t>f</a:t>
            </a:r>
            <a:r>
              <a:rPr lang="en-US" b="0" i="0" u="none" strike="noStrike" dirty="0">
                <a:solidFill>
                  <a:srgbClr val="333333"/>
                </a:solidFill>
                <a:effectLst/>
              </a:rPr>
              <a:t>ecal microbiota transplantation</a:t>
            </a:r>
            <a:r>
              <a:rPr lang="en-US" dirty="0">
                <a:solidFill>
                  <a:srgbClr val="333333"/>
                </a:solidFill>
              </a:rPr>
              <a:t>, </a:t>
            </a:r>
            <a:r>
              <a:rPr lang="en-US" b="0" i="0" u="none" strike="noStrike" dirty="0">
                <a:solidFill>
                  <a:srgbClr val="333333"/>
                </a:solidFill>
                <a:effectLst/>
              </a:rPr>
              <a:t>FMT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补充益生菌（</a:t>
            </a:r>
            <a:r>
              <a:rPr kumimoji="1" lang="en-US" altLang="zh-CN" dirty="0"/>
              <a:t>probiotics</a:t>
            </a:r>
            <a:r>
              <a:rPr kumimoji="1" lang="zh-CN" altLang="en-US" dirty="0"/>
              <a:t>）、益生元（</a:t>
            </a:r>
            <a:r>
              <a:rPr kumimoji="1" lang="en-US" altLang="zh-CN" dirty="0"/>
              <a:t>prebiotics</a:t>
            </a:r>
            <a:r>
              <a:rPr kumimoji="1" lang="zh-CN" altLang="en-US" dirty="0"/>
              <a:t>）、后生元（</a:t>
            </a:r>
            <a:r>
              <a:rPr kumimoji="1" lang="en-US" altLang="zh-CN" dirty="0"/>
              <a:t>postbiotics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基因编辑菌株：下一代益生菌与工程菌开发</a:t>
            </a:r>
            <a:endParaRPr kumimoji="1"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dirty="0">
                <a:solidFill>
                  <a:prstClr val="black"/>
                </a:solidFill>
                <a:ea typeface="等线" panose="02010600030101010101" pitchFamily="2" charset="-122"/>
              </a:rPr>
              <a:t>技术特点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等线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个性化</a:t>
            </a:r>
            <a:r>
              <a:rPr kumimoji="1" lang="en-US" altLang="zh-CN" dirty="0"/>
              <a:t>/</a:t>
            </a:r>
            <a:r>
              <a:rPr kumimoji="1" lang="zh-CN" altLang="en-US" dirty="0"/>
              <a:t>定制化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综合疗法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E0E6B-13B2-5349-9A9A-2DEA52DDF98D}"/>
              </a:ext>
            </a:extLst>
          </p:cNvPr>
          <p:cNvSpPr txBox="1"/>
          <p:nvPr/>
        </p:nvSpPr>
        <p:spPr>
          <a:xfrm>
            <a:off x="1009903" y="5939970"/>
            <a:ext cx="610819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Wit DF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 </a:t>
            </a:r>
            <a:r>
              <a:rPr lang="en-US" sz="1400" b="0" i="1" u="none" strike="noStrike" dirty="0" err="1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Transl</a:t>
            </a:r>
            <a:r>
              <a:rPr lang="en-US" sz="1400" b="0" i="1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Med. </a:t>
            </a:r>
            <a:r>
              <a:rPr lang="en-US" sz="14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2023. </a:t>
            </a:r>
          </a:p>
        </p:txBody>
      </p:sp>
    </p:spTree>
    <p:extLst>
      <p:ext uri="{BB962C8B-B14F-4D97-AF65-F5344CB8AC3E}">
        <p14:creationId xmlns:p14="http://schemas.microsoft.com/office/powerpoint/2010/main" val="3345041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AF562-96EF-5F4A-9164-3D391011FBA0}"/>
              </a:ext>
            </a:extLst>
          </p:cNvPr>
          <p:cNvSpPr txBox="1"/>
          <p:nvPr/>
        </p:nvSpPr>
        <p:spPr>
          <a:xfrm>
            <a:off x="402524" y="54112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总结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9</a:t>
            </a:fld>
            <a:endParaRPr kumimoji="1" lang="zh-CN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FB0D72-CA4F-D64B-9A8E-8BDE89789AF6}"/>
              </a:ext>
            </a:extLst>
          </p:cNvPr>
          <p:cNvSpPr txBox="1"/>
          <p:nvPr/>
        </p:nvSpPr>
        <p:spPr>
          <a:xfrm>
            <a:off x="402524" y="1064347"/>
            <a:ext cx="7619812" cy="2958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肠道菌群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组成多样，主要包含</a:t>
            </a:r>
            <a:r>
              <a:rPr kumimoji="1"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拟杆菌门、厚壁菌门、变形菌门、放线菌门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受多种因素影响，同时影响身体的方方面面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800" i="1" dirty="0"/>
              <a:t>We are walking ecosystems. 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肥胖与减肥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肥胖的诱因有很多，肠道菌群可能只是其中之一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总体来看肠道菌群减肥的有关疗法尚不成熟，存在多方面的问题</a:t>
            </a:r>
          </a:p>
        </p:txBody>
      </p:sp>
    </p:spTree>
    <p:extLst>
      <p:ext uri="{BB962C8B-B14F-4D97-AF65-F5344CB8AC3E}">
        <p14:creationId xmlns:p14="http://schemas.microsoft.com/office/powerpoint/2010/main" val="2993774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AF562-96EF-5F4A-9164-3D391011FBA0}"/>
              </a:ext>
            </a:extLst>
          </p:cNvPr>
          <p:cNvSpPr txBox="1"/>
          <p:nvPr/>
        </p:nvSpPr>
        <p:spPr>
          <a:xfrm>
            <a:off x="402524" y="541127"/>
            <a:ext cx="2690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参考文献与资料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256A5-F8D8-414C-89D5-A20DCF2A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6E689CC-AF78-724C-807D-DE5B105C3006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DA5AB-F153-814A-B25B-91CA16192793}"/>
              </a:ext>
            </a:extLst>
          </p:cNvPr>
          <p:cNvSpPr txBox="1"/>
          <p:nvPr/>
        </p:nvSpPr>
        <p:spPr>
          <a:xfrm>
            <a:off x="402524" y="1100923"/>
            <a:ext cx="11033572" cy="5350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Afzaal</a:t>
            </a:r>
            <a:r>
              <a:rPr lang="zh-CN" alt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Human gut microbiota in health and disease: Unveiling the relationship. </a:t>
            </a:r>
            <a:r>
              <a:rPr lang="en-US" sz="160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 Microbiol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2022 Sep 26;13:999001.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Maciel-Fiuza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Role of gut microbiota in infectious and inflammatory diseases.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 Microbiol.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2023 Mar 27;14:1098386.</a:t>
            </a:r>
            <a:endParaRPr kumimoji="1" lang="en-US" sz="1600" b="0" i="0" u="none" strike="noStrike" dirty="0">
              <a:solidFill>
                <a:srgbClr val="21212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Karahan F. Environmental Factors Affecting the Gut Microbiota and Their Consequences.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Nature Cell and Science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2024;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(3):133-140.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Kasai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Comparison of the gut microbiota composition between obese and non-obese individuals in a Japanese population, as analyzed by terminal restriction fragment length polymorphism and next-generation sequencing.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BMC Gastroenterol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2015 Aug 11;15:100.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Mitev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K, </a:t>
            </a: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Taleski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V. Association between the Gut Microbiota and Obesity.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Access </a:t>
            </a:r>
            <a:r>
              <a:rPr lang="en-US" sz="1600" b="0" i="1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Maced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 Med Sci. 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2019 Jun 29;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(12):2050-2056.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Introduction to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The Dutch Hunger Winter</a:t>
            </a:r>
            <a:r>
              <a:rPr lang="zh-CN" altLang="en-US" sz="16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b="0" i="0" u="none" strike="noStrike" dirty="0">
              <a:solidFill>
                <a:srgbClr val="21212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Wit DF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Evidence for the contribution of the gut microbiome to obesity and its reversal. 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 </a:t>
            </a:r>
            <a:r>
              <a:rPr lang="en-US" sz="1600" b="0" i="1" u="none" strike="noStrike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Transl</a:t>
            </a:r>
            <a:r>
              <a:rPr lang="en-US" sz="1600" b="0" i="1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Med. 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2023 Nov 22;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(723). </a:t>
            </a:r>
          </a:p>
        </p:txBody>
      </p:sp>
    </p:spTree>
    <p:extLst>
      <p:ext uri="{BB962C8B-B14F-4D97-AF65-F5344CB8AC3E}">
        <p14:creationId xmlns:p14="http://schemas.microsoft.com/office/powerpoint/2010/main" val="920206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B2C29-6C36-CC44-A825-1EB7BA0CADF3}"/>
              </a:ext>
            </a:extLst>
          </p:cNvPr>
          <p:cNvSpPr txBox="1"/>
          <p:nvPr/>
        </p:nvSpPr>
        <p:spPr>
          <a:xfrm>
            <a:off x="2399176" y="2875002"/>
            <a:ext cx="5810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600" dirty="0"/>
              <a:t>Thank</a:t>
            </a:r>
            <a:r>
              <a:rPr kumimoji="1" lang="zh-CN" altLang="en-US" sz="6600" dirty="0"/>
              <a:t> </a:t>
            </a:r>
            <a:r>
              <a:rPr kumimoji="1" lang="en-US" altLang="zh-CN" sz="6600" dirty="0"/>
              <a:t>you!</a:t>
            </a:r>
            <a:endParaRPr kumimoji="1" lang="zh-CN" altLang="en-US" sz="6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235D95-BECE-4440-B239-5795A302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136" y="2585468"/>
            <a:ext cx="1854887" cy="16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859</Words>
  <Application>Microsoft Macintosh PowerPoint</Application>
  <PresentationFormat>Widescreen</PresentationFormat>
  <Paragraphs>120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-apple-system</vt:lpstr>
      <vt:lpstr>DengXian</vt:lpstr>
      <vt:lpstr>KaiTi</vt:lpstr>
      <vt:lpstr>system-ui</vt:lpstr>
      <vt:lpstr>Arial</vt:lpstr>
      <vt:lpstr>Calibri</vt:lpstr>
      <vt:lpstr>Calibri Light</vt:lpstr>
      <vt:lpstr>IBM Plex Sans</vt:lpstr>
      <vt:lpstr>roboto</vt:lpstr>
      <vt:lpstr>Wingdings</vt:lpstr>
      <vt:lpstr>Office Theme</vt:lpstr>
      <vt:lpstr>肠道菌群与减肥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微生物与减肥</dc:title>
  <dc:creator>刘 沛雨</dc:creator>
  <cp:lastModifiedBy>刘 沛雨</cp:lastModifiedBy>
  <cp:revision>39</cp:revision>
  <dcterms:created xsi:type="dcterms:W3CDTF">2025-05-20T02:17:00Z</dcterms:created>
  <dcterms:modified xsi:type="dcterms:W3CDTF">2025-05-30T05:27:03Z</dcterms:modified>
</cp:coreProperties>
</file>