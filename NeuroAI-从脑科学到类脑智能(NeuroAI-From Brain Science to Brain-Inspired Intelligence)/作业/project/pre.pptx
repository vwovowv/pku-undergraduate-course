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1377" r:id="rId3"/>
    <p:sldId id="1381" r:id="rId4"/>
    <p:sldId id="1383" r:id="rId5"/>
    <p:sldId id="1384" r:id="rId6"/>
    <p:sldId id="1385" r:id="rId7"/>
    <p:sldId id="1395" r:id="rId8"/>
    <p:sldId id="1396" r:id="rId9"/>
    <p:sldId id="1397" r:id="rId10"/>
    <p:sldId id="1389" r:id="rId11"/>
    <p:sldId id="1398" r:id="rId12"/>
    <p:sldId id="1400" r:id="rId13"/>
    <p:sldId id="1401" r:id="rId14"/>
    <p:sldId id="1404" r:id="rId15"/>
    <p:sldId id="1405" r:id="rId16"/>
    <p:sldId id="1406" r:id="rId17"/>
    <p:sldId id="1392" r:id="rId18"/>
    <p:sldId id="277" r:id="rId19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4609"/>
    <a:srgbClr val="C9C9C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59"/>
    <p:restoredTop sz="94397" autoAdjust="0"/>
  </p:normalViewPr>
  <p:slideViewPr>
    <p:cSldViewPr snapToGrid="0" snapToObjects="1">
      <p:cViewPr>
        <p:scale>
          <a:sx n="66" d="100"/>
          <a:sy n="66" d="100"/>
        </p:scale>
        <p:origin x="352" y="1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31E0A4-180A-D54B-AE01-447F5D1F9F06}" type="datetimeFigureOut">
              <a:rPr kumimoji="1" lang="zh-CN" altLang="en-US" smtClean="0"/>
              <a:t>2025/12/21</a:t>
            </a:fld>
            <a:endParaRPr kumimoji="1" lang="zh-CN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en-US" altLang="zh-CN"/>
              <a:t>Click to edit Master text styles</a:t>
            </a:r>
          </a:p>
          <a:p>
            <a:pPr lvl="1"/>
            <a:r>
              <a:rPr kumimoji="1" lang="en-US" altLang="zh-CN"/>
              <a:t>Second level</a:t>
            </a:r>
          </a:p>
          <a:p>
            <a:pPr lvl="2"/>
            <a:r>
              <a:rPr kumimoji="1" lang="en-US" altLang="zh-CN"/>
              <a:t>Third level</a:t>
            </a:r>
          </a:p>
          <a:p>
            <a:pPr lvl="3"/>
            <a:r>
              <a:rPr kumimoji="1" lang="en-US" altLang="zh-CN"/>
              <a:t>Fourth level</a:t>
            </a:r>
          </a:p>
          <a:p>
            <a:pPr lvl="4"/>
            <a:r>
              <a:rPr kumimoji="1" lang="en-US" altLang="zh-CN"/>
              <a:t>Fifth level</a:t>
            </a:r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839031-2824-2048-A7ED-51813629652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592874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122348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97CA6-90C1-0661-49D4-7961C92D7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39F13F5-CD95-3828-4AFA-FE9805DB9F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A464C9A-F369-C357-39DD-FB6DBB9C19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D27ED8E-8323-228D-9F3B-9EC6AEA55E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839031-2824-2048-A7ED-51813629652B}" type="slidenum">
              <a:rPr kumimoji="1" lang="zh-CN" altLang="en-US" smtClean="0"/>
              <a:t>14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765995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A6DFD-E916-4873-17E1-A823F4140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3AB27FB-BE86-677A-DA16-CAD43519F2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3D539C7-9874-5EA7-0B9E-4F9B010302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7D6280B-295D-47BC-6BF6-D212B78A9A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839031-2824-2048-A7ED-51813629652B}" type="slidenum">
              <a:rPr kumimoji="1" lang="zh-CN" altLang="en-US" smtClean="0"/>
              <a:t>15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450744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5469D-BDE0-F07B-1593-DDB182054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073005E-80BF-1698-7EAF-7A7BBC58C1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F9B76B5-AB7F-4F1A-69F3-A03CA0D04B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6E357C4-6A95-251F-E2CA-02D6D4F672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839031-2824-2048-A7ED-51813629652B}" type="slidenum">
              <a:rPr kumimoji="1" lang="zh-CN" altLang="en-US" smtClean="0"/>
              <a:t>16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603263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31AFA-3F81-9E41-BEA3-670943E7B6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en-US" altLang="zh-CN"/>
              <a:t>Click to edit Master title style</a:t>
            </a:r>
            <a:endParaRPr kumimoji="1" lang="zh-CN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FF481B-34E4-C048-A06A-7C807B72C8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en-US" altLang="zh-CN"/>
              <a:t>Click to edit Master subtitle style</a:t>
            </a:r>
            <a:endParaRPr kumimoji="1"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B487FA-662B-B040-BB73-A27B6CDD7F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EFBBD-C40F-C24C-8CB1-B9636E2482F1}" type="datetimeFigureOut">
              <a:rPr kumimoji="1" lang="zh-CN" altLang="en-US" smtClean="0"/>
              <a:t>2025/12/21</a:t>
            </a:fld>
            <a:endParaRPr kumimoji="1"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5FAB3-5C5F-F84B-9F62-27ED5AF623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46EE1B-1942-3B43-9916-204CA6432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22023-E956-3E4F-BFB0-F00BE82F257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763339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B6D91-F36A-594D-BAAE-ED21655E3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Click to edit Master title style</a:t>
            </a:r>
            <a:endParaRPr kumimoji="1"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D262B6-7E48-8A4A-877A-05438B3C2C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en-US" altLang="zh-CN"/>
              <a:t>Click to edit Master text styles</a:t>
            </a:r>
          </a:p>
          <a:p>
            <a:pPr lvl="1"/>
            <a:r>
              <a:rPr kumimoji="1" lang="en-US" altLang="zh-CN"/>
              <a:t>Second level</a:t>
            </a:r>
          </a:p>
          <a:p>
            <a:pPr lvl="2"/>
            <a:r>
              <a:rPr kumimoji="1" lang="en-US" altLang="zh-CN"/>
              <a:t>Third level</a:t>
            </a:r>
          </a:p>
          <a:p>
            <a:pPr lvl="3"/>
            <a:r>
              <a:rPr kumimoji="1" lang="en-US" altLang="zh-CN"/>
              <a:t>Fourth level</a:t>
            </a:r>
          </a:p>
          <a:p>
            <a:pPr lvl="4"/>
            <a:r>
              <a:rPr kumimoji="1" lang="en-US" altLang="zh-CN"/>
              <a:t>Fifth level</a:t>
            </a:r>
            <a:endParaRPr kumimoji="1"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2A758-5FC9-7A4A-82AB-181418C2E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EFBBD-C40F-C24C-8CB1-B9636E2482F1}" type="datetimeFigureOut">
              <a:rPr kumimoji="1" lang="zh-CN" altLang="en-US" smtClean="0"/>
              <a:t>2025/12/21</a:t>
            </a:fld>
            <a:endParaRPr kumimoji="1"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373AC6-555B-6245-9CC5-E44885F5CF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99157F-7E66-EA45-BA53-60D822DB8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22023-E956-3E4F-BFB0-F00BE82F257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784864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260ACD-DB9F-2A45-8EF7-7B8B43DF23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en-US" altLang="zh-CN"/>
              <a:t>Click to edit Master title style</a:t>
            </a:r>
            <a:endParaRPr kumimoji="1"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DF1764-0CEB-4C42-910E-2D98EDD942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en-US" altLang="zh-CN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7E819-5BE7-6845-8BC3-5EBE34A77B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EFBBD-C40F-C24C-8CB1-B9636E2482F1}" type="datetimeFigureOut">
              <a:rPr kumimoji="1" lang="zh-CN" altLang="en-US" smtClean="0"/>
              <a:t>2025/12/21</a:t>
            </a:fld>
            <a:endParaRPr kumimoji="1"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D7897C-7151-1B45-B8A5-884A29AC1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26D852-7A11-5B43-B4FB-6CFFF2E3A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22023-E956-3E4F-BFB0-F00BE82F257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702962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5569C-8CE3-304D-B991-E19B07380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Click to edit Master title style</a:t>
            </a:r>
            <a:endParaRPr kumimoji="1"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6AD1C3-856D-F149-83D6-C25628B892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zh-CN"/>
              <a:t>Click to edit Master text styles</a:t>
            </a:r>
          </a:p>
          <a:p>
            <a:pPr lvl="1"/>
            <a:r>
              <a:rPr kumimoji="1" lang="en-US" altLang="zh-CN"/>
              <a:t>Second level</a:t>
            </a:r>
          </a:p>
          <a:p>
            <a:pPr lvl="2"/>
            <a:r>
              <a:rPr kumimoji="1" lang="en-US" altLang="zh-CN"/>
              <a:t>Third level</a:t>
            </a:r>
          </a:p>
          <a:p>
            <a:pPr lvl="3"/>
            <a:r>
              <a:rPr kumimoji="1" lang="en-US" altLang="zh-CN"/>
              <a:t>Fourth level</a:t>
            </a:r>
          </a:p>
          <a:p>
            <a:pPr lvl="4"/>
            <a:r>
              <a:rPr kumimoji="1" lang="en-US" altLang="zh-CN"/>
              <a:t>Fifth level</a:t>
            </a:r>
            <a:endParaRPr kumimoji="1" lang="zh-CN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B435D2-6D82-0B4B-9736-1855C64FEC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zh-CN"/>
              <a:t>Click to edit Master text styles</a:t>
            </a:r>
          </a:p>
          <a:p>
            <a:pPr lvl="1"/>
            <a:r>
              <a:rPr kumimoji="1" lang="en-US" altLang="zh-CN"/>
              <a:t>Second level</a:t>
            </a:r>
          </a:p>
          <a:p>
            <a:pPr lvl="2"/>
            <a:r>
              <a:rPr kumimoji="1" lang="en-US" altLang="zh-CN"/>
              <a:t>Third level</a:t>
            </a:r>
          </a:p>
          <a:p>
            <a:pPr lvl="3"/>
            <a:r>
              <a:rPr kumimoji="1" lang="en-US" altLang="zh-CN"/>
              <a:t>Fourth level</a:t>
            </a:r>
          </a:p>
          <a:p>
            <a:pPr lvl="4"/>
            <a:r>
              <a:rPr kumimoji="1" lang="en-US" altLang="zh-CN"/>
              <a:t>Fifth level</a:t>
            </a:r>
            <a:endParaRPr kumimoji="1" lang="zh-CN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3E9542-BA0B-8B47-B16E-6FFF061FB6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EFBBD-C40F-C24C-8CB1-B9636E2482F1}" type="datetimeFigureOut">
              <a:rPr kumimoji="1" lang="zh-CN" altLang="en-US" smtClean="0"/>
              <a:t>2025/12/21</a:t>
            </a:fld>
            <a:endParaRPr kumimoji="1"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DB2902-CBF5-364B-B45C-1CD702208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71AB89-11E2-B84E-8D64-5CE5A74AD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22023-E956-3E4F-BFB0-F00BE82F257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857236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CD45D1-A6FF-B141-8335-03603689A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en-US" altLang="zh-CN"/>
              <a:t>Click to edit Master title style</a:t>
            </a:r>
            <a:endParaRPr kumimoji="1"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84DDA1-D75A-CC4C-A6C7-04A9072D7F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zh-CN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A4A8EA-D5D0-BE48-BE83-182ACCFD66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en-US" altLang="zh-CN"/>
              <a:t>Click to edit Master text styles</a:t>
            </a:r>
          </a:p>
          <a:p>
            <a:pPr lvl="1"/>
            <a:r>
              <a:rPr kumimoji="1" lang="en-US" altLang="zh-CN"/>
              <a:t>Second level</a:t>
            </a:r>
          </a:p>
          <a:p>
            <a:pPr lvl="2"/>
            <a:r>
              <a:rPr kumimoji="1" lang="en-US" altLang="zh-CN"/>
              <a:t>Third level</a:t>
            </a:r>
          </a:p>
          <a:p>
            <a:pPr lvl="3"/>
            <a:r>
              <a:rPr kumimoji="1" lang="en-US" altLang="zh-CN"/>
              <a:t>Fourth level</a:t>
            </a:r>
          </a:p>
          <a:p>
            <a:pPr lvl="4"/>
            <a:r>
              <a:rPr kumimoji="1" lang="en-US" altLang="zh-CN"/>
              <a:t>Fifth level</a:t>
            </a:r>
            <a:endParaRPr kumimoji="1" lang="zh-CN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C47238-5726-7240-9287-5B7DD4D115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zh-CN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7608F71-7445-144F-8B26-DBDC828872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en-US" altLang="zh-CN"/>
              <a:t>Click to edit Master text styles</a:t>
            </a:r>
          </a:p>
          <a:p>
            <a:pPr lvl="1"/>
            <a:r>
              <a:rPr kumimoji="1" lang="en-US" altLang="zh-CN"/>
              <a:t>Second level</a:t>
            </a:r>
          </a:p>
          <a:p>
            <a:pPr lvl="2"/>
            <a:r>
              <a:rPr kumimoji="1" lang="en-US" altLang="zh-CN"/>
              <a:t>Third level</a:t>
            </a:r>
          </a:p>
          <a:p>
            <a:pPr lvl="3"/>
            <a:r>
              <a:rPr kumimoji="1" lang="en-US" altLang="zh-CN"/>
              <a:t>Fourth level</a:t>
            </a:r>
          </a:p>
          <a:p>
            <a:pPr lvl="4"/>
            <a:r>
              <a:rPr kumimoji="1" lang="en-US" altLang="zh-CN"/>
              <a:t>Fifth level</a:t>
            </a:r>
            <a:endParaRPr kumimoji="1" lang="zh-CN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998F390-4EBF-FA47-8F06-68652AE904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EFBBD-C40F-C24C-8CB1-B9636E2482F1}" type="datetimeFigureOut">
              <a:rPr kumimoji="1" lang="zh-CN" altLang="en-US" smtClean="0"/>
              <a:t>2025/12/21</a:t>
            </a:fld>
            <a:endParaRPr kumimoji="1" lang="zh-CN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6908594-5E1F-0D4A-B655-69C151AAB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68847A-1C33-0B43-9E21-16D1524D7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22023-E956-3E4F-BFB0-F00BE82F257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5181806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AF8AE-19E7-C046-ACC3-1BA6D9DD4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Click to edit Master title style</a:t>
            </a:r>
            <a:endParaRPr kumimoji="1" lang="zh-CN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BD8A17-670C-6A43-AEF3-63FC4A0C09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EFBBD-C40F-C24C-8CB1-B9636E2482F1}" type="datetimeFigureOut">
              <a:rPr kumimoji="1" lang="zh-CN" altLang="en-US" smtClean="0"/>
              <a:t>2025/12/21</a:t>
            </a:fld>
            <a:endParaRPr kumimoji="1"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EFDC4B-ECB2-2149-BB7F-AF575B2F9C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250DA-D085-0940-BD50-7C0F4FDB2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22023-E956-3E4F-BFB0-F00BE82F257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763140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525A5A8-FCEB-614D-B05A-4B30E9D93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EFBBD-C40F-C24C-8CB1-B9636E2482F1}" type="datetimeFigureOut">
              <a:rPr kumimoji="1" lang="zh-CN" altLang="en-US" smtClean="0"/>
              <a:t>2025/12/21</a:t>
            </a:fld>
            <a:endParaRPr kumimoji="1" lang="zh-CN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7069728-00FB-A248-B7AE-07146DCEC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DC65D-4B1A-C846-B8DB-2BFB6569F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22023-E956-3E4F-BFB0-F00BE82F257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365475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D9BFC2-A307-1546-B7B9-11E8E8B99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zh-CN"/>
              <a:t>Click to edit Master title style</a:t>
            </a:r>
            <a:endParaRPr kumimoji="1"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C42AAA-464A-E940-B60A-23E299D85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en-US" altLang="zh-CN"/>
              <a:t>Click to edit Master text styles</a:t>
            </a:r>
          </a:p>
          <a:p>
            <a:pPr lvl="1"/>
            <a:r>
              <a:rPr kumimoji="1" lang="en-US" altLang="zh-CN"/>
              <a:t>Second level</a:t>
            </a:r>
          </a:p>
          <a:p>
            <a:pPr lvl="2"/>
            <a:r>
              <a:rPr kumimoji="1" lang="en-US" altLang="zh-CN"/>
              <a:t>Third level</a:t>
            </a:r>
          </a:p>
          <a:p>
            <a:pPr lvl="3"/>
            <a:r>
              <a:rPr kumimoji="1" lang="en-US" altLang="zh-CN"/>
              <a:t>Fourth level</a:t>
            </a:r>
          </a:p>
          <a:p>
            <a:pPr lvl="4"/>
            <a:r>
              <a:rPr kumimoji="1" lang="en-US" altLang="zh-CN"/>
              <a:t>Fifth level</a:t>
            </a:r>
            <a:endParaRPr kumimoji="1"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1BCABD-20B9-444C-9582-CB1871DC42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zh-C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A54176-F1EA-EC48-B5A2-F78251A92D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EFBBD-C40F-C24C-8CB1-B9636E2482F1}" type="datetimeFigureOut">
              <a:rPr kumimoji="1" lang="zh-CN" altLang="en-US" smtClean="0"/>
              <a:t>2025/12/21</a:t>
            </a:fld>
            <a:endParaRPr kumimoji="1"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DB239A-59A5-6A45-8BE7-8F3F4BC189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6389AF-1CB2-CA4C-96A7-21CA8EB53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22023-E956-3E4F-BFB0-F00BE82F257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639355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0FECC-3D4B-5B48-9401-F1E00B0D0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zh-CN"/>
              <a:t>Click to edit Master title style</a:t>
            </a:r>
            <a:endParaRPr kumimoji="1" lang="zh-CN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3293897-981C-FD4E-BD73-26600278966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731350-5BD6-6B49-9762-3A02988E41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zh-C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928D96-7939-BA4C-90FE-368F77B114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EFBBD-C40F-C24C-8CB1-B9636E2482F1}" type="datetimeFigureOut">
              <a:rPr kumimoji="1" lang="zh-CN" altLang="en-US" smtClean="0"/>
              <a:t>2025/12/21</a:t>
            </a:fld>
            <a:endParaRPr kumimoji="1"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3B3962-2328-7542-9A75-68C8F12655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8CED89-77BD-0842-BE26-0DD305B5A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22023-E956-3E4F-BFB0-F00BE82F257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535904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F80950-CACC-2240-AABE-D1061E0DA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Click to edit Master title style</a:t>
            </a:r>
            <a:endParaRPr kumimoji="1" lang="zh-CN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5D64B8-2AA5-6041-A163-29EA83D30C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en-US" altLang="zh-CN"/>
              <a:t>Click to edit Master text styles</a:t>
            </a:r>
          </a:p>
          <a:p>
            <a:pPr lvl="1"/>
            <a:r>
              <a:rPr kumimoji="1" lang="en-US" altLang="zh-CN"/>
              <a:t>Second level</a:t>
            </a:r>
          </a:p>
          <a:p>
            <a:pPr lvl="2"/>
            <a:r>
              <a:rPr kumimoji="1" lang="en-US" altLang="zh-CN"/>
              <a:t>Third level</a:t>
            </a:r>
          </a:p>
          <a:p>
            <a:pPr lvl="3"/>
            <a:r>
              <a:rPr kumimoji="1" lang="en-US" altLang="zh-CN"/>
              <a:t>Fourth level</a:t>
            </a:r>
          </a:p>
          <a:p>
            <a:pPr lvl="4"/>
            <a:r>
              <a:rPr kumimoji="1" lang="en-US" altLang="zh-CN"/>
              <a:t>Fifth level</a:t>
            </a:r>
            <a:endParaRPr kumimoji="1"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58FE0A-47E4-CF47-80DD-1EAE3A76C2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EFBBD-C40F-C24C-8CB1-B9636E2482F1}" type="datetimeFigureOut">
              <a:rPr kumimoji="1" lang="zh-CN" altLang="en-US" smtClean="0"/>
              <a:t>2025/12/21</a:t>
            </a:fld>
            <a:endParaRPr kumimoji="1"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E8861A-4686-5543-9FBE-19906FF42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CFDA44-27F6-BC46-AAE3-A0D1B4F9B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22023-E956-3E4F-BFB0-F00BE82F257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232140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A2CC94-8E6B-8749-832F-F2B0D9E5760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en-US" altLang="zh-CN"/>
              <a:t>Click to edit Master title style</a:t>
            </a:r>
            <a:endParaRPr kumimoji="1" lang="zh-CN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2EEF0D-34EB-904C-AA94-E0BB8B4744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en-US" altLang="zh-CN"/>
              <a:t>Click to edit Master text styles</a:t>
            </a:r>
          </a:p>
          <a:p>
            <a:pPr lvl="1"/>
            <a:r>
              <a:rPr kumimoji="1" lang="en-US" altLang="zh-CN"/>
              <a:t>Second level</a:t>
            </a:r>
          </a:p>
          <a:p>
            <a:pPr lvl="2"/>
            <a:r>
              <a:rPr kumimoji="1" lang="en-US" altLang="zh-CN"/>
              <a:t>Third level</a:t>
            </a:r>
          </a:p>
          <a:p>
            <a:pPr lvl="3"/>
            <a:r>
              <a:rPr kumimoji="1" lang="en-US" altLang="zh-CN"/>
              <a:t>Fourth level</a:t>
            </a:r>
          </a:p>
          <a:p>
            <a:pPr lvl="4"/>
            <a:r>
              <a:rPr kumimoji="1" lang="en-US" altLang="zh-CN"/>
              <a:t>Fifth level</a:t>
            </a:r>
            <a:endParaRPr kumimoji="1"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09FD9A-E5C2-0541-A5E9-3AC40B37B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EFBBD-C40F-C24C-8CB1-B9636E2482F1}" type="datetimeFigureOut">
              <a:rPr kumimoji="1" lang="zh-CN" altLang="en-US" smtClean="0"/>
              <a:t>2025/12/21</a:t>
            </a:fld>
            <a:endParaRPr kumimoji="1"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85C683-E666-204F-9FF6-0F0D3AE2E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8DC142-1892-C44F-9A12-7DC1731F8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22023-E956-3E4F-BFB0-F00BE82F257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469727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2053C91-D45C-EE48-AA2A-E1FE0E3BE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zh-CN"/>
              <a:t>Click to edit Master title style</a:t>
            </a:r>
            <a:endParaRPr kumimoji="1"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906CAB-0DC7-2442-ADA9-9404F35679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zh-CN"/>
              <a:t>Click to edit Master text styles</a:t>
            </a:r>
          </a:p>
          <a:p>
            <a:pPr lvl="1"/>
            <a:r>
              <a:rPr kumimoji="1" lang="en-US" altLang="zh-CN"/>
              <a:t>Second level</a:t>
            </a:r>
          </a:p>
          <a:p>
            <a:pPr lvl="2"/>
            <a:r>
              <a:rPr kumimoji="1" lang="en-US" altLang="zh-CN"/>
              <a:t>Third level</a:t>
            </a:r>
          </a:p>
          <a:p>
            <a:pPr lvl="3"/>
            <a:r>
              <a:rPr kumimoji="1" lang="en-US" altLang="zh-CN"/>
              <a:t>Fourth level</a:t>
            </a:r>
          </a:p>
          <a:p>
            <a:pPr lvl="4"/>
            <a:r>
              <a:rPr kumimoji="1" lang="en-US" altLang="zh-CN"/>
              <a:t>Fifth level</a:t>
            </a:r>
            <a:endParaRPr kumimoji="1"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CA93D2-DD82-A744-BDA8-D3B8BBD9C4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0EFBBD-C40F-C24C-8CB1-B9636E2482F1}" type="datetimeFigureOut">
              <a:rPr kumimoji="1" lang="zh-CN" altLang="en-US" smtClean="0"/>
              <a:t>2025/12/21</a:t>
            </a:fld>
            <a:endParaRPr kumimoji="1"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4A3BA3-871E-C74D-A372-7CAC09074D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2B643C-2C74-C94B-A13D-F5A727A222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522023-E956-3E4F-BFB0-F00BE82F257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06665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26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8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6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jp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F53F7-14A7-E740-B5E2-36C20736F2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9743" y="823404"/>
            <a:ext cx="11872511" cy="2387600"/>
          </a:xfrm>
        </p:spPr>
        <p:txBody>
          <a:bodyPr>
            <a:normAutofit/>
          </a:bodyPr>
          <a:lstStyle/>
          <a:p>
            <a:r>
              <a:rPr lang="en-US" altLang="zh-CN" sz="5400" b="1" dirty="0"/>
              <a:t>Instruct-CLIP (I-CLIP)</a:t>
            </a:r>
            <a:endParaRPr lang="en-US" sz="54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06C44D-EF52-3E45-B5A7-9F0C333C38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26638" y="3429000"/>
            <a:ext cx="7538720" cy="201123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Improving Instruction-Guided </a:t>
            </a:r>
            <a:r>
              <a:rPr lang="en-US" b="1" dirty="0"/>
              <a:t>Image Editing</a:t>
            </a:r>
            <a:r>
              <a:rPr lang="en-US" dirty="0"/>
              <a:t>  with Automated Data Refinement Using Contrastive Learning</a:t>
            </a:r>
          </a:p>
          <a:p>
            <a:pPr>
              <a:lnSpc>
                <a:spcPct val="150000"/>
              </a:lnSpc>
            </a:pPr>
            <a:r>
              <a:rPr lang="en-US" sz="2000" dirty="0" err="1">
                <a:latin typeface="KaiTi" panose="02010609060101010101" pitchFamily="49" charset="-122"/>
                <a:ea typeface="KaiTi" panose="02010609060101010101" pitchFamily="49" charset="-122"/>
              </a:rPr>
              <a:t>刘沛雨</a:t>
            </a:r>
            <a:r>
              <a:rPr lang="zh-CN" altLang="en-US" sz="2000" dirty="0">
                <a:latin typeface="KaiTi" panose="02010609060101010101" pitchFamily="49" charset="-122"/>
                <a:ea typeface="KaiTi" panose="02010609060101010101" pitchFamily="49" charset="-122"/>
              </a:rPr>
              <a:t> </a:t>
            </a:r>
            <a:r>
              <a:rPr lang="zh-CN" altLang="en-CN" sz="2000" dirty="0">
                <a:latin typeface="KaiTi" panose="02010609060101010101" pitchFamily="49" charset="-122"/>
                <a:ea typeface="KaiTi" panose="02010609060101010101" pitchFamily="49" charset="-122"/>
              </a:rPr>
              <a:t>张家轩</a:t>
            </a:r>
            <a:endParaRPr lang="en-US" sz="2000" dirty="0">
              <a:latin typeface="KaiTi" panose="02010609060101010101" pitchFamily="49" charset="-122"/>
              <a:ea typeface="KaiTi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635392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A48480B-AD5F-BA40-82A1-2990A0C60BFB}"/>
              </a:ext>
            </a:extLst>
          </p:cNvPr>
          <p:cNvSpPr txBox="1"/>
          <p:nvPr/>
        </p:nvSpPr>
        <p:spPr>
          <a:xfrm>
            <a:off x="268438" y="648101"/>
            <a:ext cx="4533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CN" altLang="zh-CN" sz="3200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Outline</a:t>
            </a:r>
            <a:endParaRPr kumimoji="1" lang="zh-CN" altLang="en-US" sz="3200" dirty="0">
              <a:latin typeface="Calibri" panose="020F0502020204030204" pitchFamily="34" charset="0"/>
              <a:ea typeface="SimHe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C9C7293-F103-D64C-AE53-5094C8270DC8}"/>
              </a:ext>
            </a:extLst>
          </p:cNvPr>
          <p:cNvSpPr txBox="1"/>
          <p:nvPr/>
        </p:nvSpPr>
        <p:spPr>
          <a:xfrm>
            <a:off x="268438" y="1232876"/>
            <a:ext cx="1966500" cy="21268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Introduction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Motivation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Methods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Results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Improvements</a:t>
            </a:r>
          </a:p>
        </p:txBody>
      </p:sp>
    </p:spTree>
    <p:extLst>
      <p:ext uri="{BB962C8B-B14F-4D97-AF65-F5344CB8AC3E}">
        <p14:creationId xmlns:p14="http://schemas.microsoft.com/office/powerpoint/2010/main" val="34430999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A48480B-AD5F-BA40-82A1-2990A0C60BFB}"/>
              </a:ext>
            </a:extLst>
          </p:cNvPr>
          <p:cNvSpPr txBox="1"/>
          <p:nvPr/>
        </p:nvSpPr>
        <p:spPr>
          <a:xfrm>
            <a:off x="268438" y="648101"/>
            <a:ext cx="4533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CN" altLang="zh-CN" sz="3200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Outline</a:t>
            </a:r>
            <a:endParaRPr kumimoji="1" lang="zh-CN" altLang="en-US" sz="3200" dirty="0">
              <a:latin typeface="Calibri" panose="020F0502020204030204" pitchFamily="34" charset="0"/>
              <a:ea typeface="SimHe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C9C7293-F103-D64C-AE53-5094C8270DC8}"/>
              </a:ext>
            </a:extLst>
          </p:cNvPr>
          <p:cNvSpPr txBox="1"/>
          <p:nvPr/>
        </p:nvSpPr>
        <p:spPr>
          <a:xfrm>
            <a:off x="268438" y="1232876"/>
            <a:ext cx="1966500" cy="21268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Introduction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Motivation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Methods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Results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Improvements</a:t>
            </a:r>
          </a:p>
        </p:txBody>
      </p:sp>
    </p:spTree>
    <p:extLst>
      <p:ext uri="{BB962C8B-B14F-4D97-AF65-F5344CB8AC3E}">
        <p14:creationId xmlns:p14="http://schemas.microsoft.com/office/powerpoint/2010/main" val="12320947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B05D0C-86BB-8043-9E7D-8D93E5387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4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48480B-AD5F-BA40-82A1-2990A0C60BFB}"/>
              </a:ext>
            </a:extLst>
          </p:cNvPr>
          <p:cNvSpPr txBox="1"/>
          <p:nvPr/>
        </p:nvSpPr>
        <p:spPr>
          <a:xfrm>
            <a:off x="268438" y="648101"/>
            <a:ext cx="727223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200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Motivation</a:t>
            </a:r>
            <a:endParaRPr kumimoji="1" lang="zh-CN" altLang="en-US" sz="3200" dirty="0">
              <a:latin typeface="Calibri" panose="020F0502020204030204" pitchFamily="34" charset="0"/>
              <a:ea typeface="SimHe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FD7C61-68AA-1944-AE60-4E7F34BA963D}"/>
              </a:ext>
            </a:extLst>
          </p:cNvPr>
          <p:cNvSpPr txBox="1"/>
          <p:nvPr/>
        </p:nvSpPr>
        <p:spPr>
          <a:xfrm>
            <a:off x="268438" y="1232876"/>
            <a:ext cx="8299067" cy="8803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DL-based, instruction-guided image editing needs large-scale, high-quality datasets.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Generating paired data: </a:t>
            </a:r>
            <a:r>
              <a:rPr kumimoji="1" lang="en-US" altLang="zh-CN" i="1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(</a:t>
            </a:r>
            <a:r>
              <a:rPr kumimoji="1" lang="en-US" altLang="zh-CN" i="1" dirty="0">
                <a:solidFill>
                  <a:schemeClr val="accent1"/>
                </a:solidFill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original image</a:t>
            </a:r>
            <a:r>
              <a:rPr kumimoji="1" lang="en-US" altLang="zh-CN" i="1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, </a:t>
            </a:r>
            <a:r>
              <a:rPr kumimoji="1" lang="en-US" altLang="zh-CN" i="1" dirty="0">
                <a:solidFill>
                  <a:schemeClr val="accent1"/>
                </a:solidFill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instruction</a:t>
            </a:r>
            <a:r>
              <a:rPr kumimoji="1" lang="en-US" altLang="zh-CN" i="1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, </a:t>
            </a:r>
            <a:r>
              <a:rPr kumimoji="1" lang="en-US" altLang="zh-CN" i="1" dirty="0">
                <a:solidFill>
                  <a:schemeClr val="accent1"/>
                </a:solidFill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edited image</a:t>
            </a:r>
            <a:r>
              <a:rPr kumimoji="1" lang="en-US" altLang="zh-CN" i="1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).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4385F19-E219-1841-ACE1-043DCD736C9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8516" r="44145" b="36648"/>
          <a:stretch/>
        </p:blipFill>
        <p:spPr>
          <a:xfrm>
            <a:off x="455323" y="2235200"/>
            <a:ext cx="7085345" cy="203195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32FE0D9-C409-8A41-978C-2BBAC4E8862E}"/>
              </a:ext>
            </a:extLst>
          </p:cNvPr>
          <p:cNvSpPr txBox="1"/>
          <p:nvPr/>
        </p:nvSpPr>
        <p:spPr>
          <a:xfrm>
            <a:off x="7540668" y="2235200"/>
            <a:ext cx="4228209" cy="792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kumimoji="1" lang="en-US" altLang="zh-CN" sz="1600" dirty="0"/>
              <a:t>Finetune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LLMs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to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generate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edited captions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kumimoji="1" lang="en-US" altLang="zh-CN" sz="1600" i="1" dirty="0"/>
              <a:t>(</a:t>
            </a:r>
            <a:r>
              <a:rPr kumimoji="1" lang="en-US" altLang="zh-CN" sz="1600" i="1" dirty="0">
                <a:solidFill>
                  <a:srgbClr val="C00000"/>
                </a:solidFill>
              </a:rPr>
              <a:t>original caption</a:t>
            </a:r>
            <a:r>
              <a:rPr kumimoji="1" lang="en-US" altLang="zh-CN" sz="1600" i="1" dirty="0"/>
              <a:t>,</a:t>
            </a:r>
            <a:r>
              <a:rPr kumimoji="1" lang="zh-CN" altLang="en-US" sz="1600" i="1" dirty="0"/>
              <a:t> </a:t>
            </a:r>
            <a:r>
              <a:rPr kumimoji="1" lang="en-US" altLang="zh-CN" sz="1600" i="1" dirty="0">
                <a:solidFill>
                  <a:schemeClr val="accent1"/>
                </a:solidFill>
              </a:rPr>
              <a:t>instruction</a:t>
            </a:r>
            <a:r>
              <a:rPr kumimoji="1" lang="en-US" altLang="zh-CN" sz="1600" i="1" dirty="0"/>
              <a:t>, </a:t>
            </a:r>
            <a:r>
              <a:rPr kumimoji="1" lang="en-US" altLang="zh-CN" sz="1600" i="1" dirty="0">
                <a:solidFill>
                  <a:srgbClr val="C00000"/>
                </a:solidFill>
              </a:rPr>
              <a:t>edited caption</a:t>
            </a:r>
            <a:r>
              <a:rPr kumimoji="1" lang="en-US" altLang="zh-CN" sz="1600" i="1" dirty="0"/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2C151C6-DC1C-C344-9DA4-48DCFE5A3570}"/>
              </a:ext>
            </a:extLst>
          </p:cNvPr>
          <p:cNvSpPr txBox="1"/>
          <p:nvPr/>
        </p:nvSpPr>
        <p:spPr>
          <a:xfrm>
            <a:off x="7540668" y="3105043"/>
            <a:ext cx="4332957" cy="11621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kumimoji="1" lang="en-US" altLang="zh-CN" sz="1600" i="1" dirty="0">
                <a:solidFill>
                  <a:srgbClr val="C00000"/>
                </a:solidFill>
              </a:rPr>
              <a:t>original caption</a:t>
            </a:r>
            <a:r>
              <a:rPr kumimoji="1" lang="en-US" altLang="zh-CN" sz="1600" i="1" dirty="0"/>
              <a:t>		</a:t>
            </a:r>
            <a:r>
              <a:rPr kumimoji="1" lang="en-US" altLang="zh-CN" sz="1600" i="1" dirty="0">
                <a:solidFill>
                  <a:schemeClr val="accent1"/>
                </a:solidFill>
              </a:rPr>
              <a:t>original image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kumimoji="1" lang="en-US" altLang="zh-CN" sz="1600" i="1" dirty="0">
                <a:solidFill>
                  <a:srgbClr val="C00000"/>
                </a:solidFill>
              </a:rPr>
              <a:t>edited caption</a:t>
            </a:r>
            <a:r>
              <a:rPr kumimoji="1" lang="en-US" altLang="zh-CN" sz="1600" i="1" dirty="0"/>
              <a:t>		</a:t>
            </a:r>
            <a:r>
              <a:rPr kumimoji="1" lang="en-US" altLang="zh-CN" sz="1600" i="1" dirty="0">
                <a:solidFill>
                  <a:schemeClr val="accent1"/>
                </a:solidFill>
              </a:rPr>
              <a:t>edited image</a:t>
            </a:r>
            <a:endParaRPr kumimoji="1" lang="en-US" altLang="zh-CN" sz="1600" dirty="0">
              <a:solidFill>
                <a:schemeClr val="accent1"/>
              </a:solidFill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kumimoji="1" lang="en-US" altLang="zh-CN" sz="1600" i="1" dirty="0"/>
              <a:t>(</a:t>
            </a:r>
            <a:r>
              <a:rPr kumimoji="1" lang="en-US" altLang="zh-CN" sz="1600" i="1" dirty="0">
                <a:solidFill>
                  <a:schemeClr val="accent1"/>
                </a:solidFill>
              </a:rPr>
              <a:t>original image</a:t>
            </a:r>
            <a:r>
              <a:rPr kumimoji="1" lang="en-US" altLang="zh-CN" sz="1600" i="1" dirty="0"/>
              <a:t>, </a:t>
            </a:r>
            <a:r>
              <a:rPr kumimoji="1" lang="en-US" altLang="zh-CN" sz="1600" i="1" dirty="0">
                <a:solidFill>
                  <a:schemeClr val="accent1"/>
                </a:solidFill>
              </a:rPr>
              <a:t>edited image</a:t>
            </a:r>
            <a:r>
              <a:rPr kumimoji="1" lang="en-US" altLang="zh-CN" sz="1600" i="1" dirty="0"/>
              <a:t>)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F538F24-DF4E-EA42-A64F-C38ABF1AA93B}"/>
              </a:ext>
            </a:extLst>
          </p:cNvPr>
          <p:cNvCxnSpPr/>
          <p:nvPr/>
        </p:nvCxnSpPr>
        <p:spPr>
          <a:xfrm>
            <a:off x="9343785" y="3378235"/>
            <a:ext cx="90424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EA6D942-FD92-BA48-A6B3-C51C33BC569C}"/>
              </a:ext>
            </a:extLst>
          </p:cNvPr>
          <p:cNvCxnSpPr/>
          <p:nvPr/>
        </p:nvCxnSpPr>
        <p:spPr>
          <a:xfrm>
            <a:off x="9343785" y="3743995"/>
            <a:ext cx="90424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3E356EEE-6D6F-0441-A5B0-938A2DC443CD}"/>
              </a:ext>
            </a:extLst>
          </p:cNvPr>
          <p:cNvSpPr txBox="1"/>
          <p:nvPr/>
        </p:nvSpPr>
        <p:spPr>
          <a:xfrm>
            <a:off x="9592965" y="3072970"/>
            <a:ext cx="4058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sz="1600" dirty="0"/>
              <a:t>SD</a:t>
            </a:r>
            <a:endParaRPr kumimoji="1" lang="zh-CN" altLang="en-US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9CFB66-6597-2640-A166-A29585203C04}"/>
              </a:ext>
            </a:extLst>
          </p:cNvPr>
          <p:cNvSpPr txBox="1"/>
          <p:nvPr/>
        </p:nvSpPr>
        <p:spPr>
          <a:xfrm>
            <a:off x="9388934" y="3420469"/>
            <a:ext cx="8139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sz="1600" dirty="0"/>
              <a:t>SD, P2P</a:t>
            </a:r>
            <a:endParaRPr kumimoji="1" lang="zh-CN" altLang="en-US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46F550-B663-4448-A166-27A8D673F20C}"/>
              </a:ext>
            </a:extLst>
          </p:cNvPr>
          <p:cNvSpPr txBox="1"/>
          <p:nvPr/>
        </p:nvSpPr>
        <p:spPr>
          <a:xfrm>
            <a:off x="268438" y="4493500"/>
            <a:ext cx="8993488" cy="4648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dirty="0"/>
              <a:t>Problem: </a:t>
            </a:r>
            <a:r>
              <a:rPr kumimoji="1" lang="en-US" altLang="zh-CN" i="1" dirty="0">
                <a:solidFill>
                  <a:schemeClr val="accent1"/>
                </a:solidFill>
              </a:rPr>
              <a:t>instruction </a:t>
            </a:r>
            <a:r>
              <a:rPr kumimoji="1" lang="en-US" altLang="zh-CN" dirty="0"/>
              <a:t>never sees and interacts with </a:t>
            </a:r>
            <a:r>
              <a:rPr kumimoji="1" lang="en-US" altLang="zh-CN" sz="1800" i="1" dirty="0">
                <a:solidFill>
                  <a:schemeClr val="accent1"/>
                </a:solidFill>
              </a:rPr>
              <a:t>original image</a:t>
            </a:r>
            <a:r>
              <a:rPr kumimoji="1" lang="en-US" altLang="zh-CN" i="1" dirty="0">
                <a:solidFill>
                  <a:schemeClr val="accent1"/>
                </a:solidFill>
              </a:rPr>
              <a:t> </a:t>
            </a:r>
            <a:r>
              <a:rPr kumimoji="1" lang="en-US" altLang="zh-CN" dirty="0"/>
              <a:t>and</a:t>
            </a:r>
            <a:r>
              <a:rPr kumimoji="1" lang="en-US" altLang="zh-CN" sz="1800" i="1" dirty="0"/>
              <a:t> </a:t>
            </a:r>
            <a:r>
              <a:rPr kumimoji="1" lang="en-US" altLang="zh-CN" sz="1800" i="1" dirty="0">
                <a:solidFill>
                  <a:schemeClr val="accent1"/>
                </a:solidFill>
              </a:rPr>
              <a:t>edited image </a:t>
            </a:r>
            <a:r>
              <a:rPr kumimoji="1" lang="en-US" altLang="zh-CN" sz="1800" dirty="0"/>
              <a:t>directly.</a:t>
            </a:r>
            <a:endParaRPr kumimoji="1" lang="en-US" altLang="zh-CN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5BA97B1-77D2-D947-9F8C-C66612B46ED4}"/>
              </a:ext>
            </a:extLst>
          </p:cNvPr>
          <p:cNvSpPr txBox="1"/>
          <p:nvPr/>
        </p:nvSpPr>
        <p:spPr>
          <a:xfrm>
            <a:off x="701075" y="4239944"/>
            <a:ext cx="65938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400" dirty="0">
                <a:solidFill>
                  <a:schemeClr val="accent3"/>
                </a:solidFill>
              </a:rPr>
              <a:t>Brooks</a:t>
            </a:r>
            <a:r>
              <a:rPr lang="en-US" altLang="zh-CN" sz="1400" dirty="0">
                <a:solidFill>
                  <a:schemeClr val="accent3"/>
                </a:solidFill>
              </a:rPr>
              <a:t> </a:t>
            </a:r>
            <a:r>
              <a:rPr lang="en-US" altLang="zh-CN" sz="1400" i="1" dirty="0">
                <a:solidFill>
                  <a:schemeClr val="accent3"/>
                </a:solidFill>
              </a:rPr>
              <a:t>et al.</a:t>
            </a:r>
            <a:r>
              <a:rPr lang="en-US" altLang="zh-CN" sz="1400" dirty="0">
                <a:solidFill>
                  <a:schemeClr val="accent3"/>
                </a:solidFill>
              </a:rPr>
              <a:t>, InstructPix2Pix: Learning to follow image editing instructions. </a:t>
            </a:r>
            <a:r>
              <a:rPr lang="en-US" altLang="zh-CN" sz="1400" i="1" dirty="0">
                <a:solidFill>
                  <a:schemeClr val="accent3"/>
                </a:solidFill>
              </a:rPr>
              <a:t>CVPR</a:t>
            </a:r>
            <a:r>
              <a:rPr lang="en-US" altLang="zh-CN" sz="1400" dirty="0">
                <a:solidFill>
                  <a:schemeClr val="accent3"/>
                </a:solidFill>
              </a:rPr>
              <a:t>, 2023.</a:t>
            </a:r>
            <a:endParaRPr lang="zh-CN" altLang="en-US" sz="1400" dirty="0">
              <a:solidFill>
                <a:schemeClr val="accent3"/>
              </a:solidFill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30D7EA85-09A4-7C48-90E3-B2759C48AF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688" y="5140974"/>
            <a:ext cx="1409051" cy="1409051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1BC0E4FE-AFC5-7D41-8BF2-E47015A7B0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5190" y="5140973"/>
            <a:ext cx="1409052" cy="1409052"/>
          </a:xfrm>
          <a:prstGeom prst="rect">
            <a:avLst/>
          </a:prstGeom>
        </p:spPr>
      </p:pic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876CF8F-95BB-4A48-AC33-AFA4B8E89540}"/>
              </a:ext>
            </a:extLst>
          </p:cNvPr>
          <p:cNvCxnSpPr>
            <a:cxnSpLocks/>
          </p:cNvCxnSpPr>
          <p:nvPr/>
        </p:nvCxnSpPr>
        <p:spPr>
          <a:xfrm>
            <a:off x="2234492" y="5850614"/>
            <a:ext cx="1993366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0A2BFBAC-BDAC-544C-9126-EA756BE11F5F}"/>
              </a:ext>
            </a:extLst>
          </p:cNvPr>
          <p:cNvSpPr txBox="1"/>
          <p:nvPr/>
        </p:nvSpPr>
        <p:spPr>
          <a:xfrm>
            <a:off x="2234492" y="5512997"/>
            <a:ext cx="20136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/>
              <a:t>“make it a daydream”</a:t>
            </a:r>
            <a:endParaRPr kumimoji="1" lang="zh-CN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16171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8" grpId="0"/>
      <p:bldP spid="10" grpId="0"/>
      <p:bldP spid="13" grpId="0"/>
      <p:bldP spid="14" grpId="0"/>
      <p:bldP spid="2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B05D0C-86BB-8043-9E7D-8D93E5387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5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48480B-AD5F-BA40-82A1-2990A0C60BFB}"/>
              </a:ext>
            </a:extLst>
          </p:cNvPr>
          <p:cNvSpPr txBox="1"/>
          <p:nvPr/>
        </p:nvSpPr>
        <p:spPr>
          <a:xfrm>
            <a:off x="268438" y="648101"/>
            <a:ext cx="573152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200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Instruction refinement </a:t>
            </a:r>
            <a:endParaRPr kumimoji="1" lang="zh-CN" altLang="en-US" sz="3200" dirty="0">
              <a:latin typeface="Calibri" panose="020F0502020204030204" pitchFamily="34" charset="0"/>
              <a:ea typeface="SimHe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C3A2E8-535D-504C-BC42-995AB5A0344C}"/>
              </a:ext>
            </a:extLst>
          </p:cNvPr>
          <p:cNvSpPr txBox="1"/>
          <p:nvPr/>
        </p:nvSpPr>
        <p:spPr>
          <a:xfrm>
            <a:off x="268438" y="1232876"/>
            <a:ext cx="8393195" cy="4648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Refine </a:t>
            </a:r>
            <a:r>
              <a:rPr kumimoji="1" lang="en-US" altLang="zh-CN" i="1" dirty="0">
                <a:solidFill>
                  <a:schemeClr val="accent1"/>
                </a:solidFill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instruction </a:t>
            </a:r>
            <a:r>
              <a:rPr kumimoji="1" lang="en-US" altLang="zh-CN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after seeing </a:t>
            </a:r>
            <a:r>
              <a:rPr kumimoji="1" lang="en-US" altLang="zh-CN" dirty="0">
                <a:solidFill>
                  <a:srgbClr val="F94609"/>
                </a:solidFill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differences</a:t>
            </a:r>
            <a:r>
              <a:rPr kumimoji="1" lang="en-US" altLang="zh-CN" dirty="0">
                <a:solidFill>
                  <a:srgbClr val="FF0000"/>
                </a:solidFill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between </a:t>
            </a:r>
            <a:r>
              <a:rPr kumimoji="1" lang="en-US" altLang="zh-CN" i="1" dirty="0">
                <a:solidFill>
                  <a:schemeClr val="accent1"/>
                </a:solidFill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original image </a:t>
            </a:r>
            <a:r>
              <a:rPr kumimoji="1" lang="en-US" altLang="zh-CN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and </a:t>
            </a:r>
            <a:r>
              <a:rPr kumimoji="1" lang="en-US" altLang="zh-CN" i="1" dirty="0">
                <a:solidFill>
                  <a:schemeClr val="accent1"/>
                </a:solidFill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edited image</a:t>
            </a:r>
            <a:r>
              <a:rPr kumimoji="1" lang="en-US" altLang="zh-CN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DDF2907-BF44-054F-85E9-0462AEE9BE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5290" y="2098835"/>
            <a:ext cx="6399645" cy="360960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AE38FBE-49E8-8142-8ED5-51E22DFE5115}"/>
              </a:ext>
            </a:extLst>
          </p:cNvPr>
          <p:cNvSpPr txBox="1"/>
          <p:nvPr/>
        </p:nvSpPr>
        <p:spPr>
          <a:xfrm>
            <a:off x="1352673" y="2784956"/>
            <a:ext cx="15327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i="1" dirty="0">
                <a:solidFill>
                  <a:schemeClr val="accent1"/>
                </a:solidFill>
              </a:rPr>
              <a:t>original image</a:t>
            </a:r>
            <a:endParaRPr kumimoji="1" lang="zh-CN" altLang="en-US" i="1" dirty="0">
              <a:solidFill>
                <a:schemeClr val="accent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091793-B501-2846-91AA-6B415D025A0C}"/>
              </a:ext>
            </a:extLst>
          </p:cNvPr>
          <p:cNvSpPr txBox="1"/>
          <p:nvPr/>
        </p:nvSpPr>
        <p:spPr>
          <a:xfrm>
            <a:off x="1415639" y="4248230"/>
            <a:ext cx="1406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i="1" dirty="0">
                <a:solidFill>
                  <a:schemeClr val="accent1"/>
                </a:solidFill>
              </a:rPr>
              <a:t>edited image</a:t>
            </a:r>
            <a:endParaRPr kumimoji="1" lang="zh-CN" altLang="en-US" i="1" dirty="0">
              <a:solidFill>
                <a:schemeClr val="accent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AD8417-C831-114A-9F4E-28F298F624A2}"/>
              </a:ext>
            </a:extLst>
          </p:cNvPr>
          <p:cNvSpPr txBox="1"/>
          <p:nvPr/>
        </p:nvSpPr>
        <p:spPr>
          <a:xfrm>
            <a:off x="5873178" y="2969622"/>
            <a:ext cx="12252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rgbClr val="F94609"/>
                </a:solidFill>
              </a:rPr>
              <a:t>differences</a:t>
            </a:r>
            <a:endParaRPr kumimoji="1" lang="zh-CN" altLang="en-US" dirty="0">
              <a:solidFill>
                <a:srgbClr val="F94609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5B6FAD1-765D-AA43-A802-2CC70949F4B0}"/>
              </a:ext>
            </a:extLst>
          </p:cNvPr>
          <p:cNvSpPr txBox="1"/>
          <p:nvPr/>
        </p:nvSpPr>
        <p:spPr>
          <a:xfrm>
            <a:off x="4145690" y="5809789"/>
            <a:ext cx="39006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I-</a:t>
            </a:r>
            <a:r>
              <a:rPr kumimoji="1" lang="en-US" altLang="zh-CN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CLIP</a:t>
            </a:r>
            <a:r>
              <a:rPr kumimoji="1" lang="en-US" altLang="zh-CN" sz="2000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vis</a:t>
            </a:r>
            <a:r>
              <a:rPr kumimoji="1"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visual difference encoder</a:t>
            </a:r>
            <a:endParaRPr kumimoji="1"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D958657-206F-CD4A-91E9-0991DC5A0F38}"/>
              </a:ext>
            </a:extLst>
          </p:cNvPr>
          <p:cNvSpPr txBox="1"/>
          <p:nvPr/>
        </p:nvSpPr>
        <p:spPr>
          <a:xfrm>
            <a:off x="9396415" y="3189154"/>
            <a:ext cx="13529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dirty="0">
                <a:solidFill>
                  <a:srgbClr val="F94609"/>
                </a:solidFill>
              </a:rPr>
              <a:t>encoded</a:t>
            </a:r>
            <a:r>
              <a:rPr kumimoji="1" lang="zh-CN" altLang="en-US" dirty="0">
                <a:solidFill>
                  <a:srgbClr val="F94609"/>
                </a:solidFill>
              </a:rPr>
              <a:t> </a:t>
            </a:r>
            <a:r>
              <a:rPr kumimoji="1" lang="en-US" altLang="zh-CN" dirty="0">
                <a:solidFill>
                  <a:srgbClr val="F94609"/>
                </a:solidFill>
              </a:rPr>
              <a:t>differences</a:t>
            </a:r>
            <a:endParaRPr kumimoji="1" lang="zh-CN" altLang="en-US" dirty="0">
              <a:solidFill>
                <a:srgbClr val="F9460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4974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/>
      <p:bldP spid="10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B05D0C-86BB-8043-9E7D-8D93E5387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6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48480B-AD5F-BA40-82A1-2990A0C60BFB}"/>
              </a:ext>
            </a:extLst>
          </p:cNvPr>
          <p:cNvSpPr txBox="1"/>
          <p:nvPr/>
        </p:nvSpPr>
        <p:spPr>
          <a:xfrm>
            <a:off x="268438" y="648101"/>
            <a:ext cx="573152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200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Instruction refinement </a:t>
            </a:r>
            <a:endParaRPr kumimoji="1" lang="zh-CN" altLang="en-US" sz="3200" dirty="0">
              <a:latin typeface="Calibri" panose="020F0502020204030204" pitchFamily="34" charset="0"/>
              <a:ea typeface="SimHe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C3A2E8-535D-504C-BC42-995AB5A0344C}"/>
              </a:ext>
            </a:extLst>
          </p:cNvPr>
          <p:cNvSpPr txBox="1"/>
          <p:nvPr/>
        </p:nvSpPr>
        <p:spPr>
          <a:xfrm>
            <a:off x="268438" y="1232876"/>
            <a:ext cx="8112990" cy="4648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kumimoji="1" lang="en-US" altLang="zh-CN" i="1" dirty="0">
                <a:solidFill>
                  <a:schemeClr val="accent1"/>
                </a:solidFill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instruction </a:t>
            </a:r>
            <a:r>
              <a:rPr kumimoji="1" lang="en-US" altLang="zh-CN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should describe </a:t>
            </a:r>
            <a:r>
              <a:rPr kumimoji="1" lang="en-US" altLang="zh-CN" dirty="0">
                <a:solidFill>
                  <a:srgbClr val="F94609"/>
                </a:solidFill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differences</a:t>
            </a:r>
            <a:r>
              <a:rPr kumimoji="1" lang="en-US" altLang="zh-CN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 between </a:t>
            </a:r>
            <a:r>
              <a:rPr kumimoji="1" lang="en-US" altLang="zh-CN" i="1" dirty="0">
                <a:solidFill>
                  <a:schemeClr val="accent1"/>
                </a:solidFill>
              </a:rPr>
              <a:t>original image </a:t>
            </a:r>
            <a:r>
              <a:rPr kumimoji="1" lang="en-US" altLang="zh-CN" dirty="0"/>
              <a:t>and</a:t>
            </a:r>
            <a:r>
              <a:rPr kumimoji="1" lang="en-US" altLang="zh-CN" i="1" dirty="0">
                <a:solidFill>
                  <a:schemeClr val="accent1"/>
                </a:solidFill>
              </a:rPr>
              <a:t> edited image</a:t>
            </a:r>
            <a:r>
              <a:rPr kumimoji="1" lang="en-US" altLang="zh-CN" dirty="0"/>
              <a:t>.</a:t>
            </a:r>
            <a:r>
              <a:rPr kumimoji="1" lang="en-US" altLang="zh-CN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 </a:t>
            </a:r>
            <a:endParaRPr kumimoji="1" lang="en-US" altLang="zh-CN" i="1" dirty="0">
              <a:solidFill>
                <a:schemeClr val="accent1"/>
              </a:solidFill>
              <a:latin typeface="Calibri" panose="020F0502020204030204" pitchFamily="34" charset="0"/>
              <a:ea typeface="SimHe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82F4227-01FC-934F-B89C-D6579CB83A58}"/>
              </a:ext>
            </a:extLst>
          </p:cNvPr>
          <p:cNvSpPr txBox="1"/>
          <p:nvPr/>
        </p:nvSpPr>
        <p:spPr>
          <a:xfrm>
            <a:off x="268438" y="5816796"/>
            <a:ext cx="7454348" cy="4648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Inference</a:t>
            </a:r>
            <a:r>
              <a:rPr kumimoji="1" lang="en-US" altLang="zh-CN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: replace </a:t>
            </a:r>
            <a:r>
              <a:rPr kumimoji="1" lang="en-US" altLang="zh-CN" i="1" dirty="0">
                <a:solidFill>
                  <a:schemeClr val="accent1"/>
                </a:solidFill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instruction </a:t>
            </a:r>
            <a:r>
              <a:rPr kumimoji="1" lang="en-US" altLang="zh-CN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with </a:t>
            </a:r>
            <a:r>
              <a:rPr kumimoji="1" lang="en-US" altLang="zh-CN" i="1" dirty="0">
                <a:solidFill>
                  <a:schemeClr val="accent1"/>
                </a:solidFill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refined</a:t>
            </a:r>
            <a:r>
              <a:rPr kumimoji="1" lang="en-US" altLang="zh-CN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 </a:t>
            </a:r>
            <a:r>
              <a:rPr kumimoji="1" lang="en-US" altLang="zh-CN" i="1" dirty="0">
                <a:solidFill>
                  <a:schemeClr val="accent1"/>
                </a:solidFill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instruction </a:t>
            </a:r>
            <a:r>
              <a:rPr kumimoji="1" lang="en-US" altLang="zh-CN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if the latter is better.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C7DCFB0-D257-5049-9151-9FAD9EBB83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8820" y="2028654"/>
            <a:ext cx="6942815" cy="3367924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C2BE1775-BC2D-E342-A6B3-6C140DD90A08}"/>
              </a:ext>
            </a:extLst>
          </p:cNvPr>
          <p:cNvSpPr txBox="1"/>
          <p:nvPr/>
        </p:nvSpPr>
        <p:spPr>
          <a:xfrm>
            <a:off x="416028" y="2278662"/>
            <a:ext cx="15327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i="1" dirty="0">
                <a:solidFill>
                  <a:schemeClr val="accent1"/>
                </a:solidFill>
              </a:rPr>
              <a:t>original image</a:t>
            </a:r>
            <a:endParaRPr kumimoji="1" lang="zh-CN" altLang="en-US" i="1" dirty="0">
              <a:solidFill>
                <a:schemeClr val="accent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3FBB7B2-9138-0C44-BFD3-CF368D6397A7}"/>
              </a:ext>
            </a:extLst>
          </p:cNvPr>
          <p:cNvSpPr txBox="1"/>
          <p:nvPr/>
        </p:nvSpPr>
        <p:spPr>
          <a:xfrm>
            <a:off x="478994" y="3068179"/>
            <a:ext cx="1406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i="1" dirty="0">
                <a:solidFill>
                  <a:schemeClr val="accent1"/>
                </a:solidFill>
              </a:rPr>
              <a:t>edited image</a:t>
            </a:r>
            <a:endParaRPr kumimoji="1" lang="zh-CN" altLang="en-US" i="1" dirty="0">
              <a:solidFill>
                <a:schemeClr val="accent1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4A765D0-EB02-2D4C-A226-5F14819CCA7A}"/>
              </a:ext>
            </a:extLst>
          </p:cNvPr>
          <p:cNvSpPr txBox="1"/>
          <p:nvPr/>
        </p:nvSpPr>
        <p:spPr>
          <a:xfrm>
            <a:off x="592038" y="4397344"/>
            <a:ext cx="11807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i="1" dirty="0">
                <a:solidFill>
                  <a:schemeClr val="accent1"/>
                </a:solidFill>
              </a:rPr>
              <a:t>instruction</a:t>
            </a:r>
            <a:endParaRPr kumimoji="1" lang="zh-CN" altLang="en-US" i="1" dirty="0">
              <a:solidFill>
                <a:schemeClr val="accent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CFD5D52-CAF9-3E45-A910-EA60A9A1B3E2}"/>
              </a:ext>
            </a:extLst>
          </p:cNvPr>
          <p:cNvSpPr txBox="1"/>
          <p:nvPr/>
        </p:nvSpPr>
        <p:spPr>
          <a:xfrm>
            <a:off x="8865468" y="4380045"/>
            <a:ext cx="19066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i="1" dirty="0">
                <a:solidFill>
                  <a:schemeClr val="accent1"/>
                </a:solidFill>
              </a:rPr>
              <a:t>refined</a:t>
            </a:r>
            <a:r>
              <a:rPr kumimoji="1" lang="en-US" altLang="zh-CN" dirty="0">
                <a:solidFill>
                  <a:schemeClr val="accent1"/>
                </a:solidFill>
              </a:rPr>
              <a:t> </a:t>
            </a:r>
            <a:r>
              <a:rPr kumimoji="1" lang="en-US" altLang="zh-CN" i="1" dirty="0">
                <a:solidFill>
                  <a:schemeClr val="accent1"/>
                </a:solidFill>
              </a:rPr>
              <a:t>instruction</a:t>
            </a:r>
            <a:endParaRPr kumimoji="1" lang="zh-CN" altLang="en-US" i="1" dirty="0">
              <a:solidFill>
                <a:schemeClr val="accent1"/>
              </a:solidFill>
            </a:endParaRP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E4AF50EA-AAB5-5341-8DFE-393CA6533F8E}"/>
              </a:ext>
            </a:extLst>
          </p:cNvPr>
          <p:cNvGrpSpPr/>
          <p:nvPr/>
        </p:nvGrpSpPr>
        <p:grpSpPr>
          <a:xfrm>
            <a:off x="8098165" y="2007700"/>
            <a:ext cx="3393020" cy="1704916"/>
            <a:chOff x="8041869" y="2156290"/>
            <a:chExt cx="3393020" cy="1704916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132B60A-4C1D-B447-8B7C-E90D4C42668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24997" y="2981012"/>
              <a:ext cx="3309892" cy="777384"/>
            </a:xfrm>
            <a:prstGeom prst="rect">
              <a:avLst/>
            </a:prstGeom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96B415FF-6889-4946-9AE6-684D02A842F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041869" y="2177244"/>
              <a:ext cx="2381250" cy="777384"/>
            </a:xfrm>
            <a:prstGeom prst="rect">
              <a:avLst/>
            </a:prstGeom>
          </p:spPr>
        </p:pic>
        <p:sp>
          <p:nvSpPr>
            <p:cNvPr id="45" name="Rounded Rectangle 44">
              <a:extLst>
                <a:ext uri="{FF2B5EF4-FFF2-40B4-BE49-F238E27FC236}">
                  <a16:creationId xmlns:a16="http://schemas.microsoft.com/office/drawing/2014/main" id="{5D43F67C-C3FF-304A-BAC9-24DB3A138344}"/>
                </a:ext>
              </a:extLst>
            </p:cNvPr>
            <p:cNvSpPr/>
            <p:nvPr/>
          </p:nvSpPr>
          <p:spPr>
            <a:xfrm>
              <a:off x="8041869" y="2156290"/>
              <a:ext cx="3393020" cy="1704916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29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523C23C4-043D-F24B-AD9B-FFE7B76EF3C8}"/>
                  </a:ext>
                </a:extLst>
              </p:cNvPr>
              <p:cNvSpPr txBox="1"/>
              <p:nvPr/>
            </p:nvSpPr>
            <p:spPr>
              <a:xfrm>
                <a:off x="7989486" y="3762051"/>
                <a:ext cx="3786485" cy="31470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en-US" altLang="zh-CN" sz="1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Dress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zh-CN" sz="1400" b="0" i="1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CN" sz="1400" b="0" i="1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kumimoji="1" lang="en-US" altLang="zh-CN" sz="1400" b="0" i="1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𝑣𝑖𝑠</m:t>
                        </m:r>
                      </m:sup>
                    </m:sSup>
                  </m:oMath>
                </a14:m>
                <a:r>
                  <a:rPr kumimoji="1" lang="en-US" altLang="zh-CN" sz="1400" b="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up as a tex</a:t>
                </a:r>
                <a:r>
                  <a:rPr kumimoji="1" lang="en-US" altLang="zh-CN" sz="1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t encoding </a:t>
                </a:r>
                <a:r>
                  <a:rPr kumimoji="1" lang="en-US" altLang="zh-CN" sz="14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during inference</a:t>
                </a:r>
                <a:r>
                  <a:rPr kumimoji="1" lang="en-US" altLang="zh-CN" sz="1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.</a:t>
                </a:r>
                <a:endParaRPr kumimoji="1" lang="en-US" altLang="zh-CN" sz="1400" b="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523C23C4-043D-F24B-AD9B-FFE7B76EF3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9486" y="3762051"/>
                <a:ext cx="3786485" cy="314702"/>
              </a:xfrm>
              <a:prstGeom prst="rect">
                <a:avLst/>
              </a:prstGeom>
              <a:blipFill>
                <a:blip r:embed="rId5"/>
                <a:stretch>
                  <a:fillRect l="-334" r="-334" b="-1923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Box 49">
            <a:extLst>
              <a:ext uri="{FF2B5EF4-FFF2-40B4-BE49-F238E27FC236}">
                <a16:creationId xmlns:a16="http://schemas.microsoft.com/office/drawing/2014/main" id="{540363A2-6009-8E4C-9036-57D8A87D39D2}"/>
              </a:ext>
            </a:extLst>
          </p:cNvPr>
          <p:cNvSpPr txBox="1"/>
          <p:nvPr/>
        </p:nvSpPr>
        <p:spPr>
          <a:xfrm>
            <a:off x="4625308" y="2094180"/>
            <a:ext cx="13986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dirty="0">
                <a:solidFill>
                  <a:srgbClr val="F94609"/>
                </a:solidFill>
              </a:rPr>
              <a:t>encoded</a:t>
            </a:r>
            <a:r>
              <a:rPr kumimoji="1" lang="zh-CN" altLang="en-US" dirty="0">
                <a:solidFill>
                  <a:srgbClr val="F94609"/>
                </a:solidFill>
              </a:rPr>
              <a:t> </a:t>
            </a:r>
            <a:r>
              <a:rPr kumimoji="1" lang="en-US" altLang="zh-CN" dirty="0">
                <a:solidFill>
                  <a:srgbClr val="F94609"/>
                </a:solidFill>
              </a:rPr>
              <a:t>differences</a:t>
            </a:r>
            <a:endParaRPr kumimoji="1" lang="zh-CN" altLang="en-US" dirty="0">
              <a:solidFill>
                <a:srgbClr val="F94609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7BEB0A6-C9F7-AD46-A8A9-01AFE7FB1C8D}"/>
              </a:ext>
            </a:extLst>
          </p:cNvPr>
          <p:cNvSpPr txBox="1"/>
          <p:nvPr/>
        </p:nvSpPr>
        <p:spPr>
          <a:xfrm>
            <a:off x="5009741" y="5351925"/>
            <a:ext cx="21725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I-CLIP</a:t>
            </a:r>
            <a:r>
              <a:rPr kumimoji="1"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architecture</a:t>
            </a:r>
            <a:endParaRPr kumimoji="1"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F39665EF-72AB-E042-9568-81A33267598F}"/>
              </a:ext>
            </a:extLst>
          </p:cNvPr>
          <p:cNvSpPr/>
          <p:nvPr/>
        </p:nvSpPr>
        <p:spPr>
          <a:xfrm>
            <a:off x="7182258" y="1863264"/>
            <a:ext cx="4749911" cy="23409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026943EA-7290-F945-9868-91688BBADA5B}"/>
              </a:ext>
            </a:extLst>
          </p:cNvPr>
          <p:cNvSpPr/>
          <p:nvPr/>
        </p:nvSpPr>
        <p:spPr>
          <a:xfrm>
            <a:off x="8768819" y="4378451"/>
            <a:ext cx="3129969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A3128B39-4984-3F4B-937D-9B170D772CA2}"/>
              </a:ext>
            </a:extLst>
          </p:cNvPr>
          <p:cNvSpPr/>
          <p:nvPr/>
        </p:nvSpPr>
        <p:spPr>
          <a:xfrm>
            <a:off x="5994020" y="1842183"/>
            <a:ext cx="2706468" cy="16458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54828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/>
      <p:bldP spid="54" grpId="0" animBg="1"/>
      <p:bldP spid="55" grpId="0" animBg="1"/>
      <p:bldP spid="5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B05D0C-86BB-8043-9E7D-8D93E5387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7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48480B-AD5F-BA40-82A1-2990A0C60BFB}"/>
              </a:ext>
            </a:extLst>
          </p:cNvPr>
          <p:cNvSpPr txBox="1"/>
          <p:nvPr/>
        </p:nvSpPr>
        <p:spPr>
          <a:xfrm>
            <a:off x="268438" y="648101"/>
            <a:ext cx="573152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200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Instruction refinement </a:t>
            </a:r>
            <a:endParaRPr kumimoji="1" lang="zh-CN" altLang="en-US" sz="3200" dirty="0">
              <a:latin typeface="Calibri" panose="020F0502020204030204" pitchFamily="34" charset="0"/>
              <a:ea typeface="SimHei" panose="02010609060101010101" pitchFamily="49" charset="-122"/>
              <a:cs typeface="Calibri" panose="020F050202020403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EF8E76B-3798-DB45-A10C-6CDDDA628C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835" y="1887216"/>
            <a:ext cx="1979930" cy="197993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B8B1DA9-BC49-1A4C-B45F-33DC3A62AD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2504" y="1887216"/>
            <a:ext cx="1979930" cy="197993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69CD83EB-AF47-B645-95E0-FE756DCBB19F}"/>
              </a:ext>
            </a:extLst>
          </p:cNvPr>
          <p:cNvSpPr txBox="1"/>
          <p:nvPr/>
        </p:nvSpPr>
        <p:spPr>
          <a:xfrm>
            <a:off x="4713663" y="2692515"/>
            <a:ext cx="3191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“</a:t>
            </a:r>
            <a:r>
              <a:rPr lang="zh-CN" altLang="en-US" dirty="0"/>
              <a:t>make it </a:t>
            </a:r>
            <a:r>
              <a:rPr lang="zh-CN" altLang="en-US" dirty="0">
                <a:solidFill>
                  <a:srgbClr val="F94609"/>
                </a:solidFill>
              </a:rPr>
              <a:t>a video game character</a:t>
            </a:r>
            <a:r>
              <a:rPr lang="en-US" altLang="zh-CN" dirty="0"/>
              <a:t>”</a:t>
            </a:r>
            <a:endParaRPr lang="zh-CN" alt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4B3505A-67EB-364E-ADDB-9CFD205325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835" y="4106601"/>
            <a:ext cx="1979930" cy="197993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4C9A2BC1-4230-DA46-95AB-997AAE524B78}"/>
              </a:ext>
            </a:extLst>
          </p:cNvPr>
          <p:cNvSpPr txBox="1"/>
          <p:nvPr/>
        </p:nvSpPr>
        <p:spPr>
          <a:xfrm>
            <a:off x="4637245" y="4911899"/>
            <a:ext cx="3191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“</a:t>
            </a:r>
            <a:r>
              <a:rPr kumimoji="1" lang="en-US" altLang="zh-CN" sz="1800" dirty="0"/>
              <a:t>make it a </a:t>
            </a:r>
            <a:r>
              <a:rPr kumimoji="1" lang="en-US" altLang="zh-CN" sz="1800" dirty="0">
                <a:solidFill>
                  <a:srgbClr val="F94609"/>
                </a:solidFill>
              </a:rPr>
              <a:t>daydream</a:t>
            </a:r>
            <a:r>
              <a:rPr lang="en-US" altLang="zh-CN" dirty="0"/>
              <a:t>”</a:t>
            </a:r>
            <a:endParaRPr lang="zh-CN" alt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B67062A-C231-754D-A76C-41FFB68840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02504" y="4106600"/>
            <a:ext cx="1979931" cy="1979931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23959E2C-94FA-A540-98A8-74ED471A4FFE}"/>
              </a:ext>
            </a:extLst>
          </p:cNvPr>
          <p:cNvSpPr txBox="1"/>
          <p:nvPr/>
        </p:nvSpPr>
        <p:spPr>
          <a:xfrm>
            <a:off x="8026650" y="5108567"/>
            <a:ext cx="36936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Reproduced: “</a:t>
            </a:r>
            <a:r>
              <a:rPr lang="zh-CN" altLang="en-US" dirty="0"/>
              <a:t>make it </a:t>
            </a:r>
            <a:r>
              <a:rPr lang="zh-CN" altLang="en-US" dirty="0">
                <a:solidFill>
                  <a:schemeClr val="accent6"/>
                </a:solidFill>
              </a:rPr>
              <a:t>a summer day</a:t>
            </a:r>
            <a:r>
              <a:rPr lang="en-US" altLang="zh-CN" dirty="0"/>
              <a:t>”</a:t>
            </a:r>
            <a:endParaRPr lang="zh-CN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ABD8A84-C3AB-A846-9CE0-AE1FF9D6BDEC}"/>
              </a:ext>
            </a:extLst>
          </p:cNvPr>
          <p:cNvSpPr txBox="1"/>
          <p:nvPr/>
        </p:nvSpPr>
        <p:spPr>
          <a:xfrm>
            <a:off x="7905490" y="2939679"/>
            <a:ext cx="3935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Reproduced: “</a:t>
            </a:r>
            <a:r>
              <a:rPr lang="zh-CN" altLang="en-US" dirty="0"/>
              <a:t>as a </a:t>
            </a:r>
            <a:r>
              <a:rPr lang="zh-CN" altLang="en-US" dirty="0">
                <a:solidFill>
                  <a:schemeClr val="accent6"/>
                </a:solidFill>
              </a:rPr>
              <a:t>3 d computer model</a:t>
            </a:r>
            <a:r>
              <a:rPr lang="en-US" altLang="zh-CN" dirty="0"/>
              <a:t>”</a:t>
            </a:r>
            <a:endParaRPr lang="zh-CN" altLang="en-U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33F3F9E-BE1E-5943-96C6-7C991C34D1F3}"/>
              </a:ext>
            </a:extLst>
          </p:cNvPr>
          <p:cNvSpPr txBox="1"/>
          <p:nvPr/>
        </p:nvSpPr>
        <p:spPr>
          <a:xfrm>
            <a:off x="8450700" y="2529684"/>
            <a:ext cx="28455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Paper: “as a </a:t>
            </a:r>
            <a:r>
              <a:rPr lang="en-US" altLang="zh-CN" dirty="0">
                <a:solidFill>
                  <a:schemeClr val="accent6"/>
                </a:solidFill>
              </a:rPr>
              <a:t>3 d sculpture</a:t>
            </a:r>
            <a:r>
              <a:rPr lang="en-US" altLang="zh-CN" dirty="0"/>
              <a:t>”</a:t>
            </a:r>
            <a:endParaRPr lang="zh-CN" altLang="en-US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0776BF9-84B9-9F46-8309-5EBBD834A0C6}"/>
              </a:ext>
            </a:extLst>
          </p:cNvPr>
          <p:cNvSpPr txBox="1"/>
          <p:nvPr/>
        </p:nvSpPr>
        <p:spPr>
          <a:xfrm>
            <a:off x="8707612" y="4710574"/>
            <a:ext cx="23317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Paper: “make it </a:t>
            </a:r>
            <a:r>
              <a:rPr lang="en-US" altLang="zh-CN" dirty="0">
                <a:solidFill>
                  <a:schemeClr val="accent6"/>
                </a:solidFill>
              </a:rPr>
              <a:t>spring</a:t>
            </a:r>
            <a:r>
              <a:rPr lang="en-US" altLang="zh-CN" dirty="0"/>
              <a:t>”</a:t>
            </a:r>
            <a:endParaRPr lang="zh-CN" alt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24FE78C-2190-6C4B-8C4E-F1AF33FDB9E1}"/>
              </a:ext>
            </a:extLst>
          </p:cNvPr>
          <p:cNvSpPr txBox="1"/>
          <p:nvPr/>
        </p:nvSpPr>
        <p:spPr>
          <a:xfrm>
            <a:off x="546404" y="1463095"/>
            <a:ext cx="15327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i="1" dirty="0">
                <a:solidFill>
                  <a:schemeClr val="accent1"/>
                </a:solidFill>
              </a:rPr>
              <a:t>original image</a:t>
            </a:r>
            <a:endParaRPr kumimoji="1" lang="zh-CN" altLang="en-US" i="1" dirty="0">
              <a:solidFill>
                <a:schemeClr val="accent1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8929B67-8A4D-694A-AE8C-9681ECE29417}"/>
              </a:ext>
            </a:extLst>
          </p:cNvPr>
          <p:cNvSpPr txBox="1"/>
          <p:nvPr/>
        </p:nvSpPr>
        <p:spPr>
          <a:xfrm>
            <a:off x="2889039" y="1463095"/>
            <a:ext cx="1406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i="1" dirty="0">
                <a:solidFill>
                  <a:schemeClr val="accent1"/>
                </a:solidFill>
              </a:rPr>
              <a:t>edited image</a:t>
            </a:r>
            <a:endParaRPr kumimoji="1" lang="zh-CN" altLang="en-US" i="1" dirty="0">
              <a:solidFill>
                <a:schemeClr val="accent1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83F672F-0C91-804A-B798-23DB20929AA9}"/>
              </a:ext>
            </a:extLst>
          </p:cNvPr>
          <p:cNvSpPr txBox="1"/>
          <p:nvPr/>
        </p:nvSpPr>
        <p:spPr>
          <a:xfrm>
            <a:off x="5642774" y="1463095"/>
            <a:ext cx="11807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i="1" dirty="0">
                <a:solidFill>
                  <a:schemeClr val="accent1"/>
                </a:solidFill>
              </a:rPr>
              <a:t>instruction</a:t>
            </a:r>
            <a:endParaRPr kumimoji="1" lang="zh-CN" altLang="en-US" i="1" dirty="0">
              <a:solidFill>
                <a:schemeClr val="accent1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F26C857-25AC-194C-AE49-34BD641E5688}"/>
              </a:ext>
            </a:extLst>
          </p:cNvPr>
          <p:cNvSpPr txBox="1"/>
          <p:nvPr/>
        </p:nvSpPr>
        <p:spPr>
          <a:xfrm>
            <a:off x="8926548" y="1463095"/>
            <a:ext cx="18938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i="1" dirty="0">
                <a:solidFill>
                  <a:schemeClr val="accent1"/>
                </a:solidFill>
              </a:rPr>
              <a:t>refined instruction</a:t>
            </a:r>
            <a:endParaRPr kumimoji="1" lang="zh-CN" altLang="en-US" i="1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23630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B05D0C-86BB-8043-9E7D-8D93E5387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8</a:t>
            </a:fld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BD58468-D1C4-584B-8B05-683120D586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9826" y="1862240"/>
            <a:ext cx="1988217" cy="198821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C08D62A-ED82-1D45-9BC4-F83B81DD24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329" y="1862240"/>
            <a:ext cx="1988217" cy="1988217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CF4F362B-565A-6247-886F-07C861BF3B25}"/>
              </a:ext>
            </a:extLst>
          </p:cNvPr>
          <p:cNvSpPr txBox="1"/>
          <p:nvPr/>
        </p:nvSpPr>
        <p:spPr>
          <a:xfrm>
            <a:off x="4603282" y="2671682"/>
            <a:ext cx="32692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“make it a </a:t>
            </a:r>
            <a:r>
              <a:rPr lang="en-US" altLang="zh-CN" dirty="0">
                <a:solidFill>
                  <a:srgbClr val="F94609"/>
                </a:solidFill>
              </a:rPr>
              <a:t>drawing</a:t>
            </a:r>
            <a:r>
              <a:rPr lang="en-US" altLang="zh-CN" dirty="0"/>
              <a:t>”</a:t>
            </a:r>
            <a:endParaRPr lang="zh-CN" alt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A97EE48-DB40-584D-AC0C-F6A26524967B}"/>
              </a:ext>
            </a:extLst>
          </p:cNvPr>
          <p:cNvSpPr txBox="1"/>
          <p:nvPr/>
        </p:nvSpPr>
        <p:spPr>
          <a:xfrm>
            <a:off x="8084016" y="2671682"/>
            <a:ext cx="35789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“make it into a </a:t>
            </a:r>
            <a:r>
              <a:rPr lang="en-US" altLang="zh-CN" dirty="0">
                <a:solidFill>
                  <a:schemeClr val="accent6"/>
                </a:solidFill>
              </a:rPr>
              <a:t>watercolor painting</a:t>
            </a:r>
            <a:r>
              <a:rPr lang="en-US" altLang="zh-CN" dirty="0"/>
              <a:t>”</a:t>
            </a:r>
            <a:endParaRPr lang="zh-CN" altLang="en-US" dirty="0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7AEEF737-0E16-284A-A88A-58CD5F912F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9825" y="4081778"/>
            <a:ext cx="1988217" cy="1988217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9F2752C0-0A1B-2446-8608-517B15EB7E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3328" y="4081779"/>
            <a:ext cx="1988217" cy="1988217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FA2B0613-61A3-D14F-B2ED-934748019F57}"/>
              </a:ext>
            </a:extLst>
          </p:cNvPr>
          <p:cNvSpPr txBox="1"/>
          <p:nvPr/>
        </p:nvSpPr>
        <p:spPr>
          <a:xfrm>
            <a:off x="268438" y="648101"/>
            <a:ext cx="573152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200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Instruction refinement </a:t>
            </a:r>
            <a:endParaRPr kumimoji="1" lang="zh-CN" altLang="en-US" sz="3200" dirty="0">
              <a:latin typeface="Calibri" panose="020F0502020204030204" pitchFamily="34" charset="0"/>
              <a:ea typeface="SimHe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3941428-60A1-2C42-ADA7-FB2D72D4DF76}"/>
              </a:ext>
            </a:extLst>
          </p:cNvPr>
          <p:cNvSpPr txBox="1"/>
          <p:nvPr/>
        </p:nvSpPr>
        <p:spPr>
          <a:xfrm>
            <a:off x="546404" y="1463095"/>
            <a:ext cx="15327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i="1" dirty="0">
                <a:solidFill>
                  <a:schemeClr val="accent1"/>
                </a:solidFill>
              </a:rPr>
              <a:t>original image</a:t>
            </a:r>
            <a:endParaRPr kumimoji="1" lang="zh-CN" altLang="en-US" i="1" dirty="0">
              <a:solidFill>
                <a:schemeClr val="accent1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3731E19-E2EC-B647-A2B7-CFA764C99C08}"/>
              </a:ext>
            </a:extLst>
          </p:cNvPr>
          <p:cNvSpPr txBox="1"/>
          <p:nvPr/>
        </p:nvSpPr>
        <p:spPr>
          <a:xfrm>
            <a:off x="2889039" y="1463095"/>
            <a:ext cx="1406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i="1" dirty="0">
                <a:solidFill>
                  <a:schemeClr val="accent1"/>
                </a:solidFill>
              </a:rPr>
              <a:t>edited image</a:t>
            </a:r>
            <a:endParaRPr kumimoji="1" lang="zh-CN" altLang="en-US" i="1" dirty="0">
              <a:solidFill>
                <a:schemeClr val="accent1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15C41AB-C991-8C4A-8C11-5AAC5608DD2B}"/>
              </a:ext>
            </a:extLst>
          </p:cNvPr>
          <p:cNvSpPr txBox="1"/>
          <p:nvPr/>
        </p:nvSpPr>
        <p:spPr>
          <a:xfrm>
            <a:off x="5642774" y="1463095"/>
            <a:ext cx="11807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i="1" dirty="0">
                <a:solidFill>
                  <a:schemeClr val="accent1"/>
                </a:solidFill>
              </a:rPr>
              <a:t>instruction</a:t>
            </a:r>
            <a:endParaRPr kumimoji="1" lang="zh-CN" altLang="en-US" i="1" dirty="0">
              <a:solidFill>
                <a:schemeClr val="accent1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5AC78F1-6105-2F46-9B92-86A686F2E892}"/>
              </a:ext>
            </a:extLst>
          </p:cNvPr>
          <p:cNvSpPr txBox="1"/>
          <p:nvPr/>
        </p:nvSpPr>
        <p:spPr>
          <a:xfrm>
            <a:off x="8296508" y="1463095"/>
            <a:ext cx="3153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i="1" dirty="0">
                <a:solidFill>
                  <a:schemeClr val="accent1"/>
                </a:solidFill>
              </a:rPr>
              <a:t>refined instruction </a:t>
            </a:r>
            <a:r>
              <a:rPr kumimoji="1" lang="en-US" altLang="zh-CN" dirty="0"/>
              <a:t>(reproduced)</a:t>
            </a:r>
            <a:endParaRPr kumimoji="1" lang="zh-CN" alt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7F9B40C-E2E7-3E40-BEDC-46411111BB1A}"/>
              </a:ext>
            </a:extLst>
          </p:cNvPr>
          <p:cNvSpPr txBox="1"/>
          <p:nvPr/>
        </p:nvSpPr>
        <p:spPr>
          <a:xfrm>
            <a:off x="4854415" y="4891220"/>
            <a:ext cx="27574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“make the bird a </a:t>
            </a:r>
            <a:r>
              <a:rPr lang="en-US" altLang="zh-CN" dirty="0">
                <a:solidFill>
                  <a:schemeClr val="accent6"/>
                </a:solidFill>
              </a:rPr>
              <a:t>cockatoo</a:t>
            </a:r>
            <a:r>
              <a:rPr lang="en-US" altLang="zh-CN" dirty="0"/>
              <a:t>”</a:t>
            </a:r>
            <a:endParaRPr lang="zh-CN" alt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9E08379-25D1-F54A-A880-46DB55F2C0BA}"/>
              </a:ext>
            </a:extLst>
          </p:cNvPr>
          <p:cNvSpPr txBox="1"/>
          <p:nvPr/>
        </p:nvSpPr>
        <p:spPr>
          <a:xfrm>
            <a:off x="7797500" y="4891220"/>
            <a:ext cx="41519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“replace the bird with a </a:t>
            </a:r>
            <a:r>
              <a:rPr lang="en-US" altLang="zh-CN" dirty="0">
                <a:solidFill>
                  <a:srgbClr val="F94609"/>
                </a:solidFill>
              </a:rPr>
              <a:t>hummingbird</a:t>
            </a:r>
            <a:r>
              <a:rPr lang="en-US" altLang="zh-CN" dirty="0"/>
              <a:t>”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8382759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B05D0C-86BB-8043-9E7D-8D93E5387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9</a:t>
            </a:fld>
            <a:endParaRPr 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F4F362B-565A-6247-886F-07C861BF3B25}"/>
              </a:ext>
            </a:extLst>
          </p:cNvPr>
          <p:cNvSpPr txBox="1"/>
          <p:nvPr/>
        </p:nvSpPr>
        <p:spPr>
          <a:xfrm>
            <a:off x="4603282" y="2671682"/>
            <a:ext cx="32692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“add a </a:t>
            </a:r>
            <a:r>
              <a:rPr lang="en-US" altLang="zh-CN" dirty="0">
                <a:solidFill>
                  <a:srgbClr val="F94609"/>
                </a:solidFill>
              </a:rPr>
              <a:t>hedge maze</a:t>
            </a:r>
            <a:r>
              <a:rPr lang="en-US" altLang="zh-CN" dirty="0"/>
              <a:t>”</a:t>
            </a:r>
            <a:endParaRPr lang="zh-CN" alt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A97EE48-DB40-584D-AC0C-F6A26524967B}"/>
              </a:ext>
            </a:extLst>
          </p:cNvPr>
          <p:cNvSpPr txBox="1"/>
          <p:nvPr/>
        </p:nvSpPr>
        <p:spPr>
          <a:xfrm>
            <a:off x="8084016" y="2671682"/>
            <a:ext cx="35789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“</a:t>
            </a:r>
            <a:r>
              <a:rPr lang="en-US" b="0" i="0" u="none" strike="noStrike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the leaves </a:t>
            </a:r>
            <a:r>
              <a:rPr lang="en-US" b="0" i="0" u="none" strike="noStrike" dirty="0">
                <a:solidFill>
                  <a:schemeClr val="accent6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yellow leaves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”</a:t>
            </a:r>
            <a:endParaRPr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A2B0613-61A3-D14F-B2ED-934748019F57}"/>
              </a:ext>
            </a:extLst>
          </p:cNvPr>
          <p:cNvSpPr txBox="1"/>
          <p:nvPr/>
        </p:nvSpPr>
        <p:spPr>
          <a:xfrm>
            <a:off x="268438" y="648101"/>
            <a:ext cx="573152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200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Instruction refinement </a:t>
            </a:r>
            <a:endParaRPr kumimoji="1" lang="zh-CN" altLang="en-US" sz="3200" dirty="0">
              <a:latin typeface="Calibri" panose="020F0502020204030204" pitchFamily="34" charset="0"/>
              <a:ea typeface="SimHe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3941428-60A1-2C42-ADA7-FB2D72D4DF76}"/>
              </a:ext>
            </a:extLst>
          </p:cNvPr>
          <p:cNvSpPr txBox="1"/>
          <p:nvPr/>
        </p:nvSpPr>
        <p:spPr>
          <a:xfrm>
            <a:off x="546404" y="1463095"/>
            <a:ext cx="15327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i="1" dirty="0">
                <a:solidFill>
                  <a:schemeClr val="accent1"/>
                </a:solidFill>
              </a:rPr>
              <a:t>original image</a:t>
            </a:r>
            <a:endParaRPr kumimoji="1" lang="zh-CN" altLang="en-US" i="1" dirty="0">
              <a:solidFill>
                <a:schemeClr val="accent1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3731E19-E2EC-B647-A2B7-CFA764C99C08}"/>
              </a:ext>
            </a:extLst>
          </p:cNvPr>
          <p:cNvSpPr txBox="1"/>
          <p:nvPr/>
        </p:nvSpPr>
        <p:spPr>
          <a:xfrm>
            <a:off x="2889039" y="1463095"/>
            <a:ext cx="1406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i="1" dirty="0">
                <a:solidFill>
                  <a:schemeClr val="accent1"/>
                </a:solidFill>
              </a:rPr>
              <a:t>edited image</a:t>
            </a:r>
            <a:endParaRPr kumimoji="1" lang="zh-CN" altLang="en-US" i="1" dirty="0">
              <a:solidFill>
                <a:schemeClr val="accent1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15C41AB-C991-8C4A-8C11-5AAC5608DD2B}"/>
              </a:ext>
            </a:extLst>
          </p:cNvPr>
          <p:cNvSpPr txBox="1"/>
          <p:nvPr/>
        </p:nvSpPr>
        <p:spPr>
          <a:xfrm>
            <a:off x="5642774" y="1463095"/>
            <a:ext cx="11807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i="1" dirty="0">
                <a:solidFill>
                  <a:schemeClr val="accent1"/>
                </a:solidFill>
              </a:rPr>
              <a:t>instruction</a:t>
            </a:r>
            <a:endParaRPr kumimoji="1" lang="zh-CN" altLang="en-US" i="1" dirty="0">
              <a:solidFill>
                <a:schemeClr val="accent1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5AC78F1-6105-2F46-9B92-86A686F2E892}"/>
              </a:ext>
            </a:extLst>
          </p:cNvPr>
          <p:cNvSpPr txBox="1"/>
          <p:nvPr/>
        </p:nvSpPr>
        <p:spPr>
          <a:xfrm>
            <a:off x="8296508" y="1463095"/>
            <a:ext cx="3153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i="1" dirty="0">
                <a:solidFill>
                  <a:schemeClr val="accent1"/>
                </a:solidFill>
              </a:rPr>
              <a:t>refined instruction </a:t>
            </a:r>
            <a:r>
              <a:rPr kumimoji="1" lang="en-US" altLang="zh-CN" dirty="0"/>
              <a:t>(reproduced)</a:t>
            </a:r>
            <a:endParaRPr kumimoji="1" lang="zh-CN" alt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7F9B40C-E2E7-3E40-BEDC-46411111BB1A}"/>
              </a:ext>
            </a:extLst>
          </p:cNvPr>
          <p:cNvSpPr txBox="1"/>
          <p:nvPr/>
        </p:nvSpPr>
        <p:spPr>
          <a:xfrm>
            <a:off x="4876323" y="4891220"/>
            <a:ext cx="27574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“</a:t>
            </a:r>
            <a:r>
              <a:rPr lang="en-US" b="0" i="0" u="none" strike="noStrike" dirty="0">
                <a:solidFill>
                  <a:schemeClr val="accent6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make it a sunny day</a:t>
            </a:r>
            <a:r>
              <a:rPr lang="en-US" altLang="zh-CN" dirty="0"/>
              <a:t>”</a:t>
            </a:r>
            <a:endParaRPr lang="zh-CN" alt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9E08379-25D1-F54A-A880-46DB55F2C0BA}"/>
              </a:ext>
            </a:extLst>
          </p:cNvPr>
          <p:cNvSpPr txBox="1"/>
          <p:nvPr/>
        </p:nvSpPr>
        <p:spPr>
          <a:xfrm>
            <a:off x="7797500" y="4891220"/>
            <a:ext cx="41519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“</a:t>
            </a:r>
            <a:r>
              <a:rPr lang="en-US" b="0" i="0" u="none" strike="noStrike" dirty="0">
                <a:solidFill>
                  <a:schemeClr val="accent6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make it a sunny day</a:t>
            </a:r>
            <a:r>
              <a:rPr lang="en-US" altLang="zh-CN" dirty="0"/>
              <a:t>”</a:t>
            </a:r>
            <a:endParaRPr lang="zh-CN" alt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FE9EC96-B1F1-C048-9DB1-8838A9C246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9825" y="1862239"/>
            <a:ext cx="1988216" cy="198821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23B9600-137F-3B46-9012-2D7A08C97B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327" y="1862239"/>
            <a:ext cx="1988217" cy="198821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EFF86DA-8B32-C243-BC94-8D3D3F03D6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9825" y="4078420"/>
            <a:ext cx="1988216" cy="198821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60E2C2A-F9BC-534D-B951-65CD736C90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3327" y="4078420"/>
            <a:ext cx="1988216" cy="1988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57563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AD18AB7-A5A2-5042-A691-ABD872EFD1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059" y="3745829"/>
            <a:ext cx="7393261" cy="1839691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B05D0C-86BB-8043-9E7D-8D93E5387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10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48480B-AD5F-BA40-82A1-2990A0C60BFB}"/>
              </a:ext>
            </a:extLst>
          </p:cNvPr>
          <p:cNvSpPr txBox="1"/>
          <p:nvPr/>
        </p:nvSpPr>
        <p:spPr>
          <a:xfrm>
            <a:off x="268438" y="648101"/>
            <a:ext cx="573152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200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I-CLIP as a judge</a:t>
            </a:r>
            <a:endParaRPr kumimoji="1" lang="zh-CN" altLang="en-US" sz="3200" dirty="0">
              <a:latin typeface="Calibri" panose="020F0502020204030204" pitchFamily="34" charset="0"/>
              <a:ea typeface="SimHei" panose="02010609060101010101" pitchFamily="49" charset="-122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4FEAB36-356C-CA46-BC16-E278078FF184}"/>
                  </a:ext>
                </a:extLst>
              </p:cNvPr>
              <p:cNvSpPr txBox="1"/>
              <p:nvPr/>
            </p:nvSpPr>
            <p:spPr>
              <a:xfrm>
                <a:off x="268438" y="1232876"/>
                <a:ext cx="7629691" cy="54776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CN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kumimoji="1" lang="en-US" altLang="zh-CN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ℒ</m:t>
                        </m:r>
                      </m:e>
                      <m:sub>
                        <m:r>
                          <m:rPr>
                            <m:sty m:val="p"/>
                          </m:rPr>
                          <a:rPr kumimoji="1" lang="en-US" altLang="zh-CN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I</m:t>
                        </m:r>
                        <m:r>
                          <a:rPr kumimoji="1" lang="en-US" altLang="zh-CN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kumimoji="1" lang="en-US" altLang="zh-CN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CLIP</m:t>
                        </m:r>
                      </m:sub>
                    </m:sSub>
                    <m:r>
                      <a:rPr kumimoji="1" lang="en-US" altLang="zh-CN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=1−</m:t>
                    </m:r>
                    <m:r>
                      <m:rPr>
                        <m:sty m:val="p"/>
                      </m:rPr>
                      <a:rPr kumimoji="1" lang="en-US" altLang="zh-CN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sim</m:t>
                    </m:r>
                    <m:r>
                      <a:rPr kumimoji="1" lang="en-US" altLang="zh-CN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(</m:t>
                    </m:r>
                    <m:sSup>
                      <m:sSupPr>
                        <m:ctrlPr>
                          <a:rPr kumimoji="1" lang="en-US" altLang="zh-CN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kumimoji="1" lang="en-US" altLang="zh-CN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𝑧</m:t>
                        </m:r>
                      </m:e>
                      <m:sup>
                        <m:r>
                          <a:rPr kumimoji="1" lang="en-US" altLang="zh-CN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𝑣𝑖𝑠</m:t>
                        </m:r>
                      </m:sup>
                    </m:sSup>
                    <m:r>
                      <a:rPr kumimoji="1" lang="en-US" altLang="zh-CN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,</m:t>
                    </m:r>
                    <m:sSup>
                      <m:sSupPr>
                        <m:ctrlPr>
                          <a:rPr kumimoji="1" lang="en-US" altLang="zh-CN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kumimoji="1" lang="en-US" altLang="zh-CN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𝑧</m:t>
                        </m:r>
                      </m:e>
                      <m:sup>
                        <m:r>
                          <a:rPr kumimoji="1" lang="en-US" altLang="zh-CN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𝑡𝑥𝑡</m:t>
                        </m:r>
                      </m:sup>
                    </m:sSup>
                    <m:r>
                      <a:rPr kumimoji="1" lang="en-US" altLang="zh-CN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endParaRPr kumimoji="1" lang="en-US" altLang="zh-CN" dirty="0">
                  <a:latin typeface="Calibri" panose="020F0502020204030204" pitchFamily="34" charset="0"/>
                  <a:ea typeface="SimHei" panose="02010609060101010101" pitchFamily="49" charset="-122"/>
                  <a:cs typeface="Calibri" panose="020F0502020204030204" pitchFamily="34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  <a:defRPr/>
                </a:pPr>
                <a:r>
                  <a:rPr kumimoji="1" lang="en-US" altLang="zh-CN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is used when finetuning </a:t>
                </a:r>
                <a:r>
                  <a:rPr kumimoji="1" lang="en-US" altLang="zh-CN" u="sng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SD-based image editing models</a:t>
                </a:r>
                <a:r>
                  <a:rPr kumimoji="1" lang="en-US" altLang="zh-CN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.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  <a:defRPr/>
                </a:pPr>
                <a:r>
                  <a:rPr kumimoji="1" lang="en-US" altLang="zh-CN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judges whether the</a:t>
                </a:r>
                <a:r>
                  <a:rPr kumimoji="1" lang="en-US" altLang="zh-CN" dirty="0">
                    <a:solidFill>
                      <a:srgbClr val="F94609"/>
                    </a:solidFill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 differences</a:t>
                </a:r>
                <a:r>
                  <a:rPr kumimoji="1" lang="en-US" altLang="zh-CN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 between </a:t>
                </a:r>
                <a:r>
                  <a:rPr kumimoji="1" lang="en-US" altLang="zh-CN" i="1" dirty="0">
                    <a:solidFill>
                      <a:schemeClr val="accent1"/>
                    </a:solidFill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original images </a:t>
                </a:r>
                <a:r>
                  <a:rPr kumimoji="1" lang="en-US" altLang="zh-CN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and </a:t>
                </a:r>
              </a:p>
              <a:p>
                <a:pPr lvl="1">
                  <a:lnSpc>
                    <a:spcPct val="150000"/>
                  </a:lnSpc>
                  <a:defRPr/>
                </a:pPr>
                <a:r>
                  <a:rPr kumimoji="1" lang="en-US" altLang="zh-CN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     generated</a:t>
                </a:r>
                <a:r>
                  <a:rPr kumimoji="1" lang="en-US" altLang="zh-CN" i="1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i="1" dirty="0">
                    <a:solidFill>
                      <a:schemeClr val="accent1"/>
                    </a:solidFill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edited images</a:t>
                </a:r>
                <a:r>
                  <a:rPr kumimoji="1" lang="en-US" altLang="zh-CN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 match </a:t>
                </a:r>
                <a:r>
                  <a:rPr kumimoji="1" lang="en-US" altLang="zh-CN" i="1" dirty="0">
                    <a:solidFill>
                      <a:schemeClr val="accent1"/>
                    </a:solidFill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instruction</a:t>
                </a:r>
                <a:r>
                  <a:rPr kumimoji="1" lang="en-US" altLang="zh-CN" i="1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.</a:t>
                </a:r>
                <a:endParaRPr kumimoji="1" lang="en-US" altLang="zh-CN" dirty="0">
                  <a:latin typeface="Calibri" panose="020F0502020204030204" pitchFamily="34" charset="0"/>
                  <a:ea typeface="SimHei" panose="02010609060101010101" pitchFamily="49" charset="-122"/>
                  <a:cs typeface="Calibri" panose="020F0502020204030204" pitchFamily="34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  <a:defRPr/>
                </a:pPr>
                <a:r>
                  <a:rPr kumimoji="1" lang="en-US" altLang="zh-CN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However, </a:t>
                </a:r>
                <a:r>
                  <a:rPr kumimoji="1" lang="en-US" altLang="zh-CN" u="sng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SD works in latent space</a:t>
                </a:r>
                <a:r>
                  <a:rPr kumimoji="1" lang="en-US" altLang="zh-CN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 while DINO works on raw images.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  <a:defRPr/>
                </a:pPr>
                <a:r>
                  <a:rPr kumimoji="1" lang="en-US" altLang="zh-CN" b="1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Distillation</a:t>
                </a:r>
                <a:r>
                  <a:rPr kumimoji="1" lang="en-US" altLang="zh-CN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: DINOv2 </a:t>
                </a:r>
                <a14:m>
                  <m:oMath xmlns:m="http://schemas.openxmlformats.org/officeDocument/2006/math">
                    <m:r>
                      <a:rPr kumimoji="1" lang="en-US" altLang="zh-CN" b="0" i="1" smtClean="0">
                        <a:latin typeface="Cambria Math" panose="02040503050406030204" pitchFamily="18" charset="0"/>
                        <a:ea typeface="SimHei" panose="02010609060101010101" pitchFamily="49" charset="-122"/>
                        <a:cs typeface="Calibri" panose="020F0502020204030204" pitchFamily="34" charset="0"/>
                      </a:rPr>
                      <m:t>→</m:t>
                    </m:r>
                  </m:oMath>
                </a14:m>
                <a:r>
                  <a:rPr kumimoji="1" lang="en-US" altLang="zh-CN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 LD-DINOv2.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  <a:defRPr/>
                </a:pPr>
                <a:endParaRPr kumimoji="1" lang="en-US" altLang="zh-CN" dirty="0">
                  <a:latin typeface="Calibri" panose="020F0502020204030204" pitchFamily="34" charset="0"/>
                  <a:ea typeface="SimHei" panose="02010609060101010101" pitchFamily="49" charset="-122"/>
                  <a:cs typeface="Calibri" panose="020F0502020204030204" pitchFamily="34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  <a:defRPr/>
                </a:pPr>
                <a:endParaRPr kumimoji="1" lang="en-US" altLang="zh-CN" dirty="0">
                  <a:latin typeface="Calibri" panose="020F0502020204030204" pitchFamily="34" charset="0"/>
                  <a:ea typeface="SimHei" panose="02010609060101010101" pitchFamily="49" charset="-122"/>
                  <a:cs typeface="Calibri" panose="020F0502020204030204" pitchFamily="34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  <a:defRPr/>
                </a:pPr>
                <a:endParaRPr kumimoji="1" lang="en-US" altLang="zh-CN" dirty="0">
                  <a:latin typeface="Calibri" panose="020F0502020204030204" pitchFamily="34" charset="0"/>
                  <a:ea typeface="SimHei" panose="02010609060101010101" pitchFamily="49" charset="-122"/>
                  <a:cs typeface="Calibri" panose="020F0502020204030204" pitchFamily="34" charset="0"/>
                </a:endParaRPr>
              </a:p>
              <a:p>
                <a:pPr lvl="1">
                  <a:lnSpc>
                    <a:spcPct val="150000"/>
                  </a:lnSpc>
                  <a:defRPr/>
                </a:pPr>
                <a:endParaRPr kumimoji="1" lang="en-US" altLang="zh-CN" dirty="0">
                  <a:latin typeface="Calibri" panose="020F0502020204030204" pitchFamily="34" charset="0"/>
                  <a:ea typeface="SimHei" panose="02010609060101010101" pitchFamily="49" charset="-122"/>
                  <a:cs typeface="Calibri" panose="020F0502020204030204" pitchFamily="34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  <a:defRPr/>
                </a:pPr>
                <a:r>
                  <a:rPr kumimoji="1" lang="en-US" altLang="zh-CN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Replace DINOv2 in I-</a:t>
                </a:r>
                <a:r>
                  <a:rPr kumimoji="1" lang="en-US" altLang="zh-CN" dirty="0" err="1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CLIP</a:t>
                </a:r>
                <a:r>
                  <a:rPr kumimoji="1" lang="en-US" altLang="zh-CN" baseline="-25000" dirty="0" err="1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vis</a:t>
                </a:r>
                <a:r>
                  <a:rPr kumimoji="1" lang="en-US" altLang="zh-CN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 with LD-DINOv2.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  <a:defRPr/>
                </a:pPr>
                <a:r>
                  <a:rPr kumimoji="1" lang="en-US" altLang="zh-CN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In this way, I-CLIP can extracting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zh-CN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kumimoji="1" lang="en-US" altLang="zh-CN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𝑧</m:t>
                        </m:r>
                      </m:e>
                      <m:sup>
                        <m:r>
                          <a:rPr kumimoji="1" lang="en-US" altLang="zh-CN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𝑣𝑖𝑠</m:t>
                        </m:r>
                      </m:sup>
                    </m:sSup>
                  </m:oMath>
                </a14:m>
                <a:r>
                  <a:rPr kumimoji="1" lang="en-US" altLang="zh-CN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 from SD outputs</a:t>
                </a:r>
                <a:r>
                  <a:rPr kumimoji="1" lang="en-US" altLang="zh-CN" b="1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 (in</a:t>
                </a:r>
                <a:r>
                  <a:rPr kumimoji="1" lang="en-US" altLang="zh-CN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b="1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latent space) </a:t>
                </a:r>
                <a:r>
                  <a:rPr kumimoji="1" lang="en-US" altLang="zh-CN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with LD-DINOv2, without decoding SD outputs into generated images</a:t>
                </a:r>
                <a:endParaRPr kumimoji="1" lang="en-US" altLang="zh-CN" b="1" dirty="0">
                  <a:latin typeface="Calibri" panose="020F0502020204030204" pitchFamily="34" charset="0"/>
                  <a:ea typeface="SimHei" panose="02010609060101010101" pitchFamily="49" charset="-122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4FEAB36-356C-CA46-BC16-E278078FF1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438" y="1232876"/>
                <a:ext cx="7629691" cy="5477653"/>
              </a:xfrm>
              <a:prstGeom prst="rect">
                <a:avLst/>
              </a:prstGeom>
              <a:blipFill>
                <a:blip r:embed="rId3"/>
                <a:stretch>
                  <a:fillRect l="-498" b="-69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1" name="Picture 40">
            <a:extLst>
              <a:ext uri="{FF2B5EF4-FFF2-40B4-BE49-F238E27FC236}">
                <a16:creationId xmlns:a16="http://schemas.microsoft.com/office/drawing/2014/main" id="{A82BE120-F252-804F-9823-2CF56D7447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2499" y="1141015"/>
            <a:ext cx="4781063" cy="2696676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251D8D0-4181-7241-B162-E3A6ADCCB964}"/>
              </a:ext>
            </a:extLst>
          </p:cNvPr>
          <p:cNvCxnSpPr>
            <a:cxnSpLocks/>
          </p:cNvCxnSpPr>
          <p:nvPr/>
        </p:nvCxnSpPr>
        <p:spPr>
          <a:xfrm flipV="1">
            <a:off x="6686550" y="3297103"/>
            <a:ext cx="1211579" cy="6746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1240D9F7-EADA-6D40-B6F8-64173B92E162}"/>
              </a:ext>
            </a:extLst>
          </p:cNvPr>
          <p:cNvSpPr txBox="1"/>
          <p:nvPr/>
        </p:nvSpPr>
        <p:spPr>
          <a:xfrm rot="19813641">
            <a:off x="6968049" y="3554901"/>
            <a:ext cx="8757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replace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13766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B05D0C-86BB-8043-9E7D-8D93E5387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11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48480B-AD5F-BA40-82A1-2990A0C60BFB}"/>
              </a:ext>
            </a:extLst>
          </p:cNvPr>
          <p:cNvSpPr txBox="1"/>
          <p:nvPr/>
        </p:nvSpPr>
        <p:spPr>
          <a:xfrm>
            <a:off x="268438" y="648101"/>
            <a:ext cx="573152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200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I-CLIP as a judge</a:t>
            </a:r>
            <a:endParaRPr kumimoji="1" lang="zh-CN" altLang="en-US" sz="3200" dirty="0">
              <a:latin typeface="Calibri" panose="020F0502020204030204" pitchFamily="34" charset="0"/>
              <a:ea typeface="SimHei" panose="02010609060101010101" pitchFamily="49" charset="-122"/>
              <a:cs typeface="Calibri" panose="020F0502020204030204" pitchFamily="34" charset="0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81FD588-6829-C644-B09A-A572ED75FE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835" y="2062646"/>
            <a:ext cx="1979930" cy="197993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B3DA2F39-B76F-864E-8713-F8EFD6FF0395}"/>
              </a:ext>
            </a:extLst>
          </p:cNvPr>
          <p:cNvSpPr txBox="1"/>
          <p:nvPr/>
        </p:nvSpPr>
        <p:spPr>
          <a:xfrm>
            <a:off x="546404" y="1463095"/>
            <a:ext cx="15327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i="1" dirty="0">
                <a:solidFill>
                  <a:schemeClr val="accent1"/>
                </a:solidFill>
              </a:rPr>
              <a:t>original image</a:t>
            </a:r>
            <a:endParaRPr kumimoji="1" lang="zh-CN" altLang="en-US" i="1" dirty="0">
              <a:solidFill>
                <a:schemeClr val="accent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E59B4D-79E9-164E-990B-A4250FA95B51}"/>
              </a:ext>
            </a:extLst>
          </p:cNvPr>
          <p:cNvSpPr txBox="1"/>
          <p:nvPr/>
        </p:nvSpPr>
        <p:spPr>
          <a:xfrm>
            <a:off x="8507022" y="1093763"/>
            <a:ext cx="1406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i="1" dirty="0">
                <a:solidFill>
                  <a:schemeClr val="accent1"/>
                </a:solidFill>
              </a:rPr>
              <a:t>edited image</a:t>
            </a:r>
            <a:endParaRPr kumimoji="1" lang="zh-CN" altLang="en-US" i="1" dirty="0">
              <a:solidFill>
                <a:schemeClr val="accent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651878B-5289-1D43-B4FF-17824F88F4B3}"/>
              </a:ext>
            </a:extLst>
          </p:cNvPr>
          <p:cNvSpPr txBox="1"/>
          <p:nvPr/>
        </p:nvSpPr>
        <p:spPr>
          <a:xfrm>
            <a:off x="3072315" y="1453177"/>
            <a:ext cx="11807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i="1" dirty="0">
                <a:solidFill>
                  <a:schemeClr val="accent1"/>
                </a:solidFill>
              </a:rPr>
              <a:t>instruction</a:t>
            </a:r>
            <a:endParaRPr kumimoji="1" lang="zh-CN" altLang="en-US" i="1" dirty="0">
              <a:solidFill>
                <a:schemeClr val="accent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E59F574-10CD-0B4C-A400-3F305F6C674A}"/>
              </a:ext>
            </a:extLst>
          </p:cNvPr>
          <p:cNvSpPr txBox="1"/>
          <p:nvPr/>
        </p:nvSpPr>
        <p:spPr>
          <a:xfrm>
            <a:off x="2489087" y="2858027"/>
            <a:ext cx="22941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“make it a cat”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A652A0E-7055-A14C-8934-85A4FD4C53B6}"/>
              </a:ext>
            </a:extLst>
          </p:cNvPr>
          <p:cNvCxnSpPr>
            <a:cxnSpLocks/>
          </p:cNvCxnSpPr>
          <p:nvPr/>
        </p:nvCxnSpPr>
        <p:spPr>
          <a:xfrm>
            <a:off x="4830179" y="3038834"/>
            <a:ext cx="147918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5F8F288-2833-A943-8CC5-8A5A219F8944}"/>
              </a:ext>
            </a:extLst>
          </p:cNvPr>
          <p:cNvSpPr txBox="1"/>
          <p:nvPr/>
        </p:nvSpPr>
        <p:spPr>
          <a:xfrm>
            <a:off x="7204420" y="1463095"/>
            <a:ext cx="734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dirty="0"/>
              <a:t>paper</a:t>
            </a:r>
            <a:endParaRPr kumimoji="1" lang="zh-CN" alt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DB2631D-802F-9543-A0C8-31158655E027}"/>
              </a:ext>
            </a:extLst>
          </p:cNvPr>
          <p:cNvSpPr txBox="1"/>
          <p:nvPr/>
        </p:nvSpPr>
        <p:spPr>
          <a:xfrm>
            <a:off x="10182405" y="1463095"/>
            <a:ext cx="1275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dirty="0"/>
              <a:t>reproduced</a:t>
            </a:r>
            <a:endParaRPr kumimoji="1" lang="zh-CN" alt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2388EE7-4EDC-7945-A229-AEEB0175BC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835" y="4229969"/>
            <a:ext cx="1979930" cy="197993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DC974AF-5B08-A445-9417-125E849B4EFF}"/>
              </a:ext>
            </a:extLst>
          </p:cNvPr>
          <p:cNvSpPr txBox="1"/>
          <p:nvPr/>
        </p:nvSpPr>
        <p:spPr>
          <a:xfrm>
            <a:off x="2433063" y="5069781"/>
            <a:ext cx="22941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“remove snow”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2899595-7014-B646-B09F-A2D601B7D0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1703" y="2062646"/>
            <a:ext cx="1979930" cy="197993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44AF973-6A49-8941-A57C-652B7A7929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30435" y="2062646"/>
            <a:ext cx="1979930" cy="1979930"/>
          </a:xfrm>
          <a:prstGeom prst="rect">
            <a:avLst/>
          </a:prstGeom>
        </p:spPr>
      </p:pic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74581B9-E080-2C43-80C3-FDF79EF0F94B}"/>
              </a:ext>
            </a:extLst>
          </p:cNvPr>
          <p:cNvCxnSpPr>
            <a:cxnSpLocks/>
          </p:cNvCxnSpPr>
          <p:nvPr/>
        </p:nvCxnSpPr>
        <p:spPr>
          <a:xfrm>
            <a:off x="4772961" y="5254447"/>
            <a:ext cx="147918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1F34880F-6D4E-394D-ABC7-88AECDB3EA1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1703" y="4229969"/>
            <a:ext cx="1979930" cy="19799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87C76E0-DBE8-9A4E-9EAE-46DEC85B8B6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30435" y="4228622"/>
            <a:ext cx="1979930" cy="1979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2462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A17DB6-4DDE-6BE1-38F4-74461CB7E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B5CE212C-8B25-00BD-05A6-8B71714BE39E}"/>
              </a:ext>
            </a:extLst>
          </p:cNvPr>
          <p:cNvSpPr txBox="1"/>
          <p:nvPr/>
        </p:nvSpPr>
        <p:spPr>
          <a:xfrm>
            <a:off x="268438" y="648101"/>
            <a:ext cx="4533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CN" altLang="zh-CN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Outline</a:t>
            </a:r>
            <a:endParaRPr kumimoji="1" lang="zh-CN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SimHe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75A5FB8-AA6F-8421-F854-660F84EAD04D}"/>
              </a:ext>
            </a:extLst>
          </p:cNvPr>
          <p:cNvSpPr txBox="1"/>
          <p:nvPr/>
        </p:nvSpPr>
        <p:spPr>
          <a:xfrm>
            <a:off x="268438" y="1232876"/>
            <a:ext cx="1966500" cy="21268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C9C9C9"/>
                </a:solidFill>
                <a:effectLst/>
                <a:uLnTx/>
                <a:uFillTx/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Introduction</a:t>
            </a:r>
          </a:p>
          <a:p>
            <a:pPr marL="742950" marR="0" lvl="1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itchFamily="2" charset="2"/>
              <a:buChar char="ü"/>
              <a:tabLst/>
              <a:defRPr/>
            </a:pPr>
            <a:r>
              <a:rPr kumimoji="1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C9C9C9"/>
                </a:solidFill>
                <a:effectLst/>
                <a:uLnTx/>
                <a:uFillTx/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Motivation</a:t>
            </a:r>
          </a:p>
          <a:p>
            <a:pPr marL="742950" marR="0" lvl="1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itchFamily="2" charset="2"/>
              <a:buChar char="ü"/>
              <a:tabLst/>
              <a:defRPr/>
            </a:pPr>
            <a:r>
              <a:rPr kumimoji="1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C9C9C9"/>
                </a:solidFill>
                <a:effectLst/>
                <a:uLnTx/>
                <a:uFillTx/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Methods</a:t>
            </a:r>
          </a:p>
          <a:p>
            <a:pPr marL="742950" marR="0" lvl="1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itchFamily="2" charset="2"/>
              <a:buChar char="ü"/>
              <a:tabLst/>
              <a:defRPr/>
            </a:pPr>
            <a:r>
              <a:rPr kumimoji="1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C9C9C9"/>
                </a:solidFill>
                <a:effectLst/>
                <a:uLnTx/>
                <a:uFillTx/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Results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Improvements</a:t>
            </a:r>
          </a:p>
        </p:txBody>
      </p:sp>
    </p:spTree>
    <p:extLst>
      <p:ext uri="{BB962C8B-B14F-4D97-AF65-F5344CB8AC3E}">
        <p14:creationId xmlns:p14="http://schemas.microsoft.com/office/powerpoint/2010/main" val="5745954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549442-59FD-6F3B-5D62-94FCEDE3D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0C7005-5EA5-BE97-F138-098892DE4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13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F43075C-8E7D-904C-24E4-D530D40D0A0C}"/>
              </a:ext>
            </a:extLst>
          </p:cNvPr>
          <p:cNvSpPr txBox="1"/>
          <p:nvPr/>
        </p:nvSpPr>
        <p:spPr>
          <a:xfrm>
            <a:off x="268438" y="311669"/>
            <a:ext cx="727223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200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Key changes uncaught</a:t>
            </a:r>
            <a:endParaRPr kumimoji="1" lang="zh-CN" altLang="en-US" sz="3200" dirty="0">
              <a:latin typeface="Calibri" panose="020F0502020204030204" pitchFamily="34" charset="0"/>
              <a:ea typeface="SimHe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BF944D-C759-8E92-2E00-1706C314384C}"/>
              </a:ext>
            </a:extLst>
          </p:cNvPr>
          <p:cNvSpPr txBox="1"/>
          <p:nvPr/>
        </p:nvSpPr>
        <p:spPr>
          <a:xfrm>
            <a:off x="268438" y="896444"/>
            <a:ext cx="11507766" cy="4648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In the </a:t>
            </a:r>
            <a:r>
              <a:rPr kumimoji="1" lang="en-US" altLang="zh-CN" u="sng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refined dataset</a:t>
            </a:r>
            <a:r>
              <a:rPr kumimoji="1" lang="en-US" altLang="zh-CN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,</a:t>
            </a:r>
            <a:r>
              <a:rPr kumimoji="1" lang="zh-CN" altLang="en-US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there</a:t>
            </a:r>
            <a:r>
              <a:rPr kumimoji="1" lang="zh-CN" altLang="en-US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are</a:t>
            </a:r>
            <a:r>
              <a:rPr kumimoji="1" lang="zh-CN" altLang="en-US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still</a:t>
            </a:r>
            <a:r>
              <a:rPr kumimoji="1" lang="zh-CN" altLang="en-US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some examples where the refined instruction doesn’t match the image pair well:</a:t>
            </a:r>
          </a:p>
        </p:txBody>
      </p:sp>
      <p:pic>
        <p:nvPicPr>
          <p:cNvPr id="32" name="Picture 1">
            <a:extLst>
              <a:ext uri="{FF2B5EF4-FFF2-40B4-BE49-F238E27FC236}">
                <a16:creationId xmlns:a16="http://schemas.microsoft.com/office/drawing/2014/main" id="{0498920A-729E-C0DE-18B4-F5BBBC50FBC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97287" y="1830207"/>
            <a:ext cx="1979930" cy="1979930"/>
          </a:xfrm>
          <a:prstGeom prst="rect">
            <a:avLst/>
          </a:prstGeom>
        </p:spPr>
      </p:pic>
      <p:pic>
        <p:nvPicPr>
          <p:cNvPr id="33" name="Picture 2">
            <a:extLst>
              <a:ext uri="{FF2B5EF4-FFF2-40B4-BE49-F238E27FC236}">
                <a16:creationId xmlns:a16="http://schemas.microsoft.com/office/drawing/2014/main" id="{C9E4BD68-0B9F-260E-E0CE-F1BC6C70BD7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076956" y="1830207"/>
            <a:ext cx="1979930" cy="1979930"/>
          </a:xfrm>
          <a:prstGeom prst="rect">
            <a:avLst/>
          </a:prstGeom>
        </p:spPr>
      </p:pic>
      <p:sp>
        <p:nvSpPr>
          <p:cNvPr id="34" name="TextBox 21">
            <a:extLst>
              <a:ext uri="{FF2B5EF4-FFF2-40B4-BE49-F238E27FC236}">
                <a16:creationId xmlns:a16="http://schemas.microsoft.com/office/drawing/2014/main" id="{4C4832F8-A8C0-82AC-D10E-F9AEDB4F8E84}"/>
              </a:ext>
            </a:extLst>
          </p:cNvPr>
          <p:cNvSpPr txBox="1"/>
          <p:nvPr/>
        </p:nvSpPr>
        <p:spPr>
          <a:xfrm>
            <a:off x="5356625" y="2617024"/>
            <a:ext cx="319182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“turn</a:t>
            </a:r>
            <a:r>
              <a:rPr lang="zh-CN" altLang="en-US" dirty="0"/>
              <a:t> </a:t>
            </a:r>
            <a:r>
              <a:rPr lang="en-US" altLang="zh-CN" dirty="0"/>
              <a:t>it</a:t>
            </a:r>
            <a:r>
              <a:rPr lang="zh-CN" altLang="en-US" dirty="0"/>
              <a:t> </a:t>
            </a:r>
            <a:r>
              <a:rPr lang="en-US" altLang="zh-CN" dirty="0"/>
              <a:t>into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shopping mall”</a:t>
            </a:r>
          </a:p>
          <a:p>
            <a:pPr algn="ctr"/>
            <a:r>
              <a:rPr lang="en-US" altLang="zh-CN" dirty="0">
                <a:solidFill>
                  <a:srgbClr val="F94609"/>
                </a:solidFill>
              </a:rPr>
              <a:t>(?????)</a:t>
            </a:r>
            <a:endParaRPr lang="zh-CN" altLang="en-US" dirty="0">
              <a:solidFill>
                <a:srgbClr val="F94609"/>
              </a:solidFill>
            </a:endParaRPr>
          </a:p>
        </p:txBody>
      </p:sp>
      <p:sp>
        <p:nvSpPr>
          <p:cNvPr id="42" name="TextBox 26">
            <a:extLst>
              <a:ext uri="{FF2B5EF4-FFF2-40B4-BE49-F238E27FC236}">
                <a16:creationId xmlns:a16="http://schemas.microsoft.com/office/drawing/2014/main" id="{518FAA8F-D7F1-0C0A-DAFB-5C045B0A5FFE}"/>
              </a:ext>
            </a:extLst>
          </p:cNvPr>
          <p:cNvSpPr txBox="1"/>
          <p:nvPr/>
        </p:nvSpPr>
        <p:spPr>
          <a:xfrm>
            <a:off x="1020856" y="1406086"/>
            <a:ext cx="15327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i="1" dirty="0">
                <a:solidFill>
                  <a:schemeClr val="accent1"/>
                </a:solidFill>
              </a:rPr>
              <a:t>original image</a:t>
            </a:r>
            <a:endParaRPr kumimoji="1" lang="zh-CN" altLang="en-US" i="1" dirty="0">
              <a:solidFill>
                <a:schemeClr val="accent1"/>
              </a:solidFill>
            </a:endParaRPr>
          </a:p>
        </p:txBody>
      </p:sp>
      <p:sp>
        <p:nvSpPr>
          <p:cNvPr id="43" name="TextBox 48">
            <a:extLst>
              <a:ext uri="{FF2B5EF4-FFF2-40B4-BE49-F238E27FC236}">
                <a16:creationId xmlns:a16="http://schemas.microsoft.com/office/drawing/2014/main" id="{4A94B5C8-A764-9802-CF7F-278E3C782607}"/>
              </a:ext>
            </a:extLst>
          </p:cNvPr>
          <p:cNvSpPr txBox="1"/>
          <p:nvPr/>
        </p:nvSpPr>
        <p:spPr>
          <a:xfrm>
            <a:off x="3363491" y="1406086"/>
            <a:ext cx="1406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i="1" dirty="0">
                <a:solidFill>
                  <a:schemeClr val="accent1"/>
                </a:solidFill>
              </a:rPr>
              <a:t>edited image</a:t>
            </a:r>
            <a:endParaRPr kumimoji="1" lang="zh-CN" altLang="en-US" i="1" dirty="0">
              <a:solidFill>
                <a:schemeClr val="accent1"/>
              </a:solidFill>
            </a:endParaRPr>
          </a:p>
        </p:txBody>
      </p:sp>
      <p:sp>
        <p:nvSpPr>
          <p:cNvPr id="44" name="TextBox 52">
            <a:extLst>
              <a:ext uri="{FF2B5EF4-FFF2-40B4-BE49-F238E27FC236}">
                <a16:creationId xmlns:a16="http://schemas.microsoft.com/office/drawing/2014/main" id="{C77FA90F-DDDE-415C-5B00-A80AAD4FC375}"/>
              </a:ext>
            </a:extLst>
          </p:cNvPr>
          <p:cNvSpPr txBox="1"/>
          <p:nvPr/>
        </p:nvSpPr>
        <p:spPr>
          <a:xfrm>
            <a:off x="5959195" y="1906416"/>
            <a:ext cx="19454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i="1" dirty="0">
                <a:solidFill>
                  <a:schemeClr val="accent1"/>
                </a:solidFill>
              </a:rPr>
              <a:t>original instruction</a:t>
            </a:r>
            <a:endParaRPr kumimoji="1" lang="zh-CN" altLang="en-US" i="1" dirty="0">
              <a:solidFill>
                <a:schemeClr val="accent1"/>
              </a:solidFill>
            </a:endParaRPr>
          </a:p>
        </p:txBody>
      </p:sp>
      <p:sp>
        <p:nvSpPr>
          <p:cNvPr id="45" name="TextBox 53">
            <a:extLst>
              <a:ext uri="{FF2B5EF4-FFF2-40B4-BE49-F238E27FC236}">
                <a16:creationId xmlns:a16="http://schemas.microsoft.com/office/drawing/2014/main" id="{E10B9B1E-BAC9-3101-1014-CA82C2DA2207}"/>
              </a:ext>
            </a:extLst>
          </p:cNvPr>
          <p:cNvSpPr txBox="1"/>
          <p:nvPr/>
        </p:nvSpPr>
        <p:spPr>
          <a:xfrm>
            <a:off x="9401000" y="1906416"/>
            <a:ext cx="18938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i="1" dirty="0">
                <a:solidFill>
                  <a:schemeClr val="accent1"/>
                </a:solidFill>
              </a:rPr>
              <a:t>refined instruction</a:t>
            </a:r>
            <a:endParaRPr kumimoji="1" lang="zh-CN" altLang="en-US" i="1" dirty="0">
              <a:solidFill>
                <a:schemeClr val="accent1"/>
              </a:solidFill>
            </a:endParaRPr>
          </a:p>
        </p:txBody>
      </p:sp>
      <p:sp>
        <p:nvSpPr>
          <p:cNvPr id="50" name="TextBox 21">
            <a:extLst>
              <a:ext uri="{FF2B5EF4-FFF2-40B4-BE49-F238E27FC236}">
                <a16:creationId xmlns:a16="http://schemas.microsoft.com/office/drawing/2014/main" id="{D05F3D21-1DB9-C125-13DD-0776B3B01871}"/>
              </a:ext>
            </a:extLst>
          </p:cNvPr>
          <p:cNvSpPr txBox="1"/>
          <p:nvPr/>
        </p:nvSpPr>
        <p:spPr>
          <a:xfrm>
            <a:off x="8752012" y="2608397"/>
            <a:ext cx="319182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“make it into a movie poster”</a:t>
            </a:r>
          </a:p>
          <a:p>
            <a:pPr algn="ctr"/>
            <a:r>
              <a:rPr lang="en-US" altLang="zh-CN" dirty="0">
                <a:solidFill>
                  <a:srgbClr val="F94609"/>
                </a:solidFill>
              </a:rPr>
              <a:t>(??)</a:t>
            </a:r>
            <a:endParaRPr lang="zh-CN" altLang="en-US" dirty="0">
              <a:solidFill>
                <a:srgbClr val="F94609"/>
              </a:solidFill>
            </a:endParaRPr>
          </a:p>
        </p:txBody>
      </p:sp>
      <p:sp>
        <p:nvSpPr>
          <p:cNvPr id="51" name="TextBox 15">
            <a:extLst>
              <a:ext uri="{FF2B5EF4-FFF2-40B4-BE49-F238E27FC236}">
                <a16:creationId xmlns:a16="http://schemas.microsoft.com/office/drawing/2014/main" id="{CA8D8A5B-ED91-4104-531E-FF89C5106AE5}"/>
              </a:ext>
            </a:extLst>
          </p:cNvPr>
          <p:cNvSpPr txBox="1"/>
          <p:nvPr/>
        </p:nvSpPr>
        <p:spPr>
          <a:xfrm>
            <a:off x="4324013" y="708362"/>
            <a:ext cx="797350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600" dirty="0">
                <a:solidFill>
                  <a:schemeClr val="bg1">
                    <a:lumMod val="65000"/>
                  </a:schemeClr>
                </a:solidFill>
              </a:rPr>
              <a:t>Preview: https://huggingface.co/datasets/SherryXTChen/InstructCLIP-InstructPix2Pix-Data</a:t>
            </a:r>
            <a:endParaRPr lang="zh-CN" altLang="en-US" sz="16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" name="TextBox 4">
            <a:extLst>
              <a:ext uri="{FF2B5EF4-FFF2-40B4-BE49-F238E27FC236}">
                <a16:creationId xmlns:a16="http://schemas.microsoft.com/office/drawing/2014/main" id="{EC186C6D-AAA8-AA09-3CE6-DD1131A0E6AD}"/>
              </a:ext>
            </a:extLst>
          </p:cNvPr>
          <p:cNvSpPr txBox="1"/>
          <p:nvPr/>
        </p:nvSpPr>
        <p:spPr>
          <a:xfrm>
            <a:off x="268438" y="3918456"/>
            <a:ext cx="9438546" cy="4648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Actually, if we feed our editing model with the original image and the refined instruction above:</a:t>
            </a:r>
          </a:p>
        </p:txBody>
      </p:sp>
      <p:pic>
        <p:nvPicPr>
          <p:cNvPr id="3" name="Picture 1">
            <a:extLst>
              <a:ext uri="{FF2B5EF4-FFF2-40B4-BE49-F238E27FC236}">
                <a16:creationId xmlns:a16="http://schemas.microsoft.com/office/drawing/2014/main" id="{061C5D6B-380D-3A93-D115-E2B0582752F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97287" y="4531610"/>
            <a:ext cx="1979930" cy="1979930"/>
          </a:xfrm>
          <a:prstGeom prst="rect">
            <a:avLst/>
          </a:prstGeom>
        </p:spPr>
      </p:pic>
      <p:cxnSp>
        <p:nvCxnSpPr>
          <p:cNvPr id="4" name="Straight Arrow Connector 23">
            <a:extLst>
              <a:ext uri="{FF2B5EF4-FFF2-40B4-BE49-F238E27FC236}">
                <a16:creationId xmlns:a16="http://schemas.microsoft.com/office/drawing/2014/main" id="{84A264F8-CE57-52AD-B8CD-F5C796245284}"/>
              </a:ext>
            </a:extLst>
          </p:cNvPr>
          <p:cNvCxnSpPr>
            <a:cxnSpLocks/>
          </p:cNvCxnSpPr>
          <p:nvPr/>
        </p:nvCxnSpPr>
        <p:spPr>
          <a:xfrm>
            <a:off x="3097779" y="5591840"/>
            <a:ext cx="3535935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TextBox 21">
            <a:extLst>
              <a:ext uri="{FF2B5EF4-FFF2-40B4-BE49-F238E27FC236}">
                <a16:creationId xmlns:a16="http://schemas.microsoft.com/office/drawing/2014/main" id="{84A4D6E8-2478-5184-222B-CA126020D8DC}"/>
              </a:ext>
            </a:extLst>
          </p:cNvPr>
          <p:cNvSpPr txBox="1"/>
          <p:nvPr/>
        </p:nvSpPr>
        <p:spPr>
          <a:xfrm>
            <a:off x="3254111" y="5152243"/>
            <a:ext cx="3191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“make it into a movie poster”</a:t>
            </a:r>
          </a:p>
        </p:txBody>
      </p:sp>
      <p:pic>
        <p:nvPicPr>
          <p:cNvPr id="10" name="Picture 1">
            <a:extLst>
              <a:ext uri="{FF2B5EF4-FFF2-40B4-BE49-F238E27FC236}">
                <a16:creationId xmlns:a16="http://schemas.microsoft.com/office/drawing/2014/main" id="{568AC12D-857D-41D4-4D27-AA35136086E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900635" y="4531610"/>
            <a:ext cx="1979930" cy="1979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23241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97905-AD45-86D8-70BD-95AFF3644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8A8DD8-C54E-0738-ADEB-469CB62E8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14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5EE145C-A5BF-DD15-922C-E3ADECC9D0D4}"/>
              </a:ext>
            </a:extLst>
          </p:cNvPr>
          <p:cNvSpPr txBox="1"/>
          <p:nvPr/>
        </p:nvSpPr>
        <p:spPr>
          <a:xfrm>
            <a:off x="268438" y="311669"/>
            <a:ext cx="727223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200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Instruction refinement mechanism</a:t>
            </a:r>
            <a:endParaRPr kumimoji="1" lang="zh-CN" altLang="en-US" sz="3200" dirty="0">
              <a:latin typeface="Calibri" panose="020F0502020204030204" pitchFamily="34" charset="0"/>
              <a:ea typeface="SimHei" panose="02010609060101010101" pitchFamily="49" charset="-122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B993A25-930E-4F6E-3ECF-9BA5614F7672}"/>
                  </a:ext>
                </a:extLst>
              </p:cNvPr>
              <p:cNvSpPr txBox="1"/>
              <p:nvPr/>
            </p:nvSpPr>
            <p:spPr>
              <a:xfrm>
                <a:off x="268438" y="896444"/>
                <a:ext cx="11465639" cy="17381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lvl="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  <a:defRPr/>
                </a:pPr>
                <a:r>
                  <a:rPr kumimoji="1" lang="en-US" altLang="zh-CN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The </a:t>
                </a:r>
                <a:r>
                  <a:rPr kumimoji="1" lang="en-US" altLang="zh-CN" dirty="0">
                    <a:solidFill>
                      <a:schemeClr val="accent6"/>
                    </a:solidFill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text decoder </a:t>
                </a:r>
                <a:r>
                  <a:rPr kumimoji="1" lang="en-US" altLang="zh-CN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is trained on </a:t>
                </a:r>
                <a:r>
                  <a:rPr kumimoji="1" lang="en-US" altLang="zh-CN" dirty="0">
                    <a:solidFill>
                      <a:schemeClr val="accent1"/>
                    </a:solidFill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text features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zh-CN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kumimoji="1" lang="en-US" altLang="zh-CN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𝑧</m:t>
                        </m:r>
                      </m:e>
                      <m:sup>
                        <m:r>
                          <a:rPr kumimoji="1" lang="en-US" altLang="zh-CN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𝑡𝑥𝑡</m:t>
                        </m:r>
                      </m:sup>
                    </m:sSup>
                  </m:oMath>
                </a14:m>
                <a:r>
                  <a:rPr kumimoji="1" lang="en-US" altLang="zh-CN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, but it needs to handle </a:t>
                </a:r>
                <a:r>
                  <a:rPr kumimoji="1" lang="en-US" altLang="zh-CN" dirty="0">
                    <a:solidFill>
                      <a:srgbClr val="F94609"/>
                    </a:solidFill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image features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zh-CN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kumimoji="1" lang="en-US" altLang="zh-CN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𝑧</m:t>
                        </m:r>
                      </m:e>
                      <m:sup>
                        <m:r>
                          <a:rPr kumimoji="1"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𝑣𝑖𝑠</m:t>
                        </m:r>
                      </m:sup>
                    </m:sSup>
                  </m:oMath>
                </a14:m>
                <a:r>
                  <a:rPr kumimoji="1" lang="en-US" altLang="zh-CN" dirty="0">
                    <a:solidFill>
                      <a:schemeClr val="tx1"/>
                    </a:solidFill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 as input </a:t>
                </a:r>
                <a:r>
                  <a:rPr kumimoji="1" lang="en-US" altLang="zh-CN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at inference time</a:t>
                </a:r>
              </a:p>
              <a:p>
                <a:pPr marL="285750" lvl="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  <a:defRPr/>
                </a:pPr>
                <a:r>
                  <a:rPr kumimoji="1" lang="en-US" altLang="zh-CN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An </a:t>
                </a:r>
                <a:r>
                  <a:rPr kumimoji="1" lang="en-US" altLang="zh-CN" u="sng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alternative representation </a:t>
                </a:r>
                <a:r>
                  <a:rPr kumimoji="1" lang="en-US" altLang="zh-CN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of </a:t>
                </a:r>
                <a:r>
                  <a:rPr kumimoji="1" lang="en-US" altLang="zh-CN" dirty="0">
                    <a:solidFill>
                      <a:srgbClr val="F94609"/>
                    </a:solidFill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image features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zh-CN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kumimoji="1" lang="en-US" altLang="zh-CN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𝑧</m:t>
                        </m:r>
                      </m:e>
                      <m:sup>
                        <m:r>
                          <a:rPr kumimoji="1" lang="en-US" altLang="zh-CN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𝑣𝑖𝑠</m:t>
                        </m:r>
                      </m:sup>
                    </m:sSup>
                    <m:r>
                      <a:rPr kumimoji="1" lang="en-US" altLang="zh-CN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r>
                  <a:rPr kumimoji="1" lang="en-US" altLang="zh-CN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which is more similar to the </a:t>
                </a:r>
                <a:r>
                  <a:rPr kumimoji="1" lang="en-US" altLang="zh-CN" dirty="0">
                    <a:solidFill>
                      <a:schemeClr val="accent1"/>
                    </a:solidFill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text features</a:t>
                </a:r>
                <a:r>
                  <a:rPr kumimoji="1" lang="en-US" altLang="zh-CN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: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  <a:defRPr/>
                </a:pPr>
                <a:r>
                  <a:rPr kumimoji="1" lang="en-US" altLang="zh-CN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A linear combination of the text features of </a:t>
                </a:r>
                <a:r>
                  <a:rPr kumimoji="1" lang="en-US" altLang="zh-CN" b="1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all instructions already in the dataset</a:t>
                </a:r>
                <a:r>
                  <a:rPr kumimoji="1" lang="en-US" altLang="zh-CN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!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  <a:defRPr/>
                </a:pPr>
                <a:r>
                  <a:rPr kumimoji="1" lang="en-US" altLang="zh-CN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How much the </a:t>
                </a:r>
                <a:r>
                  <a:rPr kumimoji="1" lang="en-US" altLang="zh-CN" dirty="0" err="1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i-th</a:t>
                </a:r>
                <a:r>
                  <a:rPr kumimoji="1" lang="en-US" altLang="zh-CN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 instruction should contribute: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B993A25-930E-4F6E-3ECF-9BA5614F76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438" y="896444"/>
                <a:ext cx="11465639" cy="1738168"/>
              </a:xfrm>
              <a:prstGeom prst="rect">
                <a:avLst/>
              </a:prstGeom>
              <a:blipFill>
                <a:blip r:embed="rId3"/>
                <a:stretch>
                  <a:fillRect l="-319" b="-456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图片 8">
            <a:extLst>
              <a:ext uri="{FF2B5EF4-FFF2-40B4-BE49-F238E27FC236}">
                <a16:creationId xmlns:a16="http://schemas.microsoft.com/office/drawing/2014/main" id="{63801BFB-3BB7-8078-EE9D-96B9FA6BD7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9540" y="2710005"/>
            <a:ext cx="4286557" cy="910085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7E58A47E-D00C-AE33-A1AE-26F808EFAB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4716" y="3673778"/>
            <a:ext cx="2856204" cy="910085"/>
          </a:xfrm>
          <a:prstGeom prst="rect">
            <a:avLst/>
          </a:prstGeom>
        </p:spPr>
      </p:pic>
      <p:cxnSp>
        <p:nvCxnSpPr>
          <p:cNvPr id="14" name="Straight Arrow Connector 23">
            <a:extLst>
              <a:ext uri="{FF2B5EF4-FFF2-40B4-BE49-F238E27FC236}">
                <a16:creationId xmlns:a16="http://schemas.microsoft.com/office/drawing/2014/main" id="{0D0A94D4-4ED2-0687-7C89-C3155635AA10}"/>
              </a:ext>
            </a:extLst>
          </p:cNvPr>
          <p:cNvCxnSpPr>
            <a:cxnSpLocks/>
          </p:cNvCxnSpPr>
          <p:nvPr/>
        </p:nvCxnSpPr>
        <p:spPr>
          <a:xfrm>
            <a:off x="7689415" y="4098469"/>
            <a:ext cx="147918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5" name="TextBox 21">
            <a:extLst>
              <a:ext uri="{FF2B5EF4-FFF2-40B4-BE49-F238E27FC236}">
                <a16:creationId xmlns:a16="http://schemas.microsoft.com/office/drawing/2014/main" id="{AC1998AD-A00C-91BF-A049-9B05C72DB68E}"/>
              </a:ext>
            </a:extLst>
          </p:cNvPr>
          <p:cNvSpPr txBox="1"/>
          <p:nvPr/>
        </p:nvSpPr>
        <p:spPr>
          <a:xfrm>
            <a:off x="7718290" y="3726221"/>
            <a:ext cx="3191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chemeClr val="accent6"/>
                </a:solidFill>
              </a:rPr>
              <a:t>Text decoder</a:t>
            </a:r>
          </a:p>
        </p:txBody>
      </p:sp>
      <p:sp>
        <p:nvSpPr>
          <p:cNvPr id="16" name="TextBox 21">
            <a:extLst>
              <a:ext uri="{FF2B5EF4-FFF2-40B4-BE49-F238E27FC236}">
                <a16:creationId xmlns:a16="http://schemas.microsoft.com/office/drawing/2014/main" id="{9E22B968-88ED-BD55-0293-E7F7CA856E72}"/>
              </a:ext>
            </a:extLst>
          </p:cNvPr>
          <p:cNvSpPr txBox="1"/>
          <p:nvPr/>
        </p:nvSpPr>
        <p:spPr>
          <a:xfrm>
            <a:off x="9410300" y="3878020"/>
            <a:ext cx="31918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refined instruction</a:t>
            </a:r>
          </a:p>
        </p:txBody>
      </p:sp>
      <p:sp>
        <p:nvSpPr>
          <p:cNvPr id="17" name="TextBox 21">
            <a:extLst>
              <a:ext uri="{FF2B5EF4-FFF2-40B4-BE49-F238E27FC236}">
                <a16:creationId xmlns:a16="http://schemas.microsoft.com/office/drawing/2014/main" id="{CA52FDF3-AD68-2A4E-72AC-698ACF436C56}"/>
              </a:ext>
            </a:extLst>
          </p:cNvPr>
          <p:cNvSpPr txBox="1"/>
          <p:nvPr/>
        </p:nvSpPr>
        <p:spPr>
          <a:xfrm>
            <a:off x="404264" y="4149314"/>
            <a:ext cx="26191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dirty="0">
                <a:solidFill>
                  <a:srgbClr val="C00000"/>
                </a:solidFill>
              </a:rPr>
              <a:t>Possible problems</a:t>
            </a:r>
            <a:r>
              <a:rPr lang="en-US" altLang="zh-CN" sz="2400" dirty="0"/>
              <a:t>: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4">
                <a:extLst>
                  <a:ext uri="{FF2B5EF4-FFF2-40B4-BE49-F238E27FC236}">
                    <a16:creationId xmlns:a16="http://schemas.microsoft.com/office/drawing/2014/main" id="{5E0DA167-7E96-5E8D-9146-84922260441B}"/>
                  </a:ext>
                </a:extLst>
              </p:cNvPr>
              <p:cNvSpPr txBox="1"/>
              <p:nvPr/>
            </p:nvSpPr>
            <p:spPr>
              <a:xfrm>
                <a:off x="427706" y="4661741"/>
                <a:ext cx="11604010" cy="17202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lvl="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  <a:defRPr/>
                </a:pPr>
                <a:r>
                  <a:rPr kumimoji="1" lang="en-US" altLang="zh-CN" b="1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All instructions </a:t>
                </a:r>
                <a:r>
                  <a:rPr kumimoji="1" lang="en-US" altLang="zh-CN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contribute to the final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zh-CN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kumimoji="1" lang="en-US" altLang="zh-CN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(</m:t>
                        </m:r>
                        <m:r>
                          <a:rPr kumimoji="1" lang="en-US" altLang="zh-CN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𝑧</m:t>
                        </m:r>
                      </m:e>
                      <m:sup>
                        <m:r>
                          <a:rPr kumimoji="1" lang="en-US" altLang="zh-CN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𝑣𝑖𝑠</m:t>
                        </m:r>
                      </m:sup>
                    </m:sSup>
                    <m:r>
                      <a:rPr kumimoji="1" lang="en-US" altLang="zh-CN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)′</m:t>
                    </m:r>
                  </m:oMath>
                </a14:m>
                <a:r>
                  <a:rPr kumimoji="1" lang="en-US" altLang="zh-CN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 (though most of them are of small weight)</a:t>
                </a:r>
              </a:p>
              <a:p>
                <a:pPr marL="285750" lvl="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  <a:defRPr/>
                </a:pPr>
                <a:r>
                  <a:rPr kumimoji="1" lang="en-US" altLang="zh-CN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For some image pairs, even the most matched instruction (almost the original one) actually doesn’t quite match (~0.1),</a:t>
                </a:r>
              </a:p>
              <a:p>
                <a:pPr lvl="0">
                  <a:lnSpc>
                    <a:spcPct val="150000"/>
                  </a:lnSpc>
                  <a:defRPr/>
                </a:pPr>
                <a:r>
                  <a:rPr kumimoji="1" lang="en-US" altLang="zh-CN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     which potentially </a:t>
                </a:r>
                <a:r>
                  <a:rPr kumimoji="1" lang="en-US" altLang="zh-CN" b="1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increases other instructions’ weights </a:t>
                </a:r>
                <a:r>
                  <a:rPr kumimoji="1" lang="en-US" altLang="zh-CN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and makes the output chaotic</a:t>
                </a:r>
              </a:p>
              <a:p>
                <a:pPr marL="285750" lvl="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  <a:defRPr/>
                </a:pPr>
                <a:r>
                  <a:rPr kumimoji="1" lang="zh-CN" altLang="en-US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兜兜转转绕不出来了，仅靠原有的那些指令数据可能永远接近不了正确答案</a:t>
                </a:r>
                <a:r>
                  <a:rPr kumimoji="1" lang="en-US" altLang="zh-CN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.</a:t>
                </a:r>
                <a:endParaRPr kumimoji="1" lang="en-US" altLang="zh-CN" b="1" dirty="0">
                  <a:latin typeface="Calibri" panose="020F0502020204030204" pitchFamily="34" charset="0"/>
                  <a:ea typeface="SimHei" panose="02010609060101010101" pitchFamily="49" charset="-122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18" name="TextBox 4">
                <a:extLst>
                  <a:ext uri="{FF2B5EF4-FFF2-40B4-BE49-F238E27FC236}">
                    <a16:creationId xmlns:a16="http://schemas.microsoft.com/office/drawing/2014/main" id="{5E0DA167-7E96-5E8D-9146-8492226044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706" y="4661741"/>
                <a:ext cx="11604010" cy="1720279"/>
              </a:xfrm>
              <a:prstGeom prst="rect">
                <a:avLst/>
              </a:prstGeom>
              <a:blipFill>
                <a:blip r:embed="rId6"/>
                <a:stretch>
                  <a:fillRect l="-315" b="-496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388170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A522E-63E8-A191-F487-835898309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EB73BB-07E0-4B29-6E50-D26ED723E6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15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382FF6C-B572-9D4E-BB48-254841F10DD7}"/>
              </a:ext>
            </a:extLst>
          </p:cNvPr>
          <p:cNvSpPr txBox="1"/>
          <p:nvPr/>
        </p:nvSpPr>
        <p:spPr>
          <a:xfrm>
            <a:off x="268438" y="311669"/>
            <a:ext cx="727223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200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A possible solution</a:t>
            </a:r>
            <a:endParaRPr kumimoji="1" lang="zh-CN" altLang="en-US" sz="3200" dirty="0">
              <a:latin typeface="Calibri" panose="020F0502020204030204" pitchFamily="34" charset="0"/>
              <a:ea typeface="SimHe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933A15-3A60-9E74-D882-9E2C777B69EB}"/>
              </a:ext>
            </a:extLst>
          </p:cNvPr>
          <p:cNvSpPr txBox="1"/>
          <p:nvPr/>
        </p:nvSpPr>
        <p:spPr>
          <a:xfrm>
            <a:off x="268438" y="896444"/>
            <a:ext cx="11655124" cy="2126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kumimoji="1" lang="en-US" altLang="zh-CN" dirty="0">
                <a:solidFill>
                  <a:schemeClr val="accent1"/>
                </a:solidFill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Real-time instruction updating</a:t>
            </a:r>
            <a:r>
              <a:rPr kumimoji="1" lang="en-US" altLang="zh-CN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: With model being trained, </a:t>
            </a:r>
            <a:r>
              <a:rPr kumimoji="1" lang="en-US" altLang="zh-CN" u="sng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replace some instructions in the dataset with refined instructions</a:t>
            </a:r>
            <a:r>
              <a:rPr kumimoji="1" lang="en-US" altLang="zh-CN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 (calculated by the current model) every several training epochs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kumimoji="1" lang="en-US" altLang="zh-CN" dirty="0">
                <a:solidFill>
                  <a:srgbClr val="C00000"/>
                </a:solidFill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Experiment</a:t>
            </a:r>
            <a:r>
              <a:rPr kumimoji="1" lang="en-US" altLang="zh-CN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: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kumimoji="1" lang="en-US" altLang="zh-CN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Training on the first 50000 samples from the dataset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kumimoji="1" lang="en-US" altLang="zh-CN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Starting from the 60000th epoch, replace 15% instructions every 2000 epochs, until the 100000th epoch</a:t>
            </a:r>
          </a:p>
        </p:txBody>
      </p:sp>
      <p:pic>
        <p:nvPicPr>
          <p:cNvPr id="3" name="Picture 1">
            <a:extLst>
              <a:ext uri="{FF2B5EF4-FFF2-40B4-BE49-F238E27FC236}">
                <a16:creationId xmlns:a16="http://schemas.microsoft.com/office/drawing/2014/main" id="{70DDFD26-59A8-E530-8858-002A0DD71E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60403" y="3574794"/>
            <a:ext cx="1979930" cy="1979930"/>
          </a:xfrm>
          <a:prstGeom prst="rect">
            <a:avLst/>
          </a:prstGeom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9961A21C-8A27-798E-1B1A-D2A5472BEAC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740072" y="3574794"/>
            <a:ext cx="1979930" cy="1979930"/>
          </a:xfrm>
          <a:prstGeom prst="rect">
            <a:avLst/>
          </a:prstGeom>
        </p:spPr>
      </p:pic>
      <p:sp>
        <p:nvSpPr>
          <p:cNvPr id="8" name="TextBox 26">
            <a:extLst>
              <a:ext uri="{FF2B5EF4-FFF2-40B4-BE49-F238E27FC236}">
                <a16:creationId xmlns:a16="http://schemas.microsoft.com/office/drawing/2014/main" id="{990257DC-B0E0-F50D-2C58-E5B243849870}"/>
              </a:ext>
            </a:extLst>
          </p:cNvPr>
          <p:cNvSpPr txBox="1"/>
          <p:nvPr/>
        </p:nvSpPr>
        <p:spPr>
          <a:xfrm>
            <a:off x="683972" y="3150673"/>
            <a:ext cx="15327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i="1" dirty="0">
                <a:solidFill>
                  <a:schemeClr val="accent1"/>
                </a:solidFill>
              </a:rPr>
              <a:t>original image</a:t>
            </a:r>
            <a:endParaRPr kumimoji="1" lang="zh-CN" altLang="en-US" i="1" dirty="0">
              <a:solidFill>
                <a:schemeClr val="accent1"/>
              </a:solidFill>
            </a:endParaRPr>
          </a:p>
        </p:txBody>
      </p:sp>
      <p:sp>
        <p:nvSpPr>
          <p:cNvPr id="10" name="TextBox 48">
            <a:extLst>
              <a:ext uri="{FF2B5EF4-FFF2-40B4-BE49-F238E27FC236}">
                <a16:creationId xmlns:a16="http://schemas.microsoft.com/office/drawing/2014/main" id="{71DA615B-A1EB-375D-93C9-C3EB6598C962}"/>
              </a:ext>
            </a:extLst>
          </p:cNvPr>
          <p:cNvSpPr txBox="1"/>
          <p:nvPr/>
        </p:nvSpPr>
        <p:spPr>
          <a:xfrm>
            <a:off x="3026607" y="3150673"/>
            <a:ext cx="1406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i="1" dirty="0">
                <a:solidFill>
                  <a:schemeClr val="accent1"/>
                </a:solidFill>
              </a:rPr>
              <a:t>edited image</a:t>
            </a:r>
            <a:endParaRPr kumimoji="1" lang="zh-CN" altLang="en-US" i="1" dirty="0">
              <a:solidFill>
                <a:schemeClr val="accent1"/>
              </a:solidFill>
            </a:endParaRPr>
          </a:p>
        </p:txBody>
      </p:sp>
      <p:sp>
        <p:nvSpPr>
          <p:cNvPr id="19" name="TextBox 53">
            <a:extLst>
              <a:ext uri="{FF2B5EF4-FFF2-40B4-BE49-F238E27FC236}">
                <a16:creationId xmlns:a16="http://schemas.microsoft.com/office/drawing/2014/main" id="{1A8D0895-2B8A-5181-5191-B75203890FFC}"/>
              </a:ext>
            </a:extLst>
          </p:cNvPr>
          <p:cNvSpPr txBox="1"/>
          <p:nvPr/>
        </p:nvSpPr>
        <p:spPr>
          <a:xfrm>
            <a:off x="5820401" y="3651003"/>
            <a:ext cx="18938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i="1" dirty="0">
                <a:solidFill>
                  <a:schemeClr val="accent1"/>
                </a:solidFill>
              </a:rPr>
              <a:t>refined instruction</a:t>
            </a:r>
            <a:endParaRPr kumimoji="1" lang="zh-CN" altLang="en-US" i="1" dirty="0">
              <a:solidFill>
                <a:schemeClr val="accent1"/>
              </a:solidFill>
            </a:endParaRPr>
          </a:p>
        </p:txBody>
      </p:sp>
      <p:sp>
        <p:nvSpPr>
          <p:cNvPr id="20" name="TextBox 21">
            <a:extLst>
              <a:ext uri="{FF2B5EF4-FFF2-40B4-BE49-F238E27FC236}">
                <a16:creationId xmlns:a16="http://schemas.microsoft.com/office/drawing/2014/main" id="{7037C8F6-7051-A222-8BCC-7826F4493BAF}"/>
              </a:ext>
            </a:extLst>
          </p:cNvPr>
          <p:cNvSpPr txBox="1"/>
          <p:nvPr/>
        </p:nvSpPr>
        <p:spPr>
          <a:xfrm>
            <a:off x="5171413" y="4352984"/>
            <a:ext cx="319182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“make it into a movie poster”</a:t>
            </a:r>
          </a:p>
          <a:p>
            <a:pPr algn="ctr"/>
            <a:r>
              <a:rPr lang="en-US" altLang="zh-CN" dirty="0">
                <a:solidFill>
                  <a:srgbClr val="F94609"/>
                </a:solidFill>
              </a:rPr>
              <a:t>(??)</a:t>
            </a:r>
            <a:endParaRPr lang="zh-CN" altLang="en-US" dirty="0">
              <a:solidFill>
                <a:srgbClr val="F94609"/>
              </a:solidFill>
            </a:endParaRPr>
          </a:p>
        </p:txBody>
      </p:sp>
      <p:sp>
        <p:nvSpPr>
          <p:cNvPr id="21" name="TextBox 53">
            <a:extLst>
              <a:ext uri="{FF2B5EF4-FFF2-40B4-BE49-F238E27FC236}">
                <a16:creationId xmlns:a16="http://schemas.microsoft.com/office/drawing/2014/main" id="{6C8DD65B-D783-C3E9-CD7B-BF7BCA3CF704}"/>
              </a:ext>
            </a:extLst>
          </p:cNvPr>
          <p:cNvSpPr txBox="1"/>
          <p:nvPr/>
        </p:nvSpPr>
        <p:spPr>
          <a:xfrm>
            <a:off x="8378247" y="3651003"/>
            <a:ext cx="3161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i="1" dirty="0">
                <a:solidFill>
                  <a:schemeClr val="accent6"/>
                </a:solidFill>
              </a:rPr>
              <a:t>re-re-re-…-re-refined instruction</a:t>
            </a:r>
            <a:endParaRPr kumimoji="1" lang="zh-CN" altLang="en-US" i="1" dirty="0">
              <a:solidFill>
                <a:schemeClr val="accent6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03190FF-75D2-E329-BDE5-20B20980C46B}"/>
              </a:ext>
            </a:extLst>
          </p:cNvPr>
          <p:cNvSpPr txBox="1"/>
          <p:nvPr/>
        </p:nvSpPr>
        <p:spPr>
          <a:xfrm>
            <a:off x="8363240" y="4352984"/>
            <a:ext cx="319182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“make it spread”</a:t>
            </a:r>
          </a:p>
          <a:p>
            <a:pPr algn="ctr"/>
            <a:r>
              <a:rPr lang="en-US" altLang="zh-CN" dirty="0">
                <a:solidFill>
                  <a:schemeClr val="accent6"/>
                </a:solidFill>
              </a:rPr>
              <a:t>(?!)</a:t>
            </a:r>
            <a:endParaRPr lang="zh-CN" altLang="en-US" dirty="0">
              <a:solidFill>
                <a:schemeClr val="accent6"/>
              </a:solidFill>
            </a:endParaRPr>
          </a:p>
        </p:txBody>
      </p:sp>
      <p:sp>
        <p:nvSpPr>
          <p:cNvPr id="23" name="TextBox 4">
            <a:extLst>
              <a:ext uri="{FF2B5EF4-FFF2-40B4-BE49-F238E27FC236}">
                <a16:creationId xmlns:a16="http://schemas.microsoft.com/office/drawing/2014/main" id="{AA5EFF54-2925-B5DB-F3F4-DB1718B1ADF0}"/>
              </a:ext>
            </a:extLst>
          </p:cNvPr>
          <p:cNvSpPr txBox="1"/>
          <p:nvPr/>
        </p:nvSpPr>
        <p:spPr>
          <a:xfrm>
            <a:off x="683972" y="5672099"/>
            <a:ext cx="11655124" cy="464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kumimoji="1" lang="en-US" altLang="zh-CN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However, only a few cases become better.</a:t>
            </a:r>
          </a:p>
        </p:txBody>
      </p:sp>
    </p:spTree>
    <p:extLst>
      <p:ext uri="{BB962C8B-B14F-4D97-AF65-F5344CB8AC3E}">
        <p14:creationId xmlns:p14="http://schemas.microsoft.com/office/powerpoint/2010/main" val="40211839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CFB03-915B-8E5B-37EF-E4580226B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53EFE4-F324-0774-D7D1-B62CE3EE9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16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F56192-FEEF-2C0F-18E0-F92C4FB08355}"/>
              </a:ext>
            </a:extLst>
          </p:cNvPr>
          <p:cNvSpPr txBox="1"/>
          <p:nvPr/>
        </p:nvSpPr>
        <p:spPr>
          <a:xfrm>
            <a:off x="268438" y="311669"/>
            <a:ext cx="727223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200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Other ideas (unvalidated)</a:t>
            </a:r>
            <a:endParaRPr kumimoji="1" lang="zh-CN" altLang="en-US" sz="3200" dirty="0">
              <a:latin typeface="Calibri" panose="020F0502020204030204" pitchFamily="34" charset="0"/>
              <a:ea typeface="SimHei" panose="02010609060101010101" pitchFamily="49" charset="-122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635017C-A2CB-651A-9C0E-8C6FA7DE86B4}"/>
                  </a:ext>
                </a:extLst>
              </p:cNvPr>
              <p:cNvSpPr txBox="1"/>
              <p:nvPr/>
            </p:nvSpPr>
            <p:spPr>
              <a:xfrm>
                <a:off x="268438" y="1319959"/>
                <a:ext cx="11655124" cy="17247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  <a:defRPr/>
                </a:pPr>
                <a:r>
                  <a:rPr kumimoji="1" lang="en-US" altLang="zh-CN" dirty="0">
                    <a:solidFill>
                      <a:schemeClr val="accent1"/>
                    </a:solidFill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Top-k filter / Filter with a threshold + Normalization</a:t>
                </a:r>
                <a:r>
                  <a:rPr kumimoji="1" lang="en-US" altLang="zh-CN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: only those instructions with </a:t>
                </a:r>
                <a:r>
                  <a:rPr kumimoji="1" lang="en-US" altLang="zh-CN" u="sng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relatively high similarity</a:t>
                </a:r>
                <a:r>
                  <a:rPr kumimoji="1" lang="en-US" altLang="zh-CN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zh-CN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kumimoji="1" lang="en-US" altLang="zh-CN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𝑧</m:t>
                        </m:r>
                      </m:e>
                      <m:sup>
                        <m:r>
                          <a:rPr kumimoji="1" lang="en-US" altLang="zh-CN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𝑣𝑖𝑠</m:t>
                        </m:r>
                      </m:sup>
                    </m:sSup>
                  </m:oMath>
                </a14:m>
                <a:r>
                  <a:rPr kumimoji="1" lang="en-US" altLang="zh-CN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 are allowed to contribute</a:t>
                </a:r>
              </a:p>
              <a:p>
                <a:pPr marL="285750" lvl="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  <a:defRPr/>
                </a:pPr>
                <a:r>
                  <a:rPr kumimoji="1" lang="en-US" altLang="zh-CN" dirty="0">
                    <a:solidFill>
                      <a:schemeClr val="accent1"/>
                    </a:solidFill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Optionally employ VLM</a:t>
                </a:r>
                <a:r>
                  <a:rPr kumimoji="1" lang="en-US" altLang="zh-CN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:</a:t>
                </a:r>
                <a:r>
                  <a:rPr kumimoji="1" lang="zh-CN" altLang="en-US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Directly use VLM to generate instruction text to introduce </a:t>
                </a:r>
                <a:r>
                  <a:rPr kumimoji="1" lang="en-US" altLang="zh-CN" dirty="0">
                    <a:solidFill>
                      <a:schemeClr val="accent6"/>
                    </a:solidFill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brand new instructions</a:t>
                </a:r>
              </a:p>
              <a:p>
                <a:pPr lvl="0">
                  <a:lnSpc>
                    <a:spcPct val="150000"/>
                  </a:lnSpc>
                  <a:defRPr/>
                </a:pPr>
                <a:r>
                  <a:rPr kumimoji="1" lang="en-US" altLang="zh-CN" dirty="0"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      (replace badly matched instructions before training / randomly participate in training?)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635017C-A2CB-651A-9C0E-8C6FA7DE86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438" y="1319959"/>
                <a:ext cx="11655124" cy="1724768"/>
              </a:xfrm>
              <a:prstGeom prst="rect">
                <a:avLst/>
              </a:prstGeom>
              <a:blipFill>
                <a:blip r:embed="rId3"/>
                <a:stretch>
                  <a:fillRect l="-314" b="-496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图片 6">
            <a:extLst>
              <a:ext uri="{FF2B5EF4-FFF2-40B4-BE49-F238E27FC236}">
                <a16:creationId xmlns:a16="http://schemas.microsoft.com/office/drawing/2014/main" id="{94CFB2AA-5A95-BB54-75D1-05B81C5B78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9561" y="538189"/>
            <a:ext cx="3516176" cy="746524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562BF105-C49A-1E12-12AF-A4E3BDF635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3098" y="565556"/>
            <a:ext cx="2300078" cy="732884"/>
          </a:xfrm>
          <a:prstGeom prst="rect">
            <a:avLst/>
          </a:prstGeom>
        </p:spPr>
      </p:pic>
      <p:pic>
        <p:nvPicPr>
          <p:cNvPr id="12" name="Picture 1">
            <a:extLst>
              <a:ext uri="{FF2B5EF4-FFF2-40B4-BE49-F238E27FC236}">
                <a16:creationId xmlns:a16="http://schemas.microsoft.com/office/drawing/2014/main" id="{6BF4FD2C-8C22-EDF1-C636-C29D88E616C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49160" y="3386247"/>
            <a:ext cx="1536221" cy="1536221"/>
          </a:xfrm>
          <a:prstGeom prst="rect">
            <a:avLst/>
          </a:prstGeom>
        </p:spPr>
      </p:pic>
      <p:pic>
        <p:nvPicPr>
          <p:cNvPr id="14" name="Picture 1">
            <a:extLst>
              <a:ext uri="{FF2B5EF4-FFF2-40B4-BE49-F238E27FC236}">
                <a16:creationId xmlns:a16="http://schemas.microsoft.com/office/drawing/2014/main" id="{C5925F29-D3A2-44DB-15BA-9D24727C18B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2400884" y="3386246"/>
            <a:ext cx="1536221" cy="1536221"/>
          </a:xfrm>
          <a:prstGeom prst="rect">
            <a:avLst/>
          </a:prstGeom>
        </p:spPr>
      </p:pic>
      <p:sp>
        <p:nvSpPr>
          <p:cNvPr id="15" name="矩形 14">
            <a:extLst>
              <a:ext uri="{FF2B5EF4-FFF2-40B4-BE49-F238E27FC236}">
                <a16:creationId xmlns:a16="http://schemas.microsoft.com/office/drawing/2014/main" id="{F84EC330-0EA8-93DB-EA4B-CAFF7C3597BA}"/>
              </a:ext>
            </a:extLst>
          </p:cNvPr>
          <p:cNvSpPr/>
          <p:nvPr/>
        </p:nvSpPr>
        <p:spPr>
          <a:xfrm>
            <a:off x="625023" y="3291972"/>
            <a:ext cx="3436838" cy="1724768"/>
          </a:xfrm>
          <a:prstGeom prst="rect">
            <a:avLst/>
          </a:prstGeom>
          <a:noFill/>
          <a:ln w="25400">
            <a:solidFill>
              <a:schemeClr val="accent6"/>
            </a:solidFill>
            <a:prstDash val="dash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TextBox 4">
            <a:extLst>
              <a:ext uri="{FF2B5EF4-FFF2-40B4-BE49-F238E27FC236}">
                <a16:creationId xmlns:a16="http://schemas.microsoft.com/office/drawing/2014/main" id="{2C32ED1E-040E-AB71-CB07-15E2DE009082}"/>
              </a:ext>
            </a:extLst>
          </p:cNvPr>
          <p:cNvSpPr txBox="1"/>
          <p:nvPr/>
        </p:nvSpPr>
        <p:spPr>
          <a:xfrm>
            <a:off x="4185998" y="3622110"/>
            <a:ext cx="7741388" cy="464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kumimoji="1" lang="en-US" altLang="zh-CN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“Provide an edit instruction that transforms the source image to the target image”</a:t>
            </a:r>
          </a:p>
        </p:txBody>
      </p:sp>
      <p:sp>
        <p:nvSpPr>
          <p:cNvPr id="18" name="TextBox 4">
            <a:extLst>
              <a:ext uri="{FF2B5EF4-FFF2-40B4-BE49-F238E27FC236}">
                <a16:creationId xmlns:a16="http://schemas.microsoft.com/office/drawing/2014/main" id="{53215FA4-6B94-9A3F-2C44-5E126661FECC}"/>
              </a:ext>
            </a:extLst>
          </p:cNvPr>
          <p:cNvSpPr txBox="1"/>
          <p:nvPr/>
        </p:nvSpPr>
        <p:spPr>
          <a:xfrm>
            <a:off x="4185998" y="4228228"/>
            <a:ext cx="7741388" cy="464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kumimoji="1" lang="zh-CN" altLang="en-US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→  </a:t>
            </a:r>
            <a:r>
              <a:rPr kumimoji="1" lang="en-US" altLang="zh-CN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“Enhance colors, add textures, soften edges…”</a:t>
            </a:r>
          </a:p>
        </p:txBody>
      </p:sp>
      <p:sp>
        <p:nvSpPr>
          <p:cNvPr id="24" name="TextBox 4">
            <a:extLst>
              <a:ext uri="{FF2B5EF4-FFF2-40B4-BE49-F238E27FC236}">
                <a16:creationId xmlns:a16="http://schemas.microsoft.com/office/drawing/2014/main" id="{EFAD4E81-F1B3-3EFA-825C-435C4FE48D0A}"/>
              </a:ext>
            </a:extLst>
          </p:cNvPr>
          <p:cNvSpPr txBox="1"/>
          <p:nvPr/>
        </p:nvSpPr>
        <p:spPr>
          <a:xfrm>
            <a:off x="272262" y="5125784"/>
            <a:ext cx="11655124" cy="8803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kumimoji="1" lang="en-US" altLang="zh-CN" dirty="0">
                <a:solidFill>
                  <a:schemeClr val="accent1"/>
                </a:solidFill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Better metrics than CLIP/DINO</a:t>
            </a:r>
            <a:r>
              <a:rPr kumimoji="1" lang="en-US" altLang="zh-CN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: make </a:t>
            </a:r>
            <a:r>
              <a:rPr kumimoji="1" lang="it-IT" altLang="zh-CN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qualitative performance quantizable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CN" dirty="0" err="1"/>
              <a:t>VIEScore</a:t>
            </a:r>
            <a:r>
              <a:rPr lang="en-US" altLang="zh-CN" dirty="0"/>
              <a:t>:</a:t>
            </a:r>
            <a:r>
              <a:rPr lang="zh-CN" altLang="en-US" dirty="0"/>
              <a:t> </a:t>
            </a:r>
            <a:r>
              <a:rPr lang="en-US" altLang="zh-CN" dirty="0"/>
              <a:t>Instruction Alignment,</a:t>
            </a:r>
            <a:r>
              <a:rPr lang="zh-CN" altLang="en-US" dirty="0"/>
              <a:t> </a:t>
            </a:r>
            <a:r>
              <a:rPr lang="en-US" altLang="zh-CN" dirty="0"/>
              <a:t>Edit Faithfulness,</a:t>
            </a:r>
            <a:r>
              <a:rPr lang="zh-CN" altLang="en-US" dirty="0"/>
              <a:t> </a:t>
            </a:r>
            <a:r>
              <a:rPr lang="en-US" altLang="zh-CN"/>
              <a:t>…</a:t>
            </a:r>
            <a:endParaRPr kumimoji="1" lang="en-US" altLang="zh-CN" dirty="0">
              <a:latin typeface="Calibri" panose="020F0502020204030204" pitchFamily="34" charset="0"/>
              <a:ea typeface="SimHei" panose="02010609060101010101" pitchFamily="49" charset="-122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31997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B05D0C-86BB-8043-9E7D-8D93E5387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17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48480B-AD5F-BA40-82A1-2990A0C60BFB}"/>
              </a:ext>
            </a:extLst>
          </p:cNvPr>
          <p:cNvSpPr txBox="1"/>
          <p:nvPr/>
        </p:nvSpPr>
        <p:spPr>
          <a:xfrm>
            <a:off x="268438" y="648101"/>
            <a:ext cx="727223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200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Reference</a:t>
            </a:r>
            <a:endParaRPr kumimoji="1" lang="zh-CN" altLang="en-US" sz="3200" dirty="0">
              <a:latin typeface="Calibri" panose="020F0502020204030204" pitchFamily="34" charset="0"/>
              <a:ea typeface="SimHe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FD7C61-68AA-1944-AE60-4E7F34BA963D}"/>
              </a:ext>
            </a:extLst>
          </p:cNvPr>
          <p:cNvSpPr txBox="1"/>
          <p:nvPr/>
        </p:nvSpPr>
        <p:spPr>
          <a:xfrm>
            <a:off x="268438" y="1232876"/>
            <a:ext cx="9538502" cy="1295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CN" sz="1800" dirty="0"/>
              <a:t>Chen </a:t>
            </a:r>
            <a:r>
              <a:rPr lang="en-US" altLang="zh-CN" sz="1800" i="1" dirty="0"/>
              <a:t>et al.</a:t>
            </a:r>
            <a:r>
              <a:rPr lang="en-US" altLang="zh-CN" sz="1800" dirty="0"/>
              <a:t>, Instruct-CLIP: improving instruction-guided </a:t>
            </a:r>
            <a:r>
              <a:rPr lang="en-US" altLang="zh-CN" dirty="0"/>
              <a:t>i</a:t>
            </a:r>
            <a:r>
              <a:rPr lang="en-US" altLang="zh-CN" sz="1800" dirty="0"/>
              <a:t>mage </a:t>
            </a:r>
            <a:r>
              <a:rPr lang="en-US" altLang="zh-CN" dirty="0"/>
              <a:t>e</a:t>
            </a:r>
            <a:r>
              <a:rPr lang="en-US" altLang="zh-CN" sz="1800" dirty="0"/>
              <a:t>diting  with automated </a:t>
            </a:r>
            <a:r>
              <a:rPr lang="en-US" altLang="zh-CN" dirty="0"/>
              <a:t>d</a:t>
            </a:r>
            <a:r>
              <a:rPr lang="en-US" altLang="zh-CN" sz="1800" dirty="0"/>
              <a:t>ata </a:t>
            </a:r>
            <a:r>
              <a:rPr lang="en-US" altLang="zh-CN" dirty="0"/>
              <a:t>r</a:t>
            </a:r>
            <a:r>
              <a:rPr lang="en-US" altLang="zh-CN" sz="1800" dirty="0"/>
              <a:t>efinement </a:t>
            </a:r>
            <a:r>
              <a:rPr lang="en-US" altLang="zh-CN" dirty="0"/>
              <a:t>u</a:t>
            </a:r>
            <a:r>
              <a:rPr lang="en-US" altLang="zh-CN" sz="1800" dirty="0"/>
              <a:t>sing </a:t>
            </a:r>
            <a:r>
              <a:rPr lang="en-US" altLang="zh-CN" dirty="0"/>
              <a:t>c</a:t>
            </a:r>
            <a:r>
              <a:rPr lang="en-US" altLang="zh-CN" sz="1800" dirty="0"/>
              <a:t>ontrastive </a:t>
            </a:r>
            <a:r>
              <a:rPr lang="en-US" altLang="zh-CN" dirty="0"/>
              <a:t>l</a:t>
            </a:r>
            <a:r>
              <a:rPr lang="en-US" altLang="zh-CN" sz="1800" dirty="0"/>
              <a:t>earning. </a:t>
            </a:r>
            <a:r>
              <a:rPr lang="en-US" altLang="zh-CN" sz="1800" i="1" dirty="0"/>
              <a:t>CVPR</a:t>
            </a:r>
            <a:r>
              <a:rPr lang="en-US" altLang="zh-CN" sz="1800" dirty="0"/>
              <a:t>, 2025.</a:t>
            </a:r>
            <a:endParaRPr lang="en-US" altLang="zh-CN" sz="1800" i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zh-CN" altLang="en-US" sz="1800" dirty="0"/>
              <a:t>Brooks</a:t>
            </a:r>
            <a:r>
              <a:rPr lang="en-US" altLang="zh-CN" sz="1800" dirty="0"/>
              <a:t> </a:t>
            </a:r>
            <a:r>
              <a:rPr lang="en-US" altLang="zh-CN" sz="1800" i="1" dirty="0"/>
              <a:t>et al.</a:t>
            </a:r>
            <a:r>
              <a:rPr lang="en-US" altLang="zh-CN" sz="1800" dirty="0"/>
              <a:t>, InstructPix2Pix: learning to follow image editing instructions. </a:t>
            </a:r>
            <a:r>
              <a:rPr lang="en-US" altLang="zh-CN" sz="1800" i="1" dirty="0"/>
              <a:t>CVPR</a:t>
            </a:r>
            <a:r>
              <a:rPr lang="en-US" altLang="zh-CN" sz="1800" dirty="0"/>
              <a:t>, 2023.</a:t>
            </a:r>
            <a:endParaRPr lang="zh-CN" altLang="en-US" sz="1800" dirty="0"/>
          </a:p>
        </p:txBody>
      </p:sp>
    </p:spTree>
    <p:extLst>
      <p:ext uri="{BB962C8B-B14F-4D97-AF65-F5344CB8AC3E}">
        <p14:creationId xmlns:p14="http://schemas.microsoft.com/office/powerpoint/2010/main" val="41921087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46944AC3-E599-2349-876F-2BD18851E21E}"/>
              </a:ext>
            </a:extLst>
          </p:cNvPr>
          <p:cNvGrpSpPr/>
          <p:nvPr/>
        </p:nvGrpSpPr>
        <p:grpSpPr>
          <a:xfrm>
            <a:off x="2399176" y="2585468"/>
            <a:ext cx="7393647" cy="1687064"/>
            <a:chOff x="1641575" y="2677801"/>
            <a:chExt cx="7393647" cy="168706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89B2C29-6C36-CC44-A825-1EB7BA0CADF3}"/>
                </a:ext>
              </a:extLst>
            </p:cNvPr>
            <p:cNvSpPr txBox="1"/>
            <p:nvPr/>
          </p:nvSpPr>
          <p:spPr>
            <a:xfrm>
              <a:off x="1641575" y="2967335"/>
              <a:ext cx="5810050" cy="11079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6600" dirty="0"/>
                <a:t>Thank</a:t>
              </a:r>
              <a:r>
                <a:rPr kumimoji="1" lang="zh-CN" altLang="en-US" sz="6600" dirty="0"/>
                <a:t> </a:t>
              </a:r>
              <a:r>
                <a:rPr kumimoji="1" lang="en-US" altLang="zh-CN" sz="6600" dirty="0"/>
                <a:t>you!</a:t>
              </a:r>
              <a:endParaRPr kumimoji="1" lang="zh-CN" altLang="en-US" sz="6600" dirty="0"/>
            </a:p>
          </p:txBody>
        </p:sp>
        <p:pic>
          <p:nvPicPr>
            <p:cNvPr id="3" name="图片 3">
              <a:extLst>
                <a:ext uri="{FF2B5EF4-FFF2-40B4-BE49-F238E27FC236}">
                  <a16:creationId xmlns:a16="http://schemas.microsoft.com/office/drawing/2014/main" id="{A2F7A61C-D60C-8F44-8D57-D33E1FE70A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180335" y="2677801"/>
              <a:ext cx="1854887" cy="168706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915657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2180</TotalTime>
  <Words>956</Words>
  <Application>Microsoft Office PowerPoint</Application>
  <PresentationFormat>宽屏</PresentationFormat>
  <Paragraphs>170</Paragraphs>
  <Slides>18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6" baseType="lpstr">
      <vt:lpstr>KaiTi</vt:lpstr>
      <vt:lpstr>Arial</vt:lpstr>
      <vt:lpstr>Calibri</vt:lpstr>
      <vt:lpstr>Calibri Light</vt:lpstr>
      <vt:lpstr>Cambria Math</vt:lpstr>
      <vt:lpstr>Times New Roman</vt:lpstr>
      <vt:lpstr>Wingdings</vt:lpstr>
      <vt:lpstr>Office Theme</vt:lpstr>
      <vt:lpstr>Instruct-CLIP (I-CLIP)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System I/O</dc:title>
  <dc:creator>刘 沛雨</dc:creator>
  <cp:lastModifiedBy>Goudan Mr</cp:lastModifiedBy>
  <cp:revision>117</cp:revision>
  <dcterms:created xsi:type="dcterms:W3CDTF">2025-12-17T06:38:28Z</dcterms:created>
  <dcterms:modified xsi:type="dcterms:W3CDTF">2025-12-22T01:32:09Z</dcterms:modified>
</cp:coreProperties>
</file>