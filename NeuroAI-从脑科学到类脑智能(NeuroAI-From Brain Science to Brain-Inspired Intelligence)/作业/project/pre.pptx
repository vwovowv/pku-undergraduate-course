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ppt/notesSlides/notesSlide18.xml" ContentType="application/vnd.openxmlformats-officedocument.presentationml.notesSlide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tags/tag16.xml" ContentType="application/vnd.openxmlformats-officedocument.presentationml.tags+xml"/>
  <Override PartName="/ppt/notesSlides/notesSlide20.xml" ContentType="application/vnd.openxmlformats-officedocument.presentationml.notesSlide+xml"/>
  <Override PartName="/ppt/tags/tag17.xml" ContentType="application/vnd.openxmlformats-officedocument.presentationml.tags+xml"/>
  <Override PartName="/ppt/notesSlides/notesSlide21.xml" ContentType="application/vnd.openxmlformats-officedocument.presentationml.notesSlide+xml"/>
  <Override PartName="/ppt/tags/tag18.xml" ContentType="application/vnd.openxmlformats-officedocument.presentationml.tags+xml"/>
  <Override PartName="/ppt/notesSlides/notesSlide22.xml" ContentType="application/vnd.openxmlformats-officedocument.presentationml.notesSlide+xml"/>
  <Override PartName="/ppt/tags/tag19.xml" ContentType="application/vnd.openxmlformats-officedocument.presentationml.tags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tags/tag21.xml" ContentType="application/vnd.openxmlformats-officedocument.presentationml.tags+xml"/>
  <Override PartName="/ppt/notesSlides/notesSlide25.xml" ContentType="application/vnd.openxmlformats-officedocument.presentationml.notesSlide+xml"/>
  <Override PartName="/ppt/tags/tag22.xml" ContentType="application/vnd.openxmlformats-officedocument.presentationml.tags+xml"/>
  <Override PartName="/ppt/notesSlides/notesSlide26.xml" ContentType="application/vnd.openxmlformats-officedocument.presentationml.notesSlide+xml"/>
  <Override PartName="/ppt/tags/tag23.xml" ContentType="application/vnd.openxmlformats-officedocument.presentationml.tags+xml"/>
  <Override PartName="/ppt/notesSlides/notesSlide27.xml" ContentType="application/vnd.openxmlformats-officedocument.presentationml.notesSlide+xml"/>
  <Override PartName="/ppt/tags/tag24.xml" ContentType="application/vnd.openxmlformats-officedocument.presentationml.tags+xml"/>
  <Override PartName="/ppt/notesSlides/notesSlide28.xml" ContentType="application/vnd.openxmlformats-officedocument.presentationml.notesSlide+xml"/>
  <Override PartName="/ppt/tags/tag25.xml" ContentType="application/vnd.openxmlformats-officedocument.presentationml.tags+xml"/>
  <Override PartName="/ppt/notesSlides/notesSlide29.xml" ContentType="application/vnd.openxmlformats-officedocument.presentationml.notesSlide+xml"/>
  <Override PartName="/ppt/tags/tag26.xml" ContentType="application/vnd.openxmlformats-officedocument.presentationml.tags+xml"/>
  <Override PartName="/ppt/notesSlides/notesSlide30.xml" ContentType="application/vnd.openxmlformats-officedocument.presentationml.notesSlide+xml"/>
  <Override PartName="/ppt/tags/tag27.xml" ContentType="application/vnd.openxmlformats-officedocument.presentationml.tags+xml"/>
  <Override PartName="/ppt/notesSlides/notesSlide31.xml" ContentType="application/vnd.openxmlformats-officedocument.presentationml.notesSlide+xml"/>
  <Override PartName="/ppt/tags/tag28.xml" ContentType="application/vnd.openxmlformats-officedocument.presentationml.tags+xml"/>
  <Override PartName="/ppt/notesSlides/notesSlide32.xml" ContentType="application/vnd.openxmlformats-officedocument.presentationml.notesSlide+xml"/>
  <Override PartName="/ppt/tags/tag29.xml" ContentType="application/vnd.openxmlformats-officedocument.presentationml.tags+xml"/>
  <Override PartName="/ppt/notesSlides/notesSlide33.xml" ContentType="application/vnd.openxmlformats-officedocument.presentationml.notesSlide+xml"/>
  <Override PartName="/ppt/tags/tag30.xml" ContentType="application/vnd.openxmlformats-officedocument.presentationml.tags+xml"/>
  <Override PartName="/ppt/notesSlides/notesSlide34.xml" ContentType="application/vnd.openxmlformats-officedocument.presentationml.notesSlide+xml"/>
  <Override PartName="/ppt/tags/tag31.xml" ContentType="application/vnd.openxmlformats-officedocument.presentationml.tags+xml"/>
  <Override PartName="/ppt/notesSlides/notesSlide35.xml" ContentType="application/vnd.openxmlformats-officedocument.presentationml.notesSlide+xml"/>
  <Override PartName="/ppt/tags/tag32.xml" ContentType="application/vnd.openxmlformats-officedocument.presentationml.tags+xml"/>
  <Override PartName="/ppt/notesSlides/notesSlide36.xml" ContentType="application/vnd.openxmlformats-officedocument.presentationml.notesSlide+xml"/>
  <Override PartName="/ppt/tags/tag33.xml" ContentType="application/vnd.openxmlformats-officedocument.presentationml.tags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41"/>
  </p:notesMasterIdLst>
  <p:handoutMasterIdLst>
    <p:handoutMasterId r:id="rId42"/>
  </p:handoutMasterIdLst>
  <p:sldIdLst>
    <p:sldId id="425" r:id="rId3"/>
    <p:sldId id="258" r:id="rId4"/>
    <p:sldId id="478" r:id="rId5"/>
    <p:sldId id="486" r:id="rId6"/>
    <p:sldId id="481" r:id="rId7"/>
    <p:sldId id="487" r:id="rId8"/>
    <p:sldId id="488" r:id="rId9"/>
    <p:sldId id="482" r:id="rId10"/>
    <p:sldId id="489" r:id="rId11"/>
    <p:sldId id="490" r:id="rId12"/>
    <p:sldId id="492" r:id="rId13"/>
    <p:sldId id="491" r:id="rId14"/>
    <p:sldId id="493" r:id="rId15"/>
    <p:sldId id="483" r:id="rId16"/>
    <p:sldId id="485" r:id="rId17"/>
    <p:sldId id="484" r:id="rId18"/>
    <p:sldId id="479" r:id="rId19"/>
    <p:sldId id="511" r:id="rId20"/>
    <p:sldId id="512" r:id="rId21"/>
    <p:sldId id="513" r:id="rId22"/>
    <p:sldId id="515" r:id="rId23"/>
    <p:sldId id="518" r:id="rId24"/>
    <p:sldId id="516" r:id="rId25"/>
    <p:sldId id="517" r:id="rId26"/>
    <p:sldId id="514" r:id="rId27"/>
    <p:sldId id="495" r:id="rId28"/>
    <p:sldId id="497" r:id="rId29"/>
    <p:sldId id="499" r:id="rId30"/>
    <p:sldId id="500" r:id="rId31"/>
    <p:sldId id="501" r:id="rId32"/>
    <p:sldId id="502" r:id="rId33"/>
    <p:sldId id="504" r:id="rId34"/>
    <p:sldId id="505" r:id="rId35"/>
    <p:sldId id="506" r:id="rId36"/>
    <p:sldId id="507" r:id="rId37"/>
    <p:sldId id="509" r:id="rId38"/>
    <p:sldId id="510" r:id="rId39"/>
    <p:sldId id="27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0000"/>
    <a:srgbClr val="DFABAB"/>
    <a:srgbClr val="FF7E79"/>
    <a:srgbClr val="D83949"/>
    <a:srgbClr val="0177BC"/>
    <a:srgbClr val="99FFCC"/>
    <a:srgbClr val="032F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17"/>
    <p:restoredTop sz="81276"/>
  </p:normalViewPr>
  <p:slideViewPr>
    <p:cSldViewPr snapToGrid="0" snapToObjects="1">
      <p:cViewPr varScale="1">
        <p:scale>
          <a:sx n="96" d="100"/>
          <a:sy n="96" d="100"/>
        </p:scale>
        <p:origin x="168" y="2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07" d="100"/>
          <a:sy n="107" d="100"/>
        </p:scale>
        <p:origin x="373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2AB54-2F1B-7A43-8BC6-259C35E3ABC4}" type="datetimeFigureOut">
              <a:rPr kumimoji="1" lang="zh-CN" altLang="en-US" smtClean="0"/>
              <a:t>2025/12/24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35978-8A1C-3F4A-8613-EA8F83C3C5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2025/12/24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E151-E8A8-E941-8185-5C82CF767F1D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18BB-4624-F549-B5B2-F3A6AFBD1386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6DC0-7002-3D41-871E-6A46BD026AD7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25FD-0353-D24E-92F3-965EF60F178F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EAC0-DAA0-0541-99E4-1F63993A26F9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3E27-1ED9-E544-9569-1A5FBD27B944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60A5F-ABE0-614A-B33A-5093099DA492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04D2-8032-424F-9989-3BB75492C9F0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47BD-DA07-B84C-B18C-005716E52A11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6F0F-E760-474C-BA47-96878804B47C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2ADF-8BB3-CA4D-A291-1FC4FDC229F1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E151-E8A8-E941-8185-5C82CF767F1D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18BB-4624-F549-B5B2-F3A6AFBD1386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6DC0-7002-3D41-871E-6A46BD026AD7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25FD-0353-D24E-92F3-965EF60F178F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EAC0-DAA0-0541-99E4-1F63993A26F9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3E27-1ED9-E544-9569-1A5FBD27B944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60A5F-ABE0-614A-B33A-5093099DA492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04D2-8032-424F-9989-3BB75492C9F0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47BD-DA07-B84C-B18C-005716E52A11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6F0F-E760-474C-BA47-96878804B47C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2ADF-8BB3-CA4D-A291-1FC4FDC229F1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5BF6-8395-B948-A565-36B08AC42D31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5BF6-8395-B948-A565-36B08AC42D31}" type="datetime1">
              <a:rPr lang="en-US" altLang="zh-CN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png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2.emf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image" Target="../media/image4.emf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4.emf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5.emf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7.emf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image" Target="../media/image11.gif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image" Target="../media/image24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5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6" Type="http://schemas.openxmlformats.org/officeDocument/2006/relationships/image" Target="../media/image27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6.wmf"/><Relationship Id="rId2" Type="http://schemas.openxmlformats.org/officeDocument/2006/relationships/tags" Target="../tags/tag2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5.xml"/><Relationship Id="rId9" Type="http://schemas.openxmlformats.org/officeDocument/2006/relationships/image" Target="../media/image2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28.wmf"/><Relationship Id="rId2" Type="http://schemas.openxmlformats.org/officeDocument/2006/relationships/tags" Target="../tags/tag2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slideLayout" Target="../slideLayouts/slideLayout18.xml"/><Relationship Id="rId7" Type="http://schemas.openxmlformats.org/officeDocument/2006/relationships/oleObject" Target="../embeddings/oleObject4.bin"/><Relationship Id="rId2" Type="http://schemas.openxmlformats.org/officeDocument/2006/relationships/tags" Target="../tags/tag2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0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4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1.wmf"/><Relationship Id="rId2" Type="http://schemas.openxmlformats.org/officeDocument/2006/relationships/tags" Target="../tags/tag2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0.xml"/><Relationship Id="rId9" Type="http://schemas.openxmlformats.org/officeDocument/2006/relationships/image" Target="../media/image3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3.wmf"/><Relationship Id="rId2" Type="http://schemas.openxmlformats.org/officeDocument/2006/relationships/tags" Target="../tags/tag2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5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6" Type="http://schemas.openxmlformats.org/officeDocument/2006/relationships/image" Target="../media/image36.png"/><Relationship Id="rId5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46738"/>
            <a:ext cx="12192000" cy="2719754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150" y="1001623"/>
            <a:ext cx="10553700" cy="2387600"/>
          </a:xfrm>
        </p:spPr>
        <p:txBody>
          <a:bodyPr>
            <a:no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脉冲神经网络学习方法设计与验证</a:t>
            </a:r>
            <a:endParaRPr lang="en-US" sz="540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67377" y="3458718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2025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年</a:t>
            </a:r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12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月</a:t>
            </a:r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24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日</a:t>
            </a:r>
            <a:endParaRPr kumimoji="1" lang="zh-CN" altLang="en-US" sz="320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29000" y="5011552"/>
            <a:ext cx="533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刘沛雨</a:t>
            </a:r>
            <a:r>
              <a:rPr kumimoji="1" lang="en-US" altLang="zh-CN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		</a:t>
            </a:r>
            <a:r>
              <a:rPr kumimoji="1" lang="zh-CN" altLang="en-US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陈子睿</a:t>
            </a:r>
            <a:r>
              <a:rPr kumimoji="1" lang="en-US" altLang="zh-CN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		</a:t>
            </a:r>
            <a:r>
              <a:rPr kumimoji="1" lang="zh-CN" altLang="en-US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张文瀚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319149" y="1830800"/>
            <a:ext cx="6039515" cy="769441"/>
            <a:chOff x="1184078" y="2313500"/>
            <a:chExt cx="6039515" cy="769441"/>
          </a:xfrm>
        </p:grpSpPr>
        <p:sp>
          <p:nvSpPr>
            <p:cNvPr id="13" name="文本框 12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1</a:t>
              </a:r>
              <a:endParaRPr lang="zh-CN" altLang="en-US" sz="4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806725" y="2461520"/>
              <a:ext cx="5416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激活驱动的脉冲神经网络反向传播算法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1806725" y="2409554"/>
              <a:ext cx="0" cy="577334"/>
            </a:xfrm>
            <a:prstGeom prst="line">
              <a:avLst/>
            </a:prstGeom>
            <a:ln w="63500">
              <a:solidFill>
                <a:srgbClr val="9A00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335039" y="2840518"/>
            <a:ext cx="6207970" cy="769441"/>
            <a:chOff x="1184078" y="2313500"/>
            <a:chExt cx="6207970" cy="769441"/>
          </a:xfrm>
        </p:grpSpPr>
        <p:sp>
          <p:nvSpPr>
            <p:cNvPr id="51" name="文本框 50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2</a:t>
              </a:r>
              <a:endParaRPr lang="zh-CN" altLang="en-US" sz="4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790835" y="2473648"/>
              <a:ext cx="5601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事件驱动的脉冲神经网络反向传播算法</a:t>
              </a:r>
            </a:p>
          </p:txBody>
        </p:sp>
        <p:cxnSp>
          <p:nvCxnSpPr>
            <p:cNvPr id="54" name="直接连接符 33"/>
            <p:cNvCxnSpPr/>
            <p:nvPr/>
          </p:nvCxnSpPr>
          <p:spPr>
            <a:xfrm>
              <a:off x="1795002" y="2409554"/>
              <a:ext cx="0" cy="577334"/>
            </a:xfrm>
            <a:prstGeom prst="line">
              <a:avLst/>
            </a:prstGeom>
            <a:ln w="63500">
              <a:solidFill>
                <a:srgbClr val="9A00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315302" y="69848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</a:p>
        </p:txBody>
      </p:sp>
      <p:pic>
        <p:nvPicPr>
          <p:cNvPr id="40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319149" y="1830800"/>
            <a:ext cx="6039515" cy="769441"/>
            <a:chOff x="1184078" y="2313500"/>
            <a:chExt cx="6039515" cy="769441"/>
          </a:xfrm>
        </p:grpSpPr>
        <p:sp>
          <p:nvSpPr>
            <p:cNvPr id="13" name="文本框 12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1</a:t>
              </a:r>
              <a:endParaRPr lang="zh-CN" altLang="en-US" sz="4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806725" y="2461520"/>
              <a:ext cx="5416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激活驱动的脉冲神经网络反向传播算法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1806725" y="2409554"/>
              <a:ext cx="0" cy="577334"/>
            </a:xfrm>
            <a:prstGeom prst="line">
              <a:avLst/>
            </a:prstGeom>
            <a:ln w="63500">
              <a:solidFill>
                <a:srgbClr val="9A00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335039" y="2840518"/>
            <a:ext cx="6207970" cy="769441"/>
            <a:chOff x="1184078" y="2313500"/>
            <a:chExt cx="6207970" cy="769441"/>
          </a:xfrm>
        </p:grpSpPr>
        <p:sp>
          <p:nvSpPr>
            <p:cNvPr id="51" name="文本框 50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tx1">
                      <a:alpha val="20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2</a:t>
              </a:r>
              <a:endParaRPr lang="zh-CN" altLang="en-US" sz="4400" b="1" dirty="0">
                <a:solidFill>
                  <a:schemeClr val="tx1">
                    <a:alpha val="2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790835" y="2473648"/>
              <a:ext cx="5601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alpha val="2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事件驱动的脉冲神经网络反向传播算法</a:t>
              </a:r>
            </a:p>
          </p:txBody>
        </p:sp>
        <p:cxnSp>
          <p:nvCxnSpPr>
            <p:cNvPr id="54" name="直接连接符 33"/>
            <p:cNvCxnSpPr/>
            <p:nvPr/>
          </p:nvCxnSpPr>
          <p:spPr>
            <a:xfrm>
              <a:off x="1795002" y="2409554"/>
              <a:ext cx="0" cy="577334"/>
            </a:xfrm>
            <a:prstGeom prst="line">
              <a:avLst/>
            </a:prstGeom>
            <a:ln w="63500">
              <a:solidFill>
                <a:srgbClr val="9A000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315302" y="69848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</a:p>
        </p:txBody>
      </p:sp>
      <p:pic>
        <p:nvPicPr>
          <p:cNvPr id="40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444" y="1126188"/>
            <a:ext cx="4665980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前向传播（以</a:t>
            </a:r>
            <a:r>
              <a:rPr kumimoji="1" lang="en-US" altLang="zh-CN" b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LIF</a:t>
            </a:r>
            <a:r>
              <a:rPr kumimoji="1" lang="zh-CN" altLang="en-US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为例）：充电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-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发放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-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重置</a:t>
            </a:r>
            <a:endParaRPr kumimoji="1" lang="en-US" altLang="zh-CN" b="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444" y="541413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离散时间步下神经元的前向和反向传播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341" y="4378308"/>
            <a:ext cx="3358515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反</a:t>
            </a:r>
            <a:r>
              <a:rPr kumimoji="1" lang="zh-CN" altLang="en-US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向传播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  <a:r>
              <a:rPr kumimoji="1" lang="en-US" altLang="zh-CN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BPTT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+ 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代理梯度</a:t>
            </a:r>
            <a:endParaRPr kumimoji="1" lang="en-US" altLang="zh-CN" b="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35832" y="1613404"/>
                <a:ext cx="4304714" cy="6134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b="0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b="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b="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i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b="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b="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CN" altLang="en-US" b="0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>
                  <a:solidFill>
                    <a:schemeClr val="accent4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32" y="1613404"/>
                <a:ext cx="4304714" cy="613410"/>
              </a:xfrm>
              <a:prstGeom prst="rect">
                <a:avLst/>
              </a:prstGeom>
              <a:blipFill rotWithShape="1">
                <a:blip r:embed="rId5"/>
                <a:stretch>
                  <a:fillRect l="-13" t="-82" r="15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16633" y="2357121"/>
                <a:ext cx="3041636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b="0" i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Heaviside</m:t>
                      </m:r>
                      <m:d>
                        <m:dPr>
                          <m:ctrlPr>
                            <a:rPr lang="zh-CN" altLang="en-US" b="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33" y="2357121"/>
                <a:ext cx="3041636" cy="368300"/>
              </a:xfrm>
              <a:prstGeom prst="rect">
                <a:avLst/>
              </a:prstGeom>
              <a:blipFill rotWithShape="1">
                <a:blip r:embed="rId6"/>
                <a:stretch>
                  <a:fillRect l="-2" r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16633" y="2978202"/>
                <a:ext cx="39811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b="0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  <m:r>
                        <a:rPr lang="en-US" altLang="zh-CN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33" y="2978202"/>
                <a:ext cx="3981157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" t="-14" r="10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16633" y="4885189"/>
                <a:ext cx="6754838" cy="6701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zh-CN" altLang="en-US" i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zh-CN" altLang="en-US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zh-CN" altLang="en-US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zh-CN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33" y="4885189"/>
                <a:ext cx="6754838" cy="670183"/>
              </a:xfrm>
              <a:prstGeom prst="rect">
                <a:avLst/>
              </a:prstGeom>
              <a:blipFill rotWithShape="1">
                <a:blip r:embed="rId8"/>
                <a:stretch>
                  <a:fillRect l="-1" t="-20" r="6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2081179" y="5593565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已知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73652" y="55935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已知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31932" y="560240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5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代理梯度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4730953" y="5477756"/>
                <a:ext cx="1401925" cy="618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b="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i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b="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53" y="5477756"/>
                <a:ext cx="1401925" cy="618631"/>
              </a:xfrm>
              <a:prstGeom prst="rect">
                <a:avLst/>
              </a:prstGeom>
              <a:blipFill rotWithShape="1">
                <a:blip r:embed="rId9"/>
                <a:stretch>
                  <a:fillRect l="-14" t="-40" r="3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990104" y="5454339"/>
                <a:ext cx="2280881" cy="6701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kumimoji="1"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zh-CN" altLang="en-US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104" y="5454339"/>
                <a:ext cx="2280881" cy="670183"/>
              </a:xfrm>
              <a:prstGeom prst="rect">
                <a:avLst/>
              </a:prstGeom>
              <a:blipFill rotWithShape="1">
                <a:blip r:embed="rId10"/>
                <a:stretch>
                  <a:fillRect l="-7" t="-48" r="5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11"/>
          <a:srcRect t="20811" r="81564" b="50527"/>
          <a:stretch>
            <a:fillRect/>
          </a:stretch>
        </p:blipFill>
        <p:spPr>
          <a:xfrm>
            <a:off x="10351513" y="3648118"/>
            <a:ext cx="1245309" cy="1129674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3938954" y="1083983"/>
            <a:ext cx="6273591" cy="3693809"/>
            <a:chOff x="3916344" y="755763"/>
            <a:chExt cx="6754838" cy="3941379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16344" y="755763"/>
              <a:ext cx="6754838" cy="3941379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3916344" y="1580223"/>
              <a:ext cx="1232431" cy="1146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2" grpId="0"/>
      <p:bldP spid="12" grpId="1"/>
      <p:bldP spid="13" grpId="0"/>
      <p:bldP spid="13" grpId="1"/>
      <p:bldP spid="29" grpId="0"/>
      <p:bldP spid="29" grpId="1"/>
      <p:bldP spid="32" grpId="0"/>
      <p:bldP spid="32" grpId="1"/>
      <p:bldP spid="34" grpId="0"/>
      <p:bldP spid="34" grpId="1"/>
      <p:bldP spid="60" grpId="0"/>
      <p:bldP spid="60" grpId="1"/>
      <p:bldP spid="58" grpId="0"/>
      <p:bldP spid="58" grpId="1"/>
      <p:bldP spid="62" grpId="0"/>
      <p:bldP spid="62" grpId="1"/>
      <p:bldP spid="59" grpId="0"/>
      <p:bldP spid="59" grpId="1"/>
      <p:bldP spid="65" grpId="0"/>
      <p:bldP spid="65" grpId="1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4333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训练卷积脉冲神经网络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b="50344"/>
          <a:stretch>
            <a:fillRect/>
          </a:stretch>
        </p:blipFill>
        <p:spPr>
          <a:xfrm>
            <a:off x="3884240" y="1491313"/>
            <a:ext cx="8244236" cy="40937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0444" y="1855726"/>
                <a:ext cx="3485515" cy="34150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CIFAR10</a:t>
                </a: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，基于</a:t>
                </a:r>
                <a:r>
                  <a:rPr kumimoji="1" lang="en-US" altLang="zh-CN" dirty="0" err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spikingjelly</a:t>
                </a:r>
                <a:endParaRPr kumimoji="1" lang="en-US" altLang="zh-CN" dirty="0">
                  <a:latin typeface="Times New Roman" panose="02020603050405020304" charset="0"/>
                  <a:ea typeface="黑体" panose="02010609060101010101" pitchFamily="49" charset="-122"/>
                  <a:cs typeface="Times New Roman" panose="0202060305040502030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LIF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𝑇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= 4</m:t>
                    </m:r>
                  </m:oMath>
                </a14:m>
                <a:endParaRPr kumimoji="1" lang="en-US" altLang="zh-CN" dirty="0">
                  <a:latin typeface="Times New Roman" panose="02020603050405020304" charset="0"/>
                  <a:ea typeface="黑体" panose="02010609060101010101" pitchFamily="49" charset="-122"/>
                  <a:cs typeface="Times New Roman" panose="0202060305040502030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软重置 </a:t>
                </a:r>
                <a:r>
                  <a:rPr kumimoji="1" lang="en-US" altLang="zh-CN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+</a:t>
                </a: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 不计算重置梯度</a:t>
                </a:r>
                <a:endParaRPr kumimoji="1" lang="en-US" altLang="zh-CN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b="0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输入不衰减</a:t>
                </a:r>
                <a:endParaRPr kumimoji="1" lang="en-US" altLang="zh-CN" b="0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1" lang="zh-CN" altLang="en-US" dirty="0">
                    <a:solidFill>
                      <a:prstClr val="black"/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代理梯度</a:t>
                </a:r>
                <a:endPara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kumimoji="1" lang="en-US" altLang="zh-CN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=4</m:t>
                    </m:r>
                  </m:oMath>
                </a14:m>
                <a:endParaRPr kumimoji="1" lang="en-US" altLang="zh-CN" b="0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44" y="1855726"/>
                <a:ext cx="3485515" cy="3415030"/>
              </a:xfrm>
              <a:prstGeom prst="rect">
                <a:avLst/>
              </a:prstGeom>
              <a:blipFill rotWithShape="1">
                <a:blip r:embed="rId6"/>
                <a:stretch>
                  <a:fillRect l="-12" t="-7" r="1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4333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训练卷积脉冲神经网络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t="50281" b="246"/>
          <a:stretch>
            <a:fillRect/>
          </a:stretch>
        </p:blipFill>
        <p:spPr>
          <a:xfrm>
            <a:off x="3780813" y="1542032"/>
            <a:ext cx="8411187" cy="41613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444" y="1855726"/>
                <a:ext cx="3485515" cy="34150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CIFAR10</a:t>
                </a: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，基于</a:t>
                </a:r>
                <a:r>
                  <a:rPr kumimoji="1" lang="en-US" altLang="zh-CN" dirty="0" err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spikingjelly</a:t>
                </a:r>
                <a:endParaRPr kumimoji="1" lang="en-US" altLang="zh-CN" dirty="0">
                  <a:latin typeface="Times New Roman" panose="02020603050405020304" charset="0"/>
                  <a:ea typeface="黑体" panose="02010609060101010101" pitchFamily="49" charset="-122"/>
                  <a:cs typeface="Times New Roman" panose="0202060305040502030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LIF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𝑇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 = 4</m:t>
                    </m:r>
                  </m:oMath>
                </a14:m>
                <a:endParaRPr kumimoji="1" lang="en-US" altLang="zh-CN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软重置 </a:t>
                </a:r>
                <a:r>
                  <a:rPr kumimoji="1" lang="en-US" altLang="zh-CN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+</a:t>
                </a: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 不计算重置梯度</a:t>
                </a:r>
                <a:endParaRPr kumimoji="1" lang="en-US" altLang="zh-CN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b="0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输入不衰减</a:t>
                </a:r>
                <a:endParaRPr kumimoji="1" lang="en-US" altLang="zh-CN" b="0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1" lang="zh-CN" altLang="en-US" dirty="0">
                    <a:solidFill>
                      <a:prstClr val="black"/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代理梯度</a:t>
                </a:r>
                <a:endPara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kumimoji="1" lang="en-US" altLang="zh-CN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=4</m:t>
                    </m:r>
                  </m:oMath>
                </a14:m>
                <a:endParaRPr kumimoji="1" lang="en-US" altLang="zh-CN" b="0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44" y="1855726"/>
                <a:ext cx="3485515" cy="3415030"/>
              </a:xfrm>
              <a:prstGeom prst="rect">
                <a:avLst/>
              </a:prstGeom>
              <a:blipFill rotWithShape="1">
                <a:blip r:embed="rId6"/>
                <a:stretch>
                  <a:fillRect l="-12" t="-7" r="1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7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4333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训练卷积脉冲神经网络</a:t>
            </a:r>
          </a:p>
        </p:txBody>
      </p:sp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473653" y="1994746"/>
          <a:ext cx="7244694" cy="2800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2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alibri" panose="020F0502020204030204" pitchFamily="34" charset="0"/>
                          <a:ea typeface="黑体" panose="02010609060101010101" pitchFamily="49" charset="-122"/>
                          <a:cs typeface="Calibri" panose="020F0502020204030204" pitchFamily="34" charset="0"/>
                        </a:rPr>
                        <a:t>架构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alibri" panose="020F0502020204030204" pitchFamily="34" charset="0"/>
                          <a:ea typeface="黑体" panose="02010609060101010101" pitchFamily="49" charset="-122"/>
                          <a:cs typeface="Calibri" panose="020F0502020204030204" pitchFamily="34" charset="0"/>
                        </a:rPr>
                        <a:t>验证集准确率</a:t>
                      </a:r>
                      <a:r>
                        <a:rPr lang="en-US" altLang="zh-CN" dirty="0">
                          <a:latin typeface="Times New Roman" panose="02020603050405020304" charset="0"/>
                          <a:ea typeface="黑体" panose="02010609060101010101" pitchFamily="49" charset="-122"/>
                          <a:cs typeface="Times New Roman" panose="02020603050405020304" charset="0"/>
                        </a:rPr>
                        <a:t>(%)</a:t>
                      </a:r>
                      <a:endParaRPr lang="zh-CN" altLang="en-US" dirty="0">
                        <a:latin typeface="Times New Roman" panose="02020603050405020304" charset="0"/>
                        <a:ea typeface="黑体" panose="02010609060101010101" pitchFamily="49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黑体" panose="02010609060101010101" pitchFamily="49" charset="-122"/>
                          <a:cs typeface="Times New Roman" panose="02020603050405020304" charset="0"/>
                        </a:rPr>
                        <a:t>VGG-8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91.14</a:t>
                      </a:r>
                      <a:endParaRPr lang="en-US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黑体" panose="02010609060101010101" pitchFamily="49" charset="-122"/>
                          <a:cs typeface="Times New Roman" panose="02020603050405020304" charset="0"/>
                        </a:rPr>
                        <a:t>VGG-16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94.12</a:t>
                      </a:r>
                      <a:endParaRPr lang="en-US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黑体" panose="02010609060101010101" pitchFamily="49" charset="-122"/>
                          <a:cs typeface="Times New Roman" panose="02020603050405020304" charset="0"/>
                        </a:rPr>
                        <a:t>VGG-19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94.23</a:t>
                      </a:r>
                      <a:endParaRPr lang="en-US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黑体" panose="02010609060101010101" pitchFamily="49" charset="-122"/>
                          <a:cs typeface="Times New Roman" panose="02020603050405020304" charset="0"/>
                        </a:rPr>
                        <a:t>ResNet-18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95.28</a:t>
                      </a:r>
                      <a:endParaRPr lang="en-US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8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自定义代理梯度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/>
          <a:srcRect l="6102" t="10327" r="9432" b="3644"/>
          <a:stretch>
            <a:fillRect/>
          </a:stretch>
        </p:blipFill>
        <p:spPr>
          <a:xfrm>
            <a:off x="2121408" y="1308751"/>
            <a:ext cx="7424928" cy="45374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95344" y="5846163"/>
                <a:ext cx="4401312" cy="427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Sigmoid: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𝛼𝜎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kumimoji="1" lang="en-US" altLang="zh-CN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344" y="5846163"/>
                <a:ext cx="4401312" cy="427355"/>
              </a:xfrm>
              <a:prstGeom prst="rect">
                <a:avLst/>
              </a:prstGeom>
              <a:blipFill rotWithShape="1">
                <a:blip r:embed="rId6"/>
                <a:stretch>
                  <a:fillRect l="-6" t="-83" r="9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9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自定义代理梯度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95344" y="5846163"/>
                <a:ext cx="4401312" cy="790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dirty="0" err="1">
                    <a:latin typeface="Times New Roman" panose="02020603050405020304" charset="0"/>
                    <a:cs typeface="Times New Roman" panose="02020603050405020304" charset="0"/>
                  </a:rPr>
                  <a:t>Superspike</a:t>
                </a:r>
                <a:r>
                  <a:rPr kumimoji="1"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: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b="0" dirty="0"/>
              </a:p>
              <a:p>
                <a:pPr algn="ctr"/>
                <a:endParaRPr kumimoji="1" lang="en-US" altLang="zh-CN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344" y="5846163"/>
                <a:ext cx="4401312" cy="790575"/>
              </a:xfrm>
              <a:prstGeom prst="rect">
                <a:avLst/>
              </a:prstGeom>
              <a:blipFill rotWithShape="1">
                <a:blip r:embed="rId5"/>
                <a:stretch>
                  <a:fillRect l="-6" t="-45" r="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l="6609" t="10622" r="8244" b="2969"/>
          <a:stretch>
            <a:fillRect/>
          </a:stretch>
        </p:blipFill>
        <p:spPr>
          <a:xfrm>
            <a:off x="2133600" y="1236194"/>
            <a:ext cx="7571232" cy="460996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10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自定义代理梯度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95344" y="5846163"/>
                <a:ext cx="440131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Triangular: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max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(0, 1−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𝛼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|)</m:t>
                    </m:r>
                  </m:oMath>
                </a14:m>
                <a:endParaRPr kumimoji="1" lang="en-US" altLang="zh-CN" b="0" dirty="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kumimoji="1" lang="en-US" altLang="zh-CN" b="0" dirty="0">
                  <a:latin typeface="Times New Roman" panose="02020603050405020304" charset="0"/>
                  <a:ea typeface="Cambria Math" panose="02040503050406030204" pitchFamily="18" charset="0"/>
                  <a:cs typeface="Times New Roman" panose="0202060305040502030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344" y="5846163"/>
                <a:ext cx="4401312" cy="645160"/>
              </a:xfrm>
              <a:prstGeom prst="rect">
                <a:avLst/>
              </a:prstGeom>
              <a:blipFill rotWithShape="1">
                <a:blip r:embed="rId5"/>
                <a:stretch>
                  <a:fillRect l="-6" t="-55" r="9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l="6267" t="10390" r="8800" b="2621"/>
          <a:stretch>
            <a:fillRect/>
          </a:stretch>
        </p:blipFill>
        <p:spPr>
          <a:xfrm>
            <a:off x="1958796" y="1126188"/>
            <a:ext cx="7778700" cy="478018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11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对比不同代理梯度函数的效果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06" y="1113598"/>
            <a:ext cx="5190398" cy="51903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869" y="1126188"/>
            <a:ext cx="5190398" cy="519039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12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对比不同代理梯度函数的效果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"/>
              <p:cNvGraphicFramePr>
                <a:graphicFrameLocks noGrp="1"/>
              </p:cNvGraphicFramePr>
              <p:nvPr/>
            </p:nvGraphicFramePr>
            <p:xfrm>
              <a:off x="1822042" y="1478723"/>
              <a:ext cx="8547915" cy="42448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493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493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libri" panose="020F0502020204030204" pitchFamily="34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CIFAR-10</a:t>
                          </a: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(%)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91.43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Superspike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dirty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Triangular</a:t>
                          </a:r>
                          <a:endParaRPr kumimoji="1"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89.94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Superspike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84.01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dirty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Triangular</a:t>
                          </a:r>
                          <a:endParaRPr kumimoji="1"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62.36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"/>
              <p:cNvGraphicFramePr>
                <a:graphicFrameLocks noGrp="1"/>
              </p:cNvGraphicFramePr>
              <p:nvPr/>
            </p:nvGraphicFramePr>
            <p:xfrm>
              <a:off x="1822042" y="1478723"/>
              <a:ext cx="8547915" cy="42448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5"/>
                    <a:gridCol w="2849305"/>
                    <a:gridCol w="2849305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CIFAR-10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(%)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91.43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Superspike</a:t>
                          </a:r>
                          <a:endParaRPr lang="en-US" altLang="zh-CN" dirty="0" err="1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dirty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Triangular</a:t>
                          </a:r>
                          <a:endParaRPr kumimoji="1"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89.94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Superspike</a:t>
                          </a:r>
                          <a:endParaRPr lang="en-US" altLang="zh-CN" dirty="0" err="1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84.01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dirty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Triangular</a:t>
                          </a:r>
                          <a:endParaRPr kumimoji="1"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62.36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13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对比不同代理梯度函数的效果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"/>
              <p:cNvGraphicFramePr>
                <a:graphicFrameLocks noGrp="1"/>
              </p:cNvGraphicFramePr>
              <p:nvPr/>
            </p:nvGraphicFramePr>
            <p:xfrm>
              <a:off x="1822039" y="1606972"/>
              <a:ext cx="8547921" cy="364405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493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4930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56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zh-CN" altLang="en-US" i="1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CIFAR-10</a:t>
                          </a: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(%)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0795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</a:p>
                      </a:txBody>
                      <a:tcPr anchor="ctr"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90.00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91.43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91.06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91.28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"/>
              <p:cNvGraphicFramePr>
                <a:graphicFrameLocks noGrp="1"/>
              </p:cNvGraphicFramePr>
              <p:nvPr/>
            </p:nvGraphicFramePr>
            <p:xfrm>
              <a:off x="1822039" y="1606972"/>
              <a:ext cx="8547921" cy="364405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7"/>
                    <a:gridCol w="2849307"/>
                    <a:gridCol w="2849307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CIFAR-10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(%)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2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90.00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91.43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6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91.06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00795">
                    <a:tc vMerge="1"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91.28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r="933"/>
          <a:stretch>
            <a:fillRect/>
          </a:stretch>
        </p:blipFill>
        <p:spPr>
          <a:xfrm>
            <a:off x="1574139" y="1469311"/>
            <a:ext cx="10190988" cy="4203700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14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9CE911-2023-944A-A1B8-0E752CAF5E8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8522" t="29913" r="27157" b="25913"/>
          <a:stretch/>
        </p:blipFill>
        <p:spPr>
          <a:xfrm>
            <a:off x="320444" y="1610845"/>
            <a:ext cx="1669770" cy="21491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事件流数据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0637" y="5757723"/>
            <a:ext cx="3850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两个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channel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，分别记录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OFF/ON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事件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15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20444" y="541413"/>
                <a:ext cx="78634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kumimoji="1" lang="en-US" altLang="zh-CN" sz="3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CIFAR10-DVS</a:t>
                </a:r>
                <a:r>
                  <a:rPr kumimoji="1" lang="zh-CN" altLang="en-US" sz="3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上训练（</a:t>
                </a:r>
                <a14:m>
                  <m:oMath xmlns:m="http://schemas.openxmlformats.org/officeDocument/2006/math">
                    <m:r>
                      <a:rPr kumimoji="1" lang="en-US" altLang="zh-CN" sz="3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𝑇</m:t>
                    </m:r>
                    <m:r>
                      <a:rPr kumimoji="1" lang="en-US" altLang="zh-CN" sz="3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=10</m:t>
                    </m:r>
                  </m:oMath>
                </a14:m>
                <a:r>
                  <a:rPr kumimoji="1" lang="en-US" altLang="zh-CN" sz="3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VGG-8</a:t>
                </a:r>
                <a:r>
                  <a:rPr kumimoji="1" lang="zh-CN" altLang="en-US" sz="3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44" y="541413"/>
                <a:ext cx="7863435" cy="584775"/>
              </a:xfrm>
              <a:prstGeom prst="rect">
                <a:avLst/>
              </a:prstGeom>
              <a:blipFill>
                <a:blip r:embed="rId5"/>
                <a:stretch>
                  <a:fillRect l="-2097" t="-17021" r="-968" b="-319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2"/>
              <p:cNvGraphicFramePr>
                <a:graphicFrameLocks noGrp="1"/>
              </p:cNvGraphicFramePr>
              <p:nvPr/>
            </p:nvGraphicFramePr>
            <p:xfrm>
              <a:off x="1822039" y="1606972"/>
              <a:ext cx="8547921" cy="364405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493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4930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libri" panose="020F0502020204030204" pitchFamily="34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CIFAR10-DVS</a:t>
                          </a: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%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0795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</a:p>
                      </a:txBody>
                      <a:tcPr anchor="ctr"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81.0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79.5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81.5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77.9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76.5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2"/>
              <p:cNvGraphicFramePr>
                <a:graphicFrameLocks noGrp="1"/>
              </p:cNvGraphicFramePr>
              <p:nvPr/>
            </p:nvGraphicFramePr>
            <p:xfrm>
              <a:off x="1822039" y="1606972"/>
              <a:ext cx="8547921" cy="364405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7"/>
                    <a:gridCol w="2849307"/>
                    <a:gridCol w="2849307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CIFAR10-DVS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%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2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81.0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79.5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6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81.5</a:t>
                          </a:r>
                          <a:endParaRPr lang="en-US" altLang="zh-CN" b="1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00795">
                    <a:tc vMerge="1"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77.9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76.5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16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444" y="1126188"/>
            <a:ext cx="3070071" cy="1702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手动处理神经形态数据集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不同的帧数</a:t>
            </a:r>
            <a:endParaRPr kumimoji="1" lang="en-US" altLang="zh-CN" b="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不同的积分方式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…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0" grpId="0"/>
      <p:bldP spid="1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319149" y="1830800"/>
            <a:ext cx="6039515" cy="769441"/>
            <a:chOff x="1184078" y="2313500"/>
            <a:chExt cx="6039515" cy="769441"/>
          </a:xfrm>
        </p:grpSpPr>
        <p:sp>
          <p:nvSpPr>
            <p:cNvPr id="13" name="文本框 12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tx1">
                      <a:alpha val="20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1</a:t>
              </a:r>
              <a:endParaRPr lang="zh-CN" altLang="en-US" sz="4400" b="1" dirty="0">
                <a:solidFill>
                  <a:schemeClr val="tx1">
                    <a:alpha val="2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806725" y="2461520"/>
              <a:ext cx="5416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alpha val="2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激活驱动的脉冲神经网络反向传播算法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1806725" y="2409554"/>
              <a:ext cx="0" cy="577334"/>
            </a:xfrm>
            <a:prstGeom prst="line">
              <a:avLst/>
            </a:prstGeom>
            <a:ln w="63500">
              <a:solidFill>
                <a:srgbClr val="9A000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335039" y="2840518"/>
            <a:ext cx="6207970" cy="769441"/>
            <a:chOff x="1184078" y="2313500"/>
            <a:chExt cx="6207970" cy="769441"/>
          </a:xfrm>
        </p:grpSpPr>
        <p:sp>
          <p:nvSpPr>
            <p:cNvPr id="51" name="文本框 50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2</a:t>
              </a:r>
              <a:endParaRPr lang="zh-CN" altLang="en-US" sz="4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790835" y="2473648"/>
              <a:ext cx="5601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事件驱动的脉冲神经网络反向传播算法</a:t>
              </a:r>
            </a:p>
          </p:txBody>
        </p:sp>
        <p:cxnSp>
          <p:nvCxnSpPr>
            <p:cNvPr id="54" name="直接连接符 33"/>
            <p:cNvCxnSpPr/>
            <p:nvPr/>
          </p:nvCxnSpPr>
          <p:spPr>
            <a:xfrm>
              <a:off x="1795002" y="2409554"/>
              <a:ext cx="0" cy="577334"/>
            </a:xfrm>
            <a:prstGeom prst="line">
              <a:avLst/>
            </a:prstGeom>
            <a:ln w="63500">
              <a:solidFill>
                <a:srgbClr val="9A00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315302" y="69848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</a:p>
        </p:txBody>
      </p:sp>
      <p:pic>
        <p:nvPicPr>
          <p:cNvPr id="40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18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675" y="1126490"/>
            <a:ext cx="11123295" cy="50634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i="1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Training Spiking Neural Networks with Event-driven Backpropagation</a:t>
            </a: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Contributions</a:t>
            </a:r>
            <a:r>
              <a:rPr lang="zh-CN" altLang="en-US" sz="20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通过事件驱动的</a:t>
            </a:r>
            <a:r>
              <a:rPr lang="en-US" altLang="zh-CN" sz="2000" dirty="0" err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SNN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训练方法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替换核函数的导数和池化层等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成功训练高准确率模型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latin typeface="+mj-lt"/>
                <a:ea typeface="黑体" panose="02010609060101010101" pitchFamily="49" charset="-122"/>
                <a:sym typeface="+mn-ea"/>
              </a:rPr>
              <a:t>证明时间梯度和在层间保持不变</a:t>
            </a:r>
          </a:p>
          <a:p>
            <a:pPr marL="0" lvl="0"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0" lvl="0"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444" y="541413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论文原理分析：内容总览</a:t>
            </a:r>
          </a:p>
        </p:txBody>
      </p:sp>
      <p:pic>
        <p:nvPicPr>
          <p:cNvPr id="11" name="直接连接符 37"/>
          <p:cNvPicPr/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>
            <a:off x="683172" y="3346986"/>
            <a:ext cx="4428000" cy="184348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  <a:headEnd type="none"/>
            <a:tailEnd type="none"/>
          </a:ln>
        </p:spPr>
      </p:pic>
      <p:pic>
        <p:nvPicPr>
          <p:cNvPr id="5" name="直接连接符 37"/>
          <p:cNvPicPr/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>
            <a:off x="6610355" y="3346986"/>
            <a:ext cx="4428000" cy="184348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  <a:headEnd type="none"/>
            <a:tailEnd type="none"/>
          </a:ln>
        </p:spPr>
      </p:pic>
      <p:sp>
        <p:nvSpPr>
          <p:cNvPr id="6" name="文本框 5"/>
          <p:cNvSpPr txBox="1"/>
          <p:nvPr/>
        </p:nvSpPr>
        <p:spPr>
          <a:xfrm>
            <a:off x="683171" y="3851169"/>
            <a:ext cx="484526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Event-driven 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zh-CN" altLang="en-US" sz="2000" dirty="0"/>
              <a:t>传播只通过脉冲实现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3170" y="5075297"/>
            <a:ext cx="484526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Rnn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-like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 :</a:t>
            </a:r>
            <a:r>
              <a:rPr lang="en-US" altLang="zh-CN" sz="2000" dirty="0"/>
              <a:t> </a:t>
            </a:r>
            <a:r>
              <a:rPr lang="zh-CN" altLang="en-US" sz="2000" dirty="0"/>
              <a:t>每个时间步都反向传播梯度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610355" y="3759567"/>
                <a:ext cx="4428000" cy="842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FF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Time_based </a:t>
                </a:r>
                <a:r>
                  <a:rPr lang="en-US" altLang="zh-CN" sz="2000" dirty="0">
                    <a:latin typeface="Times New Roman" panose="02020603050405020304" charset="0"/>
                    <a:cs typeface="Times New Roman" panose="02020603050405020304" charset="0"/>
                  </a:rPr>
                  <a:t>: </a:t>
                </a:r>
                <a:r>
                  <a:rPr lang="zh-CN" altLang="en-US" sz="2000" dirty="0"/>
                  <a:t>引入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表示脉冲时刻</m:t>
                    </m:r>
                  </m:oMath>
                </a14:m>
                <a:r>
                  <a:rPr lang="zh-CN" altLang="en-US" sz="2000" dirty="0"/>
                  <a:t>的移动方向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355" y="3759567"/>
                <a:ext cx="4428000" cy="842645"/>
              </a:xfrm>
              <a:prstGeom prst="rect">
                <a:avLst/>
              </a:prstGeom>
              <a:blipFill rotWithShape="1">
                <a:blip r:embed="rId6"/>
                <a:stretch>
                  <a:fillRect t="-44" r="3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6610355" y="5075297"/>
            <a:ext cx="442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Activation-based 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zh-CN" altLang="en-US" sz="2000" dirty="0"/>
              <a:t>类似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RNN,BPTT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2" grpId="0"/>
      <p:bldP spid="12" grpId="1"/>
      <p:bldP spid="6" grpId="0"/>
      <p:bldP spid="6" grpId="1"/>
      <p:bldP spid="14" grpId="0"/>
      <p:bldP spid="14" grpId="1"/>
      <p:bldP spid="8" grpId="0"/>
      <p:bldP spid="8" grpId="1"/>
      <p:bldP spid="9" grpId="0"/>
      <p:bldP spid="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19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论文原理分析：梯度反向传播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13" name="直接连接符 37"/>
          <p:cNvPicPr/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>
            <a:off x="787624" y="2263528"/>
            <a:ext cx="4428000" cy="184348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  <a:headEnd type="none"/>
            <a:tailEnd type="none"/>
          </a:ln>
        </p:spPr>
      </p:pic>
      <p:sp>
        <p:nvSpPr>
          <p:cNvPr id="15" name="文本框 14"/>
          <p:cNvSpPr txBox="1"/>
          <p:nvPr/>
        </p:nvSpPr>
        <p:spPr>
          <a:xfrm>
            <a:off x="787400" y="1726824"/>
            <a:ext cx="4319270" cy="403225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800" b="1" dirty="0">
                <a:solidFill>
                  <a:srgbClr val="00378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Event-driven</a:t>
            </a:r>
            <a:r>
              <a:rPr lang="zh-CN" altLang="en-US" sz="1800" b="1" dirty="0">
                <a:solidFill>
                  <a:srgbClr val="003782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</a:p>
        </p:txBody>
      </p:sp>
      <p:pic>
        <p:nvPicPr>
          <p:cNvPr id="16" name="直接连接符 37"/>
          <p:cNvPicPr/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>
            <a:off x="6086912" y="2263528"/>
            <a:ext cx="4428000" cy="184348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  <a:headEnd type="none"/>
            <a:tailEnd type="none"/>
          </a:ln>
        </p:spPr>
      </p:pic>
      <p:sp>
        <p:nvSpPr>
          <p:cNvPr id="17" name="文本框 16"/>
          <p:cNvSpPr txBox="1"/>
          <p:nvPr/>
        </p:nvSpPr>
        <p:spPr>
          <a:xfrm>
            <a:off x="6059982" y="1826335"/>
            <a:ext cx="178675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00378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RNN-like</a:t>
            </a:r>
            <a:endParaRPr lang="zh-CN" alt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4450540" y="2710831"/>
                <a:ext cx="5320030" cy="1245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6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</m:t>
                    </m:r>
                    <m:f>
                      <m:fPr>
                        <m:ctrlPr>
                          <a:rPr lang="zh-CN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zh-CN" altLang="en-US" sz="2000" i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CN" sz="2000" i="1" dirty="0">
                    <a:solidFill>
                      <a:srgbClr val="0000FF"/>
                    </a:solidFill>
                  </a:rPr>
                  <a:t>= </a:t>
                </a:r>
                <a:r>
                  <a:rPr lang="el-GR" altLang="zh-CN" sz="2000" i="1" dirty="0">
                    <a:solidFill>
                      <a:srgbClr val="0000FF"/>
                    </a:solidFill>
                  </a:rPr>
                  <a:t>σ</a:t>
                </a:r>
                <a:r>
                  <a:rPr lang="en-US" altLang="zh-CN" sz="2000" i="1" dirty="0">
                    <a:solidFill>
                      <a:srgbClr val="0000FF"/>
                    </a:solidFill>
                  </a:rPr>
                  <a:t>(u-</a:t>
                </a:r>
                <a:r>
                  <a:rPr lang="en-US" altLang="zh-CN" sz="2000" i="1" dirty="0" err="1">
                    <a:solidFill>
                      <a:srgbClr val="0000FF"/>
                    </a:solidFill>
                  </a:rPr>
                  <a:t>thre</a:t>
                </a:r>
                <a:r>
                  <a:rPr lang="en-US" altLang="zh-CN" sz="2000" i="1" dirty="0">
                    <a:solidFill>
                      <a:srgbClr val="0000FF"/>
                    </a:solidFill>
                  </a:rPr>
                  <a:t>)               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代替梯度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+mj-ea"/>
                    <a:ea typeface="+mj-ea"/>
                  </a:rPr>
                  <a:t>           </a:t>
                </a:r>
                <a:endParaRPr lang="zh-CN" altLang="en-US" sz="1800" dirty="0">
                  <a:solidFill>
                    <a:srgbClr val="FF0000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40" y="2710831"/>
                <a:ext cx="5320030" cy="1245235"/>
              </a:xfrm>
              <a:prstGeom prst="rect">
                <a:avLst/>
              </a:prstGeom>
              <a:blipFill rotWithShape="1">
                <a:blip r:embed="rId6"/>
                <a:stretch>
                  <a:fillRect l="-9" t="-1" r="9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834390" y="3467862"/>
                <a:ext cx="5320030" cy="2547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  <m:r>
                      <a:rPr lang="en-US" altLang="zh-CN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000" b="1" i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微软雅黑" panose="020B0503020204020204" charset="-122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微软雅黑" panose="020B0503020204020204" charset="-122"/>
                  </a:rPr>
                  <a:t>1/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b="1" i="1" dirty="0">
                    <a:solidFill>
                      <a:srgbClr val="0070C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</a:p>
              <a:p>
                <a:endParaRPr lang="en-US" altLang="zh-CN" sz="16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zh-CN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l-GR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num>
                      <m:den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000" b="1" i="1" dirty="0">
                    <a:solidFill>
                      <a:srgbClr val="0070C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            </a:t>
                </a:r>
                <a:r>
                  <a:rPr lang="el-GR" altLang="zh-CN" sz="2000" dirty="0">
                    <a:solidFill>
                      <a:srgbClr val="FF0000"/>
                    </a:solidFill>
                    <a:latin typeface="Times New Roman" panose="02020603050405020304" charset="0"/>
                    <a:ea typeface="+mj-ea"/>
                    <a:cs typeface="Times New Roman" panose="02020603050405020304" charset="0"/>
                  </a:rPr>
                  <a:t>ε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charset="-122"/>
                  </a:rPr>
                  <a:t>为脉冲响应核函数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ea"/>
                    <a:ea typeface="+mj-ea"/>
                    <a:cs typeface="微软雅黑" panose="020B0503020204020204" charset="-122"/>
                  </a:rPr>
                  <a:t>  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+mj-ea"/>
                    <a:ea typeface="+mj-ea"/>
                    <a:cs typeface="微软雅黑" panose="020B0503020204020204" charset="-122"/>
                  </a:rPr>
                  <a:t>         </a:t>
                </a:r>
              </a:p>
              <a:p>
                <a:endParaRPr lang="en-US" altLang="zh-CN" sz="16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6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altLang="zh-CN" sz="16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endParaRPr lang="en-US" altLang="zh-CN" sz="16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endParaRPr lang="en-US" altLang="zh-CN" sz="16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90" y="3467862"/>
                <a:ext cx="5320030" cy="25476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4"/>
              <p:cNvSpPr txBox="1"/>
              <p:nvPr/>
            </p:nvSpPr>
            <p:spPr>
              <a:xfrm>
                <a:off x="834390" y="2447925"/>
                <a:ext cx="2645410" cy="801370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ctr" anchorCtr="0">
                <a:no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zh-CN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f>
                          <m:fPr>
                            <m:ctrlPr>
                              <a:rPr lang="zh-CN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</m:e>
                    </m:eqArr>
                    <m:r>
                      <a:rPr lang="en-US" altLang="zh-CN" sz="2000" i="1">
                        <a:solidFill>
                          <a:srgbClr val="4472C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rgbClr val="4472C4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　</a:t>
                </a:r>
                <a:endParaRPr lang="zh-CN" altLang="en-US" sz="2000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20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90" y="2447925"/>
                <a:ext cx="2645410" cy="80137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20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论文原理分析：层间脉冲时刻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957" y="892946"/>
            <a:ext cx="3708591" cy="26798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957" y="3662510"/>
            <a:ext cx="3567851" cy="23658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4"/>
              <p:cNvSpPr txBox="1"/>
              <p:nvPr/>
            </p:nvSpPr>
            <p:spPr>
              <a:xfrm>
                <a:off x="976432" y="1524034"/>
                <a:ext cx="4775661" cy="1522038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ctr" anchorCtr="0">
                <a:noAutofit/>
              </a:bodyPr>
              <a:lstStyle/>
              <a:p>
                <a:pPr algn="just">
                  <a:lnSpc>
                    <a:spcPct val="150000"/>
                  </a:lnSpc>
                  <a:defRPr/>
                </a:pPr>
                <a:endParaRPr lang="en-US" altLang="zh-CN" sz="1600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just">
                  <a:lnSpc>
                    <a:spcPct val="150000"/>
                  </a:lnSpc>
                  <a:defRPr/>
                </a:pPr>
                <a:r>
                  <a:rPr lang="zh-CN" altLang="en-US" sz="18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假设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W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𝑗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i</m:t>
                        </m:r>
                      </m:sup>
                    </m:sSubSup>
                    <m:r>
                      <a:rPr lang="en-US" altLang="zh-CN" sz="1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  </m:t>
                    </m:r>
                  </m:oMath>
                </a14:m>
                <a:r>
                  <a:rPr lang="en-US" altLang="zh-CN" sz="1800" dirty="0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&gt;0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，则应有</a:t>
                </a:r>
                <a:r>
                  <a:rPr lang="el-GR" altLang="zh-CN" sz="18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𝑘</m:t>
                        </m:r>
                      </m:sub>
                    </m:sSub>
                    <m:r>
                      <a:rPr lang="en-US" altLang="zh-CN" sz="1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(</m:t>
                    </m:r>
                    <m:sSubSup>
                      <m:sSubSupPr>
                        <m:ctrlP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SupPr>
                      <m:e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𝑙</m:t>
                        </m:r>
                      </m:sup>
                    </m:sSubSup>
                    <m:r>
                      <a:rPr lang="en-US" altLang="zh-CN" sz="1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)</m:t>
                    </m:r>
                  </m:oMath>
                </a14:m>
                <a:r>
                  <a:rPr lang="en-US" altLang="zh-CN" sz="1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l-GR" altLang="zh-CN" sz="18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m:t>Δ</m:t>
                    </m:r>
                    <m:sSub>
                      <m:sSubPr>
                        <m:ctrlP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𝑚</m:t>
                        </m:r>
                      </m:sub>
                    </m:sSub>
                    <m:r>
                      <a:rPr lang="en-US" altLang="zh-CN" sz="1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(</m:t>
                    </m:r>
                    <m:sSubSup>
                      <m:sSubSupPr>
                        <m:ctrlP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SupPr>
                      <m:e>
                        <m: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𝑗</m:t>
                        </m:r>
                      </m:sub>
                      <m:sup>
                        <m: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𝑙</m:t>
                        </m:r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−1</m:t>
                        </m:r>
                      </m:sup>
                    </m:sSubSup>
                    <m:r>
                      <a:rPr lang="en-US" altLang="zh-CN" sz="1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)</m:t>
                    </m:r>
                    <m:r>
                      <m:rPr>
                        <m:nor/>
                      </m:rPr>
                      <a:rPr lang="en-US" altLang="zh-CN" sz="18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&gt;0</m:t>
                    </m:r>
                  </m:oMath>
                </a14:m>
                <a:endParaRPr lang="zh-CN" altLang="en-US" sz="1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just">
                  <a:lnSpc>
                    <a:spcPct val="150000"/>
                  </a:lnSpc>
                  <a:defRPr/>
                </a:pPr>
                <a:endParaRPr lang="zh-CN" altLang="en-US" sz="1600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4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432" y="1524034"/>
                <a:ext cx="4775661" cy="1522038"/>
              </a:xfrm>
              <a:prstGeom prst="rect">
                <a:avLst/>
              </a:prstGeom>
              <a:blipFill rotWithShape="1">
                <a:blip r:embed="rId7"/>
                <a:stretch>
                  <a:fillRect l="-9" t="-2" r="6" b="40"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4"/>
              <p:cNvSpPr txBox="1"/>
              <p:nvPr/>
            </p:nvSpPr>
            <p:spPr>
              <a:xfrm>
                <a:off x="-396875" y="3394075"/>
                <a:ext cx="7025005" cy="2167255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t" anchorCtr="0">
                <a:noAutofit/>
              </a:bodyPr>
              <a:lstStyle/>
              <a:p>
                <a:pPr algn="ctr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zh-CN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𝑙</m:t>
                                  </m:r>
                                </m:sup>
                              </m:sSubSup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𝑙</m:t>
                                  </m:r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𝑙</m:t>
                                  </m:r>
                                </m:sup>
                              </m:sSubSup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  <m: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𝑙</m:t>
                                  </m:r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)</m:t>
                              </m:r>
                            </m:den>
                          </m:f>
                        </m:e>
                      </m:eqAr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000" b="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𝑙</m:t>
                            </m:r>
                          </m:sup>
                        </m:sSubSup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𝑙</m:t>
                            </m:r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−</m:t>
                        </m:r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𝑡𝑚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　</a:t>
                </a:r>
              </a:p>
            </p:txBody>
          </p:sp>
        </mc:Choice>
        <mc:Fallback xmlns="">
          <p:sp>
            <p:nvSpPr>
              <p:cNvPr id="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6875" y="3394075"/>
                <a:ext cx="7025005" cy="216725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直接连接符 37"/>
          <p:cNvPicPr>
            <a:picLocks noChangeAspect="1"/>
          </p:cNvPicPr>
          <p:nvPr/>
        </p:nvPicPr>
        <p:blipFill>
          <a:blip r:embed="rId9">
            <a:lum/>
          </a:blip>
          <a:srcRect/>
          <a:stretch>
            <a:fillRect/>
          </a:stretch>
        </p:blipFill>
        <p:spPr>
          <a:xfrm>
            <a:off x="977066" y="3163763"/>
            <a:ext cx="4428000" cy="184347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  <a:headEnd type="none"/>
            <a:tailEnd type="none"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5" grpId="0"/>
      <p:bldP spid="5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21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论文原理分析：层间脉冲时刻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文本框 5"/>
          <p:cNvSpPr txBox="1"/>
          <p:nvPr/>
        </p:nvSpPr>
        <p:spPr>
          <a:xfrm>
            <a:off x="956918" y="2388376"/>
            <a:ext cx="8587939" cy="4826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>
              <a:lnSpc>
                <a:spcPct val="100000"/>
              </a:lnSpc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直接连接符 37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>
            <a:off x="956918" y="2799034"/>
            <a:ext cx="6644313" cy="240854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</p:pic>
      <p:sp>
        <p:nvSpPr>
          <p:cNvPr id="15" name="文本框 5"/>
          <p:cNvSpPr txBox="1"/>
          <p:nvPr/>
        </p:nvSpPr>
        <p:spPr>
          <a:xfrm>
            <a:off x="883170" y="1814975"/>
            <a:ext cx="10351912" cy="984059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更关心脉冲时刻的梯度方向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: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反向传播时，使用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h(t)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替换原本</a:t>
            </a:r>
            <a:r>
              <a:rPr kumimoji="0" lang="el-GR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ε</a:t>
            </a:r>
            <a:r>
              <a:rPr kumimoji="0" lang="zh-CN" altLang="el-G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关于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的导数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7"/>
              <p:cNvSpPr txBox="1"/>
              <p:nvPr/>
            </p:nvSpPr>
            <p:spPr>
              <a:xfrm>
                <a:off x="955713" y="3013635"/>
                <a:ext cx="10357669" cy="1827035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ctr" anchorCtr="0">
                <a:noAutofit/>
              </a:bodyPr>
              <a:lstStyle/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sz="1800" i="1" smtClean="0">
                            <a:latin typeface="Cambria Math" panose="02040503050406030204" pitchFamily="18" charset="0"/>
                          </a:rPr>
                          <m:t>ε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800" dirty="0">
                    <a:latin typeface="微软雅黑" panose="020B0503020204020204" charset="-122"/>
                    <a:ea typeface="微软雅黑" panose="020B0503020204020204" charset="-122"/>
                  </a:rPr>
                  <a:t>) </a:t>
                </a:r>
                <a:r>
                  <a:rPr lang="en-US" altLang="zh-CN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n-US" altLang="zh-C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zh-CN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1800" dirty="0">
                    <a:latin typeface="微软雅黑" panose="020B0503020204020204" charset="-122"/>
                    <a:ea typeface="微软雅黑" panose="020B0503020204020204" charset="-122"/>
                  </a:rPr>
                  <a:t>记</a:t>
                </a:r>
                <a:r>
                  <a:rPr lang="en-US" altLang="zh-CN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h(t) </a:t>
                </a:r>
                <a:r>
                  <a:rPr lang="en-US" altLang="zh-CN" sz="1800" i="1" dirty="0">
                    <a:latin typeface="微软雅黑" panose="020B0503020204020204" charset="-122"/>
                    <a:ea typeface="微软雅黑" panose="020B0503020204020204" charset="-12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sz="1800" i="1">
                            <a:latin typeface="Cambria Math" panose="02040503050406030204" pitchFamily="18" charset="0"/>
                          </a:rPr>
                          <m:t>ε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altLang="zh-CN" sz="1800" i="1" dirty="0">
                  <a:latin typeface="微软雅黑" panose="020B0503020204020204" charset="-122"/>
                </a:endParaRPr>
              </a:p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800" i="1" dirty="0">
                    <a:latin typeface="微软雅黑" panose="020B0503020204020204" charset="-122"/>
                    <a:ea typeface="微软雅黑" panose="020B0503020204020204" charset="-122"/>
                  </a:rPr>
                  <a:t>h(t) &gt; 0 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sz="1800" i="1" dirty="0">
                    <a:latin typeface="微软雅黑" panose="020B0503020204020204" charset="-122"/>
                    <a:ea typeface="微软雅黑" panose="020B0503020204020204" charset="-122"/>
                  </a:rPr>
                  <a:t> </a:t>
                </a:r>
                <a:r>
                  <a:rPr lang="en-US" altLang="zh-CN" sz="1800" dirty="0">
                    <a:latin typeface="微软雅黑" panose="020B0503020204020204" charset="-122"/>
                    <a:ea typeface="微软雅黑" panose="020B0503020204020204" charset="-122"/>
                  </a:rPr>
                  <a:t>&lt;</a:t>
                </a:r>
                <a:r>
                  <a:rPr lang="en-US" altLang="zh-CN" sz="1800" i="1" dirty="0">
                    <a:latin typeface="微软雅黑" panose="020B0503020204020204" charset="-122"/>
                    <a:ea typeface="微软雅黑" panose="020B0503020204020204" charset="-122"/>
                  </a:rPr>
                  <a:t> 0     →     h(t)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−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𝑡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/</m:t>
                        </m:r>
                        <m:r>
                          <a:rPr lang="el-GR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𝜏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𝑔𝑟𝑎𝑑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合适</a:t>
                </a:r>
                <a:endParaRPr lang="en-US" altLang="zh-CN" sz="1800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 i="1" dirty="0">
                    <a:latin typeface="微软雅黑" panose="020B0503020204020204" charset="-122"/>
                    <a:ea typeface="微软雅黑" panose="020B0503020204020204" charset="-122"/>
                  </a:rPr>
                  <a:t>          </a:t>
                </a:r>
                <a:r>
                  <a:rPr lang="en-US" altLang="zh-CN" sz="1600" i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</a:t>
                </a:r>
                <a:r>
                  <a:rPr lang="zh-CN" altLang="en-US" sz="1600" i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　</a:t>
                </a:r>
                <a:endParaRPr kumimoji="0" lang="zh-CN" altLang="en-US" sz="16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16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13" y="3013635"/>
                <a:ext cx="10357669" cy="1827035"/>
              </a:xfrm>
              <a:prstGeom prst="rect">
                <a:avLst/>
              </a:prstGeom>
              <a:blipFill>
                <a:blip r:embed="rId6"/>
                <a:stretch>
                  <a:fillRect l="-530"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30"/>
          <p:cNvSpPr txBox="1"/>
          <p:nvPr/>
        </p:nvSpPr>
        <p:spPr>
          <a:xfrm>
            <a:off x="883170" y="1600374"/>
            <a:ext cx="2184400" cy="266700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003782"/>
                </a:solidFill>
                <a:latin typeface="微软雅黑" panose="020B0503020204020204" charset="-122"/>
                <a:ea typeface="微软雅黑" panose="020B0503020204020204" charset="-122"/>
              </a:rPr>
              <a:t>研究方向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4"/>
              <p:cNvSpPr txBox="1"/>
              <p:nvPr/>
            </p:nvSpPr>
            <p:spPr>
              <a:xfrm>
                <a:off x="883285" y="4899660"/>
                <a:ext cx="10357485" cy="1129030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由于更加关心脉冲时刻的移动方向，反向传播时间梯度不必须使用</a:t>
                </a:r>
                <a14:m>
                  <m:oMath xmlns:m="http://schemas.openxmlformats.org/officeDocument/2006/math">
                    <m:r>
                      <a:rPr lang="el-GR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𝜺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𝒕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Cambria Math" panose="02040503050406030204" pitchFamily="18" charset="0"/>
                  </a:rPr>
                  <a:t>的导数</a:t>
                </a:r>
                <a:endParaRPr lang="zh-CN" altLang="en-US" sz="2000">
                  <a:solidFill>
                    <a:schemeClr val="tx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（权重梯度仍需要）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　</a:t>
                </a:r>
              </a:p>
            </p:txBody>
          </p:sp>
        </mc:Choice>
        <mc:Fallback xmlns="">
          <p:sp>
            <p:nvSpPr>
              <p:cNvPr id="19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85" y="4899660"/>
                <a:ext cx="10357485" cy="1129030"/>
              </a:xfrm>
              <a:prstGeom prst="rect">
                <a:avLst/>
              </a:prstGeom>
              <a:blipFill rotWithShape="1">
                <a:blip r:embed="rId7"/>
                <a:stretch>
                  <a:fillRect t="-10686" b="-10799"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  <p:bldP spid="16" grpId="1"/>
      <p:bldP spid="18" grpId="0"/>
      <p:bldP spid="18" grpId="1"/>
      <p:bldP spid="19" grpId="0"/>
      <p:bldP spid="1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22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059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论文原理分析：平均池化层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文本框 5"/>
          <p:cNvSpPr txBox="1"/>
          <p:nvPr/>
        </p:nvSpPr>
        <p:spPr>
          <a:xfrm>
            <a:off x="956918" y="2388376"/>
            <a:ext cx="8587939" cy="4826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>
              <a:lnSpc>
                <a:spcPct val="100000"/>
              </a:lnSpc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5"/>
          <p:cNvSpPr txBox="1"/>
          <p:nvPr/>
        </p:nvSpPr>
        <p:spPr>
          <a:xfrm>
            <a:off x="883170" y="1717185"/>
            <a:ext cx="10351912" cy="984059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问题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: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未发送脉冲的神经元无法传播梯度</a:t>
            </a:r>
          </a:p>
        </p:txBody>
      </p:sp>
      <p:sp>
        <p:nvSpPr>
          <p:cNvPr id="16" name="文本框 17"/>
          <p:cNvSpPr txBox="1"/>
          <p:nvPr/>
        </p:nvSpPr>
        <p:spPr>
          <a:xfrm>
            <a:off x="829111" y="2581268"/>
            <a:ext cx="10357669" cy="8185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       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grad_sum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= 0.5                                                       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grad_sum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= 1</a:t>
            </a:r>
            <a:endParaRPr kumimoji="0" lang="zh-CN" altLang="en-US" sz="16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30"/>
          <p:cNvSpPr txBox="1"/>
          <p:nvPr/>
        </p:nvSpPr>
        <p:spPr>
          <a:xfrm>
            <a:off x="883170" y="1502584"/>
            <a:ext cx="2184400" cy="266700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003782"/>
                </a:solidFill>
                <a:latin typeface="微软雅黑" panose="020B0503020204020204" charset="-122"/>
                <a:ea typeface="微软雅黑" panose="020B0503020204020204" charset="-122"/>
              </a:rPr>
              <a:t>研究方向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224" y="3452445"/>
            <a:ext cx="3429000" cy="2286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8139" y="3504437"/>
            <a:ext cx="3752850" cy="24288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  <p:bldP spid="16" grpId="0"/>
      <p:bldP spid="16" grpId="1"/>
      <p:bldP spid="18" grpId="0"/>
      <p:bldP spid="18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23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059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论文原理分析：最大池化层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文本框 5"/>
          <p:cNvSpPr txBox="1"/>
          <p:nvPr/>
        </p:nvSpPr>
        <p:spPr>
          <a:xfrm>
            <a:off x="956918" y="2388376"/>
            <a:ext cx="8587939" cy="4826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>
              <a:lnSpc>
                <a:spcPct val="100000"/>
              </a:lnSpc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7"/>
          <p:cNvSpPr txBox="1"/>
          <p:nvPr/>
        </p:nvSpPr>
        <p:spPr>
          <a:xfrm>
            <a:off x="975069" y="2165385"/>
            <a:ext cx="10357669" cy="1827035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    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grad_sum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= 1</a:t>
            </a:r>
            <a:endParaRPr kumimoji="0" lang="zh-CN" altLang="en-US" sz="16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14"/>
          <p:cNvSpPr txBox="1"/>
          <p:nvPr/>
        </p:nvSpPr>
        <p:spPr>
          <a:xfrm>
            <a:off x="1539565" y="5017386"/>
            <a:ext cx="10357669" cy="968955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可以证明，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max pooling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adjust average pooling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使得层间梯度和保持不变　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887" y="2243137"/>
            <a:ext cx="3609975" cy="23717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2" grpId="0"/>
      <p:bldP spid="2" grpId="1"/>
      <p:bldP spid="3" grpId="0"/>
      <p:bldP spid="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论文原理分析：层间梯度传播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文本框 5"/>
          <p:cNvSpPr txBox="1"/>
          <p:nvPr/>
        </p:nvSpPr>
        <p:spPr>
          <a:xfrm>
            <a:off x="956918" y="2388376"/>
            <a:ext cx="8587939" cy="4826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>
              <a:lnSpc>
                <a:spcPct val="100000"/>
              </a:lnSpc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956918" y="2632851"/>
            <a:ext cx="8587939" cy="4826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>
              <a:lnSpc>
                <a:spcPct val="100000"/>
              </a:lnSpc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7"/>
              <p:cNvSpPr txBox="1"/>
              <p:nvPr/>
            </p:nvSpPr>
            <p:spPr>
              <a:xfrm>
                <a:off x="2257425" y="816610"/>
                <a:ext cx="8233410" cy="1826895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ctr" anchorCtr="0">
                <a:noAutofit/>
              </a:bodyPr>
              <a:lstStyle/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f>
                          <m:fPr>
                            <m:ctrlPr>
                              <a:rPr lang="zh-CN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CN" sz="2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𝑙</m:t>
                                </m:r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kumimoji="0" lang="en-US" altLang="zh-CN" sz="20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𝑙</m:t>
                            </m:r>
                          </m:sup>
                        </m:sSubSup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kumimoji="0" lang="en-US" altLang="zh-CN" sz="20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      </a:t>
                </a:r>
                <a:r>
                  <a:rPr kumimoji="0" lang="en-US" altLang="zh-CN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grad_sum</a:t>
                </a:r>
                <a:r>
                  <a:rPr kumimoji="0" lang="en-US" altLang="zh-CN" b="1" i="1" u="none" strike="noStrike" kern="1200" cap="none" spc="0" normalizeH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kumimoji="0" lang="zh-CN" altLang="en-US" sz="1600" b="1" i="1" u="none" strike="noStrike" kern="1200" cap="none" spc="0" normalizeH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（层间梯度和存在不变关系）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      </a:t>
                </a:r>
                <a:endParaRPr kumimoji="0" lang="zh-CN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16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425" y="816610"/>
                <a:ext cx="8233410" cy="182689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4"/>
          <p:cNvSpPr txBox="1"/>
          <p:nvPr/>
        </p:nvSpPr>
        <p:spPr>
          <a:xfrm>
            <a:off x="877413" y="5099817"/>
            <a:ext cx="10357669" cy="968955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max pooling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adjust average pooling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使得层间梯度和保持不变　</a:t>
            </a:r>
          </a:p>
        </p:txBody>
      </p:sp>
      <p:sp>
        <p:nvSpPr>
          <p:cNvPr id="6" name="流程图: 接点 2"/>
          <p:cNvSpPr/>
          <p:nvPr/>
        </p:nvSpPr>
        <p:spPr>
          <a:xfrm>
            <a:off x="2039003" y="2602005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接点 9"/>
          <p:cNvSpPr/>
          <p:nvPr/>
        </p:nvSpPr>
        <p:spPr>
          <a:xfrm>
            <a:off x="2039004" y="3201656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接点 10"/>
          <p:cNvSpPr/>
          <p:nvPr/>
        </p:nvSpPr>
        <p:spPr>
          <a:xfrm>
            <a:off x="2039005" y="3808467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接点 11"/>
          <p:cNvSpPr/>
          <p:nvPr/>
        </p:nvSpPr>
        <p:spPr>
          <a:xfrm>
            <a:off x="4398580" y="2343376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接点 13"/>
          <p:cNvSpPr/>
          <p:nvPr/>
        </p:nvSpPr>
        <p:spPr>
          <a:xfrm>
            <a:off x="4398580" y="2916624"/>
            <a:ext cx="325821" cy="31859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接点 16"/>
          <p:cNvSpPr/>
          <p:nvPr/>
        </p:nvSpPr>
        <p:spPr>
          <a:xfrm>
            <a:off x="4398579" y="3489872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流程图: 接点 17"/>
          <p:cNvSpPr/>
          <p:nvPr/>
        </p:nvSpPr>
        <p:spPr>
          <a:xfrm>
            <a:off x="4398578" y="4063120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70050" y="4427855"/>
            <a:ext cx="9140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</a:t>
            </a:r>
            <a:r>
              <a:rPr lang="en-US" altLang="zh-CN" sz="1600" b="1" i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layer l-1                                 layer l                                 pooling</a:t>
            </a:r>
            <a:endParaRPr lang="zh-CN" altLang="en-US" b="1" i="1" dirty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8" name="直接箭头连接符 27"/>
          <p:cNvCxnSpPr>
            <a:endCxn id="6" idx="6"/>
          </p:cNvCxnSpPr>
          <p:nvPr/>
        </p:nvCxnSpPr>
        <p:spPr>
          <a:xfrm flipH="1">
            <a:off x="2364824" y="2502673"/>
            <a:ext cx="2196664" cy="258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10" idx="6"/>
          </p:cNvCxnSpPr>
          <p:nvPr/>
        </p:nvCxnSpPr>
        <p:spPr>
          <a:xfrm flipH="1">
            <a:off x="2364825" y="2501936"/>
            <a:ext cx="2196666" cy="859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11" idx="6"/>
          </p:cNvCxnSpPr>
          <p:nvPr/>
        </p:nvCxnSpPr>
        <p:spPr>
          <a:xfrm flipH="1">
            <a:off x="2364826" y="2494492"/>
            <a:ext cx="2196665" cy="147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流程图: 接点 35"/>
          <p:cNvSpPr/>
          <p:nvPr/>
        </p:nvSpPr>
        <p:spPr>
          <a:xfrm>
            <a:off x="6564442" y="3199695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/>
          <p:cNvCxnSpPr>
            <a:endCxn id="7" idx="6"/>
          </p:cNvCxnSpPr>
          <p:nvPr/>
        </p:nvCxnSpPr>
        <p:spPr>
          <a:xfrm flipH="1" flipV="1">
            <a:off x="4724401" y="2502674"/>
            <a:ext cx="2002951" cy="858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endCxn id="17" idx="6"/>
          </p:cNvCxnSpPr>
          <p:nvPr/>
        </p:nvCxnSpPr>
        <p:spPr>
          <a:xfrm flipH="1">
            <a:off x="4724400" y="3360954"/>
            <a:ext cx="2002950" cy="288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4724399" y="3373594"/>
            <a:ext cx="2002951" cy="848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endCxn id="14" idx="6"/>
          </p:cNvCxnSpPr>
          <p:nvPr/>
        </p:nvCxnSpPr>
        <p:spPr>
          <a:xfrm flipH="1" flipV="1">
            <a:off x="4724401" y="3075922"/>
            <a:ext cx="2002949" cy="28307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8054495" y="3009972"/>
            <a:ext cx="328943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第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FF0000"/>
                </a:solidFill>
              </a:rPr>
              <a:t>层脉冲时刻的梯度加权分配给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l-1</a:t>
            </a:r>
            <a:r>
              <a:rPr lang="zh-CN" altLang="en-US" sz="2000" b="1" dirty="0">
                <a:solidFill>
                  <a:srgbClr val="FF0000"/>
                </a:solidFill>
              </a:rPr>
              <a:t>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6" grpId="0"/>
      <p:bldP spid="16" grpId="1"/>
      <p:bldP spid="19" grpId="0"/>
      <p:bldP spid="19" grpId="1"/>
      <p:bldP spid="6" grpId="0" animBg="1"/>
      <p:bldP spid="6" grpId="1" animBg="1"/>
      <p:bldP spid="10" grpId="0" animBg="1"/>
      <p:bldP spid="10" grpId="1" animBg="1"/>
      <p:bldP spid="11" grpId="0" animBg="1"/>
      <p:bldP spid="11" grpId="1" animBg="1"/>
      <p:bldP spid="7" grpId="0" animBg="1"/>
      <p:bldP spid="7" grpId="1" animBg="1"/>
      <p:bldP spid="14" grpId="0" animBg="1"/>
      <p:bldP spid="14" grpId="1" animBg="1"/>
      <p:bldP spid="17" grpId="0" animBg="1"/>
      <p:bldP spid="17" grpId="1" animBg="1"/>
      <p:bldP spid="18" grpId="0" animBg="1"/>
      <p:bldP spid="18" grpId="1" animBg="1"/>
      <p:bldP spid="8" grpId="0"/>
      <p:bldP spid="8" grpId="1"/>
      <p:bldP spid="36" grpId="0" animBg="1"/>
      <p:bldP spid="36" grpId="1" animBg="1"/>
      <p:bldP spid="47" grpId="0"/>
      <p:bldP spid="47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25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4855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kernel</a:t>
            </a:r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具体实现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565" y="1409700"/>
            <a:ext cx="10575290" cy="480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文中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kernel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连续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形式的：</a:t>
            </a:r>
          </a:p>
        </p:txBody>
      </p:sp>
      <p:graphicFrame>
        <p:nvGraphicFramePr>
          <p:cNvPr id="3" name="对象 -2147482624"/>
          <p:cNvGraphicFramePr>
            <a:graphicFrameLocks noChangeAspect="1"/>
          </p:cNvGraphicFramePr>
          <p:nvPr/>
        </p:nvGraphicFramePr>
        <p:xfrm>
          <a:off x="4175760" y="1734820"/>
          <a:ext cx="3350260" cy="760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r:id="rId6" imgW="1658620" imgH="376555" progId="Equation.AxMath">
                  <p:embed/>
                </p:oleObj>
              </mc:Choice>
              <mc:Fallback>
                <p:oleObj r:id="rId6" imgW="1658620" imgH="376555" progId="Equation.AxMat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75760" y="1734820"/>
                        <a:ext cx="3350260" cy="7607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10565" y="2557145"/>
            <a:ext cx="10575290" cy="1414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而脉冲实际计算是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在离散的模拟时间步下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进行的。</a:t>
            </a:r>
          </a:p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故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代码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中将不同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下的、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基于一阶离散差分方法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得到的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kernel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近似值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作为全局变量存储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下来，以供使用；并基于附录中的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S16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式，对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kernel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略作修改，实际使用的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kernel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ε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used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(t)=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ε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(t+1)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，故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t&gt;=0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时有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ε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used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(t)&gt;0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b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</a:br>
            <a:b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详见源代码文件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global_v.py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末尾，此处以数学式作表示：</a:t>
            </a:r>
          </a:p>
        </p:txBody>
      </p:sp>
      <p:graphicFrame>
        <p:nvGraphicFramePr>
          <p:cNvPr id="4" name="对象 -2147482623"/>
          <p:cNvGraphicFramePr>
            <a:graphicFrameLocks noChangeAspect="1"/>
          </p:cNvGraphicFramePr>
          <p:nvPr/>
        </p:nvGraphicFramePr>
        <p:xfrm>
          <a:off x="2825750" y="4378325"/>
          <a:ext cx="6344920" cy="1609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r:id="rId8" imgW="3230880" imgH="819150" progId="Equation.AxMath">
                  <p:embed/>
                </p:oleObj>
              </mc:Choice>
              <mc:Fallback>
                <p:oleObj r:id="rId8" imgW="3230880" imgH="819150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25750" y="4378325"/>
                        <a:ext cx="6344920" cy="16090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6" grpId="0"/>
      <p:bldP spid="6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26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83667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original&amp;smoother gradient</a:t>
            </a:r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具体实现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565" y="1409700"/>
            <a:ext cx="10575290" cy="1212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类似地，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kernel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原本关于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的导数，以及文中为了解决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reversed gradient problem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提出的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smoother gradient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，都可以预先计算并作为全局变量存储，以满足离散时间步模拟的需要</a:t>
            </a:r>
            <a:b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</a:br>
            <a:b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</a:b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同样详见源代码文件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global_v.py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末尾，此处以数学式作表示：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4" name="对象 -2147482623"/>
          <p:cNvGraphicFramePr>
            <a:graphicFrameLocks noChangeAspect="1"/>
          </p:cNvGraphicFramePr>
          <p:nvPr/>
        </p:nvGraphicFramePr>
        <p:xfrm>
          <a:off x="2756853" y="2586355"/>
          <a:ext cx="4956175" cy="3807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r:id="rId6" imgW="2984500" imgH="2291715" progId="Equation.AxMath">
                  <p:embed/>
                </p:oleObj>
              </mc:Choice>
              <mc:Fallback>
                <p:oleObj r:id="rId6" imgW="2984500" imgH="2291715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56853" y="2586355"/>
                        <a:ext cx="4956175" cy="38074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081010" y="2607310"/>
            <a:ext cx="3886835" cy="3267710"/>
          </a:xfrm>
          <a:prstGeom prst="rect">
            <a:avLst/>
          </a:prstGeom>
          <a:noFill/>
          <a:ln w="38100">
            <a:solidFill>
              <a:srgbClr val="D83949"/>
            </a:solidFill>
          </a:ln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从代码具体实现可以看出，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h(t)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并列的是</a:t>
            </a:r>
            <a:r>
              <a:rPr lang="zh-CN" altLang="en-US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ε</a:t>
            </a:r>
            <a:r>
              <a:rPr lang="en-US" altLang="zh-CN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(t)</a:t>
            </a:r>
            <a:r>
              <a:rPr lang="zh-CN" altLang="en-US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关于</a:t>
            </a:r>
            <a:r>
              <a:rPr lang="en-US" altLang="zh-CN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</a:t>
            </a:r>
            <a:r>
              <a:rPr lang="zh-CN" altLang="en-US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的原导数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</a:t>
            </a:r>
          </a:p>
          <a:p>
            <a:endParaRPr lang="zh-CN" altLang="en-US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而论文中，先提出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ε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(t)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关于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的导数如果是负值，将导致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reversed gradient problem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（逻辑通顺）。</a:t>
            </a:r>
          </a:p>
          <a:p>
            <a:endParaRPr lang="zh-CN" altLang="en-US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随后提出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h(t)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，一方面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将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h(t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-t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)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视为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ε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(t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-t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m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关于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m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的导数的替换，另一方面又要求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t&gt;0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时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h(t)&gt;0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。在逻辑上产生矛盾，</a:t>
            </a:r>
            <a:r>
              <a:rPr lang="zh-CN" altLang="en-US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应当是论文的笔误</a:t>
            </a: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9" grpId="0" animBg="1"/>
      <p:bldP spid="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27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50825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pooling</a:t>
            </a:r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层的调整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565" y="1409700"/>
            <a:ext cx="10575290" cy="1212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论文中提到，传统的平均池化会把梯度回传给不发放脉冲的神经元，导致部分梯度消失，所以调整了平均池化的梯度回传逻辑，得到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adjusted average pooling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具体实现在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pooling.py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PoolFunc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类当中，前向过程仍旧使用普通的平均池化，重写了反向过程。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7605" y="2621915"/>
            <a:ext cx="6588760" cy="1082675"/>
          </a:xfrm>
          <a:prstGeom prst="rect">
            <a:avLst/>
          </a:prstGeom>
        </p:spPr>
      </p:pic>
      <p:graphicFrame>
        <p:nvGraphicFramePr>
          <p:cNvPr id="6" name="对象 -2147482623"/>
          <p:cNvGraphicFramePr>
            <a:graphicFrameLocks noChangeAspect="1"/>
          </p:cNvGraphicFramePr>
          <p:nvPr/>
        </p:nvGraphicFramePr>
        <p:xfrm>
          <a:off x="2833370" y="3728085"/>
          <a:ext cx="5776595" cy="2642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r:id="rId7" imgW="4584065" imgH="2096135" progId="Equation.AxMath">
                  <p:embed/>
                </p:oleObj>
              </mc:Choice>
              <mc:Fallback>
                <p:oleObj r:id="rId7" imgW="4584065" imgH="2096135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33370" y="3728085"/>
                        <a:ext cx="5776595" cy="2642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28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78562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Training Details</a:t>
            </a:r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（原文</a:t>
            </a:r>
            <a:r>
              <a:rPr kumimoji="1" lang="en-US" alt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4.1</a:t>
            </a:r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部分）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565" y="1409700"/>
            <a:ext cx="10575290" cy="4624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2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Intialization:</a:t>
            </a:r>
            <a:endParaRPr lang="en-US" altLang="zh-CN" sz="22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457200"/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论文中提到，</a:t>
            </a:r>
            <a:r>
              <a:rPr lang="zh-CN" altLang="en-US" sz="2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初始化以调整模型初始权重大小</a:t>
            </a:r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，使得模型能够在初始条件下发放预期的脉冲数，</a:t>
            </a:r>
            <a:r>
              <a:rPr lang="zh-CN" altLang="en-US" sz="2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防止未初始化的情况下完全不发放脉冲，导致梯度回传障碍</a:t>
            </a:r>
            <a:endParaRPr lang="zh-CN" altLang="en-US" sz="22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457200"/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详见</a:t>
            </a:r>
            <a:r>
              <a:rPr lang="en-US" altLang="zh-CN" sz="22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functions.py</a:t>
            </a:r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中的</a:t>
            </a:r>
            <a:r>
              <a:rPr lang="en-US" altLang="zh-CN" sz="22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initialize(layers,input)</a:t>
            </a:r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函数，在</a:t>
            </a:r>
            <a:r>
              <a:rPr lang="en-US" altLang="zh-CN" sz="22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linear.py,conv.py</a:t>
            </a:r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当中的应用，以及在</a:t>
            </a:r>
            <a:r>
              <a:rPr lang="en-US" altLang="zh-CN" sz="22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main.py</a:t>
            </a:r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函数中正式训练前的初始化。</a:t>
            </a:r>
          </a:p>
          <a:p>
            <a:pPr marL="457200" lvl="1" indent="457200"/>
            <a:endParaRPr lang="zh-CN" altLang="en-US" sz="22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2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Supervisory signals:</a:t>
            </a:r>
            <a:endParaRPr lang="en-US" altLang="zh-CN" sz="22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457200">
              <a:buNone/>
            </a:pP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论文中提到，使用</a:t>
            </a:r>
            <a:r>
              <a:rPr lang="en-US" altLang="zh-CN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“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监督信号</a:t>
            </a:r>
            <a:r>
              <a:rPr lang="en-US" altLang="zh-CN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”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sz="2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使得正确类别对应的神经元强制发放脉冲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，以使得有梯度能够沿着强制发放的脉冲回传。</a:t>
            </a:r>
            <a:b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lang="en-US" altLang="zh-CN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	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详见</a:t>
            </a:r>
            <a:r>
              <a:rPr lang="en-US" altLang="zh-CN" sz="22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linear.py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中</a:t>
            </a:r>
            <a:r>
              <a:rPr lang="en-US" altLang="zh-CN" sz="22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LinearFunc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en-US" altLang="zh-CN" sz="22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forward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部分（由于最后分类使用线性层，所以在这里添加</a:t>
            </a:r>
            <a:r>
              <a:rPr lang="en-US" altLang="zh-CN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“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监督信号</a:t>
            </a:r>
            <a:r>
              <a:rPr lang="en-US" altLang="zh-CN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”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04540" y="7245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10565" y="1416050"/>
            <a:ext cx="10575290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这一部分内容在正文和附录中都没有涉及，但在代码中有确切的实现。</a:t>
            </a:r>
          </a:p>
          <a:p>
            <a:endParaRPr lang="zh-CN" altLang="en-US" sz="22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31" name="椭圆 30"/>
          <p:cNvSpPr/>
          <p:nvPr/>
        </p:nvSpPr>
        <p:spPr>
          <a:xfrm>
            <a:off x="2362200" y="4638675"/>
            <a:ext cx="374650" cy="3744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29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6685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残差连接梯度回传的调整</a:t>
            </a:r>
            <a:endParaRPr kumimoji="1" lang="en-US" altLang="zh-CN" sz="32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826895" y="2794000"/>
            <a:ext cx="1439545" cy="77914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Resnet Basic Block</a:t>
            </a:r>
          </a:p>
        </p:txBody>
      </p:sp>
      <p:sp>
        <p:nvSpPr>
          <p:cNvPr id="8" name="椭圆 7"/>
          <p:cNvSpPr/>
          <p:nvPr/>
        </p:nvSpPr>
        <p:spPr>
          <a:xfrm>
            <a:off x="1993900" y="1907540"/>
            <a:ext cx="1104900" cy="35496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x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2540635" y="3573145"/>
            <a:ext cx="0" cy="421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8" idx="4"/>
            <a:endCxn id="6" idx="0"/>
          </p:cNvCxnSpPr>
          <p:nvPr/>
        </p:nvCxnSpPr>
        <p:spPr>
          <a:xfrm>
            <a:off x="2546350" y="2262505"/>
            <a:ext cx="635" cy="531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1991360" y="3993515"/>
            <a:ext cx="1104900" cy="35496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out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2546985" y="4348480"/>
            <a:ext cx="6350" cy="259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546350" y="2508250"/>
            <a:ext cx="977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524250" y="2501900"/>
            <a:ext cx="0" cy="232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2736850" y="4826000"/>
            <a:ext cx="787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加号 29"/>
          <p:cNvSpPr/>
          <p:nvPr/>
        </p:nvSpPr>
        <p:spPr>
          <a:xfrm>
            <a:off x="2435860" y="4701540"/>
            <a:ext cx="229235" cy="260350"/>
          </a:xfrm>
          <a:prstGeom prst="mathPlus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3625850" y="3268345"/>
            <a:ext cx="1504315" cy="9074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downsample</a:t>
            </a:r>
          </a:p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(if needed)</a:t>
            </a:r>
          </a:p>
        </p:txBody>
      </p:sp>
      <p:cxnSp>
        <p:nvCxnSpPr>
          <p:cNvPr id="34" name="直接箭头连接符 33"/>
          <p:cNvCxnSpPr>
            <a:stCxn id="31" idx="4"/>
          </p:cNvCxnSpPr>
          <p:nvPr/>
        </p:nvCxnSpPr>
        <p:spPr>
          <a:xfrm>
            <a:off x="2549525" y="5013325"/>
            <a:ext cx="3810" cy="194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>
          <a:xfrm>
            <a:off x="1864360" y="5241925"/>
            <a:ext cx="1363980" cy="4730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s=out+x</a:t>
            </a:r>
          </a:p>
        </p:txBody>
      </p:sp>
      <p:sp>
        <p:nvSpPr>
          <p:cNvPr id="38" name="上箭头 37"/>
          <p:cNvSpPr/>
          <p:nvPr/>
        </p:nvSpPr>
        <p:spPr>
          <a:xfrm>
            <a:off x="2209800" y="4608195"/>
            <a:ext cx="75565" cy="52387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上箭头 38"/>
          <p:cNvSpPr/>
          <p:nvPr/>
        </p:nvSpPr>
        <p:spPr>
          <a:xfrm>
            <a:off x="1751330" y="5241925"/>
            <a:ext cx="75565" cy="52387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上箭头 39"/>
          <p:cNvSpPr/>
          <p:nvPr/>
        </p:nvSpPr>
        <p:spPr>
          <a:xfrm rot="5400000">
            <a:off x="3224530" y="4772025"/>
            <a:ext cx="75565" cy="52387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10565" y="5895340"/>
            <a:ext cx="1912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g(s) (grad of s)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55320" y="4558665"/>
            <a:ext cx="1446530" cy="573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g(out)</a:t>
            </a: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(grad of out)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3625850" y="4826000"/>
            <a:ext cx="1586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g(x) (grad of x)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5963285" y="2054225"/>
            <a:ext cx="5034280" cy="3704590"/>
          </a:xfrm>
          <a:prstGeom prst="rect">
            <a:avLst/>
          </a:prstGeom>
          <a:noFill/>
          <a:ln w="38100">
            <a:solidFill>
              <a:srgbClr val="9B0000"/>
            </a:solidFill>
          </a:ln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此处，梯度之间的关系并非传统的残差连接的梯度回传，即：</a:t>
            </a:r>
            <a:endParaRPr lang="zh-CN" altLang="en-US" dirty="0"/>
          </a:p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g(s) = g(out) = g(x)</a:t>
            </a:r>
          </a:p>
          <a:p>
            <a:endParaRPr lang="en-US" altLang="zh-CN" dirty="0"/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而是按照比例进行分配：</a:t>
            </a:r>
            <a:endParaRPr lang="zh-CN" altLang="en-US" dirty="0"/>
          </a:p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g(x) = g(s)*(x/s)</a:t>
            </a:r>
            <a:r>
              <a:rPr lang="en-US" altLang="zh-CN" dirty="0"/>
              <a:t>	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g(s) = g(s)*(out/s)</a:t>
            </a:r>
            <a:endParaRPr lang="en-US" altLang="zh-CN" dirty="0">
              <a:sym typeface="+mn-ea"/>
            </a:endParaRPr>
          </a:p>
          <a:p>
            <a:endParaRPr lang="en-US" altLang="zh-CN" dirty="0"/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这样有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	</a:t>
            </a:r>
            <a:r>
              <a:rPr lang="en-US" altLang="zh-CN" dirty="0"/>
              <a:t>	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g(s) = g(x)+g(out)</a:t>
            </a:r>
          </a:p>
          <a:p>
            <a:endParaRPr lang="en-US" altLang="zh-CN" dirty="0"/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可能的解释是为了维持论文中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eq(8)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描述的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层间梯度总和不变性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</a:p>
          <a:p>
            <a:endParaRPr lang="zh-CN" altLang="en-US" dirty="0"/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详见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resnet.py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AddFunc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backward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部分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31" grpId="0" animBg="1"/>
      <p:bldP spid="31" grpId="1" animBg="1"/>
      <p:bldP spid="2" grpId="0"/>
      <p:bldP spid="2" grpId="1"/>
      <p:bldP spid="6" grpId="0" animBg="1"/>
      <p:bldP spid="6" grpId="1" animBg="1"/>
      <p:bldP spid="8" grpId="0" animBg="1"/>
      <p:bldP spid="8" grpId="1" animBg="1"/>
      <p:bldP spid="11" grpId="0" animBg="1"/>
      <p:bldP spid="11" grpId="1" animBg="1"/>
      <p:bldP spid="30" grpId="0" animBg="1"/>
      <p:bldP spid="30" grpId="1" animBg="1"/>
      <p:bldP spid="33" grpId="0" animBg="1"/>
      <p:bldP spid="33" grpId="1" animBg="1"/>
      <p:bldP spid="35" grpId="0" animBg="1"/>
      <p:bldP spid="35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/>
      <p:bldP spid="41" grpId="1"/>
      <p:bldP spid="42" grpId="0"/>
      <p:bldP spid="42" grpId="1"/>
      <p:bldP spid="43" grpId="0"/>
      <p:bldP spid="43" grpId="1"/>
      <p:bldP spid="44" grpId="0" animBg="1"/>
      <p:bldP spid="44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10565" y="1264920"/>
            <a:ext cx="10575290" cy="4624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这一部分对应</a:t>
            </a:r>
            <a:r>
              <a:rPr lang="zh-CN" altLang="en-US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附录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Normalization on weights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相关推导正确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</a:p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详见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functions.py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中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bn_forward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与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bn_backward</a:t>
            </a:r>
          </a:p>
          <a:p>
            <a:endParaRPr lang="en-US" altLang="zh-CN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其希望实现的前向过程和对应的反向过程见如下数学式（也可参考附录）：</a:t>
            </a:r>
          </a:p>
          <a:p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30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58273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Weight Normalization</a:t>
            </a:r>
          </a:p>
        </p:txBody>
      </p:sp>
      <p:graphicFrame>
        <p:nvGraphicFramePr>
          <p:cNvPr id="6" name="对象 -2147482623"/>
          <p:cNvGraphicFramePr>
            <a:graphicFrameLocks noChangeAspect="1"/>
          </p:cNvGraphicFramePr>
          <p:nvPr/>
        </p:nvGraphicFramePr>
        <p:xfrm>
          <a:off x="947420" y="2660015"/>
          <a:ext cx="4461510" cy="362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r:id="rId6" imgW="2715895" imgH="2204720" progId="Equation.AxMath">
                  <p:embed/>
                </p:oleObj>
              </mc:Choice>
              <mc:Fallback>
                <p:oleObj r:id="rId6" imgW="2715895" imgH="2204720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7420" y="2660015"/>
                        <a:ext cx="4461510" cy="362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2623"/>
          <p:cNvGraphicFramePr>
            <a:graphicFrameLocks noChangeAspect="1"/>
          </p:cNvGraphicFramePr>
          <p:nvPr/>
        </p:nvGraphicFramePr>
        <p:xfrm>
          <a:off x="6147435" y="2371090"/>
          <a:ext cx="4349750" cy="3996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r:id="rId8" imgW="3435985" imgH="3155315" progId="Equation.AxMath">
                  <p:embed/>
                </p:oleObj>
              </mc:Choice>
              <mc:Fallback>
                <p:oleObj r:id="rId8" imgW="3435985" imgH="3155315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47435" y="2371090"/>
                        <a:ext cx="4349750" cy="3996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10565" y="1416050"/>
            <a:ext cx="10575290" cy="2159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然而，在代码中，反向过程关于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σ</a:t>
            </a:r>
            <a:r>
              <a:rPr lang="en-US" altLang="zh-CN" baseline="300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γ的导数，被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错误地执行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为：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31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58273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Weight Normalization</a:t>
            </a:r>
          </a:p>
        </p:txBody>
      </p:sp>
      <p:graphicFrame>
        <p:nvGraphicFramePr>
          <p:cNvPr id="3" name="对象 -2147482623"/>
          <p:cNvGraphicFramePr>
            <a:graphicFrameLocks noChangeAspect="1"/>
          </p:cNvGraphicFramePr>
          <p:nvPr/>
        </p:nvGraphicFramePr>
        <p:xfrm>
          <a:off x="2770505" y="1954530"/>
          <a:ext cx="6143625" cy="2199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r:id="rId6" imgW="3069590" imgH="1098550" progId="Equation.AxMath">
                  <p:embed/>
                </p:oleObj>
              </mc:Choice>
              <mc:Fallback>
                <p:oleObj r:id="rId6" imgW="3069590" imgH="1098550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70505" y="1954530"/>
                        <a:ext cx="6143625" cy="2199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710565" y="4519295"/>
                <a:ext cx="11054715" cy="15093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rPr>
                  <a:t>即：关于</a:t>
                </a:r>
                <a:r>
                  <a:rPr lang="zh-CN" altLang="en-US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σ</a:t>
                </a:r>
                <a:r>
                  <a:rPr lang="en-US" altLang="zh-CN" b="1" baseline="3000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2</a:t>
                </a:r>
                <a:r>
                  <a:rPr lang="zh-CN" altLang="en-US" b="1"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  <a:sym typeface="+mn-ea"/>
                  </a:rPr>
                  <a:t>的导数，额外的多除以了一个</a:t>
                </a:r>
                <a:r>
                  <a:rPr lang="en-US" altLang="zh-CN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m</a:t>
                </a:r>
                <a:r>
                  <a:rPr lang="zh-CN" altLang="en-US" b="1"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  <a:sym typeface="+mn-ea"/>
                  </a:rPr>
                  <a:t>；而关于</a:t>
                </a:r>
                <a:r>
                  <a:rPr lang="zh-CN" altLang="en-US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γ的导数，错误地乘以</a:t>
                </a:r>
                <a:r>
                  <a:rPr lang="en-US" altLang="zh-CN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w</a:t>
                </a:r>
                <a:r>
                  <a:rPr lang="en-US" altLang="zh-CN" b="1" baseline="-2500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i</a:t>
                </a:r>
                <a:r>
                  <a:rPr lang="en-US" altLang="zh-CN" b="1" baseline="3000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*</a:t>
                </a:r>
                <a:r>
                  <a:rPr lang="en-US" altLang="zh-CN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,</a:t>
                </a:r>
                <a:r>
                  <a:rPr lang="zh-CN" altLang="en-US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而不是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1" i="1" baseline="-250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  <a:sym typeface="+mn-ea"/>
                          </a:rPr>
                          <m:t>𝐰</m:t>
                        </m:r>
                        <m:r>
                          <a:rPr lang="en-US" altLang="zh-CN" b="1" baseline="-250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  <a:sym typeface="+mn-ea"/>
                          </a:rPr>
                          <m:t>𝐢</m:t>
                        </m:r>
                      </m:e>
                    </m:acc>
                  </m:oMath>
                </a14:m>
                <a:r>
                  <a:rPr lang="zh-CN" altLang="en-US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pitchFamily="18" charset="0"/>
                    <a:sym typeface="+mn-ea"/>
                  </a:rPr>
                  <a:t>。</a:t>
                </a:r>
              </a:p>
              <a:p>
                <a:endParaRPr lang="zh-CN" altLang="en-US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pitchFamily="18" charset="0"/>
                  <a:sym typeface="+mn-ea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pitchFamily="18" charset="0"/>
                    <a:sym typeface="+mn-ea"/>
                  </a:rPr>
                  <a:t>在复现实验中，我们也在将如上导数对应代码修正后又进行了一次训练，以验证修改的正确性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65" y="4519295"/>
                <a:ext cx="11054715" cy="1509395"/>
              </a:xfrm>
              <a:prstGeom prst="rect">
                <a:avLst/>
              </a:prstGeom>
              <a:blipFill rotWithShape="1">
                <a:blip r:embed="rId8"/>
                <a:stretch>
                  <a:fillRect t="-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32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代码复现：环境配置</a:t>
            </a:r>
            <a:endParaRPr kumimoji="1" lang="zh-CN" altLang="en-US" sz="3200" dirty="0"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0565" y="1416050"/>
            <a:ext cx="10575290" cy="433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参照代码中的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readme.md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，采用的环境配置为：</a:t>
            </a:r>
          </a:p>
          <a:p>
            <a:pPr indent="457200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python 3.8</a:t>
            </a:r>
          </a:p>
          <a:p>
            <a:pPr indent="457200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pytorch=1.10.0</a:t>
            </a:r>
          </a:p>
          <a:p>
            <a:pPr indent="457200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torchvision=0.11.0</a:t>
            </a:r>
          </a:p>
          <a:p>
            <a:pPr indent="457200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spikingjelly	(latest version)</a:t>
            </a:r>
          </a:p>
          <a:p>
            <a:pPr indent="457200"/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indent="457200"/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经尝试，由于代码包括一部分的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c++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编译和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cuda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编程，使用的一些接口在高版本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pytorch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中并不兼容，换用相对高版本的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pytorch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会导致相关编译无法通过，程序无法正常运行。</a:t>
            </a: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修改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yaml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配置文件的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data_path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参数后，执行命令，以完成在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mnist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数据集上的训练：</a:t>
            </a: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python main.py -config networks/mnist.yaml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33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代码复现：实验结果</a:t>
            </a:r>
            <a:endParaRPr kumimoji="1" lang="zh-CN" altLang="en-US" sz="3200" dirty="0"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0565" y="1416050"/>
            <a:ext cx="10575290" cy="433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按照原代码进行一次在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mnist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数据集上的训练，得到如下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Accuracy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曲线（改动前后，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loss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上差异不明显）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075" y="1922780"/>
            <a:ext cx="5403850" cy="35515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07085" y="5749925"/>
            <a:ext cx="10385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不做修改，能够进行训练，最终测试集上准确率为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99.38%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（训练集上为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99.98%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5" grpId="0"/>
      <p:bldP spid="5" grpId="1"/>
      <p:bldP spid="4" grpId="0"/>
      <p:bldP spid="4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34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代码复现：实验结果</a:t>
            </a:r>
            <a:endParaRPr kumimoji="1" lang="zh-CN" altLang="en-US" sz="3200" dirty="0"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0565" y="1416050"/>
            <a:ext cx="10575290" cy="433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bn_backward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相关梯度修正后，进行一次在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mnist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数据集上的训练，得到如下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Accuracy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曲线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7085" y="5749925"/>
            <a:ext cx="10385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修正后测试集上准确率最终为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99.47%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（最高超过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99.50%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，发生在训练中途）（训练集上为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99.99%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730" y="1983105"/>
            <a:ext cx="5394966" cy="3553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4" grpId="0"/>
      <p:bldP spid="4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35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代码复现：实验结果</a:t>
            </a:r>
            <a:endParaRPr kumimoji="1" lang="zh-CN" altLang="en-US" sz="3200" dirty="0"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0565" y="1416050"/>
            <a:ext cx="10575290" cy="433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对比之下，梯度修正后：</a:t>
            </a:r>
          </a:p>
          <a:p>
            <a:pPr marL="742950" lvl="1" indent="-285750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训练前期在训练集上的准确率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提升速度略有加快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测试集上准确率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抖动程度明显减少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训练集和测试集上都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取得更高的准确率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（尽管均小于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0.1%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，或受限于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mnist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数据集较为简单）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2880" y="2936875"/>
            <a:ext cx="3860800" cy="25374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700" y="2936875"/>
            <a:ext cx="3851910" cy="25374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51280" y="5700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修改前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02655" y="5700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修改后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8" grpId="0"/>
      <p:bldP spid="8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36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444" y="1126188"/>
            <a:ext cx="6926580" cy="3415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或尝试在更复杂的数据集上进行实验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cifar10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cifar100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...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或尝试更复杂的网络架构，不局限于简单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MLP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ResNet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...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或更进一步地分析探究代码，加深对相关原理、实现方式的理解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0" grpId="0"/>
      <p:bldP spid="10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37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参考文献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445" y="1126188"/>
            <a:ext cx="10724926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Fang 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et al.</a:t>
            </a:r>
            <a:r>
              <a:rPr lang="en-US" b="0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SpikingJelly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: An open-source machine learning infrastructure platform for spike-based intelligence. 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Science Advances, 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2023.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u="none" strike="noStrike" dirty="0" err="1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Zenke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b="0" i="1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et al.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 The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emarkable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obustness of surrogate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g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radient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earning for instilling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omplex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unction in spiking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eural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etworks, </a:t>
            </a:r>
            <a:r>
              <a:rPr lang="en-US" altLang="zh-CN" b="0" i="1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Neural Computation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 2021.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Zhu</a:t>
            </a:r>
            <a:r>
              <a:rPr lang="zh-CN" altLang="en-US" b="0" i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b="0" i="1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et al.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altLang="zh-CN" b="0" i="1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Training spiking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eural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etworks with event-driven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ackpropagation. </a:t>
            </a:r>
            <a:r>
              <a:rPr lang="en-US" altLang="zh-CN" b="0" i="1" u="none" strike="noStrike" dirty="0" err="1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Neurips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, 2022.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891323"/>
            <a:ext cx="12192000" cy="2719754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Title 1"/>
          <p:cNvSpPr txBox="1"/>
          <p:nvPr/>
        </p:nvSpPr>
        <p:spPr>
          <a:xfrm>
            <a:off x="1524000" y="2887373"/>
            <a:ext cx="9144000" cy="2387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 err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感谢倾听</a:t>
            </a:r>
            <a:r>
              <a:rPr lang="zh-CN" altLang="en-US" sz="5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敬请指正</a:t>
            </a:r>
            <a:endParaRPr lang="en-US" sz="5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2568</Words>
  <Application>Microsoft Macintosh PowerPoint</Application>
  <PresentationFormat>Widescreen</PresentationFormat>
  <Paragraphs>466</Paragraphs>
  <Slides>38</Slides>
  <Notes>37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等线 Light</vt:lpstr>
      <vt:lpstr>微软雅黑</vt:lpstr>
      <vt:lpstr>黑体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1_Office Theme</vt:lpstr>
      <vt:lpstr>Equation.AxMath</vt:lpstr>
      <vt:lpstr>脉冲神经网络学习方法设计与验证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708</cp:revision>
  <dcterms:created xsi:type="dcterms:W3CDTF">2024-09-08T14:28:00Z</dcterms:created>
  <dcterms:modified xsi:type="dcterms:W3CDTF">2025-12-24T01:42:50Z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EE82814371044B3D98F53E5DEE3922B0_12</vt:lpwstr>
  </property>
</Properties>
</file>