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03"/>
  </p:normalViewPr>
  <p:slideViewPr>
    <p:cSldViewPr snapToGrid="0" snapToObjects="1">
      <p:cViewPr varScale="1">
        <p:scale>
          <a:sx n="126" d="100"/>
          <a:sy n="126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42E17-B8E0-D546-8ABD-242C837AD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F66160-3E53-E745-9362-E5C0BD62D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/>
              <a:t>Click to edit Master subtitle style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2DCBE-5F46-564C-BC86-D6FC5DF4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978E-3F78-BB4D-9DCB-CCA536E0A830}" type="datetimeFigureOut">
              <a:rPr kumimoji="1" lang="zh-CN" altLang="en-US" smtClean="0"/>
              <a:t>2025/4/17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F9F33-0814-7C42-8095-2152D9CB9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72A47-721C-A049-821A-0F56AD74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4C10-F2BB-EB43-A124-125B7AD48F0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0597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6A8FA-9A46-7E40-9C63-CEFDDF6EA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57887-2D37-254C-8116-178BCB33C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8332F-9D60-BD49-9D48-6509BB3C0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978E-3F78-BB4D-9DCB-CCA536E0A830}" type="datetimeFigureOut">
              <a:rPr kumimoji="1" lang="zh-CN" altLang="en-US" smtClean="0"/>
              <a:t>2025/4/17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F3DB8-CC11-C54C-B0AE-4E6431C6E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99F15-A428-7640-B086-5E06B178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4C10-F2BB-EB43-A124-125B7AD48F0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6534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CE6A0-18E7-9D49-8C21-7151F69C3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DD186-C6AB-6249-84D4-490E71AC0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C8B40-78C1-3B4F-A46F-F8F807ACE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978E-3F78-BB4D-9DCB-CCA536E0A830}" type="datetimeFigureOut">
              <a:rPr kumimoji="1" lang="zh-CN" altLang="en-US" smtClean="0"/>
              <a:t>2025/4/17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042E1-8997-AB40-AA50-9C858DBC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17627-26D0-E94B-B501-4C8B6DA38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4C10-F2BB-EB43-A124-125B7AD48F0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5101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9E5FC-8EF2-E04F-85AB-1ACA80FB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9C2BA-BB9A-114A-8569-7273203B6B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8442A-F957-6A44-8BDB-27D4F1AC1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9ECB9-FCF4-0045-BE4C-274273B9C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978E-3F78-BB4D-9DCB-CCA536E0A830}" type="datetimeFigureOut">
              <a:rPr kumimoji="1" lang="zh-CN" altLang="en-US" smtClean="0"/>
              <a:t>2025/4/17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BAB24-DCD4-FB48-B4CC-67228B8B2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F9E7C-A56D-6540-BA48-807639CD5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4C10-F2BB-EB43-A124-125B7AD48F0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3915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51156-27C3-AB47-825E-35BD4108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CD2EC-FF17-ED4B-90F2-9A2E1AB1B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3D4D9-C8C4-964A-9ED3-3CBF4AF0F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DA741A-F6FF-DC4D-A502-D798246CA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72C83D-2126-7448-A07F-87B9F4CA7B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0C1AC7-34AC-6644-9EDD-63DB4AD32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978E-3F78-BB4D-9DCB-CCA536E0A830}" type="datetimeFigureOut">
              <a:rPr kumimoji="1" lang="zh-CN" altLang="en-US" smtClean="0"/>
              <a:t>2025/4/17</a:t>
            </a:fld>
            <a:endParaRPr kumimoji="1"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775FD-1E36-A044-8400-2763E0022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9F205-6C6D-FD4E-B12C-4BF60F885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4C10-F2BB-EB43-A124-125B7AD48F0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8379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9A8B2-8C54-6E48-A431-4462FDCF9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786995-1283-734B-ACDD-833650A1C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978E-3F78-BB4D-9DCB-CCA536E0A830}" type="datetimeFigureOut">
              <a:rPr kumimoji="1" lang="zh-CN" altLang="en-US" smtClean="0"/>
              <a:t>2025/4/17</a:t>
            </a:fld>
            <a:endParaRPr kumimoji="1"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D16F7D-9BD4-9A44-97D3-F6506F86A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394691-06B2-DE49-9A2E-485AECBF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4C10-F2BB-EB43-A124-125B7AD48F0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5465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0B4903-A5AA-6947-8385-127B3264A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978E-3F78-BB4D-9DCB-CCA536E0A830}" type="datetimeFigureOut">
              <a:rPr kumimoji="1" lang="zh-CN" altLang="en-US" smtClean="0"/>
              <a:t>2025/4/17</a:t>
            </a:fld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ED8051-16B0-CC44-B433-084EA1ADB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3FB3B-12E0-6C4D-B275-FAF23604B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4C10-F2BB-EB43-A124-125B7AD48F0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5113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3FE7B-2D5E-1F45-8D7C-76D257AD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557B6-D807-1A43-8FEF-BC8D65E47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2C79B-E0C0-D745-B2AC-8A21204E1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2E1CB-5127-3C42-A85C-CF4036B6E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978E-3F78-BB4D-9DCB-CCA536E0A830}" type="datetimeFigureOut">
              <a:rPr kumimoji="1" lang="zh-CN" altLang="en-US" smtClean="0"/>
              <a:t>2025/4/17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456C5-2BBC-4144-AE86-AAF83EB8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A5BE2-EB41-4D49-9317-64A1BBF11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4C10-F2BB-EB43-A124-125B7AD48F0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7413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E7733-FEF5-F44E-BC08-C4A6D4619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A97546-6F72-EA40-896F-FF305D5380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965DAF-980A-BE4C-A47A-A5B890780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03F9B-47E0-3E43-88A1-2BB5CA94F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978E-3F78-BB4D-9DCB-CCA536E0A830}" type="datetimeFigureOut">
              <a:rPr kumimoji="1" lang="zh-CN" altLang="en-US" smtClean="0"/>
              <a:t>2025/4/17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B471D-6ACB-8140-A93E-3CC00DDB9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0D798-A297-2A4B-89DB-2AF7A611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4C10-F2BB-EB43-A124-125B7AD48F0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1483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5C54-58E5-EA4C-9333-4C76F75A1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4F44F-128C-0945-802C-54DEEDAC8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D1C41-A99E-EC41-9E84-BD1BB3D2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978E-3F78-BB4D-9DCB-CCA536E0A830}" type="datetimeFigureOut">
              <a:rPr kumimoji="1" lang="zh-CN" altLang="en-US" smtClean="0"/>
              <a:t>2025/4/17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02568-FD72-9C4A-A12C-7A04FCE53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60CB7-2967-564C-90AF-616AFACC3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4C10-F2BB-EB43-A124-125B7AD48F0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6083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3C2860-0428-D549-9260-0554098B64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4FB46-5354-CF4F-81AC-9F51C434E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32CEC-FF49-B942-A7FE-2EA7A66BD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978E-3F78-BB4D-9DCB-CCA536E0A830}" type="datetimeFigureOut">
              <a:rPr kumimoji="1" lang="zh-CN" altLang="en-US" smtClean="0"/>
              <a:t>2025/4/17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8E207-2810-B94C-944C-22DF41CF1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9BC09-5635-CB44-84C9-E34B5F54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4C10-F2BB-EB43-A124-125B7AD48F0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2772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07C88E-A18B-BC43-AD93-7AAF11F3D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F7386-76FA-4243-A69E-A4103E539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1E385-2C4B-9647-AE24-7B8ABC03B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D978E-3F78-BB4D-9DCB-CCA536E0A830}" type="datetimeFigureOut">
              <a:rPr kumimoji="1" lang="zh-CN" altLang="en-US" smtClean="0"/>
              <a:t>2025/4/17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30CD1-1F1C-EF45-882E-ABD3AD94A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41233-E48F-E849-9C18-4061E2F53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C4C10-F2BB-EB43-A124-125B7AD48F0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8637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2E0A2D0-B280-644E-9C2A-0543931A9F61}"/>
              </a:ext>
            </a:extLst>
          </p:cNvPr>
          <p:cNvGrpSpPr/>
          <p:nvPr/>
        </p:nvGrpSpPr>
        <p:grpSpPr>
          <a:xfrm>
            <a:off x="2191069" y="2465956"/>
            <a:ext cx="97767" cy="103517"/>
            <a:chOff x="626853" y="1708030"/>
            <a:chExt cx="97767" cy="10351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5B66017-8AF8-1B44-A935-3E9A8562D322}"/>
                </a:ext>
              </a:extLst>
            </p:cNvPr>
            <p:cNvCxnSpPr/>
            <p:nvPr/>
          </p:nvCxnSpPr>
          <p:spPr>
            <a:xfrm>
              <a:off x="626853" y="1708030"/>
              <a:ext cx="97766" cy="10351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C0D2235-0F41-B142-991D-CB84466C73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853" y="1708031"/>
              <a:ext cx="97767" cy="10351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B34187-8ED6-8645-B831-087637CDBE4F}"/>
              </a:ext>
            </a:extLst>
          </p:cNvPr>
          <p:cNvGrpSpPr/>
          <p:nvPr/>
        </p:nvGrpSpPr>
        <p:grpSpPr>
          <a:xfrm>
            <a:off x="2359101" y="2465956"/>
            <a:ext cx="97767" cy="103517"/>
            <a:chOff x="626853" y="1708030"/>
            <a:chExt cx="97767" cy="10351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33F05F8-D560-134A-A518-661281167DC7}"/>
                </a:ext>
              </a:extLst>
            </p:cNvPr>
            <p:cNvCxnSpPr/>
            <p:nvPr/>
          </p:nvCxnSpPr>
          <p:spPr>
            <a:xfrm>
              <a:off x="626853" y="1708030"/>
              <a:ext cx="97766" cy="10351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DD2E6E0-76BB-BC44-8CBC-D46C5D7FEC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853" y="1708031"/>
              <a:ext cx="97767" cy="10351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AEB436F-C8BD-C445-AE7D-B8945CE2622A}"/>
              </a:ext>
            </a:extLst>
          </p:cNvPr>
          <p:cNvGrpSpPr/>
          <p:nvPr/>
        </p:nvGrpSpPr>
        <p:grpSpPr>
          <a:xfrm>
            <a:off x="2718607" y="2465955"/>
            <a:ext cx="97767" cy="103517"/>
            <a:chOff x="626853" y="1708030"/>
            <a:chExt cx="97767" cy="1035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15D0608-6B86-0244-A7CE-362AE83BA7BE}"/>
                </a:ext>
              </a:extLst>
            </p:cNvPr>
            <p:cNvCxnSpPr/>
            <p:nvPr/>
          </p:nvCxnSpPr>
          <p:spPr>
            <a:xfrm>
              <a:off x="626853" y="1708030"/>
              <a:ext cx="97766" cy="10351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657C6EF-0F31-534E-831F-19F34B10E3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853" y="1708031"/>
              <a:ext cx="97767" cy="10351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A6B0842-B59E-6E4C-9A4F-39CD518D0F38}"/>
              </a:ext>
            </a:extLst>
          </p:cNvPr>
          <p:cNvSpPr txBox="1"/>
          <p:nvPr/>
        </p:nvSpPr>
        <p:spPr>
          <a:xfrm>
            <a:off x="2442505" y="2379213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…</a:t>
            </a:r>
            <a:endParaRPr kumimoji="1" lang="zh-CN" altLang="en-US" sz="12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5B705DF-A81B-D84A-AC6F-E5306F21EC0F}"/>
              </a:ext>
            </a:extLst>
          </p:cNvPr>
          <p:cNvGrpSpPr/>
          <p:nvPr/>
        </p:nvGrpSpPr>
        <p:grpSpPr>
          <a:xfrm>
            <a:off x="2859616" y="2465954"/>
            <a:ext cx="124789" cy="103518"/>
            <a:chOff x="1295400" y="1708028"/>
            <a:chExt cx="124789" cy="10351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956FB90-1B8A-B547-A70B-D2EB4E126735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1759786"/>
              <a:ext cx="34182" cy="45408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7BDA929-6AB5-5240-AFF4-1202B2A883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2422" y="1708028"/>
              <a:ext cx="97767" cy="103518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4D0BEC2-F705-0845-9A36-375983B04043}"/>
              </a:ext>
            </a:extLst>
          </p:cNvPr>
          <p:cNvGrpSpPr/>
          <p:nvPr/>
        </p:nvGrpSpPr>
        <p:grpSpPr>
          <a:xfrm>
            <a:off x="3029228" y="2465953"/>
            <a:ext cx="97767" cy="103517"/>
            <a:chOff x="626853" y="1708030"/>
            <a:chExt cx="97767" cy="10351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5A146B2-B47F-034F-B5F6-D3C3A7D53131}"/>
                </a:ext>
              </a:extLst>
            </p:cNvPr>
            <p:cNvCxnSpPr/>
            <p:nvPr/>
          </p:nvCxnSpPr>
          <p:spPr>
            <a:xfrm>
              <a:off x="626853" y="1708030"/>
              <a:ext cx="97766" cy="10351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C156B23-456B-EA47-8F59-11DF113C7C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853" y="1708031"/>
              <a:ext cx="97767" cy="10351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264A1C6-C07D-824F-9CE9-472DAB1654A0}"/>
              </a:ext>
            </a:extLst>
          </p:cNvPr>
          <p:cNvGrpSpPr/>
          <p:nvPr/>
        </p:nvGrpSpPr>
        <p:grpSpPr>
          <a:xfrm>
            <a:off x="3197259" y="2465953"/>
            <a:ext cx="97767" cy="103517"/>
            <a:chOff x="626853" y="1708030"/>
            <a:chExt cx="97767" cy="10351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BDE9B9E-261C-2740-ABFA-70A2BE92ED44}"/>
                </a:ext>
              </a:extLst>
            </p:cNvPr>
            <p:cNvCxnSpPr/>
            <p:nvPr/>
          </p:nvCxnSpPr>
          <p:spPr>
            <a:xfrm>
              <a:off x="626853" y="1708030"/>
              <a:ext cx="97766" cy="10351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26CA84D-D2C2-604D-8BA9-616688C695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853" y="1708031"/>
              <a:ext cx="97767" cy="10351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F8A6334-02F3-4046-B24D-557BC9F2692C}"/>
              </a:ext>
            </a:extLst>
          </p:cNvPr>
          <p:cNvSpPr txBox="1"/>
          <p:nvPr/>
        </p:nvSpPr>
        <p:spPr>
          <a:xfrm>
            <a:off x="3272192" y="2379211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…</a:t>
            </a:r>
            <a:endParaRPr kumimoji="1" lang="zh-CN" altLang="en-US" sz="12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98033AD-42D8-8F49-9488-C3D6CFA7EABE}"/>
              </a:ext>
            </a:extLst>
          </p:cNvPr>
          <p:cNvGrpSpPr/>
          <p:nvPr/>
        </p:nvGrpSpPr>
        <p:grpSpPr>
          <a:xfrm>
            <a:off x="3527674" y="2459603"/>
            <a:ext cx="97767" cy="103517"/>
            <a:chOff x="626853" y="1708030"/>
            <a:chExt cx="97767" cy="10351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0C817A-B21A-F248-B7A8-C2840C89C4D0}"/>
                </a:ext>
              </a:extLst>
            </p:cNvPr>
            <p:cNvCxnSpPr/>
            <p:nvPr/>
          </p:nvCxnSpPr>
          <p:spPr>
            <a:xfrm>
              <a:off x="626853" y="1708030"/>
              <a:ext cx="97766" cy="10351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66E94A9-88CC-9542-8F01-59C39392A6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853" y="1708031"/>
              <a:ext cx="97767" cy="10351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06BD0E4-9811-F34C-9BA2-28FFBE97EA24}"/>
              </a:ext>
            </a:extLst>
          </p:cNvPr>
          <p:cNvGrpSpPr/>
          <p:nvPr/>
        </p:nvGrpSpPr>
        <p:grpSpPr>
          <a:xfrm>
            <a:off x="3709767" y="2465953"/>
            <a:ext cx="124789" cy="103518"/>
            <a:chOff x="1295400" y="1708028"/>
            <a:chExt cx="124789" cy="103518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FB9514-5589-D54F-A78A-9537F1FF5B90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1759786"/>
              <a:ext cx="34182" cy="45408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5F200B0-3C2E-AA48-9D41-583700AB59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2422" y="1708028"/>
              <a:ext cx="97767" cy="103518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C9A510D-167B-074F-9FF1-2B286F975B1D}"/>
              </a:ext>
            </a:extLst>
          </p:cNvPr>
          <p:cNvGrpSpPr/>
          <p:nvPr/>
        </p:nvGrpSpPr>
        <p:grpSpPr>
          <a:xfrm>
            <a:off x="3920707" y="2459603"/>
            <a:ext cx="97767" cy="103517"/>
            <a:chOff x="626853" y="1708030"/>
            <a:chExt cx="97767" cy="10351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1404A24-2320-D142-B036-F1E9F8F25B7C}"/>
                </a:ext>
              </a:extLst>
            </p:cNvPr>
            <p:cNvCxnSpPr/>
            <p:nvPr/>
          </p:nvCxnSpPr>
          <p:spPr>
            <a:xfrm>
              <a:off x="626853" y="1708030"/>
              <a:ext cx="97766" cy="10351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8F15967-E646-884B-8E65-4C86020876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853" y="1708031"/>
              <a:ext cx="97767" cy="10351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0548FD56-27A5-BB49-8AD4-F8F526FB92C1}"/>
              </a:ext>
            </a:extLst>
          </p:cNvPr>
          <p:cNvSpPr txBox="1"/>
          <p:nvPr/>
        </p:nvSpPr>
        <p:spPr>
          <a:xfrm>
            <a:off x="3984590" y="2379211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…</a:t>
            </a:r>
            <a:endParaRPr kumimoji="1" lang="zh-CN" altLang="en-US" sz="12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C3B80F8-84D5-D943-9493-17843FDE7D9D}"/>
              </a:ext>
            </a:extLst>
          </p:cNvPr>
          <p:cNvCxnSpPr>
            <a:cxnSpLocks/>
          </p:cNvCxnSpPr>
          <p:nvPr/>
        </p:nvCxnSpPr>
        <p:spPr>
          <a:xfrm flipH="1">
            <a:off x="4695583" y="2625886"/>
            <a:ext cx="2808" cy="2097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A17E01B-2B91-1C40-A61B-1E9F1C575661}"/>
              </a:ext>
            </a:extLst>
          </p:cNvPr>
          <p:cNvSpPr txBox="1"/>
          <p:nvPr/>
        </p:nvSpPr>
        <p:spPr>
          <a:xfrm>
            <a:off x="4447941" y="2864852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伯努利试验</a:t>
            </a:r>
          </a:p>
        </p:txBody>
      </p:sp>
      <p:sp>
        <p:nvSpPr>
          <p:cNvPr id="49" name="Left Brace 48">
            <a:extLst>
              <a:ext uri="{FF2B5EF4-FFF2-40B4-BE49-F238E27FC236}">
                <a16:creationId xmlns:a16="http://schemas.microsoft.com/office/drawing/2014/main" id="{95C2797C-268F-0F40-AC3C-E27445D15078}"/>
              </a:ext>
            </a:extLst>
          </p:cNvPr>
          <p:cNvSpPr/>
          <p:nvPr/>
        </p:nvSpPr>
        <p:spPr>
          <a:xfrm rot="5400000">
            <a:off x="3389159" y="1076857"/>
            <a:ext cx="148004" cy="2486438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B9AB700-F65B-9B46-A327-36CB4F0B5FB0}"/>
                  </a:ext>
                </a:extLst>
              </p:cNvPr>
              <p:cNvSpPr txBox="1"/>
              <p:nvPr/>
            </p:nvSpPr>
            <p:spPr>
              <a:xfrm>
                <a:off x="2407319" y="1682118"/>
                <a:ext cx="20916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CN" sz="1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𝑛</m:t>
                    </m:r>
                  </m:oMath>
                </a14:m>
                <a:r>
                  <a:rPr kumimoji="1" lang="zh-CN" altLang="en-US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次试验中事件发生次数</a:t>
                </a:r>
                <a:endParaRPr kumimoji="1" lang="en-US" altLang="zh-CN" sz="14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algn="ctr"/>
                <a:r>
                  <a:rPr kumimoji="1" lang="zh-CN" altLang="en-US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二项分布：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~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𝐵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𝑛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𝑝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endParaRPr kumimoji="1" lang="zh-CN" altLang="en-US" sz="14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B9AB700-F65B-9B46-A327-36CB4F0B5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319" y="1682118"/>
                <a:ext cx="2091663" cy="523220"/>
              </a:xfrm>
              <a:prstGeom prst="rect">
                <a:avLst/>
              </a:prstGeom>
              <a:blipFill>
                <a:blip r:embed="rId2"/>
                <a:stretch>
                  <a:fillRect t="-2381"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Left Brace 50">
            <a:extLst>
              <a:ext uri="{FF2B5EF4-FFF2-40B4-BE49-F238E27FC236}">
                <a16:creationId xmlns:a16="http://schemas.microsoft.com/office/drawing/2014/main" id="{49F99ED0-741E-154D-A326-4470CAF6BDF6}"/>
              </a:ext>
            </a:extLst>
          </p:cNvPr>
          <p:cNvSpPr/>
          <p:nvPr/>
        </p:nvSpPr>
        <p:spPr>
          <a:xfrm rot="5400000" flipH="1">
            <a:off x="3288328" y="2312001"/>
            <a:ext cx="148001" cy="853616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D8E3B82-448E-3F4B-88E4-6C160669192C}"/>
                  </a:ext>
                </a:extLst>
              </p:cNvPr>
              <p:cNvSpPr txBox="1"/>
              <p:nvPr/>
            </p:nvSpPr>
            <p:spPr>
              <a:xfrm>
                <a:off x="1888211" y="2846439"/>
                <a:ext cx="291649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两次事件间试验次数</a:t>
                </a:r>
                <a:endParaRPr kumimoji="1" lang="en-US" altLang="zh-CN" sz="14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algn="ctr"/>
                <a:r>
                  <a:rPr kumimoji="1" lang="zh-CN" altLang="en-US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几何分布</a:t>
                </a:r>
                <a:r>
                  <a:rPr kumimoji="1" lang="en-US" altLang="zh-CN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(</a:t>
                </a:r>
                <a:r>
                  <a:rPr kumimoji="1" lang="zh-CN" altLang="en-CN" sz="1400" dirty="0">
                    <a:solidFill>
                      <a:schemeClr val="accent5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无记忆</a:t>
                </a:r>
                <a:r>
                  <a:rPr kumimoji="1" lang="zh-CN" altLang="en-US" sz="1400" dirty="0">
                    <a:solidFill>
                      <a:schemeClr val="accent5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性</a:t>
                </a:r>
                <a:r>
                  <a:rPr kumimoji="1" lang="en-US" altLang="zh-CN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)</a:t>
                </a:r>
                <a:r>
                  <a:rPr kumimoji="1" lang="zh-CN" altLang="en-US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~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𝐺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𝑝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endParaRPr kumimoji="1" lang="zh-CN" altLang="en-US" sz="14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D8E3B82-448E-3F4B-88E4-6C1606691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211" y="2846439"/>
                <a:ext cx="2916494" cy="523220"/>
              </a:xfrm>
              <a:prstGeom prst="rect">
                <a:avLst/>
              </a:prstGeom>
              <a:blipFill>
                <a:blip r:embed="rId3"/>
                <a:stretch>
                  <a:fillRect t="-2381"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Left Brace 52">
            <a:extLst>
              <a:ext uri="{FF2B5EF4-FFF2-40B4-BE49-F238E27FC236}">
                <a16:creationId xmlns:a16="http://schemas.microsoft.com/office/drawing/2014/main" id="{878FD363-5A40-454C-B645-B04A87678B50}"/>
              </a:ext>
            </a:extLst>
          </p:cNvPr>
          <p:cNvSpPr/>
          <p:nvPr/>
        </p:nvSpPr>
        <p:spPr>
          <a:xfrm rot="5400000" flipH="1">
            <a:off x="3259722" y="2253016"/>
            <a:ext cx="173473" cy="228826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6D17EBB-AF43-6449-A598-217E79E2A0B0}"/>
              </a:ext>
            </a:extLst>
          </p:cNvPr>
          <p:cNvGrpSpPr/>
          <p:nvPr/>
        </p:nvGrpSpPr>
        <p:grpSpPr>
          <a:xfrm>
            <a:off x="4255071" y="2459603"/>
            <a:ext cx="97767" cy="103517"/>
            <a:chOff x="626853" y="1708030"/>
            <a:chExt cx="97767" cy="103517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32BC96B-E2E7-F140-B44B-0E835B578D41}"/>
                </a:ext>
              </a:extLst>
            </p:cNvPr>
            <p:cNvCxnSpPr/>
            <p:nvPr/>
          </p:nvCxnSpPr>
          <p:spPr>
            <a:xfrm>
              <a:off x="626853" y="1708030"/>
              <a:ext cx="97766" cy="10351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9C891A4-8D44-2A41-9F98-A3BA4DF61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853" y="1708031"/>
              <a:ext cx="97767" cy="10351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61C3F61-2CB7-8A4E-9D07-E73A9C55F8C3}"/>
              </a:ext>
            </a:extLst>
          </p:cNvPr>
          <p:cNvGrpSpPr/>
          <p:nvPr/>
        </p:nvGrpSpPr>
        <p:grpSpPr>
          <a:xfrm>
            <a:off x="4437164" y="2465953"/>
            <a:ext cx="124789" cy="103518"/>
            <a:chOff x="1295400" y="1708028"/>
            <a:chExt cx="124789" cy="103518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90F6BAC-543D-2741-A5BB-1F42F881F640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1759786"/>
              <a:ext cx="34182" cy="45408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4347E6C-8151-0142-B6F4-CB41302E4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2422" y="1708028"/>
              <a:ext cx="97767" cy="103518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126A643-983D-5A44-85C6-D7500691AC63}"/>
              </a:ext>
            </a:extLst>
          </p:cNvPr>
          <p:cNvGrpSpPr/>
          <p:nvPr/>
        </p:nvGrpSpPr>
        <p:grpSpPr>
          <a:xfrm>
            <a:off x="4648104" y="2459603"/>
            <a:ext cx="97767" cy="103517"/>
            <a:chOff x="626853" y="1708030"/>
            <a:chExt cx="97767" cy="103517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5821280-4932-9B4B-837D-51AFC141B20A}"/>
                </a:ext>
              </a:extLst>
            </p:cNvPr>
            <p:cNvCxnSpPr/>
            <p:nvPr/>
          </p:nvCxnSpPr>
          <p:spPr>
            <a:xfrm>
              <a:off x="626853" y="1708030"/>
              <a:ext cx="97766" cy="10351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5DE8959-88EF-754F-A81E-7034E4111B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853" y="1708031"/>
              <a:ext cx="97767" cy="10351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77BEC8A-2235-E248-B8E5-B071F81B3D6F}"/>
                  </a:ext>
                </a:extLst>
              </p:cNvPr>
              <p:cNvSpPr txBox="1"/>
              <p:nvPr/>
            </p:nvSpPr>
            <p:spPr>
              <a:xfrm>
                <a:off x="2185750" y="3525852"/>
                <a:ext cx="22485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事件发生</a:t>
                </a:r>
                <a14:m>
                  <m:oMath xmlns:m="http://schemas.openxmlformats.org/officeDocument/2006/math"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𝑟</m:t>
                    </m:r>
                  </m:oMath>
                </a14:m>
                <a:r>
                  <a:rPr kumimoji="1" lang="zh-CN" altLang="en-US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次时的试验次数</a:t>
                </a:r>
                <a:endParaRPr kumimoji="1" lang="en-US" altLang="zh-CN" sz="14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algn="ctr"/>
                <a:r>
                  <a:rPr kumimoji="1" lang="zh-CN" altLang="en-US" sz="1400" b="0" dirty="0">
                    <a:ea typeface="KaiTi" panose="02010609060101010101" pitchFamily="49" charset="-122"/>
                  </a:rPr>
                  <a:t>负二项分布：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3</m:t>
                        </m:r>
                      </m:sub>
                    </m:sSub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~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𝑁𝐵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𝑟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𝑝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endParaRPr kumimoji="1" lang="zh-CN" altLang="en-US" sz="14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77BEC8A-2235-E248-B8E5-B071F81B3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5750" y="3525852"/>
                <a:ext cx="2248500" cy="523220"/>
              </a:xfrm>
              <a:prstGeom prst="rect">
                <a:avLst/>
              </a:prstGeom>
              <a:blipFill>
                <a:blip r:embed="rId4"/>
                <a:stretch>
                  <a:fillRect l="-565" t="-2381" r="-565" b="-1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CF47C09-D273-9845-857F-9453BA6591E9}"/>
                  </a:ext>
                </a:extLst>
              </p:cNvPr>
              <p:cNvSpPr txBox="1"/>
              <p:nvPr/>
            </p:nvSpPr>
            <p:spPr>
              <a:xfrm>
                <a:off x="1466460" y="4112940"/>
                <a:ext cx="4049955" cy="1594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=0,1,2,…,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kumimoji="1" lang="en-US" altLang="zh-CN" sz="1400" b="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=1,2,…</m:t>
                      </m:r>
                    </m:oMath>
                  </m:oMathPara>
                </a14:m>
                <a:endParaRPr kumimoji="1" lang="en-US" altLang="zh-CN" sz="1400" dirty="0">
                  <a:solidFill>
                    <a:schemeClr val="accent5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1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kumimoji="1" lang="en-US" altLang="zh-CN" sz="1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1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kumimoji="1" lang="en-US" altLang="zh-CN" sz="1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kumimoji="1" lang="en-US" altLang="zh-CN" sz="1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sSup>
                        <m:sSupPr>
                          <m:ctrlP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+1,…</m:t>
                      </m:r>
                    </m:oMath>
                  </m:oMathPara>
                </a14:m>
                <a:endParaRPr kumimoji="1" lang="zh-CN" altLang="en-US" sz="1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CF47C09-D273-9845-857F-9453BA659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460" y="4112940"/>
                <a:ext cx="4049955" cy="15949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Left Brace 97">
            <a:extLst>
              <a:ext uri="{FF2B5EF4-FFF2-40B4-BE49-F238E27FC236}">
                <a16:creationId xmlns:a16="http://schemas.microsoft.com/office/drawing/2014/main" id="{FEA54779-0785-7B49-B5DE-176F7A2F90B9}"/>
              </a:ext>
            </a:extLst>
          </p:cNvPr>
          <p:cNvSpPr/>
          <p:nvPr/>
        </p:nvSpPr>
        <p:spPr>
          <a:xfrm rot="5400000">
            <a:off x="8339375" y="1091473"/>
            <a:ext cx="148004" cy="2486438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D3F54833-0455-1648-9BF6-9D56499F5B6E}"/>
                  </a:ext>
                </a:extLst>
              </p:cNvPr>
              <p:cNvSpPr txBox="1"/>
              <p:nvPr/>
            </p:nvSpPr>
            <p:spPr>
              <a:xfrm>
                <a:off x="7287149" y="1704978"/>
                <a:ext cx="22524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时间</a:t>
                </a:r>
                <a14:m>
                  <m:oMath xmlns:m="http://schemas.openxmlformats.org/officeDocument/2006/math">
                    <m:r>
                      <a:rPr kumimoji="1" lang="en-US" altLang="zh-CN" sz="140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[</m:t>
                    </m:r>
                    <m:r>
                      <a:rPr kumimoji="1" lang="en-US" altLang="zh-CN" sz="1400" b="0" i="0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0,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𝑡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]</m:t>
                    </m:r>
                  </m:oMath>
                </a14:m>
                <a:r>
                  <a:rPr kumimoji="1" lang="zh-CN" altLang="en-US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内事件发生次数</a:t>
                </a:r>
                <a:endParaRPr kumimoji="1" lang="en-US" altLang="zh-CN" sz="14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algn="ctr"/>
                <a:r>
                  <a:rPr kumimoji="1" lang="zh-CN" altLang="en-US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泊松分布：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~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endParaRPr kumimoji="1" lang="zh-CN" altLang="en-US" sz="14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D3F54833-0455-1648-9BF6-9D56499F5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149" y="1704978"/>
                <a:ext cx="2252456" cy="523220"/>
              </a:xfrm>
              <a:prstGeom prst="rect">
                <a:avLst/>
              </a:prstGeom>
              <a:blipFill>
                <a:blip r:embed="rId6"/>
                <a:stretch>
                  <a:fillRect t="-2381"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Left Brace 99">
            <a:extLst>
              <a:ext uri="{FF2B5EF4-FFF2-40B4-BE49-F238E27FC236}">
                <a16:creationId xmlns:a16="http://schemas.microsoft.com/office/drawing/2014/main" id="{11739F3A-B9EF-614A-831E-48200DEF1D98}"/>
              </a:ext>
            </a:extLst>
          </p:cNvPr>
          <p:cNvSpPr/>
          <p:nvPr/>
        </p:nvSpPr>
        <p:spPr>
          <a:xfrm rot="5400000" flipH="1">
            <a:off x="8238544" y="2326617"/>
            <a:ext cx="148001" cy="853616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6A9C817-1DE4-4347-A1DE-98E86F79345B}"/>
                  </a:ext>
                </a:extLst>
              </p:cNvPr>
              <p:cNvSpPr txBox="1"/>
              <p:nvPr/>
            </p:nvSpPr>
            <p:spPr>
              <a:xfrm>
                <a:off x="6852741" y="2848308"/>
                <a:ext cx="291960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两次事件时间间隔</a:t>
                </a:r>
                <a:endParaRPr kumimoji="1" lang="en-US" altLang="zh-CN" sz="14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algn="ctr"/>
                <a:r>
                  <a:rPr kumimoji="1" lang="zh-CN" altLang="en-US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指数分布</a:t>
                </a:r>
                <a:r>
                  <a:rPr kumimoji="1" lang="en-US" altLang="zh-CN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(</a:t>
                </a:r>
                <a:r>
                  <a:rPr kumimoji="1" lang="zh-CN" altLang="en-CN" sz="1400" dirty="0">
                    <a:solidFill>
                      <a:schemeClr val="accent5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无记忆性</a:t>
                </a:r>
                <a:r>
                  <a:rPr kumimoji="1" lang="en-US" altLang="zh-CN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)</a:t>
                </a:r>
                <a:r>
                  <a:rPr kumimoji="1" lang="zh-CN" altLang="en-US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~</m:t>
                    </m:r>
                    <m:r>
                      <m:rPr>
                        <m:sty m:val="p"/>
                      </m:rPr>
                      <a:rPr kumimoji="1" lang="en-US" altLang="zh-CN" sz="1400" b="0" i="0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Exp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endParaRPr kumimoji="1" lang="zh-CN" altLang="en-US" sz="14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6A9C817-1DE4-4347-A1DE-98E86F793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741" y="2848308"/>
                <a:ext cx="2919605" cy="523220"/>
              </a:xfrm>
              <a:prstGeom prst="rect">
                <a:avLst/>
              </a:prstGeom>
              <a:blipFill>
                <a:blip r:embed="rId7"/>
                <a:stretch>
                  <a:fillRect t="-2381"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Left Brace 101">
            <a:extLst>
              <a:ext uri="{FF2B5EF4-FFF2-40B4-BE49-F238E27FC236}">
                <a16:creationId xmlns:a16="http://schemas.microsoft.com/office/drawing/2014/main" id="{05D3B020-4533-4049-B75B-CAB657B6AE4D}"/>
              </a:ext>
            </a:extLst>
          </p:cNvPr>
          <p:cNvSpPr/>
          <p:nvPr/>
        </p:nvSpPr>
        <p:spPr>
          <a:xfrm rot="5400000" flipH="1">
            <a:off x="8209938" y="2267632"/>
            <a:ext cx="173473" cy="228826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BBF6BE09-3394-5E42-AB9B-4E26DDAC37C8}"/>
                  </a:ext>
                </a:extLst>
              </p:cNvPr>
              <p:cNvSpPr txBox="1"/>
              <p:nvPr/>
            </p:nvSpPr>
            <p:spPr>
              <a:xfrm>
                <a:off x="7310399" y="3600926"/>
                <a:ext cx="19414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事件发生</a:t>
                </a:r>
                <a14:m>
                  <m:oMath xmlns:m="http://schemas.openxmlformats.org/officeDocument/2006/math"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𝑟</m:t>
                    </m:r>
                  </m:oMath>
                </a14:m>
                <a:r>
                  <a:rPr kumimoji="1" lang="zh-CN" altLang="en-US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次时的时间</a:t>
                </a:r>
                <a:endParaRPr kumimoji="1" lang="en-US" altLang="zh-CN" sz="14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algn="ctr"/>
                <a:r>
                  <a:rPr kumimoji="1" lang="zh-CN" altLang="en-US" sz="1400" dirty="0">
                    <a:ea typeface="KaiTi" panose="02010609060101010101" pitchFamily="49" charset="-122"/>
                  </a:rPr>
                  <a:t>伽马</a:t>
                </a:r>
                <a:r>
                  <a:rPr kumimoji="1" lang="zh-CN" altLang="en-US" sz="1400" b="0" dirty="0">
                    <a:ea typeface="KaiTi" panose="02010609060101010101" pitchFamily="49" charset="-122"/>
                  </a:rPr>
                  <a:t>分布：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3</m:t>
                        </m:r>
                      </m:sub>
                    </m:sSub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~</m:t>
                    </m:r>
                    <m:r>
                      <m:rPr>
                        <m:sty m:val="p"/>
                      </m:rPr>
                      <a:rPr kumimoji="1" lang="el-GR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𝑟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endParaRPr kumimoji="1" lang="zh-CN" altLang="en-US" sz="14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BBF6BE09-3394-5E42-AB9B-4E26DDAC3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399" y="3600926"/>
                <a:ext cx="1941494" cy="523220"/>
              </a:xfrm>
              <a:prstGeom prst="rect">
                <a:avLst/>
              </a:prstGeom>
              <a:blipFill>
                <a:blip r:embed="rId8"/>
                <a:stretch>
                  <a:fillRect t="-2381"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268BC33-4809-8A41-B9E4-64DA051DF90A}"/>
              </a:ext>
            </a:extLst>
          </p:cNvPr>
          <p:cNvCxnSpPr>
            <a:cxnSpLocks/>
          </p:cNvCxnSpPr>
          <p:nvPr/>
        </p:nvCxnSpPr>
        <p:spPr>
          <a:xfrm>
            <a:off x="7170158" y="2514047"/>
            <a:ext cx="2919605" cy="0"/>
          </a:xfrm>
          <a:prstGeom prst="straightConnector1">
            <a:avLst/>
          </a:prstGeom>
          <a:ln cap="flat">
            <a:solidFill>
              <a:srgbClr val="FF0000"/>
            </a:solidFill>
            <a:headEnd type="oval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650A32C7-1904-2A4A-85FB-A92A6DEC4D71}"/>
              </a:ext>
            </a:extLst>
          </p:cNvPr>
          <p:cNvCxnSpPr/>
          <p:nvPr/>
        </p:nvCxnSpPr>
        <p:spPr>
          <a:xfrm>
            <a:off x="7885736" y="2424973"/>
            <a:ext cx="0" cy="9716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C6C97FBD-6F2A-5C4C-BC6A-05579B923D62}"/>
              </a:ext>
            </a:extLst>
          </p:cNvPr>
          <p:cNvCxnSpPr/>
          <p:nvPr/>
        </p:nvCxnSpPr>
        <p:spPr>
          <a:xfrm>
            <a:off x="8742140" y="2431717"/>
            <a:ext cx="0" cy="9716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F24C7DDD-21AB-9043-8F63-5A7C2B52123C}"/>
              </a:ext>
            </a:extLst>
          </p:cNvPr>
          <p:cNvCxnSpPr/>
          <p:nvPr/>
        </p:nvCxnSpPr>
        <p:spPr>
          <a:xfrm>
            <a:off x="9428612" y="2430369"/>
            <a:ext cx="0" cy="9716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93B5A30-B34A-E649-B3DF-A15499F73D67}"/>
                  </a:ext>
                </a:extLst>
              </p:cNvPr>
              <p:cNvSpPr txBox="1"/>
              <p:nvPr/>
            </p:nvSpPr>
            <p:spPr>
              <a:xfrm>
                <a:off x="10045653" y="2396240"/>
                <a:ext cx="2996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93B5A30-B34A-E649-B3DF-A15499F73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5653" y="2396240"/>
                <a:ext cx="299634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89FD0B2-2B9A-9E43-87BA-224422E9E260}"/>
              </a:ext>
            </a:extLst>
          </p:cNvPr>
          <p:cNvCxnSpPr>
            <a:cxnSpLocks/>
          </p:cNvCxnSpPr>
          <p:nvPr/>
        </p:nvCxnSpPr>
        <p:spPr>
          <a:xfrm flipH="1">
            <a:off x="9919656" y="2608255"/>
            <a:ext cx="2808" cy="2097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92C9B632-7D0B-AA46-ACD8-75C838D8C1C6}"/>
              </a:ext>
            </a:extLst>
          </p:cNvPr>
          <p:cNvSpPr txBox="1"/>
          <p:nvPr/>
        </p:nvSpPr>
        <p:spPr>
          <a:xfrm>
            <a:off x="9468250" y="285717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泊松过程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3093CF1C-89B1-4B4A-B8AF-262662CE666E}"/>
              </a:ext>
            </a:extLst>
          </p:cNvPr>
          <p:cNvCxnSpPr>
            <a:cxnSpLocks/>
          </p:cNvCxnSpPr>
          <p:nvPr/>
        </p:nvCxnSpPr>
        <p:spPr>
          <a:xfrm>
            <a:off x="5212113" y="1954120"/>
            <a:ext cx="183635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25DC98C2-2EEF-D841-A3A6-C42C99652AB2}"/>
                  </a:ext>
                </a:extLst>
              </p:cNvPr>
              <p:cNvSpPr txBox="1"/>
              <p:nvPr/>
            </p:nvSpPr>
            <p:spPr>
              <a:xfrm>
                <a:off x="5371378" y="1614409"/>
                <a:ext cx="14949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→∞,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kumimoji="1"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zh-CN" altLang="en-US" sz="14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25DC98C2-2EEF-D841-A3A6-C42C99652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378" y="1614409"/>
                <a:ext cx="1494961" cy="307777"/>
              </a:xfrm>
              <a:prstGeom prst="rect">
                <a:avLst/>
              </a:prstGeom>
              <a:blipFill>
                <a:blip r:embed="rId10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TextBox 132">
            <a:extLst>
              <a:ext uri="{FF2B5EF4-FFF2-40B4-BE49-F238E27FC236}">
                <a16:creationId xmlns:a16="http://schemas.microsoft.com/office/drawing/2014/main" id="{5ACF666B-4C7B-2745-9603-D95D0C674C77}"/>
              </a:ext>
            </a:extLst>
          </p:cNvPr>
          <p:cNvSpPr txBox="1"/>
          <p:nvPr/>
        </p:nvSpPr>
        <p:spPr>
          <a:xfrm>
            <a:off x="3037559" y="1110803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KaiTi" panose="02010609060101010101" pitchFamily="49" charset="-122"/>
                <a:ea typeface="KaiTi" panose="02010609060101010101" pitchFamily="49" charset="-122"/>
              </a:rPr>
              <a:t>离散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CED8327-D28C-304C-80F6-95C12C4BA4D6}"/>
              </a:ext>
            </a:extLst>
          </p:cNvPr>
          <p:cNvSpPr txBox="1"/>
          <p:nvPr/>
        </p:nvSpPr>
        <p:spPr>
          <a:xfrm>
            <a:off x="8281146" y="110856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KaiTi" panose="02010609060101010101" pitchFamily="49" charset="-122"/>
                <a:ea typeface="KaiTi" panose="02010609060101010101" pitchFamily="49" charset="-122"/>
              </a:rPr>
              <a:t>连续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8BE36EC0-25B1-C340-BFC8-DF32403577F6}"/>
                  </a:ext>
                </a:extLst>
              </p:cNvPr>
              <p:cNvSpPr txBox="1"/>
              <p:nvPr/>
            </p:nvSpPr>
            <p:spPr>
              <a:xfrm>
                <a:off x="7046007" y="4030141"/>
                <a:ext cx="3167919" cy="20291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>
                        <m:fPr>
                          <m:ctrlPr>
                            <a:rPr kumimoji="1"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=0,1,2,…</m:t>
                      </m:r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kumimoji="1" lang="en-US" altLang="zh-CN" sz="1400" b="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sSup>
                                <m:sSupPr>
                                  <m:ctrlPr>
                                    <a:rPr kumimoji="1"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kumimoji="1"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1"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zh-CN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1400" b="0" i="0" smtClean="0">
                                  <a:latin typeface="Cambria Math" panose="02040503050406030204" pitchFamily="18" charset="0"/>
                                </a:rPr>
                                <m:t>else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en-US" altLang="zh-CN" sz="1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kumimoji="1"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kumimoji="1"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CN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kumimoji="1"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kumimoji="1"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kumimoji="1"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CN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p>
                                      <m:r>
                                        <a:rPr kumimoji="1"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kumimoji="1"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kumimoji="1"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kumimoji="1" lang="en-US" altLang="zh-CN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𝜆</m:t>
                                      </m:r>
                                      <m:sSubSup>
                                        <m:sSubSupPr>
                                          <m:ctrlPr>
                                            <a:rPr kumimoji="1" lang="en-US" altLang="zh-CN" sz="1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kumimoji="1" lang="en-US" altLang="zh-CN" sz="1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1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/>
                                      </m:sSubSup>
                                    </m:sup>
                                  </m:sSup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Γ</m:t>
                                  </m:r>
                                  <m:r>
                                    <a:rPr kumimoji="1"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kumimoji="1"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kumimoji="1"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1400" b="0" i="0" smtClean="0">
                                  <a:latin typeface="Cambria Math" panose="02040503050406030204" pitchFamily="18" charset="0"/>
                                </a:rPr>
                                <m:t>else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1400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8BE36EC0-25B1-C340-BFC8-DF3240357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007" y="4030141"/>
                <a:ext cx="3167919" cy="2029145"/>
              </a:xfrm>
              <a:prstGeom prst="rect">
                <a:avLst/>
              </a:prstGeom>
              <a:blipFill>
                <a:blip r:embed="rId11"/>
                <a:stretch>
                  <a:fillRect t="-19255" b="-34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6850EC0F-9B8B-2046-BC83-8F0E18F0FFB0}"/>
                  </a:ext>
                </a:extLst>
              </p:cNvPr>
              <p:cNvSpPr txBox="1"/>
              <p:nvPr/>
            </p:nvSpPr>
            <p:spPr>
              <a:xfrm>
                <a:off x="6851497" y="6092339"/>
                <a:ext cx="3574055" cy="4987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正态分布</a:t>
                </a:r>
                <a14:m>
                  <m:oMath xmlns:m="http://schemas.openxmlformats.org/officeDocument/2006/math"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~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𝑁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14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kumimoji="1" lang="en-US" altLang="zh-CN" sz="1400" b="0" i="1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fPr>
                      <m:num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  <a:ea typeface="KaiTi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  <a:ea typeface="KaiTi" panose="02010609060101010101" pitchFamily="49" charset="-122"/>
                              </a:rPr>
                              <m:t>2</m:t>
                            </m:r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den>
                    </m:f>
                    <m:sSup>
                      <m:sSup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p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  <a:ea typeface="KaiTi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1400" b="0" i="1" smtClean="0">
                                    <a:latin typeface="Cambria Math" panose="02040503050406030204" pitchFamily="18" charset="0"/>
                                    <a:ea typeface="KaiTi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1400" b="0" i="1" smtClean="0">
                                    <a:latin typeface="Cambria Math" panose="02040503050406030204" pitchFamily="18" charset="0"/>
                                    <a:ea typeface="KaiTi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1400" b="0" i="1" smtClean="0">
                                    <a:latin typeface="Cambria Math" panose="02040503050406030204" pitchFamily="18" charset="0"/>
                                    <a:ea typeface="KaiTi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1400" b="0" i="1" smtClean="0">
                                    <a:latin typeface="Cambria Math" panose="02040503050406030204" pitchFamily="18" charset="0"/>
                                    <a:ea typeface="KaiTi" panose="02010609060101010101" pitchFamily="49" charset="-122"/>
                                  </a:rPr>
                                  <m:t>−</m:t>
                                </m:r>
                                <m:r>
                                  <a:rPr kumimoji="1"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kumimoji="1" lang="en-US" altLang="zh-CN" sz="1400" b="0" i="1" smtClean="0">
                                    <a:latin typeface="Cambria Math" panose="02040503050406030204" pitchFamily="18" charset="0"/>
                                    <a:ea typeface="KaiTi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kumimoji="1" lang="en-US" altLang="zh-CN" sz="1400" b="0" i="1" smtClean="0">
                                    <a:latin typeface="Cambria Math" panose="02040503050406030204" pitchFamily="18" charset="0"/>
                                    <a:ea typeface="KaiTi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  <a:ea typeface="KaiTi" panose="02010609060101010101" pitchFamily="49" charset="-122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kumimoji="1" lang="en-US" altLang="zh-CN" sz="1400" b="0" i="1" smtClean="0">
                                    <a:latin typeface="Cambria Math" panose="02040503050406030204" pitchFamily="18" charset="0"/>
                                    <a:ea typeface="KaiTi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kumimoji="1" lang="en-US" altLang="zh-CN" sz="1400" b="0" i="1" smtClean="0">
                                    <a:latin typeface="Cambria Math" panose="02040503050406030204" pitchFamily="18" charset="0"/>
                                    <a:ea typeface="KaiTi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endParaRPr kumimoji="1" lang="zh-CN" altLang="en-US" sz="14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6850EC0F-9B8B-2046-BC83-8F0E18F0F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1497" y="6092339"/>
                <a:ext cx="3574055" cy="49872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Box 137">
            <a:extLst>
              <a:ext uri="{FF2B5EF4-FFF2-40B4-BE49-F238E27FC236}">
                <a16:creationId xmlns:a16="http://schemas.microsoft.com/office/drawing/2014/main" id="{BF715CB6-D1AC-384D-90BE-C56DABB7A92B}"/>
              </a:ext>
            </a:extLst>
          </p:cNvPr>
          <p:cNvSpPr txBox="1"/>
          <p:nvPr/>
        </p:nvSpPr>
        <p:spPr>
          <a:xfrm>
            <a:off x="4766154" y="421925"/>
            <a:ext cx="2659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常见分布及其关系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982286D-8335-9146-A11B-2952242F2920}"/>
              </a:ext>
            </a:extLst>
          </p:cNvPr>
          <p:cNvSpPr txBox="1"/>
          <p:nvPr/>
        </p:nvSpPr>
        <p:spPr>
          <a:xfrm>
            <a:off x="0" y="6119336"/>
            <a:ext cx="334578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accent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其他知识点</a:t>
            </a:r>
            <a:endParaRPr kumimoji="1" lang="en-US" altLang="zh-CN" sz="1400" dirty="0">
              <a:solidFill>
                <a:schemeClr val="accent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85750" indent="-285750">
              <a:buFontTx/>
              <a:buChar char="-"/>
            </a:pPr>
            <a:r>
              <a:rPr kumimoji="1" lang="zh-CN" altLang="en-US" sz="1400" dirty="0">
                <a:solidFill>
                  <a:schemeClr val="accent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由泊松分布推导指数分布和伽马分布</a:t>
            </a:r>
            <a:endParaRPr kumimoji="1" lang="en-US" altLang="zh-CN" sz="1400" dirty="0">
              <a:solidFill>
                <a:schemeClr val="accent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85750" indent="-285750">
              <a:buFontTx/>
              <a:buChar char="-"/>
            </a:pPr>
            <a:r>
              <a:rPr kumimoji="1" lang="zh-CN" altLang="en-US" sz="1400" dirty="0">
                <a:solidFill>
                  <a:schemeClr val="accent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随机变量的函数的分布</a:t>
            </a:r>
            <a:endParaRPr kumimoji="1" lang="en-US" altLang="zh-CN" sz="1400" dirty="0">
              <a:solidFill>
                <a:schemeClr val="accent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7EDE69E8-F4DF-DB43-B55B-D423A6FE5048}"/>
              </a:ext>
            </a:extLst>
          </p:cNvPr>
          <p:cNvCxnSpPr>
            <a:cxnSpLocks/>
          </p:cNvCxnSpPr>
          <p:nvPr/>
        </p:nvCxnSpPr>
        <p:spPr>
          <a:xfrm>
            <a:off x="6122670" y="1995506"/>
            <a:ext cx="19050" cy="4595559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0779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232</Words>
  <Application>Microsoft Macintosh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KaiTi</vt:lpstr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刘 沛雨</dc:creator>
  <cp:lastModifiedBy>刘 沛雨</cp:lastModifiedBy>
  <cp:revision>6</cp:revision>
  <dcterms:created xsi:type="dcterms:W3CDTF">2025-03-17T03:20:40Z</dcterms:created>
  <dcterms:modified xsi:type="dcterms:W3CDTF">2025-04-17T02:55:23Z</dcterms:modified>
</cp:coreProperties>
</file>