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92" r:id="rId3"/>
    <p:sldId id="296" r:id="rId4"/>
    <p:sldId id="307" r:id="rId5"/>
    <p:sldId id="306" r:id="rId6"/>
    <p:sldId id="309" r:id="rId7"/>
    <p:sldId id="308" r:id="rId8"/>
    <p:sldId id="31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1833-A34E-4F9E-BAD6-32BBAEE16E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149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38517"/>
            <a:ext cx="10515600" cy="552171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8068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8068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27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1851" y="6428070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5425" y="6440676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231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0589"/>
            <a:ext cx="10515600" cy="5701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63928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445999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118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138517"/>
            <a:ext cx="10517188" cy="552171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36376"/>
            <a:ext cx="5159375" cy="56869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936375"/>
            <a:ext cx="5183188" cy="5687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93239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11707" y="639324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43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91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419104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1910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419104"/>
            <a:ext cx="2743200" cy="365125"/>
          </a:xfrm>
        </p:spPr>
        <p:txBody>
          <a:bodyPr/>
          <a:lstStyle/>
          <a:p>
            <a:fld id="{0ADF1833-A34E-4F9E-BAD6-32BBAEE16E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82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129554"/>
            <a:ext cx="3933825" cy="92784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129554"/>
            <a:ext cx="6172200" cy="487362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32212"/>
            <a:ext cx="3932237" cy="402225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29284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6529" y="642928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35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084730"/>
            <a:ext cx="3933825" cy="97267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60895" y="1308848"/>
            <a:ext cx="5994495" cy="4552203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371166"/>
            <a:ext cx="3932237" cy="381158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37032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6531" y="643703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60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F1833-A34E-4F9E-BAD6-32BBAEE16E1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929"/>
            <a:ext cx="12196133" cy="687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1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otzone.org.c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iki.botzone.org.cn/index.php?title=Bot" TargetMode="External"/><Relationship Id="rId4" Type="http://schemas.openxmlformats.org/officeDocument/2006/relationships/hyperlink" Target="https://wiki.botzone.org.cn/index.php?title=GuanDan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enku.baidu.com/view/acf735832b4ac850ad02de80d4d8d15abe230003.html?_wkts_=1740572899361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a.icml.cc/Conferences/ICML2022/Styles/icml2022.zip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203.16406" TargetMode="External"/><Relationship Id="rId2" Type="http://schemas.openxmlformats.org/officeDocument/2006/relationships/hyperlink" Target="https://dx.doi.org/10.7544/issn1000-1239.20222069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6311FBD-91CC-52AE-D19E-31B9018AC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8190"/>
            <a:ext cx="9144000" cy="184867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</a:rPr>
              <a:t>秋季强化学习课程大作业</a:t>
            </a:r>
            <a:b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传统棋牌游戏决策方案设计（掼蛋）</a:t>
            </a:r>
            <a:endParaRPr lang="zh-CN" altLang="en-US" sz="5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0FCEC09B-D694-DD1D-7A38-935A606AF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3208"/>
            <a:ext cx="9144000" cy="1034592"/>
          </a:xfrm>
        </p:spPr>
        <p:txBody>
          <a:bodyPr/>
          <a:lstStyle/>
          <a:p>
            <a:r>
              <a:rPr lang="en-US" altLang="zh-CN"/>
              <a:t>2025.11.13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0743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7840B-4AF1-8894-CBFD-E62289870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D1028-AA6B-6582-9449-819DC67A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掼蛋游戏决策方案设计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E39AC-7C4C-3429-8F58-8DDE76ABD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实验环境</a:t>
            </a:r>
            <a:endParaRPr lang="en-US" altLang="zh-CN" dirty="0"/>
          </a:p>
          <a:p>
            <a:r>
              <a:rPr lang="zh-CN" altLang="en-US" dirty="0"/>
              <a:t>作业要求</a:t>
            </a:r>
            <a:endParaRPr lang="en-US" altLang="zh-CN" dirty="0"/>
          </a:p>
          <a:p>
            <a:r>
              <a:rPr lang="zh-CN" altLang="en-US" dirty="0"/>
              <a:t>提交说明</a:t>
            </a:r>
            <a:endParaRPr lang="en-US" altLang="zh-CN" dirty="0"/>
          </a:p>
          <a:p>
            <a:r>
              <a:rPr lang="zh-CN" altLang="en-US" dirty="0"/>
              <a:t>评分说明</a:t>
            </a:r>
          </a:p>
        </p:txBody>
      </p:sp>
    </p:spTree>
    <p:extLst>
      <p:ext uri="{BB962C8B-B14F-4D97-AF65-F5344CB8AC3E}">
        <p14:creationId xmlns:p14="http://schemas.microsoft.com/office/powerpoint/2010/main" val="2733235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CBD24-CE1F-89AD-4B81-2A6BDC32F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E8CCF-5C05-C18A-0665-28519DB1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实验环境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213620-F6CA-70ED-149B-AAF733AB7FD9}"/>
              </a:ext>
            </a:extLst>
          </p:cNvPr>
          <p:cNvSpPr/>
          <p:nvPr/>
        </p:nvSpPr>
        <p:spPr>
          <a:xfrm>
            <a:off x="759376" y="1690688"/>
            <a:ext cx="34451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掼蛋（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GuanDan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5BC6975-07A4-2702-9A22-2E51E3B05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03" y="2090798"/>
            <a:ext cx="6928755" cy="394074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3E9805F-2CAF-869B-6CF7-DBF2355AE3DF}"/>
              </a:ext>
            </a:extLst>
          </p:cNvPr>
          <p:cNvSpPr/>
          <p:nvPr/>
        </p:nvSpPr>
        <p:spPr>
          <a:xfrm>
            <a:off x="7736138" y="2050161"/>
            <a:ext cx="4455862" cy="2457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掼蛋支持人类、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对战及对局可视化，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可以上传模型及算法进行在线对战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在线平台：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https://botzone.org.cn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游戏信息：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https://wiki.botzone.org.cn/index.php?title=GuanDan</a:t>
            </a:r>
            <a:endParaRPr lang="en-US" altLang="zh-CN" sz="13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交互方法：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https://wiki.botzone.org.cn/index.php?title=Bot</a:t>
            </a:r>
            <a:endParaRPr lang="en-US" altLang="zh-CN" sz="13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课程团队同时提供掼蛋本地交互环境供采样训练使用</a:t>
            </a:r>
          </a:p>
        </p:txBody>
      </p:sp>
    </p:spTree>
    <p:extLst>
      <p:ext uri="{BB962C8B-B14F-4D97-AF65-F5344CB8AC3E}">
        <p14:creationId xmlns:p14="http://schemas.microsoft.com/office/powerpoint/2010/main" val="3431381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2D0E2-0388-F505-6B65-4B41EE72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D8FD8F-E65A-B51D-9152-EF125C032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实验环境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3F672C-D4E9-2A25-16A5-7DE6F33569A0}"/>
              </a:ext>
            </a:extLst>
          </p:cNvPr>
          <p:cNvSpPr/>
          <p:nvPr/>
        </p:nvSpPr>
        <p:spPr>
          <a:xfrm>
            <a:off x="775057" y="1690688"/>
            <a:ext cx="34451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掼蛋（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GuanDan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7D451E-2A10-1B1D-A0C9-5A60DD5171F3}"/>
              </a:ext>
            </a:extLst>
          </p:cNvPr>
          <p:cNvSpPr/>
          <p:nvPr/>
        </p:nvSpPr>
        <p:spPr>
          <a:xfrm>
            <a:off x="804886" y="2038586"/>
            <a:ext cx="8426451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掼蛋是基于掼蛋游戏开发的在线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2v2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游戏平台，掼蛋游戏规则参见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《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淮安掼蛋竞赛规则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》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掼蛋提供了掼蛋游戏的单局版本，规则和掼蛋游戏相同，支持通过对局前设置改变当局的等级。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86207F-A3EB-9682-2DB7-7280AE8377CB}"/>
              </a:ext>
            </a:extLst>
          </p:cNvPr>
          <p:cNvSpPr/>
          <p:nvPr/>
        </p:nvSpPr>
        <p:spPr>
          <a:xfrm>
            <a:off x="838200" y="2834307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本地掼蛋交互环境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5BB6DF-39FE-69C1-8765-6791EF65CB04}"/>
              </a:ext>
            </a:extLst>
          </p:cNvPr>
          <p:cNvSpPr/>
          <p:nvPr/>
        </p:nvSpPr>
        <p:spPr>
          <a:xfrm>
            <a:off x="8844279" y="3182205"/>
            <a:ext cx="315468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本地掼蛋交互环境为基于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掼蛋的简化版。移除了进贡和还贡流程，仅包含出牌阶段。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环境提供的输出（游戏状态）：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牌的表示（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0~107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）及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claim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字段的定义请参看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相关材料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环境接收的输入（动作）：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{‘player’: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当前玩家的</a:t>
            </a:r>
            <a:r>
              <a:rPr lang="en-US" altLang="zh-CN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id, ‘action’: [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玩家出牌</a:t>
            </a:r>
            <a:r>
              <a:rPr lang="en-US" altLang="zh-CN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], ‘claim’: [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玩家声明的出牌</a:t>
            </a:r>
            <a:r>
              <a:rPr lang="en-US" altLang="zh-CN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]}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7B4E36E-D544-6D90-1A0B-3CF5DA935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68865"/>
              </p:ext>
            </p:extLst>
          </p:nvPr>
        </p:nvGraphicFramePr>
        <p:xfrm>
          <a:off x="804886" y="3307830"/>
          <a:ext cx="7909996" cy="2888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7499">
                  <a:extLst>
                    <a:ext uri="{9D8B030D-6E8A-4147-A177-3AD203B41FA5}">
                      <a16:colId xmlns:a16="http://schemas.microsoft.com/office/drawing/2014/main" val="3860929476"/>
                    </a:ext>
                  </a:extLst>
                </a:gridCol>
                <a:gridCol w="1977499">
                  <a:extLst>
                    <a:ext uri="{9D8B030D-6E8A-4147-A177-3AD203B41FA5}">
                      <a16:colId xmlns:a16="http://schemas.microsoft.com/office/drawing/2014/main" val="2007245737"/>
                    </a:ext>
                  </a:extLst>
                </a:gridCol>
                <a:gridCol w="1977499">
                  <a:extLst>
                    <a:ext uri="{9D8B030D-6E8A-4147-A177-3AD203B41FA5}">
                      <a16:colId xmlns:a16="http://schemas.microsoft.com/office/drawing/2014/main" val="3204173418"/>
                    </a:ext>
                  </a:extLst>
                </a:gridCol>
                <a:gridCol w="1977499">
                  <a:extLst>
                    <a:ext uri="{9D8B030D-6E8A-4147-A177-3AD203B41FA5}">
                      <a16:colId xmlns:a16="http://schemas.microsoft.com/office/drawing/2014/main" val="3989991793"/>
                    </a:ext>
                  </a:extLst>
                </a:gridCol>
              </a:tblGrid>
              <a:tr h="307061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数据类型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示例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297152"/>
                  </a:ext>
                </a:extLst>
              </a:tr>
              <a:tr h="307061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id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当前玩家</a:t>
                      </a:r>
                      <a:r>
                        <a:rPr lang="en-US" altLang="zh-CN" sz="1400" dirty="0"/>
                        <a:t>id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int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552242"/>
                  </a:ext>
                </a:extLst>
              </a:tr>
              <a:tr h="307061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level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本局等级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str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‘2’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255760"/>
                  </a:ext>
                </a:extLst>
              </a:tr>
              <a:tr h="307061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status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对局信息与报错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str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‘Running’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132449"/>
                  </a:ext>
                </a:extLst>
              </a:tr>
              <a:tr h="307061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deck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当前玩家手牌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array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[2, 104, 55, 32, 61]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280814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last_move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最近一次出牌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dict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{'player’:0,'action’: [22], 'claim’: [22]}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639978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历史出牌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{'player’:0,'action’: [22], 'claim’: [22]}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391598"/>
                  </a:ext>
                </a:extLst>
              </a:tr>
              <a:tr h="316597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奖励（自定义）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float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561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4885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AFAE5-0031-489B-71F3-B5EC6DB1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A6637-299C-5C82-09C7-AF8937480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作业要求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62B07F-6EF7-4D69-7A07-04CA9E25D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90"/>
            <a:ext cx="10515600" cy="4233032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目标：熟悉强化学习的算法框架和训练流程，基于传统棋牌游戏规则自主设计解决方案，综合运用强化学习和启发式搜索、特征工程等多种方法提升智能体的决策能力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作业任务与要求：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（必做）智能体开发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，开发基于强化学习的适用于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掼蛋游戏的智能体。设计算法的过程中可以考虑的角度包括但不限于：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特征处理。本地交互环境提供了最基本的游戏信息，开发过程中，也可以基于人类经验自行探索和设计一些特征和特征结构。良好的特征提取和表示有助于帮助模型理解局面状态和决策。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模型调优。尝试不同的模型结构并比较不同模型的表现，选择最优的模型进行决策或在决策时参考多个模型输出的行动。由于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存在存储空间和交互时间的限制，请注意控制模型的参数量。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算法创新。在强化学习的基础上改进算法，可以融合其他的基于规则、搜索或学习的方法来提升智能体的表现，也可以使用其他方法（见参考文献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[1][2]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（选做）开放式探究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，基于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掼蛋平台、本地环境和智能体，对感兴趣的多智能体博弈问题做探究。研究问题包括但不限于：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掼蛋是一个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2v2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游戏，在不允许玩家间交流的情况下，如何构建配合更加默契的智能体？可以尝试特征工程、构造奖励函数来激励合作等方法，也可以提出自己的想法。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基于给定的交互环境，如何设计一个训练框架实现快速采样和训练？条件允许的情况下，可以尝试构建分布式的采样和训练框架。</a:t>
            </a:r>
          </a:p>
        </p:txBody>
      </p:sp>
    </p:spTree>
    <p:extLst>
      <p:ext uri="{BB962C8B-B14F-4D97-AF65-F5344CB8AC3E}">
        <p14:creationId xmlns:p14="http://schemas.microsoft.com/office/powerpoint/2010/main" val="354658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0A698-497E-601D-4C87-16001ECA2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3674C-15ED-F620-7F79-DB799716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提交说明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5EE1B14-533A-3D13-66E4-C1F9BE74FBC3}"/>
              </a:ext>
            </a:extLst>
          </p:cNvPr>
          <p:cNvSpPr txBox="1">
            <a:spLocks/>
          </p:cNvSpPr>
          <p:nvPr/>
        </p:nvSpPr>
        <p:spPr>
          <a:xfrm>
            <a:off x="409574" y="1734378"/>
            <a:ext cx="11641621" cy="47371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组队形式：可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1 -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人一组</a:t>
            </a: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（若</a:t>
            </a:r>
            <a:r>
              <a:rPr kumimoji="1"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&gt;1</a:t>
            </a: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人组队需说明每人具体贡献）</a:t>
            </a:r>
            <a:endParaRPr kumimoji="1"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最终提交内容需将以下几部分压缩打包命名为“学号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姓名”（多人组队需列出所有队员学号姓名）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提交掼蛋游戏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并参加对战评测。所有队伍的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评测小组的积分赛，按照最终排名给分。积分赛每一局调用两支队伍提交的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控制同一方的两个玩家（两个玩家在信息上是独立的）。积分赛的对局为单轮模式，不考虑升级。最终的积分赛前，会组织多次练习赛供大家了解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的水平，练习赛成绩不计入总成绩。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研究性报告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形式，中英文皆可，正文（包括图、文等）页数建议不少于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页，不超过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1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页。内容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包括但不限于算法细节、优化和创新点、开放式问题研究方案、有趣的现象和启发等，必要时可配图说明，同时注意参考文献的引用。格式自定，推荐采用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Latex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编写，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ICML2022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 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https://media.icml.cc/Conferences/ICML2022/Styles/icml2022.zip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完整代码和模型，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Python3.8+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Pytorch1.4+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编写，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说明具体安装流程和脚本执行方法，并保证可在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ubuntu18+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上运行成功，训练好的策略网络模型需保存为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文件一并提交。若工作涉及环境建模和采样训练框架，需要提交对应的环境和训练代码。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课堂展示：随堂进行各小组演讲展示，展示时间待定。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评分角度：综合考虑智能体决策水平、决策算法的创新点、代码性能、写作、演讲和展示。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1699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39D49-DFE4-E0A8-D6C0-F127296E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9D8EC-F35B-49A6-2BF1-4ABB7FB1E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评分说明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792AAA5-4A8D-6B36-8973-0372FA622454}"/>
              </a:ext>
            </a:extLst>
          </p:cNvPr>
          <p:cNvSpPr txBox="1">
            <a:spLocks/>
          </p:cNvSpPr>
          <p:nvPr/>
        </p:nvSpPr>
        <p:spPr>
          <a:xfrm>
            <a:off x="838200" y="1913284"/>
            <a:ext cx="9288739" cy="40203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评分原则：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585" lvl="1" indent="0">
              <a:lnSpc>
                <a:spcPct val="150000"/>
              </a:lnSpc>
              <a:buNone/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一、各组提交的智能体能够正常运行且评测得分超过基线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，代码完整提交、过程符合学术诚信标准可获基础分。</a:t>
            </a:r>
          </a:p>
          <a:p>
            <a:pPr marL="609585" lvl="1" indent="0">
              <a:lnSpc>
                <a:spcPct val="150000"/>
              </a:lnSpc>
              <a:buNone/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二、鼓励锻炼学术和创新性探索，在模型性能的基础上，有方法或理论创新的可获得额外加分。</a:t>
            </a:r>
            <a:endParaRPr kumimoji="1"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评分细则：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，实验报告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</a:p>
          <a:p>
            <a:pPr marL="0" indent="0">
              <a:lnSpc>
                <a:spcPct val="150000"/>
              </a:lnSpc>
              <a:buNone/>
            </a:pP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4101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F29E4-1B42-7F29-17F4-558C405F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18DF4-F094-A804-30D6-998E7AA91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参考文献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DBC30-493C-24E8-14FD-C70569442740}"/>
              </a:ext>
            </a:extLst>
          </p:cNvPr>
          <p:cNvSpPr/>
          <p:nvPr/>
        </p:nvSpPr>
        <p:spPr>
          <a:xfrm>
            <a:off x="1708833" y="2173396"/>
            <a:ext cx="8502650" cy="3049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[1] 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Ge 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Zhenxing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Xiang Shuai, Tian 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Pinzhuo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Gao Yang. Solving 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GuanDan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Poker Games with Deep Reinforcement Learning[J]. Journal of Computer Research and Development, 2024, 61(1): 145-155. DOI: 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10.7544/issn1000-1239.202220697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60000"/>
              <a:buFont typeface="Wingdings" pitchFamily="2" charset="2"/>
              <a:buNone/>
              <a:tabLst/>
              <a:defRPr/>
            </a:pP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[2] 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Guan Yang, 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Minghuan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Liu, Weijun Hong, 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Weinan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Zhang, Fei Fang, 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Guangjun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Zeng, Yue Lin.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PerfectDou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Dominating 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DouDizhu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with Perfect Information Distillation. 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NeurIPS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2022. DOI: 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10.48550/arXiv.2203.16406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</a:pPr>
            <a:endParaRPr lang="zh-CN" altLang="en-US" sz="13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58094286"/>
      </p:ext>
    </p:extLst>
  </p:cSld>
  <p:clrMapOvr>
    <a:masterClrMapping/>
  </p:clrMapOvr>
</p:sld>
</file>

<file path=ppt/theme/theme1.xml><?xml version="1.0" encoding="utf-8"?>
<a:theme xmlns:a="http://schemas.openxmlformats.org/drawingml/2006/main" name="实验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实验室" id="{58E4617E-ED80-4670-AB37-167CB830D7F6}" vid="{B102D6D9-EC6A-43AB-9D54-71FF832CC0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3562</TotalTime>
  <Words>1273</Words>
  <Application>Microsoft Office PowerPoint</Application>
  <PresentationFormat>宽屏</PresentationFormat>
  <Paragraphs>83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黑体</vt:lpstr>
      <vt:lpstr>微软雅黑</vt:lpstr>
      <vt:lpstr>Arial</vt:lpstr>
      <vt:lpstr>Calibri</vt:lpstr>
      <vt:lpstr>Calibri Light</vt:lpstr>
      <vt:lpstr>Wingdings</vt:lpstr>
      <vt:lpstr>实验室</vt:lpstr>
      <vt:lpstr>2025秋季强化学习课程大作业 传统棋牌游戏决策方案设计（掼蛋）</vt:lpstr>
      <vt:lpstr>掼蛋游戏决策方案设计</vt:lpstr>
      <vt:lpstr>实验环境</vt:lpstr>
      <vt:lpstr>实验环境</vt:lpstr>
      <vt:lpstr>作业要求</vt:lpstr>
      <vt:lpstr>提交说明</vt:lpstr>
      <vt:lpstr>评分说明</vt:lpstr>
      <vt:lpstr>参考文献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Botzone使用教程</dc:title>
  <dc:creator>星博 王</dc:creator>
  <cp:lastModifiedBy>启睿 郑</cp:lastModifiedBy>
  <cp:revision>78</cp:revision>
  <dcterms:created xsi:type="dcterms:W3CDTF">2024-03-04T13:28:00Z</dcterms:created>
  <dcterms:modified xsi:type="dcterms:W3CDTF">2025-11-17T09:23:33Z</dcterms:modified>
</cp:coreProperties>
</file>