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306" r:id="rId5"/>
    <p:sldId id="309" r:id="rId6"/>
    <p:sldId id="308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A5AFB-3DB8-4027-B52D-734998A0992B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F1833-A34E-4F9E-BAD6-32BBAEE16E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494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38517"/>
            <a:ext cx="10515600" cy="552171"/>
          </a:xfrm>
        </p:spPr>
        <p:txBody>
          <a:bodyPr>
            <a:normAutofit/>
          </a:bodyPr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8068"/>
            <a:ext cx="2743200" cy="365125"/>
          </a:xfrm>
        </p:spPr>
        <p:txBody>
          <a:bodyPr/>
          <a:lstStyle/>
          <a:p>
            <a:fld id="{13AA5AFB-3DB8-4027-B52D-734998A0992B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28068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562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1851" y="6428070"/>
            <a:ext cx="2743200" cy="365125"/>
          </a:xfrm>
        </p:spPr>
        <p:txBody>
          <a:bodyPr/>
          <a:lstStyle/>
          <a:p>
            <a:fld id="{13AA5AFB-3DB8-4027-B52D-734998A0992B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5425" y="6440676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1076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20589"/>
            <a:ext cx="10515600" cy="570100"/>
          </a:xfrm>
        </p:spPr>
        <p:txBody>
          <a:bodyPr>
            <a:normAutofit/>
          </a:bodyPr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463928"/>
            <a:ext cx="2743200" cy="365125"/>
          </a:xfrm>
        </p:spPr>
        <p:txBody>
          <a:bodyPr/>
          <a:lstStyle/>
          <a:p>
            <a:fld id="{13AA5AFB-3DB8-4027-B52D-734998A0992B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445999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8556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2" y="1138517"/>
            <a:ext cx="10517188" cy="552171"/>
          </a:xfrm>
        </p:spPr>
        <p:txBody>
          <a:bodyPr>
            <a:normAutofit/>
          </a:bodyPr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936376"/>
            <a:ext cx="5159375" cy="56869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936375"/>
            <a:ext cx="5183188" cy="56870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93239"/>
            <a:ext cx="2743200" cy="365125"/>
          </a:xfrm>
        </p:spPr>
        <p:txBody>
          <a:bodyPr/>
          <a:lstStyle/>
          <a:p>
            <a:fld id="{13AA5AFB-3DB8-4027-B52D-734998A0992B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11707" y="639324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917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091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419104"/>
            <a:ext cx="2743200" cy="365125"/>
          </a:xfrm>
        </p:spPr>
        <p:txBody>
          <a:bodyPr/>
          <a:lstStyle/>
          <a:p>
            <a:fld id="{13AA5AFB-3DB8-4027-B52D-734998A0992B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19104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419104"/>
            <a:ext cx="2743200" cy="365125"/>
          </a:xfrm>
        </p:spPr>
        <p:txBody>
          <a:bodyPr/>
          <a:lstStyle/>
          <a:p>
            <a:fld id="{0ADF1833-A34E-4F9E-BAD6-32BBAEE16E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578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2" y="1129554"/>
            <a:ext cx="3933825" cy="92784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1129554"/>
            <a:ext cx="6172200" cy="4873625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32212"/>
            <a:ext cx="3932237" cy="4022259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429284"/>
            <a:ext cx="2743200" cy="365125"/>
          </a:xfrm>
        </p:spPr>
        <p:txBody>
          <a:bodyPr/>
          <a:lstStyle/>
          <a:p>
            <a:fld id="{13AA5AFB-3DB8-4027-B52D-734998A0992B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56529" y="6429284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5546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2" y="1084730"/>
            <a:ext cx="3933825" cy="972671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360895" y="1308848"/>
            <a:ext cx="5994495" cy="4552203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371166"/>
            <a:ext cx="3932237" cy="3811588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437032"/>
            <a:ext cx="2743200" cy="365125"/>
          </a:xfrm>
        </p:spPr>
        <p:txBody>
          <a:bodyPr/>
          <a:lstStyle/>
          <a:p>
            <a:fld id="{13AA5AFB-3DB8-4027-B52D-734998A0992B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56531" y="6437034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43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AA5AFB-3DB8-4027-B52D-734998A0992B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DF1833-A34E-4F9E-BAD6-32BBAEE16E17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929"/>
            <a:ext cx="12196133" cy="6875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989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otzone.org.cn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iki.botzone.org.cn/index.php?title=Chinese-Standard-Mahjong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media.icml.cc/Conferences/ICML2022/Styles/icml2022.zip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734A8D13-3CB4-E171-9A70-FEE3109A633F}"/>
              </a:ext>
            </a:extLst>
          </p:cNvPr>
          <p:cNvSpPr txBox="1">
            <a:spLocks/>
          </p:cNvSpPr>
          <p:nvPr/>
        </p:nvSpPr>
        <p:spPr>
          <a:xfrm>
            <a:off x="1524000" y="2059568"/>
            <a:ext cx="9144000" cy="184867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ctr" defTabSz="12191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5400" dirty="0">
                <a:latin typeface="黑体" panose="02010609060101010101" pitchFamily="49" charset="-122"/>
                <a:ea typeface="黑体" panose="02010609060101010101" pitchFamily="49" charset="-122"/>
              </a:rPr>
              <a:t>2025</a:t>
            </a:r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</a:rPr>
              <a:t>秋季强化学习课程大作业</a:t>
            </a:r>
            <a:br>
              <a:rPr lang="en-US" altLang="zh-CN" sz="5400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4400" dirty="0">
                <a:latin typeface="黑体" panose="02010609060101010101" pitchFamily="49" charset="-122"/>
                <a:ea typeface="黑体" panose="02010609060101010101" pitchFamily="49" charset="-122"/>
              </a:rPr>
              <a:t>传统棋牌游戏决策方案设计（国标麻将）</a:t>
            </a:r>
            <a:endParaRPr lang="zh-CN" altLang="en-US" sz="5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副标题 2">
            <a:extLst>
              <a:ext uri="{FF2B5EF4-FFF2-40B4-BE49-F238E27FC236}">
                <a16:creationId xmlns:a16="http://schemas.microsoft.com/office/drawing/2014/main" id="{60E74765-6738-2B5D-D29B-E6694981B075}"/>
              </a:ext>
            </a:extLst>
          </p:cNvPr>
          <p:cNvSpPr txBox="1">
            <a:spLocks/>
          </p:cNvSpPr>
          <p:nvPr/>
        </p:nvSpPr>
        <p:spPr>
          <a:xfrm>
            <a:off x="1524000" y="4354586"/>
            <a:ext cx="9144000" cy="1034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1219170" rtl="0" eaLnBrk="1" latinLnBrk="0" hangingPunct="1">
              <a:lnSpc>
                <a:spcPct val="90000"/>
              </a:lnSpc>
              <a:spcBef>
                <a:spcPts val="1333"/>
              </a:spcBef>
              <a:buFont typeface="Arial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None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0" algn="ctr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0" algn="ctr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None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0" algn="ctr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None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indent="0" algn="ctr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None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indent="0" algn="ctr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None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indent="0" algn="ctr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None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indent="0" algn="ctr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None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2025.11.13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1305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45D635-48E7-D5CC-39EB-499D507A3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国标麻将决策方案设计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F144E-BD11-5240-BE2C-7E319A628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实验环境</a:t>
            </a:r>
            <a:endParaRPr lang="en-US" altLang="zh-CN" dirty="0"/>
          </a:p>
          <a:p>
            <a:r>
              <a:rPr lang="zh-CN" altLang="en-US" dirty="0"/>
              <a:t>作业要求</a:t>
            </a:r>
            <a:endParaRPr lang="en-US" altLang="zh-CN" dirty="0"/>
          </a:p>
          <a:p>
            <a:r>
              <a:rPr lang="zh-CN" altLang="en-US" dirty="0"/>
              <a:t>提交说明</a:t>
            </a:r>
            <a:endParaRPr lang="en-US" altLang="zh-CN" dirty="0"/>
          </a:p>
          <a:p>
            <a:r>
              <a:rPr lang="zh-CN" altLang="en-US" dirty="0"/>
              <a:t>评分说明</a:t>
            </a:r>
          </a:p>
        </p:txBody>
      </p:sp>
    </p:spTree>
    <p:extLst>
      <p:ext uri="{BB962C8B-B14F-4D97-AF65-F5344CB8AC3E}">
        <p14:creationId xmlns:p14="http://schemas.microsoft.com/office/powerpoint/2010/main" val="1820946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721DB7-8439-BFB9-DE61-5E9FD7B84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8517"/>
            <a:ext cx="10515600" cy="1046224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实验环境</a:t>
            </a:r>
            <a:b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2700" dirty="0">
                <a:latin typeface="黑体" panose="02010609060101010101" pitchFamily="49" charset="-122"/>
                <a:ea typeface="黑体" panose="02010609060101010101" pitchFamily="49" charset="-122"/>
              </a:rPr>
              <a:t>Chinese-Standard-Mahjong </a:t>
            </a:r>
            <a:r>
              <a:rPr lang="zh-CN" altLang="en-US" sz="2700" dirty="0">
                <a:latin typeface="黑体" panose="02010609060101010101" pitchFamily="49" charset="-122"/>
                <a:ea typeface="黑体" panose="02010609060101010101" pitchFamily="49" charset="-122"/>
              </a:rPr>
              <a:t>国标麻将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159ED2AC-EAA7-D9F2-7E89-C98F79BFF1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0246" y="2184741"/>
            <a:ext cx="5524856" cy="417999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C058A706-F28B-952E-8C5E-351A7AB551D1}"/>
              </a:ext>
            </a:extLst>
          </p:cNvPr>
          <p:cNvSpPr/>
          <p:nvPr/>
        </p:nvSpPr>
        <p:spPr>
          <a:xfrm>
            <a:off x="6651519" y="2184741"/>
            <a:ext cx="5014751" cy="4304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3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Botzone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国标麻将支持人类、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对战及对局可视化，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可以上传模型及算法进行在线对战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在线平台：</a:t>
            </a:r>
            <a:r>
              <a:rPr lang="en-US" altLang="zh-CN" sz="13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https://botzone.org.cn</a:t>
            </a:r>
            <a:r>
              <a:rPr lang="en-US" altLang="zh-CN" sz="13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</a:p>
          <a:p>
            <a:pPr>
              <a:lnSpc>
                <a:spcPct val="150000"/>
              </a:lnSpc>
            </a:pPr>
            <a:r>
              <a:rPr lang="zh-CN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了解国标麻将游戏规则和Botzone国标麻将交互方式: </a:t>
            </a:r>
            <a:r>
              <a:rPr lang="zh-CN" altLang="zh-CN" sz="1400" dirty="0">
                <a:solidFill>
                  <a:srgbClr val="4183C4"/>
                </a:solidFill>
                <a:latin typeface="Open Sans" panose="020B0606030504020204" pitchFamily="34" charset="0"/>
                <a:cs typeface="Open Sans" panose="020B0606030504020204" pitchFamily="34" charset="0"/>
                <a:hlinkClick r:id="rId4"/>
              </a:rPr>
              <a:t>Chinese-Standard-Mahjong - Botzone Wiki</a:t>
            </a:r>
            <a:endParaRPr lang="zh-CN" altLang="en-US" sz="1400" dirty="0">
              <a:solidFill>
                <a:srgbClr val="4183C4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具体规则规则见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麻将竞赛规则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（届时会发在群里）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提供一个国标麻将强化学习的交互环境和训练框架，支持出牌阶段策略的训练。环境内已实现一个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PPO 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算法和一个包含三层卷积的策略网络。</a:t>
            </a:r>
            <a:r>
              <a:rPr lang="zh-CN" altLang="en-US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内置算法只是样例实现，仅供参考。 </a:t>
            </a:r>
            <a:endParaRPr lang="en-US" altLang="zh-CN" sz="13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本次作业使用</a:t>
            </a:r>
            <a:r>
              <a:rPr lang="en-US" altLang="zh-CN" sz="13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Botzone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平台上的 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Chinese-Standard-Mahjong (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国标麻将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复式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作为国标麻将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的评测环境。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BA99D7D5-18BF-4EB0-09C6-A0FEC4300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12866"/>
            <a:ext cx="65" cy="625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2696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9916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AFAE5-0031-489B-71F3-B5EC6DB17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7A6637-299C-5C82-09C7-AF8937480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作业要求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62B07F-6EF7-4D69-7A07-04CA9E25D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90"/>
            <a:ext cx="10515600" cy="4476908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4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在本次作业中，需要大家完成的工作包括：</a:t>
            </a:r>
            <a:endParaRPr lang="en-US" altLang="zh-CN" sz="4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征处理。给定的训练框架中采用最基本的游戏信息来训练策略网络，在训练过程中引入新的特征（例如，其他玩家的手牌等实际对局中可能不可见的特征，训练阶段使用完全信息，但对战阶段仍是不完美信息），或利用人类经验显式地发掘一些潜在特征（例如结合对手决策和规则判断出其他玩家局部的手牌信息</a:t>
            </a:r>
            <a:r>
              <a:rPr lang="en-US" altLang="zh-CN" sz="2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可能对提升智能体决策水平有帮助。同学们可以使用给定的特征输入，也可以自行探索和设计一些特征及特征结构来提高 </a:t>
            </a:r>
            <a:r>
              <a:rPr lang="en-US" altLang="zh-CN" sz="2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2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的表现。除了输入输出特征外，奖励函数也是一个可优化的重点。 </a:t>
            </a:r>
            <a:endParaRPr lang="en-US" altLang="zh-CN" sz="2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算法设计。提供的代码中实现了一个 </a:t>
            </a:r>
            <a:r>
              <a:rPr lang="en-US" altLang="zh-CN" sz="2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PPO </a:t>
            </a:r>
            <a:r>
              <a:rPr lang="zh-CN" altLang="en-US" sz="2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算法，同学们可以使用给定的算法，也可以自主尝试其他的强化学习算法。在时间有余裕的情况下，建议大家多尝试几种算法，比较不同算法在训练和决策时的性能，并写进报告中。 </a:t>
            </a:r>
            <a:endParaRPr lang="en-US" altLang="zh-CN" sz="2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模型探索。代码包中的模型使用卷积网络，结构较为简单。同学们可以使用原有的模型，也可以尝试不同的模型结构并比较不同模型的表现，选择最优的模型进行决策或在决策时参考多个模型输出的行动。 由于 </a:t>
            </a:r>
            <a:r>
              <a:rPr lang="en-US" altLang="zh-CN" sz="29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Botzone</a:t>
            </a:r>
            <a:r>
              <a:rPr lang="en-US" altLang="zh-CN" sz="2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用户空间有限，请注意控制模型的参数量。</a:t>
            </a:r>
            <a:endParaRPr lang="en-US" altLang="zh-CN" sz="2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参数调优。在训练过程中，可以对各种参数进行调整来最大化训练效率，节省训练时间和提升模型性 能。我们鼓励同学们积极探索合适的训练参数，并把探索的过程和结果写入报告中。 策略创新。同学们可以在强化学习的基础上融合其他的基于规则、搜索或学习的方法来提升 </a:t>
            </a:r>
            <a:r>
              <a:rPr lang="en-US" altLang="zh-CN" sz="2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bot </a:t>
            </a:r>
            <a:r>
              <a:rPr lang="zh-CN" altLang="en-US" sz="2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的表现，也可以提出自己的新想法。</a:t>
            </a:r>
          </a:p>
        </p:txBody>
      </p:sp>
    </p:spTree>
    <p:extLst>
      <p:ext uri="{BB962C8B-B14F-4D97-AF65-F5344CB8AC3E}">
        <p14:creationId xmlns:p14="http://schemas.microsoft.com/office/powerpoint/2010/main" val="3546582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0A698-497E-601D-4C87-16001ECA2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23674C-15ED-F620-7F79-DB7997165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提交说明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65EE1B14-533A-3D13-66E4-C1F9BE74FBC3}"/>
              </a:ext>
            </a:extLst>
          </p:cNvPr>
          <p:cNvSpPr txBox="1">
            <a:spLocks/>
          </p:cNvSpPr>
          <p:nvPr/>
        </p:nvSpPr>
        <p:spPr>
          <a:xfrm>
            <a:off x="409574" y="1734378"/>
            <a:ext cx="11641621" cy="47371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Font typeface="Arial"/>
              <a:buChar char="•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组队形式：可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1 -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人一组</a:t>
            </a:r>
            <a:r>
              <a:rPr kumimoji="1"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（若</a:t>
            </a:r>
            <a:r>
              <a:rPr kumimoji="1"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&gt;1</a:t>
            </a:r>
            <a:r>
              <a:rPr kumimoji="1"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人组队需说明每人具体贡献）</a:t>
            </a:r>
            <a:endParaRPr kumimoji="1" lang="en-US" altLang="zh-CN" sz="1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最终提交内容需将以下几部分压缩打包命名为“学号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姓名”（多人组队需列出所有队员学号姓名）</a:t>
            </a: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kumimoji="1"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Botzone</a:t>
            </a:r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智能体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kumimoji="1"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Botzone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提交国标麻将游戏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bot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并参加对战评测。所有队伍的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bot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参与</a:t>
            </a:r>
            <a:r>
              <a:rPr kumimoji="1"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Botzone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评测小组的积分赛，按照最终排名给分。积分赛每一局调用两支队伍提交的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bot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，每个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bot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控制同一方的两个玩家（两个玩家在信息上是独立的）。积分赛的对局为单轮模式，不考虑升级。最终的积分赛前，会组织多次练习赛供大家了解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bot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的水平，练习赛成绩不计入总成绩。</a:t>
            </a: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研究性报告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pdf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形式，中英文皆可，正文（包括图、文等）页数建议不少于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页，不超过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kumimoji="1"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页。内容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包括但不限于算法细节、优化和创新点、开放式问题研究方案、有趣的现象和启发等，必要时可配图说明，同时注意参考文献的引用。格式自定，推荐采用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Latex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编写，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ICML2022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  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https://media.icml.cc/Conferences/ICML2022/Styles/icml2022.zip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完整代码和模型，</a:t>
            </a:r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kumimoji="1"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Python3.8+</a:t>
            </a:r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Pytorch1.4+</a:t>
            </a:r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编写，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说明具体安装流程和脚本执行方法，并保证可在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ubuntu18+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上运行成功，训练好的策略网络模型需保存为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.pt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文件一并提交。若工作涉及环境建模和采样训练框架，需要提交对应的环境和训练代码。</a:t>
            </a: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课堂展示：随堂进行各小组演讲展示，展示时间待定。</a:t>
            </a: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评分角度：综合考虑智能体决策水平、决策算法的创新点、代码性能、写作、演讲和展示。</a:t>
            </a: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11699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39D49-DFE4-E0A8-D6C0-F127296E9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19D8EC-F35B-49A6-2BF1-4ABB7FB1E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评分说明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9792AAA5-4A8D-6B36-8973-0372FA622454}"/>
              </a:ext>
            </a:extLst>
          </p:cNvPr>
          <p:cNvSpPr txBox="1">
            <a:spLocks/>
          </p:cNvSpPr>
          <p:nvPr/>
        </p:nvSpPr>
        <p:spPr>
          <a:xfrm>
            <a:off x="838200" y="1913284"/>
            <a:ext cx="9288739" cy="40203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Font typeface="Arial"/>
              <a:buChar char="•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评分原则：</a:t>
            </a:r>
            <a:endParaRPr kumimoji="1"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09585" lvl="1" indent="0">
              <a:lnSpc>
                <a:spcPct val="150000"/>
              </a:lnSpc>
              <a:buNone/>
            </a:pP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一、各组提交的智能体能够正常运行且评测得分超过基线</a:t>
            </a:r>
            <a:r>
              <a:rPr kumimoji="1"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Bot</a:t>
            </a: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，代码完整提交、过程符合学术诚信标准可获基础分。</a:t>
            </a:r>
          </a:p>
          <a:p>
            <a:pPr marL="609585" lvl="1" indent="0">
              <a:lnSpc>
                <a:spcPct val="150000"/>
              </a:lnSpc>
              <a:buNone/>
            </a:pPr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二、鼓励锻炼学术和创新性探索，在模型性能的基础上，有方法或理论创新的可获得额外加分。</a:t>
            </a:r>
            <a:endParaRPr kumimoji="1"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评分细则：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Bot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性能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70%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，实验报告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30%</a:t>
            </a:r>
          </a:p>
          <a:p>
            <a:pPr marL="0" indent="0">
              <a:lnSpc>
                <a:spcPct val="150000"/>
              </a:lnSpc>
              <a:buNone/>
            </a:pPr>
            <a:endParaRPr kumimoji="1"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4101703"/>
      </p:ext>
    </p:extLst>
  </p:cSld>
  <p:clrMapOvr>
    <a:masterClrMapping/>
  </p:clrMapOvr>
</p:sld>
</file>

<file path=ppt/theme/theme1.xml><?xml version="1.0" encoding="utf-8"?>
<a:theme xmlns:a="http://schemas.openxmlformats.org/drawingml/2006/main" name="实验室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实验室" id="{58E4617E-ED80-4670-AB37-167CB830D7F6}" vid="{B102D6D9-EC6A-43AB-9D54-71FF832CC0E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实验室</Template>
  <TotalTime>582</TotalTime>
  <Words>999</Words>
  <Application>Microsoft Office PowerPoint</Application>
  <PresentationFormat>宽屏</PresentationFormat>
  <Paragraphs>36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黑体</vt:lpstr>
      <vt:lpstr>微软雅黑</vt:lpstr>
      <vt:lpstr>Arial</vt:lpstr>
      <vt:lpstr>Calibri</vt:lpstr>
      <vt:lpstr>Calibri Light</vt:lpstr>
      <vt:lpstr>Open Sans</vt:lpstr>
      <vt:lpstr>实验室</vt:lpstr>
      <vt:lpstr>PowerPoint 演示文稿</vt:lpstr>
      <vt:lpstr>国标麻将决策方案设计</vt:lpstr>
      <vt:lpstr>实验环境 Chinese-Standard-Mahjong 国标麻将</vt:lpstr>
      <vt:lpstr>作业要求</vt:lpstr>
      <vt:lpstr>提交说明</vt:lpstr>
      <vt:lpstr>评分说明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国标麻将强化学习</dc:title>
  <dc:creator>鲁 云龙</dc:creator>
  <cp:lastModifiedBy>启睿 郑</cp:lastModifiedBy>
  <cp:revision>156</cp:revision>
  <dcterms:created xsi:type="dcterms:W3CDTF">2022-11-22T08:23:43Z</dcterms:created>
  <dcterms:modified xsi:type="dcterms:W3CDTF">2025-11-17T09:23:20Z</dcterms:modified>
</cp:coreProperties>
</file>