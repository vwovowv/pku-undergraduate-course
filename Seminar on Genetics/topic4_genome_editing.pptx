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4"/>
  </p:notesMasterIdLst>
  <p:sldIdLst>
    <p:sldId id="425" r:id="rId2"/>
    <p:sldId id="448" r:id="rId3"/>
    <p:sldId id="457" r:id="rId4"/>
    <p:sldId id="480" r:id="rId5"/>
    <p:sldId id="485" r:id="rId6"/>
    <p:sldId id="484" r:id="rId7"/>
    <p:sldId id="462" r:id="rId8"/>
    <p:sldId id="481" r:id="rId9"/>
    <p:sldId id="463" r:id="rId10"/>
    <p:sldId id="470" r:id="rId11"/>
    <p:sldId id="479" r:id="rId12"/>
    <p:sldId id="452" r:id="rId13"/>
    <p:sldId id="487" r:id="rId14"/>
    <p:sldId id="459" r:id="rId15"/>
    <p:sldId id="495" r:id="rId16"/>
    <p:sldId id="492" r:id="rId17"/>
    <p:sldId id="494" r:id="rId18"/>
    <p:sldId id="496" r:id="rId19"/>
    <p:sldId id="501" r:id="rId20"/>
    <p:sldId id="497" r:id="rId21"/>
    <p:sldId id="498" r:id="rId22"/>
    <p:sldId id="464" r:id="rId23"/>
    <p:sldId id="499" r:id="rId24"/>
    <p:sldId id="466" r:id="rId25"/>
    <p:sldId id="512" r:id="rId26"/>
    <p:sldId id="502" r:id="rId27"/>
    <p:sldId id="506" r:id="rId28"/>
    <p:sldId id="505" r:id="rId29"/>
    <p:sldId id="513" r:id="rId30"/>
    <p:sldId id="514" r:id="rId31"/>
    <p:sldId id="515" r:id="rId32"/>
    <p:sldId id="507" r:id="rId33"/>
    <p:sldId id="535" r:id="rId34"/>
    <p:sldId id="516" r:id="rId35"/>
    <p:sldId id="517" r:id="rId36"/>
    <p:sldId id="536" r:id="rId37"/>
    <p:sldId id="472" r:id="rId38"/>
    <p:sldId id="519" r:id="rId39"/>
    <p:sldId id="520" r:id="rId40"/>
    <p:sldId id="521" r:id="rId41"/>
    <p:sldId id="534" r:id="rId42"/>
    <p:sldId id="473" r:id="rId43"/>
    <p:sldId id="522" r:id="rId44"/>
    <p:sldId id="523" r:id="rId45"/>
    <p:sldId id="527" r:id="rId46"/>
    <p:sldId id="474" r:id="rId47"/>
    <p:sldId id="524" r:id="rId48"/>
    <p:sldId id="525" r:id="rId49"/>
    <p:sldId id="526" r:id="rId50"/>
    <p:sldId id="531" r:id="rId51"/>
    <p:sldId id="528" r:id="rId52"/>
    <p:sldId id="537" r:id="rId53"/>
    <p:sldId id="518" r:id="rId54"/>
    <p:sldId id="532" r:id="rId55"/>
    <p:sldId id="508" r:id="rId56"/>
    <p:sldId id="277" r:id="rId57"/>
    <p:sldId id="467" r:id="rId58"/>
    <p:sldId id="540" r:id="rId59"/>
    <p:sldId id="541" r:id="rId60"/>
    <p:sldId id="543" r:id="rId61"/>
    <p:sldId id="544" r:id="rId62"/>
    <p:sldId id="545" r:id="rId6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E47"/>
    <a:srgbClr val="FF7E79"/>
    <a:srgbClr val="715FE0"/>
    <a:srgbClr val="A500A5"/>
    <a:srgbClr val="99FFCC"/>
    <a:srgbClr val="032F62"/>
    <a:srgbClr val="D83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/>
    <p:restoredTop sz="81259"/>
  </p:normalViewPr>
  <p:slideViewPr>
    <p:cSldViewPr snapToGrid="0" snapToObjects="1">
      <p:cViewPr varScale="1">
        <p:scale>
          <a:sx n="101" d="100"/>
          <a:sy n="101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2025/6/6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主讲人信息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72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9705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3483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448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8507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0510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Makarova KS, Wolf YI,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Iranzo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Shmakov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Alkhnbashi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OS,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Brouns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SJJ, Charpentier E, Cheng D, Haft DH, Horvath 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Moineau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S, Mojica FJM, Scott D, Shah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Siksnys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V, Terns MP,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Venclovas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Č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, White MF, Yakunin AF, Yan W, Zhang F, Garrett RA,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Backofen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van der Oost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Barrangou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Koonin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EV. Evolutionary classification of CRISPR-Cas systems: a burst of class 2 and derived variants. Nat Rev Microbiol. 2020 Feb;18(2):67-83.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10.1038/s41579-019-0299-x.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Epub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2019 Dec 19. PMID: 31857715; PMCID: PMC8905525.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821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14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video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177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78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825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5058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7401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4279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0213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1193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857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Slaymaker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Rationally engineered Cas9 nucleases with improved specificity. Science. 2016 Jan 1;351(6268):84-8.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5788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Fu et al. Improving CRISPR-Cas nuclease specificity using truncated guide RNAs.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2014 Mar;32(3):279-284.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0981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8185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03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Klompe</a:t>
            </a:r>
            <a:r>
              <a:rPr lang="zh-CN" alt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altLang="zh-CN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Transposon-encoded CRISPR-Cas systems direct RNA-guided DNA integration. Nature. 2019 Jul;571(7764):219-225.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53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0257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Lampe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Targeted DNA integration in human cells without double-strand breaks using CRISPR-associated transposases.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2024 Jan;42(1):87-98.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9347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4267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9408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691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0941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8651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5327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464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qw4DihmoQY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64887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Genome Editing: Past, Present and 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79968-1EC6-8E4D-9322-3A0545372D51}"/>
              </a:ext>
            </a:extLst>
          </p:cNvPr>
          <p:cNvSpPr txBox="1"/>
          <p:nvPr/>
        </p:nvSpPr>
        <p:spPr>
          <a:xfrm>
            <a:off x="5448899" y="3898900"/>
            <a:ext cx="1294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Peiyu Liu</a:t>
            </a:r>
            <a:endParaRPr kumimoji="1" lang="zh-CN" altLang="en-US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Outline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6B7C4-301B-EC44-9432-0558C55E4E1B}"/>
              </a:ext>
            </a:extLst>
          </p:cNvPr>
          <p:cNvSpPr txBox="1"/>
          <p:nvPr/>
        </p:nvSpPr>
        <p:spPr>
          <a:xfrm>
            <a:off x="325821" y="1048925"/>
            <a:ext cx="5197877" cy="6097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ZFN&amp;TALEN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Mechanism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CRISPR-Cas-derived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Base editors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Transposases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Prime editors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Summary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53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3825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065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7130608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Goals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 </a:t>
            </a:r>
            <a:r>
              <a:rPr kumimoji="1" lang="en-CN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precision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all sites edited are targeted sites</a:t>
            </a:r>
            <a:endParaRPr kumimoji="1" lang="en-CN" altLang="zh-CN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High </a:t>
            </a:r>
            <a:r>
              <a:rPr kumimoji="1" lang="en-CN" altLang="zh-CN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recall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 targeted sites are edited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Simple, versatile and cheap to apply</a:t>
            </a:r>
            <a:endParaRPr kumimoji="1" lang="en-CN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Zinc-finger nucleases (</a:t>
            </a:r>
            <a:r>
              <a:rPr kumimoji="1" lang="en-CN" altLang="zh-CN" dirty="0"/>
              <a:t>ZFN)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Transcription activator-like effector nucleases (TALENs)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CRISPR-Cas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Possible outcomes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NHEJ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HDR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Other non-DSB-induced outcomes (e.g., base editing)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A025E-B79A-A047-8938-087FB20F7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231177"/>
            <a:ext cx="5482730" cy="353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D1F86-35E4-9940-8ACE-71E6E87BFB7E}"/>
              </a:ext>
            </a:extLst>
          </p:cNvPr>
          <p:cNvSpPr txBox="1"/>
          <p:nvPr/>
        </p:nvSpPr>
        <p:spPr>
          <a:xfrm>
            <a:off x="6667500" y="4805636"/>
            <a:ext cx="49358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DSB-induced genome-editing outcomes.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Indels and inversion introduced by NHEJ in the absence of a homologous donor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template DNA.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Recombination introduced by HDR 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 presence of the donor DNA.</a:t>
            </a:r>
          </a:p>
          <a:p>
            <a:r>
              <a:rPr kumimoji="1" lang="en-US" altLang="zh-CN" sz="1400" dirty="0"/>
              <a:t>Lightnings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represent DSB sites.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74484-218F-7B4E-9D58-C3DE5989BF41}"/>
              </a:ext>
            </a:extLst>
          </p:cNvPr>
          <p:cNvSpPr txBox="1"/>
          <p:nvPr/>
        </p:nvSpPr>
        <p:spPr>
          <a:xfrm>
            <a:off x="6767654" y="6180696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8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3281B-F852-9C49-8837-E02F9D79CE29}"/>
              </a:ext>
            </a:extLst>
          </p:cNvPr>
          <p:cNvSpPr txBox="1"/>
          <p:nvPr/>
        </p:nvSpPr>
        <p:spPr>
          <a:xfrm>
            <a:off x="325821" y="464150"/>
            <a:ext cx="4678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Workflow</a:t>
            </a:r>
          </a:p>
        </p:txBody>
      </p:sp>
      <p:pic>
        <p:nvPicPr>
          <p:cNvPr id="1028" name="Picture 4" descr="Fig. 2">
            <a:extLst>
              <a:ext uri="{FF2B5EF4-FFF2-40B4-BE49-F238E27FC236}">
                <a16:creationId xmlns:a16="http://schemas.microsoft.com/office/drawing/2014/main" id="{D3244E41-0891-6C43-B0E7-5F8A6C13B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71" t="52867" r="48958" b="41423"/>
          <a:stretch/>
        </p:blipFill>
        <p:spPr bwMode="auto">
          <a:xfrm>
            <a:off x="406102" y="2417780"/>
            <a:ext cx="14351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54AF4C-8278-184A-915F-DFD79DAA179E}"/>
              </a:ext>
            </a:extLst>
          </p:cNvPr>
          <p:cNvSpPr txBox="1"/>
          <p:nvPr/>
        </p:nvSpPr>
        <p:spPr>
          <a:xfrm>
            <a:off x="146205" y="2798780"/>
            <a:ext cx="18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target sequencing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975CC0-C486-0147-ABDD-FA9EB6D2B277}"/>
              </a:ext>
            </a:extLst>
          </p:cNvPr>
          <p:cNvCxnSpPr>
            <a:cxnSpLocks/>
          </p:cNvCxnSpPr>
          <p:nvPr/>
        </p:nvCxnSpPr>
        <p:spPr>
          <a:xfrm>
            <a:off x="2138331" y="257018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260C00-7286-0B4F-836C-47C5C94B5E25}"/>
              </a:ext>
            </a:extLst>
          </p:cNvPr>
          <p:cNvSpPr txBox="1"/>
          <p:nvPr/>
        </p:nvSpPr>
        <p:spPr>
          <a:xfrm>
            <a:off x="2718733" y="2991530"/>
            <a:ext cx="200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editor design</a:t>
            </a:r>
          </a:p>
          <a:p>
            <a:pPr algn="ctr"/>
            <a:r>
              <a:rPr kumimoji="1" lang="en-US" altLang="zh-CN" dirty="0"/>
              <a:t>vector construction</a:t>
            </a:r>
            <a:endParaRPr kumimoji="1" lang="zh-CN" alt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8D5854-FEA7-FA4C-B586-CA8767F970FA}"/>
              </a:ext>
            </a:extLst>
          </p:cNvPr>
          <p:cNvCxnSpPr>
            <a:cxnSpLocks/>
          </p:cNvCxnSpPr>
          <p:nvPr/>
        </p:nvCxnSpPr>
        <p:spPr>
          <a:xfrm>
            <a:off x="4714250" y="25320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206DAB-768F-F94B-B211-8F3420D8A684}"/>
              </a:ext>
            </a:extLst>
          </p:cNvPr>
          <p:cNvSpPr txBox="1"/>
          <p:nvPr/>
        </p:nvSpPr>
        <p:spPr>
          <a:xfrm>
            <a:off x="8984807" y="3134816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screen</a:t>
            </a:r>
            <a:endParaRPr kumimoji="1" lang="zh-CN" alt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52C6A6-4C24-BA46-88B5-07E4E8EBB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52" y="1418294"/>
            <a:ext cx="1659378" cy="15822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E620AD9-1133-CA4E-B616-828419B64335}"/>
              </a:ext>
            </a:extLst>
          </p:cNvPr>
          <p:cNvSpPr txBox="1"/>
          <p:nvPr/>
        </p:nvSpPr>
        <p:spPr>
          <a:xfrm>
            <a:off x="6177143" y="3130029"/>
            <a:ext cx="93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delivery</a:t>
            </a:r>
            <a:endParaRPr kumimoji="1" lang="zh-CN" alt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42D92C-0854-AD4F-866D-EEC0927FE437}"/>
              </a:ext>
            </a:extLst>
          </p:cNvPr>
          <p:cNvCxnSpPr>
            <a:cxnSpLocks/>
          </p:cNvCxnSpPr>
          <p:nvPr/>
        </p:nvCxnSpPr>
        <p:spPr>
          <a:xfrm>
            <a:off x="7816302" y="25193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1F34EB6-A931-114F-93C6-AEECD8777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272" y="1606415"/>
            <a:ext cx="2006318" cy="138511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AE97190-79C9-F84A-A753-CF17C3F41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086" y="2011393"/>
            <a:ext cx="1391457" cy="800087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E444265-B724-4749-AA1D-E8F44F35226E}"/>
              </a:ext>
            </a:extLst>
          </p:cNvPr>
          <p:cNvCxnSpPr>
            <a:cxnSpLocks/>
          </p:cNvCxnSpPr>
          <p:nvPr/>
        </p:nvCxnSpPr>
        <p:spPr>
          <a:xfrm>
            <a:off x="10081543" y="25066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9813FEC-3D8E-A447-8E70-F350C71CF872}"/>
              </a:ext>
            </a:extLst>
          </p:cNvPr>
          <p:cNvSpPr txBox="1"/>
          <p:nvPr/>
        </p:nvSpPr>
        <p:spPr>
          <a:xfrm>
            <a:off x="10952307" y="2011393"/>
            <a:ext cx="1239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research, treatment,</a:t>
            </a:r>
          </a:p>
          <a:p>
            <a:r>
              <a:rPr kumimoji="1" lang="en-US" altLang="zh-CN" dirty="0"/>
              <a:t>etc.</a:t>
            </a:r>
            <a:endParaRPr kumimoji="1" lang="zh-CN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F13188-1CA6-264C-9B85-5BB361996110}"/>
              </a:ext>
            </a:extLst>
          </p:cNvPr>
          <p:cNvSpPr txBox="1"/>
          <p:nvPr/>
        </p:nvSpPr>
        <p:spPr>
          <a:xfrm>
            <a:off x="277586" y="3954483"/>
            <a:ext cx="6457793" cy="258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In practice, many conditions need to be considered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Cell line or animal model?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i="1" dirty="0"/>
              <a:t>In vivo</a:t>
            </a:r>
            <a:r>
              <a:rPr kumimoji="1" lang="en-US" altLang="zh-CN" dirty="0"/>
              <a:t> or </a:t>
            </a:r>
            <a:r>
              <a:rPr kumimoji="1" lang="en-US" altLang="zh-CN" i="1" dirty="0"/>
              <a:t>in vitro</a:t>
            </a:r>
            <a:r>
              <a:rPr kumimoji="1" lang="en-US" altLang="zh-CN" dirty="0"/>
              <a:t>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Unconditional or conditional?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Detailed protocols depend on purposes of genome editing.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157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1" grpId="0"/>
      <p:bldP spid="30" grpId="0"/>
      <p:bldP spid="48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4447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1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Zinc Finger Nucleases (</a:t>
            </a:r>
            <a:r>
              <a:rPr kumimoji="1" lang="en-CN" altLang="zh-CN" sz="3200" dirty="0"/>
              <a:t>ZFN)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2" name="Freeform 11">
            <a:extLst>
              <a:ext uri="{FF2B5EF4-FFF2-40B4-BE49-F238E27FC236}">
                <a16:creationId xmlns:a16="http://schemas.microsoft.com/office/drawing/2014/main" id="{A885EF36-6A6F-E04E-9AF2-49C11CC69B15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4E56E-D273-0840-AFB3-836B8AAB44F8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</a:t>
            </a:r>
            <a:r>
              <a:rPr kumimoji="1" lang="en-US" altLang="zh-CN" b="1" dirty="0"/>
              <a:t>dimer</a:t>
            </a:r>
            <a:endParaRPr kumimoji="1" lang="zh-CN" altLang="en-US" b="1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E73CA72-D9B2-3043-A53F-9B0A5A9E8A46}"/>
              </a:ext>
            </a:extLst>
          </p:cNvPr>
          <p:cNvSpPr/>
          <p:nvPr/>
        </p:nvSpPr>
        <p:spPr>
          <a:xfrm>
            <a:off x="586136" y="2264182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0BC63-10A7-864E-B589-1131B716F4EC}"/>
              </a:ext>
            </a:extLst>
          </p:cNvPr>
          <p:cNvSpPr txBox="1"/>
          <p:nvPr/>
        </p:nvSpPr>
        <p:spPr>
          <a:xfrm>
            <a:off x="915825" y="2203638"/>
            <a:ext cx="73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</a:t>
            </a:r>
            <a:r>
              <a:rPr kumimoji="1" lang="en-US" altLang="zh-CN" dirty="0"/>
              <a:t>, one zinc finger domain of zinc finger proteins</a:t>
            </a:r>
            <a:endParaRPr kumimoji="1" lang="zh-CN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44F431-8431-BC42-B7E3-03CE1CA1BB86}"/>
              </a:ext>
            </a:extLst>
          </p:cNvPr>
          <p:cNvCxnSpPr>
            <a:cxnSpLocks/>
          </p:cNvCxnSpPr>
          <p:nvPr/>
        </p:nvCxnSpPr>
        <p:spPr>
          <a:xfrm flipH="1">
            <a:off x="416717" y="2549220"/>
            <a:ext cx="226405" cy="5623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70144C-85B4-094E-8AAA-1EE6BD8DDA58}"/>
              </a:ext>
            </a:extLst>
          </p:cNvPr>
          <p:cNvGrpSpPr/>
          <p:nvPr/>
        </p:nvGrpSpPr>
        <p:grpSpPr>
          <a:xfrm>
            <a:off x="516731" y="2784991"/>
            <a:ext cx="1503009" cy="1412125"/>
            <a:chOff x="525816" y="3281058"/>
            <a:chExt cx="986512" cy="1070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C8CBB2-8CAC-4A4A-B0C5-3DE91320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136" y="3281058"/>
              <a:ext cx="926192" cy="107091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9CD4E0-E94D-8843-8058-FA3140F425DC}"/>
                </a:ext>
              </a:extLst>
            </p:cNvPr>
            <p:cNvSpPr/>
            <p:nvPr/>
          </p:nvSpPr>
          <p:spPr>
            <a:xfrm rot="2350952">
              <a:off x="525816" y="3906252"/>
              <a:ext cx="849002" cy="285750"/>
            </a:xfrm>
            <a:prstGeom prst="rect">
              <a:avLst/>
            </a:prstGeom>
            <a:solidFill>
              <a:schemeClr val="accent1">
                <a:alpha val="401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77C112-5A3E-B641-BF9C-8E985EA41C4E}"/>
              </a:ext>
            </a:extLst>
          </p:cNvPr>
          <p:cNvCxnSpPr>
            <a:cxnSpLocks/>
          </p:cNvCxnSpPr>
          <p:nvPr/>
        </p:nvCxnSpPr>
        <p:spPr>
          <a:xfrm>
            <a:off x="902554" y="2501959"/>
            <a:ext cx="2151810" cy="2965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B7170F-56CE-0B4A-9B97-BBF955E768A6}"/>
              </a:ext>
            </a:extLst>
          </p:cNvPr>
          <p:cNvSpPr txBox="1"/>
          <p:nvPr/>
        </p:nvSpPr>
        <p:spPr>
          <a:xfrm>
            <a:off x="325821" y="4284706"/>
            <a:ext cx="4102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30 residues, organized in </a:t>
            </a:r>
            <a:r>
              <a:rPr kumimoji="1" lang="el-GR" altLang="zh-CN" dirty="0" err="1"/>
              <a:t>ββα</a:t>
            </a:r>
            <a:r>
              <a:rPr kumimoji="1" lang="en-US" altLang="zh-CN" dirty="0"/>
              <a:t> motif</a:t>
            </a:r>
            <a:endParaRPr kumimoji="1"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C7F18-D86E-1E47-9FAD-927763BCFD4A}"/>
              </a:ext>
            </a:extLst>
          </p:cNvPr>
          <p:cNvSpPr txBox="1"/>
          <p:nvPr/>
        </p:nvSpPr>
        <p:spPr>
          <a:xfrm>
            <a:off x="325819" y="4602727"/>
            <a:ext cx="5425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TGEKPYK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PE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GKSFS</a:t>
            </a:r>
            <a:r>
              <a:rPr kumimoji="1" lang="en-US" altLang="zh-CN" dirty="0">
                <a:solidFill>
                  <a:schemeClr val="accent1"/>
                </a:solidFill>
              </a:rPr>
              <a:t>XXXXXXX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  <a:r>
              <a:rPr kumimoji="1" lang="en-US" altLang="zh-CN" dirty="0"/>
              <a:t>QRT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</a:p>
          <a:p>
            <a:r>
              <a:rPr kumimoji="1" lang="en-US" altLang="zh-CN" dirty="0"/>
              <a:t>Cys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-His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 zinc finger</a:t>
            </a:r>
          </a:p>
          <a:p>
            <a:r>
              <a:rPr kumimoji="1" lang="en-US" altLang="zh-CN" dirty="0">
                <a:solidFill>
                  <a:schemeClr val="accent1"/>
                </a:solidFill>
              </a:rPr>
              <a:t>XXXXXXX (</a:t>
            </a:r>
            <a:r>
              <a:rPr kumimoji="1" lang="en-US" altLang="zh-CN" dirty="0">
                <a:solidFill>
                  <a:srgbClr val="FF0000"/>
                </a:solidFill>
              </a:rPr>
              <a:t>7 amino acids</a:t>
            </a:r>
            <a:r>
              <a:rPr kumimoji="1" lang="en-US" altLang="zh-CN" dirty="0">
                <a:solidFill>
                  <a:schemeClr val="accent1"/>
                </a:solidFill>
              </a:rPr>
              <a:t>)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3 bps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5EFA0B1-7E3B-454F-B841-CDCC286E576D}"/>
              </a:ext>
            </a:extLst>
          </p:cNvPr>
          <p:cNvCxnSpPr/>
          <p:nvPr/>
        </p:nvCxnSpPr>
        <p:spPr>
          <a:xfrm>
            <a:off x="5751752" y="3758003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F2D7F31-2E50-1144-B946-DB82C412AD14}"/>
              </a:ext>
            </a:extLst>
          </p:cNvPr>
          <p:cNvCxnSpPr/>
          <p:nvPr/>
        </p:nvCxnSpPr>
        <p:spPr>
          <a:xfrm>
            <a:off x="5751752" y="4073959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A280CCC-9842-4B4C-AC0B-5C1AD2CB9C68}"/>
              </a:ext>
            </a:extLst>
          </p:cNvPr>
          <p:cNvCxnSpPr>
            <a:cxnSpLocks/>
          </p:cNvCxnSpPr>
          <p:nvPr/>
        </p:nvCxnSpPr>
        <p:spPr>
          <a:xfrm>
            <a:off x="593833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B37102-FE96-A944-BB95-A91B74A2A52C}"/>
              </a:ext>
            </a:extLst>
          </p:cNvPr>
          <p:cNvCxnSpPr>
            <a:cxnSpLocks/>
          </p:cNvCxnSpPr>
          <p:nvPr/>
        </p:nvCxnSpPr>
        <p:spPr>
          <a:xfrm>
            <a:off x="60831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822E18-2AEA-A347-B860-8699FBFA9F76}"/>
              </a:ext>
            </a:extLst>
          </p:cNvPr>
          <p:cNvCxnSpPr>
            <a:cxnSpLocks/>
          </p:cNvCxnSpPr>
          <p:nvPr/>
        </p:nvCxnSpPr>
        <p:spPr>
          <a:xfrm>
            <a:off x="622027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098547-247A-AA41-9976-CDBF40F9A835}"/>
              </a:ext>
            </a:extLst>
          </p:cNvPr>
          <p:cNvCxnSpPr>
            <a:cxnSpLocks/>
          </p:cNvCxnSpPr>
          <p:nvPr/>
        </p:nvCxnSpPr>
        <p:spPr>
          <a:xfrm>
            <a:off x="63498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18EFA67-7F0E-2B48-BA10-B55B9EA19066}"/>
              </a:ext>
            </a:extLst>
          </p:cNvPr>
          <p:cNvCxnSpPr>
            <a:cxnSpLocks/>
          </p:cNvCxnSpPr>
          <p:nvPr/>
        </p:nvCxnSpPr>
        <p:spPr>
          <a:xfrm>
            <a:off x="647935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2D7C89D-889B-3F43-9141-D8258E80E620}"/>
              </a:ext>
            </a:extLst>
          </p:cNvPr>
          <p:cNvCxnSpPr>
            <a:cxnSpLocks/>
          </p:cNvCxnSpPr>
          <p:nvPr/>
        </p:nvCxnSpPr>
        <p:spPr>
          <a:xfrm>
            <a:off x="661721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A706F8C-6D3F-1E40-B699-910C22F557A1}"/>
              </a:ext>
            </a:extLst>
          </p:cNvPr>
          <p:cNvCxnSpPr>
            <a:cxnSpLocks/>
          </p:cNvCxnSpPr>
          <p:nvPr/>
        </p:nvCxnSpPr>
        <p:spPr>
          <a:xfrm>
            <a:off x="67619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9F8401F-B370-D442-BB1E-1CC3EE6EE25B}"/>
              </a:ext>
            </a:extLst>
          </p:cNvPr>
          <p:cNvCxnSpPr>
            <a:cxnSpLocks/>
          </p:cNvCxnSpPr>
          <p:nvPr/>
        </p:nvCxnSpPr>
        <p:spPr>
          <a:xfrm>
            <a:off x="689915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7107B9B-9A95-3E44-B6F1-A0307D6452DA}"/>
              </a:ext>
            </a:extLst>
          </p:cNvPr>
          <p:cNvCxnSpPr>
            <a:cxnSpLocks/>
          </p:cNvCxnSpPr>
          <p:nvPr/>
        </p:nvCxnSpPr>
        <p:spPr>
          <a:xfrm>
            <a:off x="70286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55DEBDD-F0FA-644B-B1FB-9007065D29AA}"/>
              </a:ext>
            </a:extLst>
          </p:cNvPr>
          <p:cNvCxnSpPr>
            <a:cxnSpLocks/>
          </p:cNvCxnSpPr>
          <p:nvPr/>
        </p:nvCxnSpPr>
        <p:spPr>
          <a:xfrm>
            <a:off x="715823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6637E05-7C12-354E-AE11-FDA48A4CC7E8}"/>
              </a:ext>
            </a:extLst>
          </p:cNvPr>
          <p:cNvCxnSpPr>
            <a:cxnSpLocks/>
          </p:cNvCxnSpPr>
          <p:nvPr/>
        </p:nvCxnSpPr>
        <p:spPr>
          <a:xfrm>
            <a:off x="729608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1DE3D4-F8D7-9F40-BABD-3EDBFBDBEA9E}"/>
              </a:ext>
            </a:extLst>
          </p:cNvPr>
          <p:cNvCxnSpPr>
            <a:cxnSpLocks/>
          </p:cNvCxnSpPr>
          <p:nvPr/>
        </p:nvCxnSpPr>
        <p:spPr>
          <a:xfrm>
            <a:off x="74408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030FAF1-D6DA-634A-B6D2-E6880E5DB0CE}"/>
              </a:ext>
            </a:extLst>
          </p:cNvPr>
          <p:cNvCxnSpPr>
            <a:cxnSpLocks/>
          </p:cNvCxnSpPr>
          <p:nvPr/>
        </p:nvCxnSpPr>
        <p:spPr>
          <a:xfrm>
            <a:off x="757802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CD73B3-1844-4343-B6A8-D0ECD7ED6F2D}"/>
              </a:ext>
            </a:extLst>
          </p:cNvPr>
          <p:cNvCxnSpPr>
            <a:cxnSpLocks/>
          </p:cNvCxnSpPr>
          <p:nvPr/>
        </p:nvCxnSpPr>
        <p:spPr>
          <a:xfrm>
            <a:off x="77075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8532BD-CA16-A049-9EE9-624883C0E707}"/>
              </a:ext>
            </a:extLst>
          </p:cNvPr>
          <p:cNvCxnSpPr>
            <a:cxnSpLocks/>
          </p:cNvCxnSpPr>
          <p:nvPr/>
        </p:nvCxnSpPr>
        <p:spPr>
          <a:xfrm>
            <a:off x="783710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88DFE8D-0A15-454E-A5BD-5D77CDCFDD0B}"/>
              </a:ext>
            </a:extLst>
          </p:cNvPr>
          <p:cNvCxnSpPr>
            <a:cxnSpLocks/>
          </p:cNvCxnSpPr>
          <p:nvPr/>
        </p:nvCxnSpPr>
        <p:spPr>
          <a:xfrm>
            <a:off x="797495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1330D54-FA49-A940-9984-42EB25D050CC}"/>
              </a:ext>
            </a:extLst>
          </p:cNvPr>
          <p:cNvCxnSpPr>
            <a:cxnSpLocks/>
          </p:cNvCxnSpPr>
          <p:nvPr/>
        </p:nvCxnSpPr>
        <p:spPr>
          <a:xfrm>
            <a:off x="81197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87C16CE-AD66-3244-A585-37B5F721B810}"/>
              </a:ext>
            </a:extLst>
          </p:cNvPr>
          <p:cNvCxnSpPr>
            <a:cxnSpLocks/>
          </p:cNvCxnSpPr>
          <p:nvPr/>
        </p:nvCxnSpPr>
        <p:spPr>
          <a:xfrm>
            <a:off x="825689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13177CB-D233-A140-B3A2-7EC0EAE7484C}"/>
              </a:ext>
            </a:extLst>
          </p:cNvPr>
          <p:cNvCxnSpPr>
            <a:cxnSpLocks/>
          </p:cNvCxnSpPr>
          <p:nvPr/>
        </p:nvCxnSpPr>
        <p:spPr>
          <a:xfrm>
            <a:off x="83864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F7FCA-0BBB-574B-9144-11068A2AB3D6}"/>
              </a:ext>
            </a:extLst>
          </p:cNvPr>
          <p:cNvCxnSpPr>
            <a:cxnSpLocks/>
          </p:cNvCxnSpPr>
          <p:nvPr/>
        </p:nvCxnSpPr>
        <p:spPr>
          <a:xfrm>
            <a:off x="851597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9268C3-0421-9643-840C-E404482CFE08}"/>
              </a:ext>
            </a:extLst>
          </p:cNvPr>
          <p:cNvCxnSpPr>
            <a:cxnSpLocks/>
          </p:cNvCxnSpPr>
          <p:nvPr/>
        </p:nvCxnSpPr>
        <p:spPr>
          <a:xfrm>
            <a:off x="865383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B935C4-7A1C-484A-A38F-BD96E714C226}"/>
              </a:ext>
            </a:extLst>
          </p:cNvPr>
          <p:cNvCxnSpPr>
            <a:cxnSpLocks/>
          </p:cNvCxnSpPr>
          <p:nvPr/>
        </p:nvCxnSpPr>
        <p:spPr>
          <a:xfrm>
            <a:off x="87986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D8344FB-CA2B-B64D-AE02-64FD9DC36286}"/>
              </a:ext>
            </a:extLst>
          </p:cNvPr>
          <p:cNvCxnSpPr>
            <a:cxnSpLocks/>
          </p:cNvCxnSpPr>
          <p:nvPr/>
        </p:nvCxnSpPr>
        <p:spPr>
          <a:xfrm>
            <a:off x="893577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A47626-5852-1D47-9019-3F27A4C2CD0C}"/>
              </a:ext>
            </a:extLst>
          </p:cNvPr>
          <p:cNvCxnSpPr>
            <a:cxnSpLocks/>
          </p:cNvCxnSpPr>
          <p:nvPr/>
        </p:nvCxnSpPr>
        <p:spPr>
          <a:xfrm>
            <a:off x="90653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46D5769-BF89-7D47-A081-07F6219037CF}"/>
              </a:ext>
            </a:extLst>
          </p:cNvPr>
          <p:cNvCxnSpPr>
            <a:cxnSpLocks/>
          </p:cNvCxnSpPr>
          <p:nvPr/>
        </p:nvCxnSpPr>
        <p:spPr>
          <a:xfrm>
            <a:off x="919485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61F6326-1734-5C4B-898A-8FFCBA54CDC7}"/>
              </a:ext>
            </a:extLst>
          </p:cNvPr>
          <p:cNvCxnSpPr>
            <a:cxnSpLocks/>
          </p:cNvCxnSpPr>
          <p:nvPr/>
        </p:nvCxnSpPr>
        <p:spPr>
          <a:xfrm>
            <a:off x="93250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7720000-50BB-0F4B-A8B2-A28D8CCB557E}"/>
              </a:ext>
            </a:extLst>
          </p:cNvPr>
          <p:cNvCxnSpPr>
            <a:cxnSpLocks/>
          </p:cNvCxnSpPr>
          <p:nvPr/>
        </p:nvCxnSpPr>
        <p:spPr>
          <a:xfrm>
            <a:off x="946224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97B87D-5D3E-7846-B3DB-8A12AAF36C56}"/>
              </a:ext>
            </a:extLst>
          </p:cNvPr>
          <p:cNvCxnSpPr>
            <a:cxnSpLocks/>
          </p:cNvCxnSpPr>
          <p:nvPr/>
        </p:nvCxnSpPr>
        <p:spPr>
          <a:xfrm>
            <a:off x="95917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010ED17-DCF5-EA4B-A8C2-82A6DCE36CA0}"/>
              </a:ext>
            </a:extLst>
          </p:cNvPr>
          <p:cNvCxnSpPr>
            <a:cxnSpLocks/>
          </p:cNvCxnSpPr>
          <p:nvPr/>
        </p:nvCxnSpPr>
        <p:spPr>
          <a:xfrm>
            <a:off x="9721323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4C99176-A41B-A841-B5B5-6E449FE3C4F0}"/>
              </a:ext>
            </a:extLst>
          </p:cNvPr>
          <p:cNvCxnSpPr>
            <a:cxnSpLocks/>
          </p:cNvCxnSpPr>
          <p:nvPr/>
        </p:nvCxnSpPr>
        <p:spPr>
          <a:xfrm>
            <a:off x="985917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8F7442-8E65-314E-8DF1-C44408031E09}"/>
              </a:ext>
            </a:extLst>
          </p:cNvPr>
          <p:cNvCxnSpPr>
            <a:cxnSpLocks/>
          </p:cNvCxnSpPr>
          <p:nvPr/>
        </p:nvCxnSpPr>
        <p:spPr>
          <a:xfrm>
            <a:off x="100039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676F29-446C-674D-B4BB-756982DB884E}"/>
              </a:ext>
            </a:extLst>
          </p:cNvPr>
          <p:cNvCxnSpPr>
            <a:cxnSpLocks/>
          </p:cNvCxnSpPr>
          <p:nvPr/>
        </p:nvCxnSpPr>
        <p:spPr>
          <a:xfrm>
            <a:off x="1014111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BD28D57-8FE7-EE4D-80B1-D3C6781F1401}"/>
              </a:ext>
            </a:extLst>
          </p:cNvPr>
          <p:cNvCxnSpPr>
            <a:cxnSpLocks/>
          </p:cNvCxnSpPr>
          <p:nvPr/>
        </p:nvCxnSpPr>
        <p:spPr>
          <a:xfrm>
            <a:off x="102706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64ECB6A-A365-9343-87D6-006E4C7073F1}"/>
              </a:ext>
            </a:extLst>
          </p:cNvPr>
          <p:cNvCxnSpPr>
            <a:cxnSpLocks/>
          </p:cNvCxnSpPr>
          <p:nvPr/>
        </p:nvCxnSpPr>
        <p:spPr>
          <a:xfrm>
            <a:off x="1040019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F432C32-A6B3-8E4F-ABE2-5E3C7ECEFD8B}"/>
              </a:ext>
            </a:extLst>
          </p:cNvPr>
          <p:cNvCxnSpPr>
            <a:cxnSpLocks/>
          </p:cNvCxnSpPr>
          <p:nvPr/>
        </p:nvCxnSpPr>
        <p:spPr>
          <a:xfrm>
            <a:off x="1053804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CE01E0B-8573-DD4B-BAF4-F30912DD6844}"/>
              </a:ext>
            </a:extLst>
          </p:cNvPr>
          <p:cNvCxnSpPr>
            <a:cxnSpLocks/>
          </p:cNvCxnSpPr>
          <p:nvPr/>
        </p:nvCxnSpPr>
        <p:spPr>
          <a:xfrm>
            <a:off x="106828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E9206AB-36D1-3A4C-BA2A-DD6459312DE4}"/>
              </a:ext>
            </a:extLst>
          </p:cNvPr>
          <p:cNvCxnSpPr>
            <a:cxnSpLocks/>
          </p:cNvCxnSpPr>
          <p:nvPr/>
        </p:nvCxnSpPr>
        <p:spPr>
          <a:xfrm>
            <a:off x="1081998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A8B2A1C-EDD7-9942-8A6E-F2A942F0E9B9}"/>
              </a:ext>
            </a:extLst>
          </p:cNvPr>
          <p:cNvCxnSpPr>
            <a:cxnSpLocks/>
          </p:cNvCxnSpPr>
          <p:nvPr/>
        </p:nvCxnSpPr>
        <p:spPr>
          <a:xfrm>
            <a:off x="109495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1462180-95AE-B948-B77C-B911C66A4344}"/>
              </a:ext>
            </a:extLst>
          </p:cNvPr>
          <p:cNvCxnSpPr>
            <a:cxnSpLocks/>
          </p:cNvCxnSpPr>
          <p:nvPr/>
        </p:nvCxnSpPr>
        <p:spPr>
          <a:xfrm>
            <a:off x="1107906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D64A4F-1779-1341-8851-D13523F8FB1D}"/>
              </a:ext>
            </a:extLst>
          </p:cNvPr>
          <p:cNvCxnSpPr/>
          <p:nvPr/>
        </p:nvCxnSpPr>
        <p:spPr>
          <a:xfrm>
            <a:off x="5591979" y="3931828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1934176-E925-C949-A540-EFB4AF18F3FF}"/>
              </a:ext>
            </a:extLst>
          </p:cNvPr>
          <p:cNvSpPr txBox="1"/>
          <p:nvPr/>
        </p:nvSpPr>
        <p:spPr>
          <a:xfrm>
            <a:off x="5392358" y="357333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C97CFB-A2EF-3541-82B3-BA7EB697D403}"/>
              </a:ext>
            </a:extLst>
          </p:cNvPr>
          <p:cNvSpPr txBox="1"/>
          <p:nvPr/>
        </p:nvSpPr>
        <p:spPr>
          <a:xfrm>
            <a:off x="5392358" y="389135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E9F1BD6-E8B0-1748-9DA6-023C5BE21998}"/>
              </a:ext>
            </a:extLst>
          </p:cNvPr>
          <p:cNvSpPr txBox="1"/>
          <p:nvPr/>
        </p:nvSpPr>
        <p:spPr>
          <a:xfrm>
            <a:off x="11224386" y="388820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951A94-E629-CD40-97F0-ABB7C0E85003}"/>
              </a:ext>
            </a:extLst>
          </p:cNvPr>
          <p:cNvSpPr txBox="1"/>
          <p:nvPr/>
        </p:nvSpPr>
        <p:spPr>
          <a:xfrm>
            <a:off x="11225499" y="35738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CFA2F973-85A9-1D4B-903E-BF119EB5F2F2}"/>
              </a:ext>
            </a:extLst>
          </p:cNvPr>
          <p:cNvSpPr/>
          <p:nvPr/>
        </p:nvSpPr>
        <p:spPr>
          <a:xfrm>
            <a:off x="8488773" y="365835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3966A459-F40C-F045-B5DA-70AF602C9481}"/>
              </a:ext>
            </a:extLst>
          </p:cNvPr>
          <p:cNvSpPr/>
          <p:nvPr/>
        </p:nvSpPr>
        <p:spPr>
          <a:xfrm>
            <a:off x="6706367" y="417360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FFAEDE10-DBAC-4741-B154-FA0EAA78581B}"/>
              </a:ext>
            </a:extLst>
          </p:cNvPr>
          <p:cNvSpPr/>
          <p:nvPr/>
        </p:nvSpPr>
        <p:spPr>
          <a:xfrm>
            <a:off x="7116815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325F4D9-B558-9B4B-AFE8-4C5BF145B226}"/>
              </a:ext>
            </a:extLst>
          </p:cNvPr>
          <p:cNvSpPr/>
          <p:nvPr/>
        </p:nvSpPr>
        <p:spPr>
          <a:xfrm>
            <a:off x="7536180" y="4161714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DE6167DE-AE58-BB4F-8246-4DB0B22709E5}"/>
              </a:ext>
            </a:extLst>
          </p:cNvPr>
          <p:cNvSpPr/>
          <p:nvPr/>
        </p:nvSpPr>
        <p:spPr>
          <a:xfrm>
            <a:off x="7934368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A05399E-822C-314A-B575-3BA42AD4AC93}"/>
              </a:ext>
            </a:extLst>
          </p:cNvPr>
          <p:cNvGrpSpPr/>
          <p:nvPr/>
        </p:nvGrpSpPr>
        <p:grpSpPr>
          <a:xfrm>
            <a:off x="8308639" y="3266306"/>
            <a:ext cx="2518671" cy="793133"/>
            <a:chOff x="8308639" y="3431406"/>
            <a:chExt cx="2518671" cy="793133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8D5E6F9-EB37-6549-94AC-1CB114A0683B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BF4AA9D-319E-F54F-B188-A977C8C01DB9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B3279C36-2BC2-1C40-8F86-D5D639F35896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2D0D6FC2-A692-064F-B71E-AF38760EC122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5B94C21-BD49-0A48-B2C1-0B4D88ADCFA3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70DF751C-7DBC-CB48-B1AB-2E91081EEAA9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5F3E2C7-2744-C04F-9CAA-EA2E8D331AF1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94CA7327-020A-F24C-91A0-E22A413D135D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FA2DCF1A-5F71-5B49-9D99-A72C211B86C6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9" name="Freeform 128">
            <a:extLst>
              <a:ext uri="{FF2B5EF4-FFF2-40B4-BE49-F238E27FC236}">
                <a16:creationId xmlns:a16="http://schemas.microsoft.com/office/drawing/2014/main" id="{B1515E19-3718-7D46-8291-3045F4AAC3EE}"/>
              </a:ext>
            </a:extLst>
          </p:cNvPr>
          <p:cNvSpPr/>
          <p:nvPr/>
        </p:nvSpPr>
        <p:spPr>
          <a:xfrm rot="20361174" flipV="1">
            <a:off x="8250201" y="4356627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0279E90D-F14F-3D4B-AAA8-0240AA44FAEF}"/>
              </a:ext>
            </a:extLst>
          </p:cNvPr>
          <p:cNvSpPr/>
          <p:nvPr/>
        </p:nvSpPr>
        <p:spPr>
          <a:xfrm rot="20361174" flipV="1">
            <a:off x="7778563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5E5A0974-9BFD-4849-BD33-82FF5E8557ED}"/>
              </a:ext>
            </a:extLst>
          </p:cNvPr>
          <p:cNvSpPr/>
          <p:nvPr/>
        </p:nvSpPr>
        <p:spPr>
          <a:xfrm rot="9967244" flipV="1">
            <a:off x="7393245" y="4132834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57FDE7CF-26EF-D041-9020-611BE55EF96D}"/>
              </a:ext>
            </a:extLst>
          </p:cNvPr>
          <p:cNvSpPr/>
          <p:nvPr/>
        </p:nvSpPr>
        <p:spPr>
          <a:xfrm rot="20361174" flipV="1">
            <a:off x="6966106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ABD7915-0CFB-2B40-A032-00F56C3B775D}"/>
              </a:ext>
            </a:extLst>
          </p:cNvPr>
          <p:cNvSpPr txBox="1"/>
          <p:nvPr/>
        </p:nvSpPr>
        <p:spPr>
          <a:xfrm>
            <a:off x="5397928" y="4652408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ZFN.</a:t>
            </a:r>
            <a:endParaRPr kumimoji="1" lang="en-US" altLang="zh-CN" sz="1400" dirty="0"/>
          </a:p>
        </p:txBody>
      </p:sp>
      <p:sp>
        <p:nvSpPr>
          <p:cNvPr id="1024" name="Lightning Bolt 1023">
            <a:extLst>
              <a:ext uri="{FF2B5EF4-FFF2-40B4-BE49-F238E27FC236}">
                <a16:creationId xmlns:a16="http://schemas.microsoft.com/office/drawing/2014/main" id="{038DC9A1-1DE9-084C-9250-EF79E80B2E0E}"/>
              </a:ext>
            </a:extLst>
          </p:cNvPr>
          <p:cNvSpPr/>
          <p:nvPr/>
        </p:nvSpPr>
        <p:spPr>
          <a:xfrm flipH="1">
            <a:off x="8781963" y="3075908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81AEC5-911E-0548-AD0E-5F180B39621D}"/>
              </a:ext>
            </a:extLst>
          </p:cNvPr>
          <p:cNvCxnSpPr>
            <a:stCxn id="127" idx="1"/>
          </p:cNvCxnSpPr>
          <p:nvPr/>
        </p:nvCxnSpPr>
        <p:spPr>
          <a:xfrm flipV="1">
            <a:off x="10042854" y="2820557"/>
            <a:ext cx="357341" cy="4434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E06C1D-792B-CE4A-8A2C-2B4C1765DAB1}"/>
              </a:ext>
            </a:extLst>
          </p:cNvPr>
          <p:cNvSpPr txBox="1"/>
          <p:nvPr/>
        </p:nvSpPr>
        <p:spPr>
          <a:xfrm>
            <a:off x="10367750" y="2543558"/>
            <a:ext cx="704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linker</a:t>
            </a:r>
            <a:endParaRPr kumimoji="1" lang="zh-CN" altLang="en-US" dirty="0"/>
          </a:p>
        </p:txBody>
      </p:sp>
      <p:pic>
        <p:nvPicPr>
          <p:cNvPr id="1026" name="Picture 2" descr="Schematic diagram of a C2H2 zinc-finger motif. The pair | Open-i">
            <a:extLst>
              <a:ext uri="{FF2B5EF4-FFF2-40B4-BE49-F238E27FC236}">
                <a16:creationId xmlns:a16="http://schemas.microsoft.com/office/drawing/2014/main" id="{8B3405D9-7B95-8743-862B-36F1909FA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75"/>
          <a:stretch/>
        </p:blipFill>
        <p:spPr bwMode="auto">
          <a:xfrm>
            <a:off x="2017094" y="2921029"/>
            <a:ext cx="1842840" cy="136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86872433-1F08-0344-8591-BADFD42037EE}"/>
              </a:ext>
            </a:extLst>
          </p:cNvPr>
          <p:cNvSpPr txBox="1"/>
          <p:nvPr/>
        </p:nvSpPr>
        <p:spPr>
          <a:xfrm>
            <a:off x="0" y="5930308"/>
            <a:ext cx="5779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</a:rPr>
              <a:t>Urnov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FD, Rebar EJ, Holmes MC, Zhang HS, Gregory PD. Genome editing with engineered zinc finger nucleases.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</a:rPr>
              <a:t>Nat Rev Genet.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2010 Sep;11(9):636-46.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40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/>
      <p:bldP spid="27" grpId="0"/>
      <p:bldP spid="33" grpId="0"/>
      <p:bldP spid="97" grpId="0"/>
      <p:bldP spid="100" grpId="0"/>
      <p:bldP spid="101" grpId="0"/>
      <p:bldP spid="102" grpId="0"/>
      <p:bldP spid="104" grpId="0" animBg="1"/>
      <p:bldP spid="114" grpId="0" animBg="1"/>
      <p:bldP spid="115" grpId="0" animBg="1"/>
      <p:bldP spid="116" grpId="0" animBg="1"/>
      <p:bldP spid="117" grpId="0" animBg="1"/>
      <p:bldP spid="129" grpId="0" animBg="1"/>
      <p:bldP spid="130" grpId="0" animBg="1"/>
      <p:bldP spid="131" grpId="0" animBg="1"/>
      <p:bldP spid="132" grpId="0" animBg="1"/>
      <p:bldP spid="134" grpId="0"/>
      <p:bldP spid="1024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25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N" altLang="zh-CN" sz="3200" dirty="0"/>
              <a:t>Problems of ZFN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4100F9F-2017-C845-942C-6B0D281529BE}"/>
              </a:ext>
            </a:extLst>
          </p:cNvPr>
          <p:cNvSpPr txBox="1"/>
          <p:nvPr/>
        </p:nvSpPr>
        <p:spPr>
          <a:xfrm>
            <a:off x="325821" y="1048925"/>
            <a:ext cx="9211879" cy="480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7 amino acids map to 3 bp (a triplet)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arrangements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of triplets: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4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3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 = 64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 arrangements of amino acids: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endParaRPr kumimoji="1" lang="en-CN" altLang="zh-CN" dirty="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#1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high complexity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could be extremely hard to select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64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correct arangements from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r>
              <a:rPr kumimoji="1" lang="en-CN" altLang="zh-CN" baseline="30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options.</a:t>
            </a:r>
            <a:endParaRPr kumimoji="1" lang="en-CN" altLang="zh-CN" i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 fact,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remains challenging to create zinc-finger domains that can effectively recognize all DNA triplets.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#2: lack of target flexibility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Must find </a:t>
            </a:r>
            <a:r>
              <a:rPr kumimoji="1" lang="en-CN" altLang="zh-CN" dirty="0">
                <a:solidFill>
                  <a:schemeClr val="accent5"/>
                </a:solidFill>
                <a:latin typeface="Calibri" panose="020F0502020204030204"/>
                <a:ea typeface="等线" panose="02010600030101010101" pitchFamily="2" charset="-122"/>
              </a:rPr>
              <a:t>several continuous triplets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that can be targeted near target sites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#3: difficult and expensive to construct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zinc-finger arrays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Also time-consuming</a:t>
            </a:r>
            <a:endParaRPr kumimoji="1" lang="en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0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16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Transcription Activator-like Effector Nucleases (TALENs)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  <a:solidFill>
            <a:schemeClr val="accent5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ZFN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B95D8345-2793-8347-A09F-6CDDDC128621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67B1E-752E-2A4C-8D6F-B7CBED29FD0C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dimers</a:t>
            </a:r>
            <a:endParaRPr kumimoji="1" lang="zh-CN" alt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9030F1-3E71-714B-9DED-E52228728190}"/>
              </a:ext>
            </a:extLst>
          </p:cNvPr>
          <p:cNvSpPr/>
          <p:nvPr/>
        </p:nvSpPr>
        <p:spPr>
          <a:xfrm>
            <a:off x="609600" y="2260600"/>
            <a:ext cx="1397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1CB37-4968-C64D-8020-90154BC8DD7F}"/>
              </a:ext>
            </a:extLst>
          </p:cNvPr>
          <p:cNvSpPr txBox="1"/>
          <p:nvPr/>
        </p:nvSpPr>
        <p:spPr>
          <a:xfrm>
            <a:off x="786607" y="2253734"/>
            <a:ext cx="443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 </a:t>
            </a:r>
            <a:r>
              <a:rPr kumimoji="1" lang="en-US" altLang="zh-CN" dirty="0"/>
              <a:t>of TAL effector</a:t>
            </a:r>
            <a:endParaRPr kumimoji="1" lang="zh-CN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50F32-65D4-3844-A298-12D653A95310}"/>
              </a:ext>
            </a:extLst>
          </p:cNvPr>
          <p:cNvSpPr txBox="1"/>
          <p:nvPr/>
        </p:nvSpPr>
        <p:spPr>
          <a:xfrm>
            <a:off x="519821" y="2739201"/>
            <a:ext cx="6053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34 residues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position</a:t>
            </a:r>
            <a:r>
              <a:rPr kumimoji="1" lang="en-US" altLang="zh-CN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12&amp;13</a:t>
            </a:r>
            <a:r>
              <a:rPr kumimoji="1" lang="en-US" altLang="zh-CN" dirty="0">
                <a:solidFill>
                  <a:schemeClr val="accent1"/>
                </a:solidFill>
              </a:rPr>
              <a:t>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1 bp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  <a:endParaRPr kumimoji="1" lang="zh-CN" alt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E74E04-5996-3249-ADAE-2C859D32C3CB}"/>
              </a:ext>
            </a:extLst>
          </p:cNvPr>
          <p:cNvCxnSpPr>
            <a:cxnSpLocks/>
          </p:cNvCxnSpPr>
          <p:nvPr/>
        </p:nvCxnSpPr>
        <p:spPr>
          <a:xfrm>
            <a:off x="4093239" y="411464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D84551-2834-8042-8CFE-21B5D2C7A350}"/>
              </a:ext>
            </a:extLst>
          </p:cNvPr>
          <p:cNvCxnSpPr/>
          <p:nvPr/>
        </p:nvCxnSpPr>
        <p:spPr>
          <a:xfrm>
            <a:off x="4093239" y="443060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625F08-107A-1D4A-89B9-20C268D9BF3D}"/>
              </a:ext>
            </a:extLst>
          </p:cNvPr>
          <p:cNvCxnSpPr>
            <a:cxnSpLocks/>
          </p:cNvCxnSpPr>
          <p:nvPr/>
        </p:nvCxnSpPr>
        <p:spPr>
          <a:xfrm>
            <a:off x="427982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DBD88B-6428-3C42-A34D-E864B93870FA}"/>
              </a:ext>
            </a:extLst>
          </p:cNvPr>
          <p:cNvCxnSpPr>
            <a:cxnSpLocks/>
          </p:cNvCxnSpPr>
          <p:nvPr/>
        </p:nvCxnSpPr>
        <p:spPr>
          <a:xfrm>
            <a:off x="44246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3213CE-97DA-434A-B7FF-0D9382CBE05C}"/>
              </a:ext>
            </a:extLst>
          </p:cNvPr>
          <p:cNvCxnSpPr>
            <a:cxnSpLocks/>
          </p:cNvCxnSpPr>
          <p:nvPr/>
        </p:nvCxnSpPr>
        <p:spPr>
          <a:xfrm>
            <a:off x="456176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245BB9C-31C6-F34B-9E09-B42ED0569306}"/>
              </a:ext>
            </a:extLst>
          </p:cNvPr>
          <p:cNvCxnSpPr>
            <a:cxnSpLocks/>
          </p:cNvCxnSpPr>
          <p:nvPr/>
        </p:nvCxnSpPr>
        <p:spPr>
          <a:xfrm>
            <a:off x="46913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EB2537-421D-BC4F-B3B7-E740B843EEC1}"/>
              </a:ext>
            </a:extLst>
          </p:cNvPr>
          <p:cNvCxnSpPr>
            <a:cxnSpLocks/>
          </p:cNvCxnSpPr>
          <p:nvPr/>
        </p:nvCxnSpPr>
        <p:spPr>
          <a:xfrm>
            <a:off x="482084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D85FAF-7D35-FD4F-B1A8-4321DC476650}"/>
              </a:ext>
            </a:extLst>
          </p:cNvPr>
          <p:cNvCxnSpPr>
            <a:cxnSpLocks/>
          </p:cNvCxnSpPr>
          <p:nvPr/>
        </p:nvCxnSpPr>
        <p:spPr>
          <a:xfrm>
            <a:off x="495869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CB1BF2-C424-444E-8D66-0ADB68EF2896}"/>
              </a:ext>
            </a:extLst>
          </p:cNvPr>
          <p:cNvCxnSpPr>
            <a:cxnSpLocks/>
          </p:cNvCxnSpPr>
          <p:nvPr/>
        </p:nvCxnSpPr>
        <p:spPr>
          <a:xfrm>
            <a:off x="51034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252510-B56E-7B41-A296-E706DF9E96E3}"/>
              </a:ext>
            </a:extLst>
          </p:cNvPr>
          <p:cNvCxnSpPr>
            <a:cxnSpLocks/>
          </p:cNvCxnSpPr>
          <p:nvPr/>
        </p:nvCxnSpPr>
        <p:spPr>
          <a:xfrm>
            <a:off x="524063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E3BF55-451D-F049-AB55-BAFE4C8E58B7}"/>
              </a:ext>
            </a:extLst>
          </p:cNvPr>
          <p:cNvCxnSpPr>
            <a:cxnSpLocks/>
          </p:cNvCxnSpPr>
          <p:nvPr/>
        </p:nvCxnSpPr>
        <p:spPr>
          <a:xfrm>
            <a:off x="53701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3FC424-D2D2-1340-A1B3-ED3626BB09DA}"/>
              </a:ext>
            </a:extLst>
          </p:cNvPr>
          <p:cNvCxnSpPr>
            <a:cxnSpLocks/>
          </p:cNvCxnSpPr>
          <p:nvPr/>
        </p:nvCxnSpPr>
        <p:spPr>
          <a:xfrm>
            <a:off x="549971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A5CB98-CD50-E045-96CE-039A8010684B}"/>
              </a:ext>
            </a:extLst>
          </p:cNvPr>
          <p:cNvCxnSpPr>
            <a:cxnSpLocks/>
          </p:cNvCxnSpPr>
          <p:nvPr/>
        </p:nvCxnSpPr>
        <p:spPr>
          <a:xfrm>
            <a:off x="563757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377BC6-9C00-3946-B572-5C6B048B0C12}"/>
              </a:ext>
            </a:extLst>
          </p:cNvPr>
          <p:cNvCxnSpPr>
            <a:cxnSpLocks/>
          </p:cNvCxnSpPr>
          <p:nvPr/>
        </p:nvCxnSpPr>
        <p:spPr>
          <a:xfrm>
            <a:off x="57823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70EE0B-C398-5C4C-9C7E-CBF59054B4C1}"/>
              </a:ext>
            </a:extLst>
          </p:cNvPr>
          <p:cNvCxnSpPr>
            <a:cxnSpLocks/>
          </p:cNvCxnSpPr>
          <p:nvPr/>
        </p:nvCxnSpPr>
        <p:spPr>
          <a:xfrm>
            <a:off x="591951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EB3EBF-548B-784E-B437-49144AB145CC}"/>
              </a:ext>
            </a:extLst>
          </p:cNvPr>
          <p:cNvCxnSpPr>
            <a:cxnSpLocks/>
          </p:cNvCxnSpPr>
          <p:nvPr/>
        </p:nvCxnSpPr>
        <p:spPr>
          <a:xfrm>
            <a:off x="60490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ED3533C-02E9-664E-91E5-EB6B1196B940}"/>
              </a:ext>
            </a:extLst>
          </p:cNvPr>
          <p:cNvCxnSpPr>
            <a:cxnSpLocks/>
          </p:cNvCxnSpPr>
          <p:nvPr/>
        </p:nvCxnSpPr>
        <p:spPr>
          <a:xfrm>
            <a:off x="617859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04FCFA-F679-4840-AE1C-789EF935AB3E}"/>
              </a:ext>
            </a:extLst>
          </p:cNvPr>
          <p:cNvCxnSpPr>
            <a:cxnSpLocks/>
          </p:cNvCxnSpPr>
          <p:nvPr/>
        </p:nvCxnSpPr>
        <p:spPr>
          <a:xfrm>
            <a:off x="631644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D2A20E-0965-0B49-9216-A14DB2982B69}"/>
              </a:ext>
            </a:extLst>
          </p:cNvPr>
          <p:cNvCxnSpPr>
            <a:cxnSpLocks/>
          </p:cNvCxnSpPr>
          <p:nvPr/>
        </p:nvCxnSpPr>
        <p:spPr>
          <a:xfrm>
            <a:off x="64612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59BFD-1266-F849-A3D1-E5ED17FB5355}"/>
              </a:ext>
            </a:extLst>
          </p:cNvPr>
          <p:cNvCxnSpPr>
            <a:cxnSpLocks/>
          </p:cNvCxnSpPr>
          <p:nvPr/>
        </p:nvCxnSpPr>
        <p:spPr>
          <a:xfrm>
            <a:off x="659838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DFC34DB-1622-0746-BE9C-9ABA1BA30B8E}"/>
              </a:ext>
            </a:extLst>
          </p:cNvPr>
          <p:cNvCxnSpPr>
            <a:cxnSpLocks/>
          </p:cNvCxnSpPr>
          <p:nvPr/>
        </p:nvCxnSpPr>
        <p:spPr>
          <a:xfrm>
            <a:off x="67279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558FAC-5C63-1E4A-8C7F-7B54C51B5DC1}"/>
              </a:ext>
            </a:extLst>
          </p:cNvPr>
          <p:cNvCxnSpPr>
            <a:cxnSpLocks/>
          </p:cNvCxnSpPr>
          <p:nvPr/>
        </p:nvCxnSpPr>
        <p:spPr>
          <a:xfrm>
            <a:off x="685746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AD3801-F472-2340-B74E-6EAF398253E4}"/>
              </a:ext>
            </a:extLst>
          </p:cNvPr>
          <p:cNvCxnSpPr>
            <a:cxnSpLocks/>
          </p:cNvCxnSpPr>
          <p:nvPr/>
        </p:nvCxnSpPr>
        <p:spPr>
          <a:xfrm>
            <a:off x="699531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3C7BC8-7CBC-9D4C-9F1B-94E3D26F4878}"/>
              </a:ext>
            </a:extLst>
          </p:cNvPr>
          <p:cNvCxnSpPr>
            <a:cxnSpLocks/>
          </p:cNvCxnSpPr>
          <p:nvPr/>
        </p:nvCxnSpPr>
        <p:spPr>
          <a:xfrm>
            <a:off x="71400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FD5491-CC9F-0744-9A00-1F8EDAF6C2FC}"/>
              </a:ext>
            </a:extLst>
          </p:cNvPr>
          <p:cNvCxnSpPr>
            <a:cxnSpLocks/>
          </p:cNvCxnSpPr>
          <p:nvPr/>
        </p:nvCxnSpPr>
        <p:spPr>
          <a:xfrm>
            <a:off x="727725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3E596-F92D-BE4B-883E-064F6E35192E}"/>
              </a:ext>
            </a:extLst>
          </p:cNvPr>
          <p:cNvCxnSpPr>
            <a:cxnSpLocks/>
          </p:cNvCxnSpPr>
          <p:nvPr/>
        </p:nvCxnSpPr>
        <p:spPr>
          <a:xfrm>
            <a:off x="74067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69BC06-A7B7-664C-AA7A-3C3A210E5E8F}"/>
              </a:ext>
            </a:extLst>
          </p:cNvPr>
          <p:cNvCxnSpPr>
            <a:cxnSpLocks/>
          </p:cNvCxnSpPr>
          <p:nvPr/>
        </p:nvCxnSpPr>
        <p:spPr>
          <a:xfrm>
            <a:off x="753633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CCE4E58-DB37-F340-815C-E19CF02F7814}"/>
              </a:ext>
            </a:extLst>
          </p:cNvPr>
          <p:cNvCxnSpPr>
            <a:cxnSpLocks/>
          </p:cNvCxnSpPr>
          <p:nvPr/>
        </p:nvCxnSpPr>
        <p:spPr>
          <a:xfrm>
            <a:off x="76665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4790B5-F0E0-CE4C-BAE4-070E2EBD9914}"/>
              </a:ext>
            </a:extLst>
          </p:cNvPr>
          <p:cNvCxnSpPr>
            <a:cxnSpLocks/>
          </p:cNvCxnSpPr>
          <p:nvPr/>
        </p:nvCxnSpPr>
        <p:spPr>
          <a:xfrm>
            <a:off x="780373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E74321-EB30-CC41-9947-5BD5C5EB96C5}"/>
              </a:ext>
            </a:extLst>
          </p:cNvPr>
          <p:cNvCxnSpPr>
            <a:cxnSpLocks/>
          </p:cNvCxnSpPr>
          <p:nvPr/>
        </p:nvCxnSpPr>
        <p:spPr>
          <a:xfrm>
            <a:off x="79332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97AF8F1-B189-214B-BF5D-384B38D655D6}"/>
              </a:ext>
            </a:extLst>
          </p:cNvPr>
          <p:cNvCxnSpPr>
            <a:cxnSpLocks/>
          </p:cNvCxnSpPr>
          <p:nvPr/>
        </p:nvCxnSpPr>
        <p:spPr>
          <a:xfrm>
            <a:off x="8062810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592230F-E4DA-9843-B12F-E9F4DEF8CA08}"/>
              </a:ext>
            </a:extLst>
          </p:cNvPr>
          <p:cNvCxnSpPr>
            <a:cxnSpLocks/>
          </p:cNvCxnSpPr>
          <p:nvPr/>
        </p:nvCxnSpPr>
        <p:spPr>
          <a:xfrm>
            <a:off x="820066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4A581A-F1A4-5942-890C-1A3C4E887996}"/>
              </a:ext>
            </a:extLst>
          </p:cNvPr>
          <p:cNvCxnSpPr>
            <a:cxnSpLocks/>
          </p:cNvCxnSpPr>
          <p:nvPr/>
        </p:nvCxnSpPr>
        <p:spPr>
          <a:xfrm>
            <a:off x="83454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CC5EFE-E64D-D149-BAF4-A7B79A57BC01}"/>
              </a:ext>
            </a:extLst>
          </p:cNvPr>
          <p:cNvCxnSpPr>
            <a:cxnSpLocks/>
          </p:cNvCxnSpPr>
          <p:nvPr/>
        </p:nvCxnSpPr>
        <p:spPr>
          <a:xfrm>
            <a:off x="848260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3B2AA49-164F-994C-AF00-1DF5EC191492}"/>
              </a:ext>
            </a:extLst>
          </p:cNvPr>
          <p:cNvCxnSpPr>
            <a:cxnSpLocks/>
          </p:cNvCxnSpPr>
          <p:nvPr/>
        </p:nvCxnSpPr>
        <p:spPr>
          <a:xfrm>
            <a:off x="86121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62AB85-5DF1-3245-A660-10FF2A931B14}"/>
              </a:ext>
            </a:extLst>
          </p:cNvPr>
          <p:cNvCxnSpPr>
            <a:cxnSpLocks/>
          </p:cNvCxnSpPr>
          <p:nvPr/>
        </p:nvCxnSpPr>
        <p:spPr>
          <a:xfrm>
            <a:off x="874168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C721C5-8EE8-A74B-8B1C-D369F7262D95}"/>
              </a:ext>
            </a:extLst>
          </p:cNvPr>
          <p:cNvCxnSpPr>
            <a:cxnSpLocks/>
          </p:cNvCxnSpPr>
          <p:nvPr/>
        </p:nvCxnSpPr>
        <p:spPr>
          <a:xfrm>
            <a:off x="887953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AC04193-C60D-4042-A94F-ED9D081A314E}"/>
              </a:ext>
            </a:extLst>
          </p:cNvPr>
          <p:cNvCxnSpPr>
            <a:cxnSpLocks/>
          </p:cNvCxnSpPr>
          <p:nvPr/>
        </p:nvCxnSpPr>
        <p:spPr>
          <a:xfrm>
            <a:off x="90243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2A4461-82C5-084C-898B-232C8A5D9C9F}"/>
              </a:ext>
            </a:extLst>
          </p:cNvPr>
          <p:cNvCxnSpPr>
            <a:cxnSpLocks/>
          </p:cNvCxnSpPr>
          <p:nvPr/>
        </p:nvCxnSpPr>
        <p:spPr>
          <a:xfrm>
            <a:off x="916147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5DA981-9132-054F-BEAE-BC7C1CB274FB}"/>
              </a:ext>
            </a:extLst>
          </p:cNvPr>
          <p:cNvCxnSpPr>
            <a:cxnSpLocks/>
          </p:cNvCxnSpPr>
          <p:nvPr/>
        </p:nvCxnSpPr>
        <p:spPr>
          <a:xfrm>
            <a:off x="92910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B136454-1971-B040-8BF5-E73C56641F64}"/>
              </a:ext>
            </a:extLst>
          </p:cNvPr>
          <p:cNvCxnSpPr>
            <a:cxnSpLocks/>
          </p:cNvCxnSpPr>
          <p:nvPr/>
        </p:nvCxnSpPr>
        <p:spPr>
          <a:xfrm>
            <a:off x="942055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BB10A4-0FD6-CF47-82C3-8F691D630B38}"/>
              </a:ext>
            </a:extLst>
          </p:cNvPr>
          <p:cNvCxnSpPr/>
          <p:nvPr/>
        </p:nvCxnSpPr>
        <p:spPr>
          <a:xfrm>
            <a:off x="3933466" y="428847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A68F1B1-C45E-004F-AE35-A9E4CD40D795}"/>
              </a:ext>
            </a:extLst>
          </p:cNvPr>
          <p:cNvSpPr txBox="1"/>
          <p:nvPr/>
        </p:nvSpPr>
        <p:spPr>
          <a:xfrm>
            <a:off x="3733845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5A3D7F-D54F-8843-9C61-99C085C1C80C}"/>
              </a:ext>
            </a:extLst>
          </p:cNvPr>
          <p:cNvSpPr txBox="1"/>
          <p:nvPr/>
        </p:nvSpPr>
        <p:spPr>
          <a:xfrm>
            <a:off x="3733845" y="42480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9ACAC5-77BE-EC4F-9C90-FB76193C48F1}"/>
              </a:ext>
            </a:extLst>
          </p:cNvPr>
          <p:cNvSpPr txBox="1"/>
          <p:nvPr/>
        </p:nvSpPr>
        <p:spPr>
          <a:xfrm>
            <a:off x="9587909" y="425039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2F5047-004B-5749-87B7-84AEF5089B2C}"/>
              </a:ext>
            </a:extLst>
          </p:cNvPr>
          <p:cNvSpPr txBox="1"/>
          <p:nvPr/>
        </p:nvSpPr>
        <p:spPr>
          <a:xfrm>
            <a:off x="9587909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B4D9816F-206A-BD41-BF89-97124E745F99}"/>
              </a:ext>
            </a:extLst>
          </p:cNvPr>
          <p:cNvSpPr/>
          <p:nvPr/>
        </p:nvSpPr>
        <p:spPr>
          <a:xfrm>
            <a:off x="6583773" y="401499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97D77916-F7E2-F145-A07B-4ADB4DBEB567}"/>
              </a:ext>
            </a:extLst>
          </p:cNvPr>
          <p:cNvSpPr/>
          <p:nvPr/>
        </p:nvSpPr>
        <p:spPr>
          <a:xfrm>
            <a:off x="6403639" y="3667937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165620-2E41-5D40-8032-525AD46F295F}"/>
              </a:ext>
            </a:extLst>
          </p:cNvPr>
          <p:cNvSpPr txBox="1"/>
          <p:nvPr/>
        </p:nvSpPr>
        <p:spPr>
          <a:xfrm>
            <a:off x="2352905" y="5634252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</a:t>
            </a:r>
            <a:r>
              <a:rPr lang="en-US" altLang="zh-CN" sz="1400" dirty="0">
                <a:solidFill>
                  <a:srgbClr val="111111"/>
                </a:solidFill>
                <a:latin typeface="system-ui"/>
              </a:rPr>
              <a:t>TALEN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.</a:t>
            </a:r>
            <a:endParaRPr kumimoji="1" lang="en-US" altLang="zh-CN" sz="1400" dirty="0"/>
          </a:p>
        </p:txBody>
      </p:sp>
      <p:sp>
        <p:nvSpPr>
          <p:cNvPr id="90" name="Lightning Bolt 89">
            <a:extLst>
              <a:ext uri="{FF2B5EF4-FFF2-40B4-BE49-F238E27FC236}">
                <a16:creationId xmlns:a16="http://schemas.microsoft.com/office/drawing/2014/main" id="{63EB1E36-E130-B646-AAA2-6AB3820CC60F}"/>
              </a:ext>
            </a:extLst>
          </p:cNvPr>
          <p:cNvSpPr/>
          <p:nvPr/>
        </p:nvSpPr>
        <p:spPr>
          <a:xfrm flipH="1">
            <a:off x="6876963" y="343255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71021836-80AE-E14D-8D6E-A30482661D7C}"/>
              </a:ext>
            </a:extLst>
          </p:cNvPr>
          <p:cNvSpPr/>
          <p:nvPr/>
        </p:nvSpPr>
        <p:spPr>
          <a:xfrm>
            <a:off x="5882008" y="3641291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E6A9D298-B1EE-D540-A2BC-3232DF4F2057}"/>
              </a:ext>
            </a:extLst>
          </p:cNvPr>
          <p:cNvSpPr/>
          <p:nvPr/>
        </p:nvSpPr>
        <p:spPr>
          <a:xfrm rot="10800000">
            <a:off x="4187028" y="3638358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E0B14D81-5ABE-1546-92C7-0C8DA5352930}"/>
              </a:ext>
            </a:extLst>
          </p:cNvPr>
          <p:cNvSpPr/>
          <p:nvPr/>
        </p:nvSpPr>
        <p:spPr>
          <a:xfrm>
            <a:off x="5753277" y="3659764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1666B33E-EBC9-EC41-B78D-63B303C47B19}"/>
              </a:ext>
            </a:extLst>
          </p:cNvPr>
          <p:cNvSpPr/>
          <p:nvPr/>
        </p:nvSpPr>
        <p:spPr>
          <a:xfrm>
            <a:off x="5615964" y="3658772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E59F79F-71E1-9143-B11D-31A16EC1EC4C}"/>
              </a:ext>
            </a:extLst>
          </p:cNvPr>
          <p:cNvSpPr/>
          <p:nvPr/>
        </p:nvSpPr>
        <p:spPr>
          <a:xfrm>
            <a:off x="5471972" y="3657666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3B0023B4-1CD6-8046-B75C-31AB0704FE92}"/>
              </a:ext>
            </a:extLst>
          </p:cNvPr>
          <p:cNvSpPr/>
          <p:nvPr/>
        </p:nvSpPr>
        <p:spPr>
          <a:xfrm>
            <a:off x="5333796" y="3657666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5AB0B95A-81FD-F045-B924-AE5C47EB1CD4}"/>
              </a:ext>
            </a:extLst>
          </p:cNvPr>
          <p:cNvSpPr/>
          <p:nvPr/>
        </p:nvSpPr>
        <p:spPr>
          <a:xfrm>
            <a:off x="5192142" y="3657666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142579B4-2F36-994D-B1CB-303D25709408}"/>
              </a:ext>
            </a:extLst>
          </p:cNvPr>
          <p:cNvSpPr/>
          <p:nvPr/>
        </p:nvSpPr>
        <p:spPr>
          <a:xfrm>
            <a:off x="5060343" y="3659462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4CE2812-B567-FA4E-9092-68D248AFCF29}"/>
              </a:ext>
            </a:extLst>
          </p:cNvPr>
          <p:cNvSpPr/>
          <p:nvPr/>
        </p:nvSpPr>
        <p:spPr>
          <a:xfrm>
            <a:off x="4922692" y="3650613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BE19A28E-2561-F446-A3EA-A385A0CA1907}"/>
              </a:ext>
            </a:extLst>
          </p:cNvPr>
          <p:cNvSpPr/>
          <p:nvPr/>
        </p:nvSpPr>
        <p:spPr>
          <a:xfrm>
            <a:off x="4784516" y="3650613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0EFE168-EA0F-804F-A539-B037D7BF183E}"/>
              </a:ext>
            </a:extLst>
          </p:cNvPr>
          <p:cNvSpPr/>
          <p:nvPr/>
        </p:nvSpPr>
        <p:spPr>
          <a:xfrm>
            <a:off x="4642862" y="3650613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4F07AD3-C995-174A-86CC-F5B8906D898A}"/>
              </a:ext>
            </a:extLst>
          </p:cNvPr>
          <p:cNvSpPr/>
          <p:nvPr/>
        </p:nvSpPr>
        <p:spPr>
          <a:xfrm>
            <a:off x="4511063" y="3652409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632C5365-5A27-384F-B8CF-C6209ECA25F6}"/>
              </a:ext>
            </a:extLst>
          </p:cNvPr>
          <p:cNvSpPr/>
          <p:nvPr/>
        </p:nvSpPr>
        <p:spPr>
          <a:xfrm rot="11058474" flipV="1">
            <a:off x="6149207" y="3691982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8C77FD07-B8C3-9840-AB3A-E76F1BBA577D}"/>
              </a:ext>
            </a:extLst>
          </p:cNvPr>
          <p:cNvSpPr/>
          <p:nvPr/>
        </p:nvSpPr>
        <p:spPr>
          <a:xfrm>
            <a:off x="9246217" y="447822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E57C1235-37F9-0F4E-99E2-8BEE58BF72EB}"/>
              </a:ext>
            </a:extLst>
          </p:cNvPr>
          <p:cNvSpPr/>
          <p:nvPr/>
        </p:nvSpPr>
        <p:spPr>
          <a:xfrm rot="10800000">
            <a:off x="7551237" y="447529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959DE44-8E17-1741-B18C-FAFFA2073DC3}"/>
              </a:ext>
            </a:extLst>
          </p:cNvPr>
          <p:cNvSpPr/>
          <p:nvPr/>
        </p:nvSpPr>
        <p:spPr>
          <a:xfrm>
            <a:off x="9117486" y="449669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A8B399F1-9D0C-E641-82ED-AC721410EBF2}"/>
              </a:ext>
            </a:extLst>
          </p:cNvPr>
          <p:cNvSpPr/>
          <p:nvPr/>
        </p:nvSpPr>
        <p:spPr>
          <a:xfrm>
            <a:off x="8980173" y="449570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972BBBA-56D6-6C44-8042-6215AD16ED5F}"/>
              </a:ext>
            </a:extLst>
          </p:cNvPr>
          <p:cNvSpPr/>
          <p:nvPr/>
        </p:nvSpPr>
        <p:spPr>
          <a:xfrm>
            <a:off x="8836181" y="449459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F08B2173-9009-8243-9D9D-F079003C6EBB}"/>
              </a:ext>
            </a:extLst>
          </p:cNvPr>
          <p:cNvSpPr/>
          <p:nvPr/>
        </p:nvSpPr>
        <p:spPr>
          <a:xfrm>
            <a:off x="8698005" y="449459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505C5603-7635-404C-8126-A0A52E8319C4}"/>
              </a:ext>
            </a:extLst>
          </p:cNvPr>
          <p:cNvSpPr/>
          <p:nvPr/>
        </p:nvSpPr>
        <p:spPr>
          <a:xfrm>
            <a:off x="8556351" y="449459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FCEC910-A995-4A40-B803-A5C005CB8132}"/>
              </a:ext>
            </a:extLst>
          </p:cNvPr>
          <p:cNvSpPr/>
          <p:nvPr/>
        </p:nvSpPr>
        <p:spPr>
          <a:xfrm>
            <a:off x="8424552" y="449639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CF4B7D5A-90B5-344C-A3F4-22B7D1EFEE04}"/>
              </a:ext>
            </a:extLst>
          </p:cNvPr>
          <p:cNvSpPr/>
          <p:nvPr/>
        </p:nvSpPr>
        <p:spPr>
          <a:xfrm>
            <a:off x="8286901" y="448754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05585FE3-2BC0-1F41-8E48-ECC5109A8922}"/>
              </a:ext>
            </a:extLst>
          </p:cNvPr>
          <p:cNvSpPr/>
          <p:nvPr/>
        </p:nvSpPr>
        <p:spPr>
          <a:xfrm>
            <a:off x="8148725" y="448754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3339DF4-6428-CA45-B377-04C2C9B19E56}"/>
              </a:ext>
            </a:extLst>
          </p:cNvPr>
          <p:cNvSpPr/>
          <p:nvPr/>
        </p:nvSpPr>
        <p:spPr>
          <a:xfrm>
            <a:off x="8007071" y="448754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400F4722-F6EB-DA47-B8F6-85A6C4C4DF11}"/>
              </a:ext>
            </a:extLst>
          </p:cNvPr>
          <p:cNvSpPr/>
          <p:nvPr/>
        </p:nvSpPr>
        <p:spPr>
          <a:xfrm>
            <a:off x="7875272" y="448934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F531653D-2C1B-784E-8341-7213D3493CE9}"/>
              </a:ext>
            </a:extLst>
          </p:cNvPr>
          <p:cNvSpPr/>
          <p:nvPr/>
        </p:nvSpPr>
        <p:spPr>
          <a:xfrm rot="787176" flipV="1">
            <a:off x="7129506" y="4652619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0B0EF79-68D0-7143-8021-6856D5FDA433}"/>
              </a:ext>
            </a:extLst>
          </p:cNvPr>
          <p:cNvSpPr txBox="1"/>
          <p:nvPr/>
        </p:nvSpPr>
        <p:spPr>
          <a:xfrm>
            <a:off x="7154195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ACD79F-4C54-1B42-A4C3-E323B9B6BB26}"/>
              </a:ext>
            </a:extLst>
          </p:cNvPr>
          <p:cNvSpPr txBox="1"/>
          <p:nvPr/>
        </p:nvSpPr>
        <p:spPr>
          <a:xfrm>
            <a:off x="8867724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61182DA-B27B-8446-A47C-4C60D86700DC}"/>
              </a:ext>
            </a:extLst>
          </p:cNvPr>
          <p:cNvGrpSpPr/>
          <p:nvPr/>
        </p:nvGrpSpPr>
        <p:grpSpPr>
          <a:xfrm>
            <a:off x="2817148" y="4055562"/>
            <a:ext cx="662687" cy="1336552"/>
            <a:chOff x="2147913" y="3875724"/>
            <a:chExt cx="833095" cy="1773455"/>
          </a:xfrm>
        </p:grpSpPr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975EB7A4-E2BB-9C41-A923-33BD1AF86C23}"/>
                </a:ext>
              </a:extLst>
            </p:cNvPr>
            <p:cNvSpPr/>
            <p:nvPr/>
          </p:nvSpPr>
          <p:spPr>
            <a:xfrm>
              <a:off x="2151038" y="3917758"/>
              <a:ext cx="103141" cy="355600"/>
            </a:xfrm>
            <a:prstGeom prst="roundRect">
              <a:avLst/>
            </a:prstGeom>
            <a:solidFill>
              <a:srgbClr val="FF7E7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252B28A8-9D17-9841-B633-1AD4DA122D6C}"/>
                </a:ext>
              </a:extLst>
            </p:cNvPr>
            <p:cNvSpPr/>
            <p:nvPr/>
          </p:nvSpPr>
          <p:spPr>
            <a:xfrm>
              <a:off x="2147914" y="4360070"/>
              <a:ext cx="103141" cy="355600"/>
            </a:xfrm>
            <a:prstGeom prst="round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A1671666-5663-B04E-B11D-0FFD72D2E47D}"/>
                </a:ext>
              </a:extLst>
            </p:cNvPr>
            <p:cNvSpPr/>
            <p:nvPr/>
          </p:nvSpPr>
          <p:spPr>
            <a:xfrm>
              <a:off x="2147914" y="4813448"/>
              <a:ext cx="103141" cy="3556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61007415-856E-B64F-BD84-6311D2290642}"/>
                </a:ext>
              </a:extLst>
            </p:cNvPr>
            <p:cNvSpPr/>
            <p:nvPr/>
          </p:nvSpPr>
          <p:spPr>
            <a:xfrm>
              <a:off x="2147913" y="5259975"/>
              <a:ext cx="104795" cy="355600"/>
            </a:xfrm>
            <a:prstGeom prst="roundRect">
              <a:avLst/>
            </a:prstGeom>
            <a:solidFill>
              <a:srgbClr val="99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EE9E177-6FAC-5241-966B-AA34EB750379}"/>
                </a:ext>
              </a:extLst>
            </p:cNvPr>
            <p:cNvSpPr txBox="1"/>
            <p:nvPr/>
          </p:nvSpPr>
          <p:spPr>
            <a:xfrm>
              <a:off x="2216426" y="3875724"/>
              <a:ext cx="7420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NG: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T</a:t>
              </a:r>
              <a:endParaRPr kumimoji="1" lang="zh-CN" altLang="en-US" sz="1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D22C5BF-2782-9642-912B-BE90C7F1EE59}"/>
                </a:ext>
              </a:extLst>
            </p:cNvPr>
            <p:cNvSpPr txBox="1"/>
            <p:nvPr/>
          </p:nvSpPr>
          <p:spPr>
            <a:xfrm>
              <a:off x="2208778" y="4330435"/>
              <a:ext cx="6755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NI: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A</a:t>
              </a:r>
              <a:endParaRPr kumimoji="1" lang="zh-CN" altLang="en-US" sz="14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EA161A0-7014-3740-A254-BAB151049D85}"/>
                </a:ext>
              </a:extLst>
            </p:cNvPr>
            <p:cNvSpPr txBox="1"/>
            <p:nvPr/>
          </p:nvSpPr>
          <p:spPr>
            <a:xfrm>
              <a:off x="2216025" y="4785614"/>
              <a:ext cx="744019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HD: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C</a:t>
              </a:r>
              <a:endParaRPr kumimoji="1" lang="zh-CN" altLang="en-US" sz="14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DF89E2A-EC00-3D4B-BED2-A77154F6E940}"/>
                </a:ext>
              </a:extLst>
            </p:cNvPr>
            <p:cNvSpPr txBox="1"/>
            <p:nvPr/>
          </p:nvSpPr>
          <p:spPr>
            <a:xfrm>
              <a:off x="2208778" y="5240793"/>
              <a:ext cx="772230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NH: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G</a:t>
              </a:r>
              <a:endParaRPr kumimoji="1" lang="zh-CN" altLang="en-US" sz="1400" dirty="0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787E4F1A-AD35-9542-9F15-297A0859792A}"/>
              </a:ext>
            </a:extLst>
          </p:cNvPr>
          <p:cNvSpPr txBox="1"/>
          <p:nvPr/>
        </p:nvSpPr>
        <p:spPr>
          <a:xfrm>
            <a:off x="2266052" y="3515023"/>
            <a:ext cx="1625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Repeat variable diresidues (RVDs)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F405EBA-4F79-644F-93AB-E10DA1F39771}"/>
              </a:ext>
            </a:extLst>
          </p:cNvPr>
          <p:cNvSpPr txBox="1"/>
          <p:nvPr/>
        </p:nvSpPr>
        <p:spPr>
          <a:xfrm>
            <a:off x="0" y="5946429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3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4" grpId="0" animBg="1"/>
      <p:bldP spid="15" grpId="0"/>
      <p:bldP spid="23" grpId="0"/>
      <p:bldP spid="66" grpId="0"/>
      <p:bldP spid="67" grpId="0"/>
      <p:bldP spid="68" grpId="0"/>
      <p:bldP spid="69" grpId="0"/>
      <p:bldP spid="70" grpId="0" animBg="1"/>
      <p:bldP spid="76" grpId="0" animBg="1"/>
      <p:bldP spid="89" grpId="0"/>
      <p:bldP spid="90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1" grpId="0"/>
      <p:bldP spid="122" grpId="0"/>
      <p:bldP spid="1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316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Summary: Protein-guided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2A0F9B-A800-8F45-BD89-E13375AA649D}"/>
              </a:ext>
            </a:extLst>
          </p:cNvPr>
          <p:cNvCxnSpPr/>
          <p:nvPr/>
        </p:nvCxnSpPr>
        <p:spPr>
          <a:xfrm>
            <a:off x="808692" y="229308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11E47A-6D6B-0743-8463-AE653EBFEBC2}"/>
              </a:ext>
            </a:extLst>
          </p:cNvPr>
          <p:cNvCxnSpPr/>
          <p:nvPr/>
        </p:nvCxnSpPr>
        <p:spPr>
          <a:xfrm>
            <a:off x="808692" y="260904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46E3A-6BFF-784C-B92A-3B3C1E15E4E3}"/>
              </a:ext>
            </a:extLst>
          </p:cNvPr>
          <p:cNvCxnSpPr>
            <a:cxnSpLocks/>
          </p:cNvCxnSpPr>
          <p:nvPr/>
        </p:nvCxnSpPr>
        <p:spPr>
          <a:xfrm>
            <a:off x="99527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ECF60E-2A22-9549-92AD-5D16DE57B275}"/>
              </a:ext>
            </a:extLst>
          </p:cNvPr>
          <p:cNvCxnSpPr>
            <a:cxnSpLocks/>
          </p:cNvCxnSpPr>
          <p:nvPr/>
        </p:nvCxnSpPr>
        <p:spPr>
          <a:xfrm>
            <a:off x="11400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0CA37D-C44C-B94F-A031-3C5DEDB97716}"/>
              </a:ext>
            </a:extLst>
          </p:cNvPr>
          <p:cNvCxnSpPr>
            <a:cxnSpLocks/>
          </p:cNvCxnSpPr>
          <p:nvPr/>
        </p:nvCxnSpPr>
        <p:spPr>
          <a:xfrm>
            <a:off x="127721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8CE2F9-151A-A547-A2A9-1DCD927AC735}"/>
              </a:ext>
            </a:extLst>
          </p:cNvPr>
          <p:cNvCxnSpPr>
            <a:cxnSpLocks/>
          </p:cNvCxnSpPr>
          <p:nvPr/>
        </p:nvCxnSpPr>
        <p:spPr>
          <a:xfrm>
            <a:off x="14067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C86B52-460C-D747-941F-E753642128D0}"/>
              </a:ext>
            </a:extLst>
          </p:cNvPr>
          <p:cNvCxnSpPr>
            <a:cxnSpLocks/>
          </p:cNvCxnSpPr>
          <p:nvPr/>
        </p:nvCxnSpPr>
        <p:spPr>
          <a:xfrm>
            <a:off x="153629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AD3B31-C2B9-AB44-8B2E-83784F380CCF}"/>
              </a:ext>
            </a:extLst>
          </p:cNvPr>
          <p:cNvCxnSpPr>
            <a:cxnSpLocks/>
          </p:cNvCxnSpPr>
          <p:nvPr/>
        </p:nvCxnSpPr>
        <p:spPr>
          <a:xfrm>
            <a:off x="167415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171C57-F134-D040-81E8-2FFE9DBE7326}"/>
              </a:ext>
            </a:extLst>
          </p:cNvPr>
          <p:cNvCxnSpPr>
            <a:cxnSpLocks/>
          </p:cNvCxnSpPr>
          <p:nvPr/>
        </p:nvCxnSpPr>
        <p:spPr>
          <a:xfrm>
            <a:off x="18189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7BAB2-8B69-1C4A-86BB-A49878F941B5}"/>
              </a:ext>
            </a:extLst>
          </p:cNvPr>
          <p:cNvCxnSpPr>
            <a:cxnSpLocks/>
          </p:cNvCxnSpPr>
          <p:nvPr/>
        </p:nvCxnSpPr>
        <p:spPr>
          <a:xfrm>
            <a:off x="195609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3C738E-66FF-E04D-878D-B21E7029796B}"/>
              </a:ext>
            </a:extLst>
          </p:cNvPr>
          <p:cNvCxnSpPr>
            <a:cxnSpLocks/>
          </p:cNvCxnSpPr>
          <p:nvPr/>
        </p:nvCxnSpPr>
        <p:spPr>
          <a:xfrm>
            <a:off x="20856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EB6507-5089-5845-BC15-187514BCA90C}"/>
              </a:ext>
            </a:extLst>
          </p:cNvPr>
          <p:cNvCxnSpPr>
            <a:cxnSpLocks/>
          </p:cNvCxnSpPr>
          <p:nvPr/>
        </p:nvCxnSpPr>
        <p:spPr>
          <a:xfrm>
            <a:off x="221517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5522E-15B2-B84C-A952-328BA5D78FA5}"/>
              </a:ext>
            </a:extLst>
          </p:cNvPr>
          <p:cNvCxnSpPr>
            <a:cxnSpLocks/>
          </p:cNvCxnSpPr>
          <p:nvPr/>
        </p:nvCxnSpPr>
        <p:spPr>
          <a:xfrm>
            <a:off x="235302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9A68BB-1269-8547-8059-E75F5BC54CA3}"/>
              </a:ext>
            </a:extLst>
          </p:cNvPr>
          <p:cNvCxnSpPr>
            <a:cxnSpLocks/>
          </p:cNvCxnSpPr>
          <p:nvPr/>
        </p:nvCxnSpPr>
        <p:spPr>
          <a:xfrm>
            <a:off x="24978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E2218-2A37-CF4A-A120-09DB593CD08D}"/>
              </a:ext>
            </a:extLst>
          </p:cNvPr>
          <p:cNvCxnSpPr>
            <a:cxnSpLocks/>
          </p:cNvCxnSpPr>
          <p:nvPr/>
        </p:nvCxnSpPr>
        <p:spPr>
          <a:xfrm>
            <a:off x="263496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AF46DE-7F6B-6B41-AF8E-C67D79EF7880}"/>
              </a:ext>
            </a:extLst>
          </p:cNvPr>
          <p:cNvCxnSpPr>
            <a:cxnSpLocks/>
          </p:cNvCxnSpPr>
          <p:nvPr/>
        </p:nvCxnSpPr>
        <p:spPr>
          <a:xfrm>
            <a:off x="27645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F926E4-6FF7-5041-A4EA-3D616BEDBA89}"/>
              </a:ext>
            </a:extLst>
          </p:cNvPr>
          <p:cNvCxnSpPr>
            <a:cxnSpLocks/>
          </p:cNvCxnSpPr>
          <p:nvPr/>
        </p:nvCxnSpPr>
        <p:spPr>
          <a:xfrm>
            <a:off x="289404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616140-6735-204F-ADF7-AA13397B138D}"/>
              </a:ext>
            </a:extLst>
          </p:cNvPr>
          <p:cNvCxnSpPr>
            <a:cxnSpLocks/>
          </p:cNvCxnSpPr>
          <p:nvPr/>
        </p:nvCxnSpPr>
        <p:spPr>
          <a:xfrm>
            <a:off x="303189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4C833B-5EAB-CF42-8EE4-3622D65623CA}"/>
              </a:ext>
            </a:extLst>
          </p:cNvPr>
          <p:cNvCxnSpPr>
            <a:cxnSpLocks/>
          </p:cNvCxnSpPr>
          <p:nvPr/>
        </p:nvCxnSpPr>
        <p:spPr>
          <a:xfrm>
            <a:off x="31766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E271BE-E63E-B34B-BD76-5F59D1458054}"/>
              </a:ext>
            </a:extLst>
          </p:cNvPr>
          <p:cNvCxnSpPr>
            <a:cxnSpLocks/>
          </p:cNvCxnSpPr>
          <p:nvPr/>
        </p:nvCxnSpPr>
        <p:spPr>
          <a:xfrm>
            <a:off x="331383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08EA02-74A2-824B-82BF-D0256F39C39D}"/>
              </a:ext>
            </a:extLst>
          </p:cNvPr>
          <p:cNvCxnSpPr>
            <a:cxnSpLocks/>
          </p:cNvCxnSpPr>
          <p:nvPr/>
        </p:nvCxnSpPr>
        <p:spPr>
          <a:xfrm>
            <a:off x="34433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8C9259-30A7-5941-B5AB-0614EDCA7B1B}"/>
              </a:ext>
            </a:extLst>
          </p:cNvPr>
          <p:cNvCxnSpPr>
            <a:cxnSpLocks/>
          </p:cNvCxnSpPr>
          <p:nvPr/>
        </p:nvCxnSpPr>
        <p:spPr>
          <a:xfrm>
            <a:off x="357291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9DD92E-F6CC-3545-A42E-1677BB245F4A}"/>
              </a:ext>
            </a:extLst>
          </p:cNvPr>
          <p:cNvCxnSpPr>
            <a:cxnSpLocks/>
          </p:cNvCxnSpPr>
          <p:nvPr/>
        </p:nvCxnSpPr>
        <p:spPr>
          <a:xfrm>
            <a:off x="371077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1441B4-385E-C74A-B3E1-91B1592BF009}"/>
              </a:ext>
            </a:extLst>
          </p:cNvPr>
          <p:cNvCxnSpPr>
            <a:cxnSpLocks/>
          </p:cNvCxnSpPr>
          <p:nvPr/>
        </p:nvCxnSpPr>
        <p:spPr>
          <a:xfrm>
            <a:off x="38555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E3E861-040C-5A4B-B067-F7F728A3E6AA}"/>
              </a:ext>
            </a:extLst>
          </p:cNvPr>
          <p:cNvCxnSpPr>
            <a:cxnSpLocks/>
          </p:cNvCxnSpPr>
          <p:nvPr/>
        </p:nvCxnSpPr>
        <p:spPr>
          <a:xfrm>
            <a:off x="399271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7947DE-8F0E-1E47-BFA4-94AB70D44EBC}"/>
              </a:ext>
            </a:extLst>
          </p:cNvPr>
          <p:cNvCxnSpPr>
            <a:cxnSpLocks/>
          </p:cNvCxnSpPr>
          <p:nvPr/>
        </p:nvCxnSpPr>
        <p:spPr>
          <a:xfrm>
            <a:off x="41222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C0B7D0-5219-034A-BA1C-5471CFA03C76}"/>
              </a:ext>
            </a:extLst>
          </p:cNvPr>
          <p:cNvCxnSpPr>
            <a:cxnSpLocks/>
          </p:cNvCxnSpPr>
          <p:nvPr/>
        </p:nvCxnSpPr>
        <p:spPr>
          <a:xfrm>
            <a:off x="425179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B72E18-4174-234B-8A06-2D9340EF7B9B}"/>
              </a:ext>
            </a:extLst>
          </p:cNvPr>
          <p:cNvCxnSpPr>
            <a:cxnSpLocks/>
          </p:cNvCxnSpPr>
          <p:nvPr/>
        </p:nvCxnSpPr>
        <p:spPr>
          <a:xfrm>
            <a:off x="43820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AFE885B-58B8-EC45-A3A8-61232D66CE81}"/>
              </a:ext>
            </a:extLst>
          </p:cNvPr>
          <p:cNvCxnSpPr>
            <a:cxnSpLocks/>
          </p:cNvCxnSpPr>
          <p:nvPr/>
        </p:nvCxnSpPr>
        <p:spPr>
          <a:xfrm>
            <a:off x="451918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8C1E10-890A-904C-871A-B02A76810DCC}"/>
              </a:ext>
            </a:extLst>
          </p:cNvPr>
          <p:cNvCxnSpPr>
            <a:cxnSpLocks/>
          </p:cNvCxnSpPr>
          <p:nvPr/>
        </p:nvCxnSpPr>
        <p:spPr>
          <a:xfrm>
            <a:off x="46487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852855-9E61-AB46-B9A5-A0002199DC27}"/>
              </a:ext>
            </a:extLst>
          </p:cNvPr>
          <p:cNvCxnSpPr>
            <a:cxnSpLocks/>
          </p:cNvCxnSpPr>
          <p:nvPr/>
        </p:nvCxnSpPr>
        <p:spPr>
          <a:xfrm>
            <a:off x="4778263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1999BB-14CF-314D-AD4F-EE5144E1D1D3}"/>
              </a:ext>
            </a:extLst>
          </p:cNvPr>
          <p:cNvCxnSpPr>
            <a:cxnSpLocks/>
          </p:cNvCxnSpPr>
          <p:nvPr/>
        </p:nvCxnSpPr>
        <p:spPr>
          <a:xfrm>
            <a:off x="491611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BF0046-D690-CB48-B9D6-8A70AEDCB549}"/>
              </a:ext>
            </a:extLst>
          </p:cNvPr>
          <p:cNvCxnSpPr>
            <a:cxnSpLocks/>
          </p:cNvCxnSpPr>
          <p:nvPr/>
        </p:nvCxnSpPr>
        <p:spPr>
          <a:xfrm>
            <a:off x="50608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A487A9-2F19-AA4E-A69A-ED478298CCA2}"/>
              </a:ext>
            </a:extLst>
          </p:cNvPr>
          <p:cNvCxnSpPr>
            <a:cxnSpLocks/>
          </p:cNvCxnSpPr>
          <p:nvPr/>
        </p:nvCxnSpPr>
        <p:spPr>
          <a:xfrm>
            <a:off x="519805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696660-92B6-A145-8A2A-51F1086B7620}"/>
              </a:ext>
            </a:extLst>
          </p:cNvPr>
          <p:cNvCxnSpPr>
            <a:cxnSpLocks/>
          </p:cNvCxnSpPr>
          <p:nvPr/>
        </p:nvCxnSpPr>
        <p:spPr>
          <a:xfrm>
            <a:off x="53275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D70F5D0-A094-D141-AD37-31EF73C237E5}"/>
              </a:ext>
            </a:extLst>
          </p:cNvPr>
          <p:cNvCxnSpPr>
            <a:cxnSpLocks/>
          </p:cNvCxnSpPr>
          <p:nvPr/>
        </p:nvCxnSpPr>
        <p:spPr>
          <a:xfrm>
            <a:off x="545713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8182AA-9A3E-6149-B879-00CCF59ECD78}"/>
              </a:ext>
            </a:extLst>
          </p:cNvPr>
          <p:cNvCxnSpPr>
            <a:cxnSpLocks/>
          </p:cNvCxnSpPr>
          <p:nvPr/>
        </p:nvCxnSpPr>
        <p:spPr>
          <a:xfrm>
            <a:off x="559498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2CD8FD-B93D-F440-A860-C4DC42B851E8}"/>
              </a:ext>
            </a:extLst>
          </p:cNvPr>
          <p:cNvCxnSpPr>
            <a:cxnSpLocks/>
          </p:cNvCxnSpPr>
          <p:nvPr/>
        </p:nvCxnSpPr>
        <p:spPr>
          <a:xfrm>
            <a:off x="57397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325DE8-A33C-7C42-89BE-5587F49160A0}"/>
              </a:ext>
            </a:extLst>
          </p:cNvPr>
          <p:cNvCxnSpPr>
            <a:cxnSpLocks/>
          </p:cNvCxnSpPr>
          <p:nvPr/>
        </p:nvCxnSpPr>
        <p:spPr>
          <a:xfrm>
            <a:off x="587692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F4D8BF-6210-5D41-BF0D-C065D33B21EC}"/>
              </a:ext>
            </a:extLst>
          </p:cNvPr>
          <p:cNvCxnSpPr>
            <a:cxnSpLocks/>
          </p:cNvCxnSpPr>
          <p:nvPr/>
        </p:nvCxnSpPr>
        <p:spPr>
          <a:xfrm>
            <a:off x="60064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3D809A-A525-8A48-ABF8-4D227B75B8A6}"/>
              </a:ext>
            </a:extLst>
          </p:cNvPr>
          <p:cNvCxnSpPr>
            <a:cxnSpLocks/>
          </p:cNvCxnSpPr>
          <p:nvPr/>
        </p:nvCxnSpPr>
        <p:spPr>
          <a:xfrm>
            <a:off x="613600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42D398-D702-604D-93E8-C2688CAB5031}"/>
              </a:ext>
            </a:extLst>
          </p:cNvPr>
          <p:cNvCxnSpPr/>
          <p:nvPr/>
        </p:nvCxnSpPr>
        <p:spPr>
          <a:xfrm>
            <a:off x="648919" y="246691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008C8AB-47E6-DA48-ADFB-D720EE764DBF}"/>
              </a:ext>
            </a:extLst>
          </p:cNvPr>
          <p:cNvSpPr txBox="1"/>
          <p:nvPr/>
        </p:nvSpPr>
        <p:spPr>
          <a:xfrm>
            <a:off x="449298" y="21084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534512-00B0-C847-A298-A9303F0411D4}"/>
              </a:ext>
            </a:extLst>
          </p:cNvPr>
          <p:cNvSpPr txBox="1"/>
          <p:nvPr/>
        </p:nvSpPr>
        <p:spPr>
          <a:xfrm>
            <a:off x="449298" y="24264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A892B4-EBB2-8E4C-BA18-BBFFF3E1DCC0}"/>
              </a:ext>
            </a:extLst>
          </p:cNvPr>
          <p:cNvSpPr txBox="1"/>
          <p:nvPr/>
        </p:nvSpPr>
        <p:spPr>
          <a:xfrm>
            <a:off x="6281326" y="242329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0FA3D-AB45-A94F-81C1-C62489ADB802}"/>
              </a:ext>
            </a:extLst>
          </p:cNvPr>
          <p:cNvSpPr txBox="1"/>
          <p:nvPr/>
        </p:nvSpPr>
        <p:spPr>
          <a:xfrm>
            <a:off x="6282439" y="210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7F41C1D0-AADE-6E40-BE68-CBFE696B23DB}"/>
              </a:ext>
            </a:extLst>
          </p:cNvPr>
          <p:cNvSpPr/>
          <p:nvPr/>
        </p:nvSpPr>
        <p:spPr>
          <a:xfrm>
            <a:off x="3545713" y="219343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2D8C4CB4-6F49-3449-8FD0-7DF672DB4B0C}"/>
              </a:ext>
            </a:extLst>
          </p:cNvPr>
          <p:cNvSpPr/>
          <p:nvPr/>
        </p:nvSpPr>
        <p:spPr>
          <a:xfrm>
            <a:off x="1763307" y="270868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52B4BC94-2AF5-EF40-A9BA-B536CBD615E5}"/>
              </a:ext>
            </a:extLst>
          </p:cNvPr>
          <p:cNvSpPr/>
          <p:nvPr/>
        </p:nvSpPr>
        <p:spPr>
          <a:xfrm>
            <a:off x="2173755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E9B4074D-5670-9841-A580-66293886350A}"/>
              </a:ext>
            </a:extLst>
          </p:cNvPr>
          <p:cNvSpPr/>
          <p:nvPr/>
        </p:nvSpPr>
        <p:spPr>
          <a:xfrm>
            <a:off x="2593120" y="2696797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4206E9E0-56A0-6F42-868C-C6EE9FCE3AF0}"/>
              </a:ext>
            </a:extLst>
          </p:cNvPr>
          <p:cNvSpPr/>
          <p:nvPr/>
        </p:nvSpPr>
        <p:spPr>
          <a:xfrm>
            <a:off x="2991308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84E568-1640-3B49-AD32-B6180E4C4AE2}"/>
              </a:ext>
            </a:extLst>
          </p:cNvPr>
          <p:cNvGrpSpPr/>
          <p:nvPr/>
        </p:nvGrpSpPr>
        <p:grpSpPr>
          <a:xfrm>
            <a:off x="3365579" y="1801389"/>
            <a:ext cx="2518671" cy="793133"/>
            <a:chOff x="8308639" y="3431406"/>
            <a:chExt cx="2518671" cy="793133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83F66F3-0C99-AE45-B328-8607E20F6109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BF48A6B-8EE7-B845-A2BB-9F301BBC37FC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F64A46A-9BBE-904B-B5B6-CD0BCDAE70C9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DE1769B-2145-6945-A1D0-5E286D0464A0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21AF418-34AA-F34D-B0FA-5FD6EB81783D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2E3E71C-C431-644D-9B27-AB22FEA9CCF6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C9FB3AF-0C94-4341-8A21-E075EF04B735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DECD7E9-C82C-8541-95F4-3D6C5DFE2CE9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D4DE462-38DD-4040-95DC-5E9B262135C7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1" name="Freeform 70">
            <a:extLst>
              <a:ext uri="{FF2B5EF4-FFF2-40B4-BE49-F238E27FC236}">
                <a16:creationId xmlns:a16="http://schemas.microsoft.com/office/drawing/2014/main" id="{6D827F1C-6574-8140-9F29-50C11CA97406}"/>
              </a:ext>
            </a:extLst>
          </p:cNvPr>
          <p:cNvSpPr/>
          <p:nvPr/>
        </p:nvSpPr>
        <p:spPr>
          <a:xfrm rot="20361174" flipV="1">
            <a:off x="3307141" y="2891710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247E7DB8-20E9-314E-A63E-C821FCC128D2}"/>
              </a:ext>
            </a:extLst>
          </p:cNvPr>
          <p:cNvSpPr/>
          <p:nvPr/>
        </p:nvSpPr>
        <p:spPr>
          <a:xfrm rot="20361174" flipV="1">
            <a:off x="2835503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2D205603-16A4-AC41-B72E-AF166A0A868C}"/>
              </a:ext>
            </a:extLst>
          </p:cNvPr>
          <p:cNvSpPr/>
          <p:nvPr/>
        </p:nvSpPr>
        <p:spPr>
          <a:xfrm rot="9967244" flipV="1">
            <a:off x="2450185" y="2667917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8F70C25D-1077-CA44-811B-B77B3C6DE551}"/>
              </a:ext>
            </a:extLst>
          </p:cNvPr>
          <p:cNvSpPr/>
          <p:nvPr/>
        </p:nvSpPr>
        <p:spPr>
          <a:xfrm rot="20361174" flipV="1">
            <a:off x="2023046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Lightning Bolt 74">
            <a:extLst>
              <a:ext uri="{FF2B5EF4-FFF2-40B4-BE49-F238E27FC236}">
                <a16:creationId xmlns:a16="http://schemas.microsoft.com/office/drawing/2014/main" id="{0AE70164-A7E3-7842-968A-212B2EA4C4AC}"/>
              </a:ext>
            </a:extLst>
          </p:cNvPr>
          <p:cNvSpPr/>
          <p:nvPr/>
        </p:nvSpPr>
        <p:spPr>
          <a:xfrm flipH="1">
            <a:off x="3838903" y="161099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3F2C7BB-E90A-3644-9D5E-32FC319897C3}"/>
              </a:ext>
            </a:extLst>
          </p:cNvPr>
          <p:cNvCxnSpPr>
            <a:cxnSpLocks/>
          </p:cNvCxnSpPr>
          <p:nvPr/>
        </p:nvCxnSpPr>
        <p:spPr>
          <a:xfrm>
            <a:off x="872040" y="4219398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13752CF-F5EB-6B42-B4A4-DECB01F4F881}"/>
              </a:ext>
            </a:extLst>
          </p:cNvPr>
          <p:cNvCxnSpPr/>
          <p:nvPr/>
        </p:nvCxnSpPr>
        <p:spPr>
          <a:xfrm>
            <a:off x="872040" y="4535354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C992AC-8BD2-8449-BD9A-66A5AA2C64E2}"/>
              </a:ext>
            </a:extLst>
          </p:cNvPr>
          <p:cNvCxnSpPr>
            <a:cxnSpLocks/>
          </p:cNvCxnSpPr>
          <p:nvPr/>
        </p:nvCxnSpPr>
        <p:spPr>
          <a:xfrm>
            <a:off x="105862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274E06-4D29-6942-A6BD-780A1F48886B}"/>
              </a:ext>
            </a:extLst>
          </p:cNvPr>
          <p:cNvCxnSpPr>
            <a:cxnSpLocks/>
          </p:cNvCxnSpPr>
          <p:nvPr/>
        </p:nvCxnSpPr>
        <p:spPr>
          <a:xfrm>
            <a:off x="12034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AD78413-6C29-C14D-B8BA-4C179F9DA174}"/>
              </a:ext>
            </a:extLst>
          </p:cNvPr>
          <p:cNvCxnSpPr>
            <a:cxnSpLocks/>
          </p:cNvCxnSpPr>
          <p:nvPr/>
        </p:nvCxnSpPr>
        <p:spPr>
          <a:xfrm>
            <a:off x="134056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8B0D709-C49F-8745-9FB8-6E2DD250EEF2}"/>
              </a:ext>
            </a:extLst>
          </p:cNvPr>
          <p:cNvCxnSpPr>
            <a:cxnSpLocks/>
          </p:cNvCxnSpPr>
          <p:nvPr/>
        </p:nvCxnSpPr>
        <p:spPr>
          <a:xfrm>
            <a:off x="14701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8AF168-B20C-9E48-A2C5-C3FD30A2A641}"/>
              </a:ext>
            </a:extLst>
          </p:cNvPr>
          <p:cNvCxnSpPr>
            <a:cxnSpLocks/>
          </p:cNvCxnSpPr>
          <p:nvPr/>
        </p:nvCxnSpPr>
        <p:spPr>
          <a:xfrm>
            <a:off x="159964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2CF82A4-4CE2-EC4C-9F4B-903174412CE6}"/>
              </a:ext>
            </a:extLst>
          </p:cNvPr>
          <p:cNvCxnSpPr>
            <a:cxnSpLocks/>
          </p:cNvCxnSpPr>
          <p:nvPr/>
        </p:nvCxnSpPr>
        <p:spPr>
          <a:xfrm>
            <a:off x="173750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0C01C71-9437-2847-A865-94D467E15BB0}"/>
              </a:ext>
            </a:extLst>
          </p:cNvPr>
          <p:cNvCxnSpPr>
            <a:cxnSpLocks/>
          </p:cNvCxnSpPr>
          <p:nvPr/>
        </p:nvCxnSpPr>
        <p:spPr>
          <a:xfrm>
            <a:off x="18822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B87907C-4FAD-3544-A119-6E0226A2A553}"/>
              </a:ext>
            </a:extLst>
          </p:cNvPr>
          <p:cNvCxnSpPr>
            <a:cxnSpLocks/>
          </p:cNvCxnSpPr>
          <p:nvPr/>
        </p:nvCxnSpPr>
        <p:spPr>
          <a:xfrm>
            <a:off x="201944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F9D9B48-BB0E-F545-9F64-32F5A4E9DCC7}"/>
              </a:ext>
            </a:extLst>
          </p:cNvPr>
          <p:cNvCxnSpPr>
            <a:cxnSpLocks/>
          </p:cNvCxnSpPr>
          <p:nvPr/>
        </p:nvCxnSpPr>
        <p:spPr>
          <a:xfrm>
            <a:off x="21489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B2CEEF2-D8A7-7542-8AD3-9C192BE5ED2C}"/>
              </a:ext>
            </a:extLst>
          </p:cNvPr>
          <p:cNvCxnSpPr>
            <a:cxnSpLocks/>
          </p:cNvCxnSpPr>
          <p:nvPr/>
        </p:nvCxnSpPr>
        <p:spPr>
          <a:xfrm>
            <a:off x="227852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261E8D0-2688-2D4B-94AE-B75D3CE535BF}"/>
              </a:ext>
            </a:extLst>
          </p:cNvPr>
          <p:cNvCxnSpPr>
            <a:cxnSpLocks/>
          </p:cNvCxnSpPr>
          <p:nvPr/>
        </p:nvCxnSpPr>
        <p:spPr>
          <a:xfrm>
            <a:off x="241637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7633437-7E1B-624C-9820-69F0B429AA76}"/>
              </a:ext>
            </a:extLst>
          </p:cNvPr>
          <p:cNvCxnSpPr>
            <a:cxnSpLocks/>
          </p:cNvCxnSpPr>
          <p:nvPr/>
        </p:nvCxnSpPr>
        <p:spPr>
          <a:xfrm>
            <a:off x="25611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8F4627C-AFF1-0045-BD6B-68621A9681FC}"/>
              </a:ext>
            </a:extLst>
          </p:cNvPr>
          <p:cNvCxnSpPr>
            <a:cxnSpLocks/>
          </p:cNvCxnSpPr>
          <p:nvPr/>
        </p:nvCxnSpPr>
        <p:spPr>
          <a:xfrm>
            <a:off x="269831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F7EC3D3-10B2-A941-88BE-08E58AA9545B}"/>
              </a:ext>
            </a:extLst>
          </p:cNvPr>
          <p:cNvCxnSpPr>
            <a:cxnSpLocks/>
          </p:cNvCxnSpPr>
          <p:nvPr/>
        </p:nvCxnSpPr>
        <p:spPr>
          <a:xfrm>
            <a:off x="28278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44BAC2A-FBA9-C544-939B-32E8B63DC0DC}"/>
              </a:ext>
            </a:extLst>
          </p:cNvPr>
          <p:cNvCxnSpPr>
            <a:cxnSpLocks/>
          </p:cNvCxnSpPr>
          <p:nvPr/>
        </p:nvCxnSpPr>
        <p:spPr>
          <a:xfrm>
            <a:off x="295739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2436750-88FC-CD49-ADCE-B4D8F09369E4}"/>
              </a:ext>
            </a:extLst>
          </p:cNvPr>
          <p:cNvCxnSpPr>
            <a:cxnSpLocks/>
          </p:cNvCxnSpPr>
          <p:nvPr/>
        </p:nvCxnSpPr>
        <p:spPr>
          <a:xfrm>
            <a:off x="309524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51B5EB7-EB35-634F-AAA4-41FCA9A9944F}"/>
              </a:ext>
            </a:extLst>
          </p:cNvPr>
          <p:cNvCxnSpPr>
            <a:cxnSpLocks/>
          </p:cNvCxnSpPr>
          <p:nvPr/>
        </p:nvCxnSpPr>
        <p:spPr>
          <a:xfrm>
            <a:off x="32400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50489DA-240F-9C40-A495-CFF31803EAF0}"/>
              </a:ext>
            </a:extLst>
          </p:cNvPr>
          <p:cNvCxnSpPr>
            <a:cxnSpLocks/>
          </p:cNvCxnSpPr>
          <p:nvPr/>
        </p:nvCxnSpPr>
        <p:spPr>
          <a:xfrm>
            <a:off x="337718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9B716DE-D47B-7F4F-B28A-3E86507B006F}"/>
              </a:ext>
            </a:extLst>
          </p:cNvPr>
          <p:cNvCxnSpPr>
            <a:cxnSpLocks/>
          </p:cNvCxnSpPr>
          <p:nvPr/>
        </p:nvCxnSpPr>
        <p:spPr>
          <a:xfrm>
            <a:off x="35067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7371EAE-0802-F441-86BE-6A7CC5FF8503}"/>
              </a:ext>
            </a:extLst>
          </p:cNvPr>
          <p:cNvCxnSpPr>
            <a:cxnSpLocks/>
          </p:cNvCxnSpPr>
          <p:nvPr/>
        </p:nvCxnSpPr>
        <p:spPr>
          <a:xfrm>
            <a:off x="363626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7BA93A-196A-6642-9597-401F8262D4B9}"/>
              </a:ext>
            </a:extLst>
          </p:cNvPr>
          <p:cNvCxnSpPr>
            <a:cxnSpLocks/>
          </p:cNvCxnSpPr>
          <p:nvPr/>
        </p:nvCxnSpPr>
        <p:spPr>
          <a:xfrm>
            <a:off x="377411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35F98C4-A36A-E445-89B8-F2DAEEACE20A}"/>
              </a:ext>
            </a:extLst>
          </p:cNvPr>
          <p:cNvCxnSpPr>
            <a:cxnSpLocks/>
          </p:cNvCxnSpPr>
          <p:nvPr/>
        </p:nvCxnSpPr>
        <p:spPr>
          <a:xfrm>
            <a:off x="39188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419C1A8-9537-CF49-AB6A-5F8308C8075C}"/>
              </a:ext>
            </a:extLst>
          </p:cNvPr>
          <p:cNvCxnSpPr>
            <a:cxnSpLocks/>
          </p:cNvCxnSpPr>
          <p:nvPr/>
        </p:nvCxnSpPr>
        <p:spPr>
          <a:xfrm>
            <a:off x="405605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DEC512E-333A-1B4C-A32D-C024A132BB75}"/>
              </a:ext>
            </a:extLst>
          </p:cNvPr>
          <p:cNvCxnSpPr>
            <a:cxnSpLocks/>
          </p:cNvCxnSpPr>
          <p:nvPr/>
        </p:nvCxnSpPr>
        <p:spPr>
          <a:xfrm>
            <a:off x="41855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2B51657-3ADF-3C41-88CF-DCEE58A431DB}"/>
              </a:ext>
            </a:extLst>
          </p:cNvPr>
          <p:cNvCxnSpPr>
            <a:cxnSpLocks/>
          </p:cNvCxnSpPr>
          <p:nvPr/>
        </p:nvCxnSpPr>
        <p:spPr>
          <a:xfrm>
            <a:off x="431513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EF9D82E-5B5C-4E4E-A30D-D45FCD5900BC}"/>
              </a:ext>
            </a:extLst>
          </p:cNvPr>
          <p:cNvCxnSpPr>
            <a:cxnSpLocks/>
          </p:cNvCxnSpPr>
          <p:nvPr/>
        </p:nvCxnSpPr>
        <p:spPr>
          <a:xfrm>
            <a:off x="44453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30F7D6B-D560-F84B-9F90-37D07E15E427}"/>
              </a:ext>
            </a:extLst>
          </p:cNvPr>
          <p:cNvCxnSpPr>
            <a:cxnSpLocks/>
          </p:cNvCxnSpPr>
          <p:nvPr/>
        </p:nvCxnSpPr>
        <p:spPr>
          <a:xfrm>
            <a:off x="458253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5F907BB-C602-184E-A877-CEF37A532F14}"/>
              </a:ext>
            </a:extLst>
          </p:cNvPr>
          <p:cNvCxnSpPr>
            <a:cxnSpLocks/>
          </p:cNvCxnSpPr>
          <p:nvPr/>
        </p:nvCxnSpPr>
        <p:spPr>
          <a:xfrm>
            <a:off x="47120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6F9FD34-4DD1-4F45-A824-9FE3F47F9254}"/>
              </a:ext>
            </a:extLst>
          </p:cNvPr>
          <p:cNvCxnSpPr>
            <a:cxnSpLocks/>
          </p:cNvCxnSpPr>
          <p:nvPr/>
        </p:nvCxnSpPr>
        <p:spPr>
          <a:xfrm>
            <a:off x="4841611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EDB9B27-9069-6F4B-A0B2-C507C5F5A728}"/>
              </a:ext>
            </a:extLst>
          </p:cNvPr>
          <p:cNvCxnSpPr>
            <a:cxnSpLocks/>
          </p:cNvCxnSpPr>
          <p:nvPr/>
        </p:nvCxnSpPr>
        <p:spPr>
          <a:xfrm>
            <a:off x="497946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C1055-6D9B-8F4F-8E75-025095A39F63}"/>
              </a:ext>
            </a:extLst>
          </p:cNvPr>
          <p:cNvCxnSpPr>
            <a:cxnSpLocks/>
          </p:cNvCxnSpPr>
          <p:nvPr/>
        </p:nvCxnSpPr>
        <p:spPr>
          <a:xfrm>
            <a:off x="51242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4B4C502-5030-B041-B456-1673935017A4}"/>
              </a:ext>
            </a:extLst>
          </p:cNvPr>
          <p:cNvCxnSpPr>
            <a:cxnSpLocks/>
          </p:cNvCxnSpPr>
          <p:nvPr/>
        </p:nvCxnSpPr>
        <p:spPr>
          <a:xfrm>
            <a:off x="526140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8A01530-5855-534C-9235-988590ACF9B6}"/>
              </a:ext>
            </a:extLst>
          </p:cNvPr>
          <p:cNvCxnSpPr>
            <a:cxnSpLocks/>
          </p:cNvCxnSpPr>
          <p:nvPr/>
        </p:nvCxnSpPr>
        <p:spPr>
          <a:xfrm>
            <a:off x="53909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A6AD419-01ED-764F-9BE7-1739F575CBD5}"/>
              </a:ext>
            </a:extLst>
          </p:cNvPr>
          <p:cNvCxnSpPr>
            <a:cxnSpLocks/>
          </p:cNvCxnSpPr>
          <p:nvPr/>
        </p:nvCxnSpPr>
        <p:spPr>
          <a:xfrm>
            <a:off x="552048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33DA583-A56E-4A46-9AE1-A976FDFFE8B3}"/>
              </a:ext>
            </a:extLst>
          </p:cNvPr>
          <p:cNvCxnSpPr>
            <a:cxnSpLocks/>
          </p:cNvCxnSpPr>
          <p:nvPr/>
        </p:nvCxnSpPr>
        <p:spPr>
          <a:xfrm>
            <a:off x="565833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1FC8B7-22BC-8C4D-8A78-1A2AB11D7C5E}"/>
              </a:ext>
            </a:extLst>
          </p:cNvPr>
          <p:cNvCxnSpPr>
            <a:cxnSpLocks/>
          </p:cNvCxnSpPr>
          <p:nvPr/>
        </p:nvCxnSpPr>
        <p:spPr>
          <a:xfrm>
            <a:off x="58031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C21564-3C9B-D140-9A17-C397DB98D5A6}"/>
              </a:ext>
            </a:extLst>
          </p:cNvPr>
          <p:cNvCxnSpPr>
            <a:cxnSpLocks/>
          </p:cNvCxnSpPr>
          <p:nvPr/>
        </p:nvCxnSpPr>
        <p:spPr>
          <a:xfrm>
            <a:off x="594027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86087C3-0ED2-3B41-BE6D-A52B574B2A12}"/>
              </a:ext>
            </a:extLst>
          </p:cNvPr>
          <p:cNvCxnSpPr>
            <a:cxnSpLocks/>
          </p:cNvCxnSpPr>
          <p:nvPr/>
        </p:nvCxnSpPr>
        <p:spPr>
          <a:xfrm>
            <a:off x="60698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0ED76E5-6187-AD4D-9301-0B4CCE8A5F97}"/>
              </a:ext>
            </a:extLst>
          </p:cNvPr>
          <p:cNvCxnSpPr>
            <a:cxnSpLocks/>
          </p:cNvCxnSpPr>
          <p:nvPr/>
        </p:nvCxnSpPr>
        <p:spPr>
          <a:xfrm>
            <a:off x="619935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A277CAA-7522-D743-AA1C-28299319F175}"/>
              </a:ext>
            </a:extLst>
          </p:cNvPr>
          <p:cNvCxnSpPr/>
          <p:nvPr/>
        </p:nvCxnSpPr>
        <p:spPr>
          <a:xfrm>
            <a:off x="712267" y="4393223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94AF451-22D2-6248-83C2-403E5886334E}"/>
              </a:ext>
            </a:extLst>
          </p:cNvPr>
          <p:cNvSpPr txBox="1"/>
          <p:nvPr/>
        </p:nvSpPr>
        <p:spPr>
          <a:xfrm>
            <a:off x="512646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838463F-CC11-D94F-8937-73B18BCAAC71}"/>
              </a:ext>
            </a:extLst>
          </p:cNvPr>
          <p:cNvSpPr txBox="1"/>
          <p:nvPr/>
        </p:nvSpPr>
        <p:spPr>
          <a:xfrm>
            <a:off x="512646" y="435275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3AF208A-68A8-574D-BBA3-0F254CA4EB18}"/>
              </a:ext>
            </a:extLst>
          </p:cNvPr>
          <p:cNvSpPr txBox="1"/>
          <p:nvPr/>
        </p:nvSpPr>
        <p:spPr>
          <a:xfrm>
            <a:off x="6366710" y="43551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346304-CF9B-034E-9169-7F8A8F912EC8}"/>
              </a:ext>
            </a:extLst>
          </p:cNvPr>
          <p:cNvSpPr txBox="1"/>
          <p:nvPr/>
        </p:nvSpPr>
        <p:spPr>
          <a:xfrm>
            <a:off x="6366710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FB2D1995-8B29-164C-9905-72E60B3FEFB1}"/>
              </a:ext>
            </a:extLst>
          </p:cNvPr>
          <p:cNvSpPr/>
          <p:nvPr/>
        </p:nvSpPr>
        <p:spPr>
          <a:xfrm>
            <a:off x="3362574" y="4119751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C1B0582C-146C-8E45-9744-2D28C6B1FC97}"/>
              </a:ext>
            </a:extLst>
          </p:cNvPr>
          <p:cNvSpPr/>
          <p:nvPr/>
        </p:nvSpPr>
        <p:spPr>
          <a:xfrm>
            <a:off x="3182440" y="377268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6" name="Lightning Bolt 125">
            <a:extLst>
              <a:ext uri="{FF2B5EF4-FFF2-40B4-BE49-F238E27FC236}">
                <a16:creationId xmlns:a16="http://schemas.microsoft.com/office/drawing/2014/main" id="{E2BE8C6F-CD5F-BA4D-90F5-2F8672E23F97}"/>
              </a:ext>
            </a:extLst>
          </p:cNvPr>
          <p:cNvSpPr/>
          <p:nvPr/>
        </p:nvSpPr>
        <p:spPr>
          <a:xfrm flipH="1">
            <a:off x="3655764" y="3537303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Freeform 126">
            <a:extLst>
              <a:ext uri="{FF2B5EF4-FFF2-40B4-BE49-F238E27FC236}">
                <a16:creationId xmlns:a16="http://schemas.microsoft.com/office/drawing/2014/main" id="{0256D5A2-9FDB-484C-A148-3B9A311385A8}"/>
              </a:ext>
            </a:extLst>
          </p:cNvPr>
          <p:cNvSpPr/>
          <p:nvPr/>
        </p:nvSpPr>
        <p:spPr>
          <a:xfrm>
            <a:off x="2660809" y="374604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914EA5B0-1FBC-5248-8FED-F02A47587C8D}"/>
              </a:ext>
            </a:extLst>
          </p:cNvPr>
          <p:cNvSpPr/>
          <p:nvPr/>
        </p:nvSpPr>
        <p:spPr>
          <a:xfrm rot="10800000">
            <a:off x="965829" y="374311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BB9F2E89-DE1B-A143-968B-1245370F5A4F}"/>
              </a:ext>
            </a:extLst>
          </p:cNvPr>
          <p:cNvSpPr/>
          <p:nvPr/>
        </p:nvSpPr>
        <p:spPr>
          <a:xfrm>
            <a:off x="2532078" y="376451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A69795F8-202E-FB47-823E-0F935DB73C53}"/>
              </a:ext>
            </a:extLst>
          </p:cNvPr>
          <p:cNvSpPr/>
          <p:nvPr/>
        </p:nvSpPr>
        <p:spPr>
          <a:xfrm>
            <a:off x="2394765" y="376352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15A904B1-E0C3-D94A-B1DA-A967480E4662}"/>
              </a:ext>
            </a:extLst>
          </p:cNvPr>
          <p:cNvSpPr/>
          <p:nvPr/>
        </p:nvSpPr>
        <p:spPr>
          <a:xfrm>
            <a:off x="2250773" y="376241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39EF9851-9918-1D4F-87BF-05129B687398}"/>
              </a:ext>
            </a:extLst>
          </p:cNvPr>
          <p:cNvSpPr/>
          <p:nvPr/>
        </p:nvSpPr>
        <p:spPr>
          <a:xfrm>
            <a:off x="2112597" y="376241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5A75275-4A77-AB4B-ABAC-04074B116D52}"/>
              </a:ext>
            </a:extLst>
          </p:cNvPr>
          <p:cNvSpPr/>
          <p:nvPr/>
        </p:nvSpPr>
        <p:spPr>
          <a:xfrm>
            <a:off x="1970943" y="376241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E667186-AD36-C840-923B-566999A0DBF5}"/>
              </a:ext>
            </a:extLst>
          </p:cNvPr>
          <p:cNvSpPr/>
          <p:nvPr/>
        </p:nvSpPr>
        <p:spPr>
          <a:xfrm>
            <a:off x="1839144" y="376421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9CB79699-D0D9-4147-8EC8-B3FB71945504}"/>
              </a:ext>
            </a:extLst>
          </p:cNvPr>
          <p:cNvSpPr/>
          <p:nvPr/>
        </p:nvSpPr>
        <p:spPr>
          <a:xfrm>
            <a:off x="1701493" y="375536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53C7E80-49CA-FB41-9E42-5E1D30D2A923}"/>
              </a:ext>
            </a:extLst>
          </p:cNvPr>
          <p:cNvSpPr/>
          <p:nvPr/>
        </p:nvSpPr>
        <p:spPr>
          <a:xfrm>
            <a:off x="1563317" y="375536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266E50B8-BB1A-1945-B997-31B0D8071C66}"/>
              </a:ext>
            </a:extLst>
          </p:cNvPr>
          <p:cNvSpPr/>
          <p:nvPr/>
        </p:nvSpPr>
        <p:spPr>
          <a:xfrm>
            <a:off x="1421663" y="375536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4BAF3711-7B27-B642-ACCC-67EFC8B1C0A0}"/>
              </a:ext>
            </a:extLst>
          </p:cNvPr>
          <p:cNvSpPr/>
          <p:nvPr/>
        </p:nvSpPr>
        <p:spPr>
          <a:xfrm>
            <a:off x="1289864" y="375716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Freeform 138">
            <a:extLst>
              <a:ext uri="{FF2B5EF4-FFF2-40B4-BE49-F238E27FC236}">
                <a16:creationId xmlns:a16="http://schemas.microsoft.com/office/drawing/2014/main" id="{7D8519BC-82C9-E14E-A714-406B5978D17C}"/>
              </a:ext>
            </a:extLst>
          </p:cNvPr>
          <p:cNvSpPr/>
          <p:nvPr/>
        </p:nvSpPr>
        <p:spPr>
          <a:xfrm rot="11058474" flipV="1">
            <a:off x="2928008" y="3796734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4AF9695B-C83C-444A-AD62-8319059EEAB2}"/>
              </a:ext>
            </a:extLst>
          </p:cNvPr>
          <p:cNvSpPr/>
          <p:nvPr/>
        </p:nvSpPr>
        <p:spPr>
          <a:xfrm>
            <a:off x="6025018" y="4582975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Freeform 140">
            <a:extLst>
              <a:ext uri="{FF2B5EF4-FFF2-40B4-BE49-F238E27FC236}">
                <a16:creationId xmlns:a16="http://schemas.microsoft.com/office/drawing/2014/main" id="{61625CB0-32C5-1149-ADA8-17CB631762BF}"/>
              </a:ext>
            </a:extLst>
          </p:cNvPr>
          <p:cNvSpPr/>
          <p:nvPr/>
        </p:nvSpPr>
        <p:spPr>
          <a:xfrm rot="10800000">
            <a:off x="4330038" y="4580042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9092BD8-6AF4-C440-9DBF-D451EB1FE43B}"/>
              </a:ext>
            </a:extLst>
          </p:cNvPr>
          <p:cNvSpPr/>
          <p:nvPr/>
        </p:nvSpPr>
        <p:spPr>
          <a:xfrm>
            <a:off x="5896287" y="4601448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7C851F96-0BF7-084A-8550-3ABF835E948A}"/>
              </a:ext>
            </a:extLst>
          </p:cNvPr>
          <p:cNvSpPr/>
          <p:nvPr/>
        </p:nvSpPr>
        <p:spPr>
          <a:xfrm>
            <a:off x="5758974" y="4600456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26839930-C962-4644-BFB8-0CC8AF965FC5}"/>
              </a:ext>
            </a:extLst>
          </p:cNvPr>
          <p:cNvSpPr/>
          <p:nvPr/>
        </p:nvSpPr>
        <p:spPr>
          <a:xfrm>
            <a:off x="5614982" y="4599350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54FE2274-C049-D64E-9F3B-DA4F5FE8E3EC}"/>
              </a:ext>
            </a:extLst>
          </p:cNvPr>
          <p:cNvSpPr/>
          <p:nvPr/>
        </p:nvSpPr>
        <p:spPr>
          <a:xfrm>
            <a:off x="5476806" y="4599350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4EBDE17A-5389-9B48-8319-4FD1B8A27E9C}"/>
              </a:ext>
            </a:extLst>
          </p:cNvPr>
          <p:cNvSpPr/>
          <p:nvPr/>
        </p:nvSpPr>
        <p:spPr>
          <a:xfrm>
            <a:off x="5335152" y="4599350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C8F91D67-17A2-5A4F-99D3-87519F12E294}"/>
              </a:ext>
            </a:extLst>
          </p:cNvPr>
          <p:cNvSpPr/>
          <p:nvPr/>
        </p:nvSpPr>
        <p:spPr>
          <a:xfrm>
            <a:off x="5203353" y="4601146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CF840673-5733-6449-855E-4B548009708B}"/>
              </a:ext>
            </a:extLst>
          </p:cNvPr>
          <p:cNvSpPr/>
          <p:nvPr/>
        </p:nvSpPr>
        <p:spPr>
          <a:xfrm>
            <a:off x="5065702" y="4592297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BA0BDC06-5139-F742-9F72-BFB7858216AC}"/>
              </a:ext>
            </a:extLst>
          </p:cNvPr>
          <p:cNvSpPr/>
          <p:nvPr/>
        </p:nvSpPr>
        <p:spPr>
          <a:xfrm>
            <a:off x="4927526" y="4592297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401986A-74B0-5D40-AE08-00312FAFF2EE}"/>
              </a:ext>
            </a:extLst>
          </p:cNvPr>
          <p:cNvSpPr/>
          <p:nvPr/>
        </p:nvSpPr>
        <p:spPr>
          <a:xfrm>
            <a:off x="4785872" y="4592297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78E30E6-5024-9B48-AF5D-5A872D176E2B}"/>
              </a:ext>
            </a:extLst>
          </p:cNvPr>
          <p:cNvSpPr/>
          <p:nvPr/>
        </p:nvSpPr>
        <p:spPr>
          <a:xfrm>
            <a:off x="4654073" y="4594093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E0FAF83A-FF96-6E40-BFAE-FCAA8F263695}"/>
              </a:ext>
            </a:extLst>
          </p:cNvPr>
          <p:cNvSpPr/>
          <p:nvPr/>
        </p:nvSpPr>
        <p:spPr>
          <a:xfrm rot="787176" flipV="1">
            <a:off x="3908307" y="4757371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CFED20-DC15-8749-8B5F-F183DFDB5A52}"/>
              </a:ext>
            </a:extLst>
          </p:cNvPr>
          <p:cNvSpPr txBox="1"/>
          <p:nvPr/>
        </p:nvSpPr>
        <p:spPr>
          <a:xfrm>
            <a:off x="3932996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4440C8-092B-E841-837D-5EAD0D8C7DC6}"/>
              </a:ext>
            </a:extLst>
          </p:cNvPr>
          <p:cNvSpPr txBox="1"/>
          <p:nvPr/>
        </p:nvSpPr>
        <p:spPr>
          <a:xfrm>
            <a:off x="5646525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400FD-793F-714F-AD66-0D6B0B762190}"/>
              </a:ext>
            </a:extLst>
          </p:cNvPr>
          <p:cNvSpPr txBox="1"/>
          <p:nvPr/>
        </p:nvSpPr>
        <p:spPr>
          <a:xfrm>
            <a:off x="511682" y="294431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ZFN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616404-ED4B-B54E-B100-523FA3B736B4}"/>
              </a:ext>
            </a:extLst>
          </p:cNvPr>
          <p:cNvSpPr txBox="1"/>
          <p:nvPr/>
        </p:nvSpPr>
        <p:spPr>
          <a:xfrm>
            <a:off x="486659" y="4998707"/>
            <a:ext cx="77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TALEN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3486BBD-4B34-D24E-814A-B45E66A17291}"/>
              </a:ext>
            </a:extLst>
          </p:cNvPr>
          <p:cNvCxnSpPr>
            <a:cxnSpLocks/>
          </p:cNvCxnSpPr>
          <p:nvPr/>
        </p:nvCxnSpPr>
        <p:spPr>
          <a:xfrm>
            <a:off x="6904383" y="3346174"/>
            <a:ext cx="5287617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/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7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design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(4</a:t>
                </a:r>
                <a:r>
                  <a:rPr kumimoji="1" lang="en-US" altLang="zh-CN" baseline="30000" dirty="0"/>
                  <a:t>3</a:t>
                </a:r>
                <a:r>
                  <a:rPr kumimoji="1" lang="en-US" altLang="zh-CN" dirty="0"/>
                  <a:t>/20</a:t>
                </a:r>
                <a:r>
                  <a:rPr kumimoji="1" lang="en-US" altLang="zh-CN" baseline="30000" dirty="0"/>
                  <a:t>7)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18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36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High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endParaRPr kumimoji="1" lang="en-US" altLang="zh-CN" i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Zinc-finger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domain: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hard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assemble</a:t>
                </a: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blipFill>
                <a:blip r:embed="rId2"/>
                <a:stretch>
                  <a:fillRect l="-880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/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2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</a:t>
                </a:r>
                <a:r>
                  <a:rPr kumimoji="1" lang="en-US" altLang="zh-CN" baseline="30000" dirty="0"/>
                  <a:t>1</a:t>
                </a:r>
                <a:r>
                  <a:rPr kumimoji="1" lang="en-US" altLang="zh-CN" dirty="0"/>
                  <a:t>/20</a:t>
                </a:r>
                <a:r>
                  <a:rPr kumimoji="1" lang="en-US" altLang="zh-CN" baseline="30000" dirty="0"/>
                  <a:t>2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24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Increased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affinity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target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DNA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(higher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  <a:r>
                  <a:rPr kumimoji="1" lang="en-US" altLang="zh-CN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r>
                  <a:rPr kumimoji="1" lang="zh-CN" altLang="en-US" dirty="0"/>
                  <a:t> 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Relatively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large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difficult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delivery</a:t>
                </a:r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blipFill>
                <a:blip r:embed="rId3"/>
                <a:stretch>
                  <a:fillRect l="-1163" r="-291"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C88B3D8C-B6D2-A442-9BFD-36E1BFDEA467}"/>
              </a:ext>
            </a:extLst>
          </p:cNvPr>
          <p:cNvSpPr txBox="1"/>
          <p:nvPr/>
        </p:nvSpPr>
        <p:spPr>
          <a:xfrm>
            <a:off x="0" y="6396335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</p:txBody>
      </p:sp>
    </p:spTree>
    <p:extLst>
      <p:ext uri="{BB962C8B-B14F-4D97-AF65-F5344CB8AC3E}">
        <p14:creationId xmlns:p14="http://schemas.microsoft.com/office/powerpoint/2010/main" val="39768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42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Long Story Short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24B0C95-654F-104B-8135-78A3F09B8416}"/>
              </a:ext>
            </a:extLst>
          </p:cNvPr>
          <p:cNvSpPr txBox="1"/>
          <p:nvPr/>
        </p:nvSpPr>
        <p:spPr>
          <a:xfrm>
            <a:off x="5995012" y="5253907"/>
            <a:ext cx="605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The Twenty-Year Story of CRISPR Unfolded across Twelve Cities in Nine Countries.</a:t>
            </a:r>
            <a:endParaRPr kumimoji="1" lang="zh-CN" altLang="en-US" sz="14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0EB69-FBB8-574F-8E3F-CFD1839E96DF}"/>
              </a:ext>
            </a:extLst>
          </p:cNvPr>
          <p:cNvSpPr txBox="1"/>
          <p:nvPr/>
        </p:nvSpPr>
        <p:spPr>
          <a:xfrm>
            <a:off x="325821" y="992811"/>
            <a:ext cx="5707206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1987: </a:t>
            </a:r>
            <a:r>
              <a:rPr kumimoji="1" lang="en-US" altLang="zh-CN" sz="2000" dirty="0"/>
              <a:t>The first description of the CRISPR loci.</a:t>
            </a:r>
            <a:endParaRPr kumimoji="1" lang="en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1993: </a:t>
            </a:r>
            <a:r>
              <a:rPr kumimoji="1" lang="en-US" altLang="zh-CN" sz="2000" dirty="0"/>
              <a:t>Repeated sequences separated by spacers were observed in </a:t>
            </a:r>
            <a:r>
              <a:rPr kumimoji="1" lang="en-US" altLang="zh-CN" sz="2000" i="1" dirty="0" err="1"/>
              <a:t>Haloferax</a:t>
            </a:r>
            <a:r>
              <a:rPr kumimoji="1" lang="en-US" altLang="zh-CN" sz="2000" i="1" dirty="0"/>
              <a:t> </a:t>
            </a:r>
            <a:r>
              <a:rPr kumimoji="1" lang="en-US" altLang="zh-CN" sz="2000" i="1" dirty="0" err="1"/>
              <a:t>mediterranei</a:t>
            </a:r>
            <a:r>
              <a:rPr kumimoji="1" lang="en-US" altLang="zh-CN" sz="2000" i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2002: CRISPR got its name -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C</a:t>
            </a:r>
            <a:r>
              <a:rPr kumimoji="1" lang="en-US" altLang="zh-CN" sz="2000" b="1" dirty="0"/>
              <a:t>lustered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R</a:t>
            </a:r>
            <a:r>
              <a:rPr kumimoji="1" lang="en-US" altLang="zh-CN" sz="2000" b="1" dirty="0"/>
              <a:t>egularly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I</a:t>
            </a:r>
            <a:r>
              <a:rPr kumimoji="1" lang="en-US" altLang="zh-CN" sz="2000" b="1" dirty="0"/>
              <a:t>nterspaced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S</a:t>
            </a:r>
            <a:r>
              <a:rPr kumimoji="1" lang="en-US" altLang="zh-CN" sz="2000" b="1" dirty="0"/>
              <a:t>hort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P</a:t>
            </a:r>
            <a:r>
              <a:rPr kumimoji="1" lang="en-US" altLang="zh-CN" sz="2000" b="1" dirty="0"/>
              <a:t>alindromic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R</a:t>
            </a:r>
            <a:r>
              <a:rPr kumimoji="1" lang="en-US" altLang="zh-CN" sz="2000" b="1" dirty="0"/>
              <a:t>epeats</a:t>
            </a:r>
            <a:r>
              <a:rPr kumimoji="1" lang="en-US" altLang="zh-CN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2003/2005: One spacer in </a:t>
            </a:r>
            <a:r>
              <a:rPr kumimoji="1" lang="en-US" altLang="zh-CN" sz="2000" i="1" dirty="0"/>
              <a:t>E. coli </a:t>
            </a:r>
            <a:r>
              <a:rPr kumimoji="1" lang="en-US" altLang="zh-CN" sz="2000" dirty="0"/>
              <a:t>was found</a:t>
            </a:r>
            <a:r>
              <a:rPr kumimoji="1" lang="en-US" altLang="zh-CN" sz="2000" i="1" dirty="0"/>
              <a:t> to</a:t>
            </a:r>
            <a:r>
              <a:rPr kumimoji="1" lang="en-US" altLang="zh-CN" sz="2000" dirty="0"/>
              <a:t> match the sequence of a P1 phage.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2006: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Experiments showed that Cas9 was necessary for phage resistance in </a:t>
            </a:r>
            <a:r>
              <a:rPr kumimoji="1" lang="en-US" altLang="zh-CN" sz="2000" i="1" dirty="0"/>
              <a:t>S. thermophilus.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2008: First artificial CRISPR arrays were performed in </a:t>
            </a:r>
            <a:r>
              <a:rPr kumimoji="1" lang="en-US" altLang="zh-CN" sz="2000" i="1" dirty="0"/>
              <a:t>E. coli.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E6BC10-5ED6-4341-9F38-77E6E63AB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027" y="1392865"/>
            <a:ext cx="5974089" cy="380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4A65C2-E448-DC49-AD2B-16C2FDA29A97}"/>
              </a:ext>
            </a:extLst>
          </p:cNvPr>
          <p:cNvSpPr txBox="1"/>
          <p:nvPr/>
        </p:nvSpPr>
        <p:spPr>
          <a:xfrm>
            <a:off x="0" y="6115754"/>
            <a:ext cx="4596710" cy="27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Lander ES. The Heroes of CRISPR.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Cell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. 2016 Jan 14;164(1-2):18-28.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27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49F9773-4F04-3647-9F75-EF6E44D637D4}"/>
              </a:ext>
            </a:extLst>
          </p:cNvPr>
          <p:cNvCxnSpPr>
            <a:cxnSpLocks/>
          </p:cNvCxnSpPr>
          <p:nvPr/>
        </p:nvCxnSpPr>
        <p:spPr>
          <a:xfrm>
            <a:off x="2521938" y="2599685"/>
            <a:ext cx="9541954" cy="4073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4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Components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49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0AFED4-7D1E-3A4E-AEE6-D1C253AB207B}"/>
              </a:ext>
            </a:extLst>
          </p:cNvPr>
          <p:cNvGrpSpPr/>
          <p:nvPr/>
        </p:nvGrpSpPr>
        <p:grpSpPr>
          <a:xfrm>
            <a:off x="469900" y="1193800"/>
            <a:ext cx="2133600" cy="2742720"/>
            <a:chOff x="469900" y="1193800"/>
            <a:chExt cx="2133600" cy="2742720"/>
          </a:xfrm>
        </p:grpSpPr>
        <p:pic>
          <p:nvPicPr>
            <p:cNvPr id="9" name="图片 2">
              <a:extLst>
                <a:ext uri="{FF2B5EF4-FFF2-40B4-BE49-F238E27FC236}">
                  <a16:creationId xmlns:a16="http://schemas.microsoft.com/office/drawing/2014/main" id="{C7DF41D5-2B09-854E-BEE2-1356861BE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4356" t="9839" r="44174" b="64598"/>
            <a:stretch/>
          </p:blipFill>
          <p:spPr>
            <a:xfrm>
              <a:off x="469900" y="1193800"/>
              <a:ext cx="1346200" cy="266699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5CFF63-FB26-664A-A547-259094DDD2BE}"/>
                </a:ext>
              </a:extLst>
            </p:cNvPr>
            <p:cNvSpPr/>
            <p:nvPr/>
          </p:nvSpPr>
          <p:spPr>
            <a:xfrm>
              <a:off x="1524000" y="11938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61DD78-F78A-3F47-A347-9AE52DA8EDF1}"/>
                </a:ext>
              </a:extLst>
            </p:cNvPr>
            <p:cNvSpPr/>
            <p:nvPr/>
          </p:nvSpPr>
          <p:spPr>
            <a:xfrm rot="2489708">
              <a:off x="846146" y="3718068"/>
              <a:ext cx="291504" cy="2184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4E0E77-9778-134D-9A7B-6B9BFA68EDB1}"/>
                </a:ext>
              </a:extLst>
            </p:cNvPr>
            <p:cNvSpPr/>
            <p:nvPr/>
          </p:nvSpPr>
          <p:spPr>
            <a:xfrm rot="19491949">
              <a:off x="1460500" y="1333500"/>
              <a:ext cx="1270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6DFF389-BCE1-FF4C-81BB-4D8D55D2D73D}"/>
              </a:ext>
            </a:extLst>
          </p:cNvPr>
          <p:cNvSpPr/>
          <p:nvPr/>
        </p:nvSpPr>
        <p:spPr>
          <a:xfrm rot="2185965">
            <a:off x="699367" y="3471604"/>
            <a:ext cx="731313" cy="2578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75F48-DFE7-2343-8C03-A7E208054D7A}"/>
              </a:ext>
            </a:extLst>
          </p:cNvPr>
          <p:cNvSpPr txBox="1"/>
          <p:nvPr/>
        </p:nvSpPr>
        <p:spPr>
          <a:xfrm>
            <a:off x="1524000" y="1462412"/>
            <a:ext cx="17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bacteria/archaea</a:t>
            </a:r>
            <a:endParaRPr kumimoji="1" lang="zh-CN" alt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70DD0-D81D-BE4E-98C3-686AAC4956BC}"/>
              </a:ext>
            </a:extLst>
          </p:cNvPr>
          <p:cNvCxnSpPr>
            <a:cxnSpLocks/>
          </p:cNvCxnSpPr>
          <p:nvPr/>
        </p:nvCxnSpPr>
        <p:spPr>
          <a:xfrm flipV="1">
            <a:off x="1435782" y="2131947"/>
            <a:ext cx="1128649" cy="15677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D63114-A7F4-3C40-866A-DCE7698C7C97}"/>
              </a:ext>
            </a:extLst>
          </p:cNvPr>
          <p:cNvCxnSpPr>
            <a:cxnSpLocks/>
          </p:cNvCxnSpPr>
          <p:nvPr/>
        </p:nvCxnSpPr>
        <p:spPr>
          <a:xfrm flipV="1">
            <a:off x="1275636" y="3173062"/>
            <a:ext cx="1327864" cy="7543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436B34-AFD5-3147-AE76-ACBF611762AF}"/>
              </a:ext>
            </a:extLst>
          </p:cNvPr>
          <p:cNvSpPr txBox="1"/>
          <p:nvPr/>
        </p:nvSpPr>
        <p:spPr>
          <a:xfrm>
            <a:off x="167083" y="3779912"/>
            <a:ext cx="95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genome</a:t>
            </a:r>
            <a:endParaRPr kumimoji="1" lang="zh-CN" alt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436CA0-0086-E04A-9328-BCCD5DD9B90A}"/>
              </a:ext>
            </a:extLst>
          </p:cNvPr>
          <p:cNvSpPr/>
          <p:nvPr/>
        </p:nvSpPr>
        <p:spPr>
          <a:xfrm>
            <a:off x="8110586" y="2345665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B0CC2B0-9AF1-DA46-96B2-479191B04168}"/>
              </a:ext>
            </a:extLst>
          </p:cNvPr>
          <p:cNvSpPr/>
          <p:nvPr/>
        </p:nvSpPr>
        <p:spPr>
          <a:xfrm>
            <a:off x="8364585" y="2345664"/>
            <a:ext cx="270621" cy="514144"/>
          </a:xfrm>
          <a:prstGeom prst="rect">
            <a:avLst/>
          </a:prstGeom>
          <a:solidFill>
            <a:srgbClr val="FFAE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1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C1FB46-699B-FF43-87F0-1590A905F4A2}"/>
              </a:ext>
            </a:extLst>
          </p:cNvPr>
          <p:cNvSpPr/>
          <p:nvPr/>
        </p:nvSpPr>
        <p:spPr>
          <a:xfrm>
            <a:off x="8626896" y="2345666"/>
            <a:ext cx="262310" cy="514142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97549D-F444-2848-B319-2F0A613E9056}"/>
              </a:ext>
            </a:extLst>
          </p:cNvPr>
          <p:cNvSpPr/>
          <p:nvPr/>
        </p:nvSpPr>
        <p:spPr>
          <a:xfrm>
            <a:off x="8889206" y="2345666"/>
            <a:ext cx="270620" cy="51414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2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D053AD-965A-014E-9B15-F5A632118BC6}"/>
              </a:ext>
            </a:extLst>
          </p:cNvPr>
          <p:cNvSpPr/>
          <p:nvPr/>
        </p:nvSpPr>
        <p:spPr>
          <a:xfrm>
            <a:off x="915151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97E2DEE-0D2E-9541-B40D-929EACB9F998}"/>
              </a:ext>
            </a:extLst>
          </p:cNvPr>
          <p:cNvSpPr/>
          <p:nvPr/>
        </p:nvSpPr>
        <p:spPr>
          <a:xfrm>
            <a:off x="9397206" y="2345664"/>
            <a:ext cx="270620" cy="514142"/>
          </a:xfrm>
          <a:prstGeom prst="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3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0632798-09D8-8E46-B6CE-35B606633E49}"/>
              </a:ext>
            </a:extLst>
          </p:cNvPr>
          <p:cNvSpPr/>
          <p:nvPr/>
        </p:nvSpPr>
        <p:spPr>
          <a:xfrm>
            <a:off x="9667826" y="2345664"/>
            <a:ext cx="27907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097964-DBAB-D64F-8A5E-EC123FA5DD27}"/>
              </a:ext>
            </a:extLst>
          </p:cNvPr>
          <p:cNvSpPr/>
          <p:nvPr/>
        </p:nvSpPr>
        <p:spPr>
          <a:xfrm>
            <a:off x="9930136" y="2345664"/>
            <a:ext cx="262450" cy="514142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4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DCC95E-5FFF-1643-BE5D-16D00F707556}"/>
              </a:ext>
            </a:extLst>
          </p:cNvPr>
          <p:cNvSpPr/>
          <p:nvPr/>
        </p:nvSpPr>
        <p:spPr>
          <a:xfrm>
            <a:off x="1019258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46876A-2ABA-664A-A01F-3DD9182DE7B0}"/>
              </a:ext>
            </a:extLst>
          </p:cNvPr>
          <p:cNvCxnSpPr>
            <a:cxnSpLocks/>
          </p:cNvCxnSpPr>
          <p:nvPr/>
        </p:nvCxnSpPr>
        <p:spPr>
          <a:xfrm flipV="1">
            <a:off x="8237586" y="2151791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963DF1-A0D5-0C4A-888B-90A6A1934634}"/>
              </a:ext>
            </a:extLst>
          </p:cNvPr>
          <p:cNvSpPr txBox="1"/>
          <p:nvPr/>
        </p:nvSpPr>
        <p:spPr>
          <a:xfrm>
            <a:off x="9099220" y="1774441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repeats</a:t>
            </a:r>
            <a:endParaRPr kumimoji="1" lang="zh-CN" altLang="en-US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395F511-432D-1842-9F5A-BA5861401D7D}"/>
              </a:ext>
            </a:extLst>
          </p:cNvPr>
          <p:cNvCxnSpPr>
            <a:cxnSpLocks/>
          </p:cNvCxnSpPr>
          <p:nvPr/>
        </p:nvCxnSpPr>
        <p:spPr>
          <a:xfrm flipV="1">
            <a:off x="8758051" y="2151793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7DA0C4E-3F93-EB49-82A6-A7DE34778888}"/>
              </a:ext>
            </a:extLst>
          </p:cNvPr>
          <p:cNvCxnSpPr>
            <a:cxnSpLocks/>
          </p:cNvCxnSpPr>
          <p:nvPr/>
        </p:nvCxnSpPr>
        <p:spPr>
          <a:xfrm>
            <a:off x="8499049" y="2924547"/>
            <a:ext cx="847" cy="109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DCC8985-763D-9E43-8956-25AF75A7B67D}"/>
              </a:ext>
            </a:extLst>
          </p:cNvPr>
          <p:cNvSpPr txBox="1"/>
          <p:nvPr/>
        </p:nvSpPr>
        <p:spPr>
          <a:xfrm>
            <a:off x="9092018" y="2993161"/>
            <a:ext cx="8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spacers</a:t>
            </a:r>
            <a:endParaRPr kumimoji="1" lang="zh-CN" alt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B720AA2-644C-B641-A1E6-025F70AF4380}"/>
              </a:ext>
            </a:extLst>
          </p:cNvPr>
          <p:cNvSpPr/>
          <p:nvPr/>
        </p:nvSpPr>
        <p:spPr>
          <a:xfrm>
            <a:off x="10719438" y="2345663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6B7359A-A121-A343-804C-C794A6493CD0}"/>
              </a:ext>
            </a:extLst>
          </p:cNvPr>
          <p:cNvCxnSpPr>
            <a:cxnSpLocks/>
          </p:cNvCxnSpPr>
          <p:nvPr/>
        </p:nvCxnSpPr>
        <p:spPr>
          <a:xfrm flipV="1">
            <a:off x="10858500" y="2159298"/>
            <a:ext cx="0" cy="140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F33367D-FD4E-F94C-8D40-6DBB2B05F3E4}"/>
              </a:ext>
            </a:extLst>
          </p:cNvPr>
          <p:cNvSpPr/>
          <p:nvPr/>
        </p:nvSpPr>
        <p:spPr>
          <a:xfrm>
            <a:off x="10456988" y="2345662"/>
            <a:ext cx="262450" cy="51414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5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F59DD7-518A-324D-9BA9-2A72ECA8ED62}"/>
              </a:ext>
            </a:extLst>
          </p:cNvPr>
          <p:cNvCxnSpPr>
            <a:cxnSpLocks/>
          </p:cNvCxnSpPr>
          <p:nvPr/>
        </p:nvCxnSpPr>
        <p:spPr>
          <a:xfrm flipH="1">
            <a:off x="8237586" y="2159298"/>
            <a:ext cx="2620914" cy="26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317305F-035C-1246-A647-9DB8BA8DD459}"/>
              </a:ext>
            </a:extLst>
          </p:cNvPr>
          <p:cNvCxnSpPr>
            <a:cxnSpLocks/>
          </p:cNvCxnSpPr>
          <p:nvPr/>
        </p:nvCxnSpPr>
        <p:spPr>
          <a:xfrm>
            <a:off x="89946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4A1DA8C-71B7-BD43-AAC0-3BA845B9DBD2}"/>
              </a:ext>
            </a:extLst>
          </p:cNvPr>
          <p:cNvCxnSpPr>
            <a:cxnSpLocks/>
          </p:cNvCxnSpPr>
          <p:nvPr/>
        </p:nvCxnSpPr>
        <p:spPr>
          <a:xfrm>
            <a:off x="9531669" y="2918062"/>
            <a:ext cx="1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1CAA662-68B1-9143-BE9B-A7D5CFDD786E}"/>
              </a:ext>
            </a:extLst>
          </p:cNvPr>
          <p:cNvCxnSpPr>
            <a:cxnSpLocks/>
          </p:cNvCxnSpPr>
          <p:nvPr/>
        </p:nvCxnSpPr>
        <p:spPr>
          <a:xfrm flipH="1">
            <a:off x="10051621" y="2918062"/>
            <a:ext cx="574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44E80FE-54D0-5140-A5ED-118450ACA250}"/>
              </a:ext>
            </a:extLst>
          </p:cNvPr>
          <p:cNvCxnSpPr>
            <a:cxnSpLocks/>
          </p:cNvCxnSpPr>
          <p:nvPr/>
        </p:nvCxnSpPr>
        <p:spPr>
          <a:xfrm>
            <a:off x="10588213" y="2915391"/>
            <a:ext cx="1340" cy="1168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B97DC5D-9B2B-6149-AA27-5180A14EDBD0}"/>
              </a:ext>
            </a:extLst>
          </p:cNvPr>
          <p:cNvCxnSpPr>
            <a:cxnSpLocks/>
          </p:cNvCxnSpPr>
          <p:nvPr/>
        </p:nvCxnSpPr>
        <p:spPr>
          <a:xfrm>
            <a:off x="8499895" y="3027125"/>
            <a:ext cx="2088318" cy="6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B8A0403-9EF3-8C4F-A2FB-FDF3F5BABD5D}"/>
              </a:ext>
            </a:extLst>
          </p:cNvPr>
          <p:cNvCxnSpPr>
            <a:cxnSpLocks/>
          </p:cNvCxnSpPr>
          <p:nvPr/>
        </p:nvCxnSpPr>
        <p:spPr>
          <a:xfrm flipV="1">
            <a:off x="9267317" y="2159298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478F2E-9C4C-8C4D-9F54-5339C9FE673F}"/>
              </a:ext>
            </a:extLst>
          </p:cNvPr>
          <p:cNvCxnSpPr>
            <a:cxnSpLocks/>
          </p:cNvCxnSpPr>
          <p:nvPr/>
        </p:nvCxnSpPr>
        <p:spPr>
          <a:xfrm flipV="1">
            <a:off x="9807360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AC52B13-319D-7C42-974D-CE8C57B6D84D}"/>
              </a:ext>
            </a:extLst>
          </p:cNvPr>
          <p:cNvCxnSpPr>
            <a:cxnSpLocks/>
          </p:cNvCxnSpPr>
          <p:nvPr/>
        </p:nvCxnSpPr>
        <p:spPr>
          <a:xfrm flipV="1">
            <a:off x="10319586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22DA6E-B403-2D46-936B-AC515E4AD1E8}"/>
              </a:ext>
            </a:extLst>
          </p:cNvPr>
          <p:cNvSpPr/>
          <p:nvPr/>
        </p:nvSpPr>
        <p:spPr>
          <a:xfrm>
            <a:off x="7698583" y="2345663"/>
            <a:ext cx="411863" cy="51414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L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CF2476-95FD-4D46-A115-F2DB62601834}"/>
              </a:ext>
            </a:extLst>
          </p:cNvPr>
          <p:cNvCxnSpPr>
            <a:cxnSpLocks/>
          </p:cNvCxnSpPr>
          <p:nvPr/>
        </p:nvCxnSpPr>
        <p:spPr>
          <a:xfrm>
            <a:off x="78897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7A448F-BA1C-B44B-B59B-AAE78D723469}"/>
              </a:ext>
            </a:extLst>
          </p:cNvPr>
          <p:cNvSpPr txBox="1"/>
          <p:nvPr/>
        </p:nvSpPr>
        <p:spPr>
          <a:xfrm>
            <a:off x="7499220" y="299316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leader</a:t>
            </a:r>
            <a:endParaRPr kumimoji="1" lang="zh-CN" altLang="en-US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DD942EA-4976-7F48-B6A1-22B59276B6F9}"/>
              </a:ext>
            </a:extLst>
          </p:cNvPr>
          <p:cNvSpPr/>
          <p:nvPr/>
        </p:nvSpPr>
        <p:spPr>
          <a:xfrm>
            <a:off x="3192986" y="2401819"/>
            <a:ext cx="1112636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9C6F7AF7-5747-464F-97B6-86A92AC96914}"/>
              </a:ext>
            </a:extLst>
          </p:cNvPr>
          <p:cNvSpPr/>
          <p:nvPr/>
        </p:nvSpPr>
        <p:spPr>
          <a:xfrm>
            <a:off x="4310940" y="2401819"/>
            <a:ext cx="545110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E4FB9ABA-FF83-3742-8F57-F0A3E5212A84}"/>
              </a:ext>
            </a:extLst>
          </p:cNvPr>
          <p:cNvSpPr/>
          <p:nvPr/>
        </p:nvSpPr>
        <p:spPr>
          <a:xfrm>
            <a:off x="4866017" y="2401819"/>
            <a:ext cx="1275185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8A49CE7E-E657-A549-AA19-FA89CFC2B746}"/>
              </a:ext>
            </a:extLst>
          </p:cNvPr>
          <p:cNvSpPr/>
          <p:nvPr/>
        </p:nvSpPr>
        <p:spPr>
          <a:xfrm>
            <a:off x="6135004" y="2401819"/>
            <a:ext cx="750701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BA010F-60C8-4B47-BA33-5C3DC4794B5E}"/>
              </a:ext>
            </a:extLst>
          </p:cNvPr>
          <p:cNvCxnSpPr>
            <a:cxnSpLocks/>
          </p:cNvCxnSpPr>
          <p:nvPr/>
        </p:nvCxnSpPr>
        <p:spPr>
          <a:xfrm>
            <a:off x="3192986" y="2162845"/>
            <a:ext cx="37104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271D09E-1ABC-174C-9549-71469278BBA1}"/>
              </a:ext>
            </a:extLst>
          </p:cNvPr>
          <p:cNvSpPr txBox="1"/>
          <p:nvPr/>
        </p:nvSpPr>
        <p:spPr>
          <a:xfrm>
            <a:off x="3534131" y="1691418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CRISPR-associated (</a:t>
            </a:r>
            <a:r>
              <a:rPr kumimoji="1" lang="en-US" altLang="zh-CN" i="1" dirty="0" err="1"/>
              <a:t>cas</a:t>
            </a:r>
            <a:r>
              <a:rPr kumimoji="1" lang="en-US" altLang="zh-CN" dirty="0"/>
              <a:t>) genes</a:t>
            </a:r>
            <a:endParaRPr kumimoji="1" lang="zh-CN" altLang="en-US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B6941EB-11AC-2047-8E0E-9DCE5B9E5777}"/>
              </a:ext>
            </a:extLst>
          </p:cNvPr>
          <p:cNvCxnSpPr>
            <a:cxnSpLocks/>
          </p:cNvCxnSpPr>
          <p:nvPr/>
        </p:nvCxnSpPr>
        <p:spPr>
          <a:xfrm>
            <a:off x="7723983" y="1711530"/>
            <a:ext cx="32494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A3D3852-4D9D-DC48-8943-B0D3AE9E34EE}"/>
              </a:ext>
            </a:extLst>
          </p:cNvPr>
          <p:cNvSpPr txBox="1"/>
          <p:nvPr/>
        </p:nvSpPr>
        <p:spPr>
          <a:xfrm>
            <a:off x="8796214" y="131150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 loci</a:t>
            </a:r>
            <a:endParaRPr kumimoji="1" lang="zh-CN" alt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0EDA0E-EF00-D148-86C0-3F911B9D629E}"/>
              </a:ext>
            </a:extLst>
          </p:cNvPr>
          <p:cNvCxnSpPr>
            <a:cxnSpLocks/>
          </p:cNvCxnSpPr>
          <p:nvPr/>
        </p:nvCxnSpPr>
        <p:spPr>
          <a:xfrm>
            <a:off x="5030696" y="2949497"/>
            <a:ext cx="0" cy="989522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8BC7B94-E81F-2443-8B9F-2DD9997EF186}"/>
              </a:ext>
            </a:extLst>
          </p:cNvPr>
          <p:cNvCxnSpPr/>
          <p:nvPr/>
        </p:nvCxnSpPr>
        <p:spPr>
          <a:xfrm flipH="1">
            <a:off x="9531668" y="342900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5BC9A883-3ADC-5645-86C5-077C9594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29" y="4093789"/>
            <a:ext cx="990600" cy="889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C7D203C-53BE-CF4E-BB2A-6F2C175EA254}"/>
              </a:ext>
            </a:extLst>
          </p:cNvPr>
          <p:cNvSpPr txBox="1"/>
          <p:nvPr/>
        </p:nvSpPr>
        <p:spPr>
          <a:xfrm>
            <a:off x="3332855" y="4223987"/>
            <a:ext cx="972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Cas </a:t>
            </a:r>
          </a:p>
          <a:p>
            <a:pPr algn="ctr"/>
            <a:r>
              <a:rPr kumimoji="1" lang="en-US" altLang="zh-CN" dirty="0"/>
              <a:t>complex</a:t>
            </a:r>
            <a:endParaRPr kumimoji="1" lang="zh-CN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C1A24A-BECB-2F49-924C-87E3302D05B1}"/>
              </a:ext>
            </a:extLst>
          </p:cNvPr>
          <p:cNvSpPr txBox="1"/>
          <p:nvPr/>
        </p:nvSpPr>
        <p:spPr>
          <a:xfrm>
            <a:off x="8522922" y="487815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crRNA</a:t>
            </a:r>
            <a:endParaRPr kumimoji="1" lang="zh-CN" alt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971A09E-52B9-9149-9C3B-B70C8A01BAC6}"/>
              </a:ext>
            </a:extLst>
          </p:cNvPr>
          <p:cNvCxnSpPr>
            <a:cxnSpLocks/>
          </p:cNvCxnSpPr>
          <p:nvPr/>
        </p:nvCxnSpPr>
        <p:spPr>
          <a:xfrm>
            <a:off x="7876383" y="4123685"/>
            <a:ext cx="386463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5889CC0-D737-734B-A7FA-618110FF10C7}"/>
              </a:ext>
            </a:extLst>
          </p:cNvPr>
          <p:cNvCxnSpPr>
            <a:cxnSpLocks/>
          </p:cNvCxnSpPr>
          <p:nvPr/>
        </p:nvCxnSpPr>
        <p:spPr>
          <a:xfrm>
            <a:off x="8262846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3F7600D-3394-074B-B624-B995A7E3774A}"/>
              </a:ext>
            </a:extLst>
          </p:cNvPr>
          <p:cNvCxnSpPr>
            <a:cxnSpLocks/>
          </p:cNvCxnSpPr>
          <p:nvPr/>
        </p:nvCxnSpPr>
        <p:spPr>
          <a:xfrm>
            <a:off x="8516985" y="4123685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006D56-37CA-154B-9C73-825973594DDE}"/>
              </a:ext>
            </a:extLst>
          </p:cNvPr>
          <p:cNvCxnSpPr>
            <a:cxnSpLocks/>
          </p:cNvCxnSpPr>
          <p:nvPr/>
        </p:nvCxnSpPr>
        <p:spPr>
          <a:xfrm>
            <a:off x="876589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02EF0B2-B3AA-E948-989E-4DBEB9CD8C7C}"/>
              </a:ext>
            </a:extLst>
          </p:cNvPr>
          <p:cNvCxnSpPr>
            <a:cxnSpLocks/>
          </p:cNvCxnSpPr>
          <p:nvPr/>
        </p:nvCxnSpPr>
        <p:spPr>
          <a:xfrm>
            <a:off x="9011875" y="4123685"/>
            <a:ext cx="254139" cy="0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EB51B6E-799E-0143-9ECD-8D1456BCE2A9}"/>
              </a:ext>
            </a:extLst>
          </p:cNvPr>
          <p:cNvCxnSpPr>
            <a:cxnSpLocks/>
          </p:cNvCxnSpPr>
          <p:nvPr/>
        </p:nvCxnSpPr>
        <p:spPr>
          <a:xfrm>
            <a:off x="926078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3E321FA-2C18-2B49-9253-AF2218A2B0CE}"/>
              </a:ext>
            </a:extLst>
          </p:cNvPr>
          <p:cNvCxnSpPr>
            <a:cxnSpLocks/>
          </p:cNvCxnSpPr>
          <p:nvPr/>
        </p:nvCxnSpPr>
        <p:spPr>
          <a:xfrm>
            <a:off x="9503030" y="4123685"/>
            <a:ext cx="254139" cy="0"/>
          </a:xfrm>
          <a:prstGeom prst="line">
            <a:avLst/>
          </a:prstGeom>
          <a:ln w="31750">
            <a:solidFill>
              <a:srgbClr val="FF7E7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BE2BF6D-D94E-9D48-956B-AA6683510725}"/>
              </a:ext>
            </a:extLst>
          </p:cNvPr>
          <p:cNvCxnSpPr>
            <a:cxnSpLocks/>
          </p:cNvCxnSpPr>
          <p:nvPr/>
        </p:nvCxnSpPr>
        <p:spPr>
          <a:xfrm>
            <a:off x="9751942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9D5E9C5-8531-A743-AF84-2C20C8D90CE2}"/>
              </a:ext>
            </a:extLst>
          </p:cNvPr>
          <p:cNvCxnSpPr>
            <a:cxnSpLocks/>
          </p:cNvCxnSpPr>
          <p:nvPr/>
        </p:nvCxnSpPr>
        <p:spPr>
          <a:xfrm>
            <a:off x="9977123" y="4123685"/>
            <a:ext cx="25413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1068C5B-641C-6347-B8EC-5C231B0708E1}"/>
              </a:ext>
            </a:extLst>
          </p:cNvPr>
          <p:cNvCxnSpPr>
            <a:cxnSpLocks/>
          </p:cNvCxnSpPr>
          <p:nvPr/>
        </p:nvCxnSpPr>
        <p:spPr>
          <a:xfrm>
            <a:off x="10226035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8C69418-F975-FB49-AEBF-0CADC2D44586}"/>
              </a:ext>
            </a:extLst>
          </p:cNvPr>
          <p:cNvCxnSpPr>
            <a:cxnSpLocks/>
          </p:cNvCxnSpPr>
          <p:nvPr/>
        </p:nvCxnSpPr>
        <p:spPr>
          <a:xfrm>
            <a:off x="10471916" y="4123685"/>
            <a:ext cx="254139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1AF0A1-6261-8442-939C-CC0FC3B5156C}"/>
              </a:ext>
            </a:extLst>
          </p:cNvPr>
          <p:cNvCxnSpPr>
            <a:cxnSpLocks/>
          </p:cNvCxnSpPr>
          <p:nvPr/>
        </p:nvCxnSpPr>
        <p:spPr>
          <a:xfrm>
            <a:off x="10720828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0A8D830-5A66-2440-964C-2200BAC95B18}"/>
              </a:ext>
            </a:extLst>
          </p:cNvPr>
          <p:cNvSpPr txBox="1"/>
          <p:nvPr/>
        </p:nvSpPr>
        <p:spPr>
          <a:xfrm>
            <a:off x="6664597" y="3939019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pre-crRNA</a:t>
            </a:r>
            <a:endParaRPr kumimoji="1" lang="zh-CN" altLang="en-US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1BB50D8-CB68-E642-A2B1-673C0F4C7BAB}"/>
              </a:ext>
            </a:extLst>
          </p:cNvPr>
          <p:cNvCxnSpPr/>
          <p:nvPr/>
        </p:nvCxnSpPr>
        <p:spPr>
          <a:xfrm flipH="1">
            <a:off x="9531668" y="433702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89DE397-1F59-6144-993B-F4F0DA36D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17472">
            <a:off x="6323363" y="4821564"/>
            <a:ext cx="1419727" cy="770021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8DBD628-CCB5-1A41-B4E1-9D7CBB4E1DA2}"/>
              </a:ext>
            </a:extLst>
          </p:cNvPr>
          <p:cNvSpPr txBox="1"/>
          <p:nvPr/>
        </p:nvSpPr>
        <p:spPr>
          <a:xfrm>
            <a:off x="6252645" y="5701575"/>
            <a:ext cx="14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DNA cleavage</a:t>
            </a:r>
            <a:endParaRPr kumimoji="1" lang="zh-CN" alt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3E4058D-7211-8349-97F0-C0ABD713C2C2}"/>
              </a:ext>
            </a:extLst>
          </p:cNvPr>
          <p:cNvCxnSpPr>
            <a:cxnSpLocks/>
          </p:cNvCxnSpPr>
          <p:nvPr/>
        </p:nvCxnSpPr>
        <p:spPr>
          <a:xfrm>
            <a:off x="9387856" y="5027839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E7BB118-44CF-B34E-B1C4-A97FDC2AEC3F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9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67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87" grpId="0"/>
      <p:bldP spid="111" grpId="0"/>
      <p:bldP spid="139" grpId="0" animBg="1"/>
      <p:bldP spid="162" grpId="0" animBg="1"/>
      <p:bldP spid="63" grpId="0" animBg="1"/>
      <p:bldP spid="27" grpId="0"/>
      <p:bldP spid="28" grpId="0" animBg="1"/>
      <p:bldP spid="92" grpId="0" animBg="1"/>
      <p:bldP spid="93" grpId="0" animBg="1"/>
      <p:bldP spid="94" grpId="0" animBg="1"/>
      <p:bldP spid="42" grpId="0"/>
      <p:bldP spid="96" grpId="0"/>
      <p:bldP spid="49" grpId="0"/>
      <p:bldP spid="51" grpId="0"/>
      <p:bldP spid="102" grpId="0"/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8B8A6-44A1-8F4A-83B6-EABCBE57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13" y="1577586"/>
            <a:ext cx="10174774" cy="22309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660136-3B0E-254B-8FA2-BC4B689BFFB6}"/>
              </a:ext>
            </a:extLst>
          </p:cNvPr>
          <p:cNvSpPr/>
          <p:nvPr/>
        </p:nvSpPr>
        <p:spPr>
          <a:xfrm>
            <a:off x="2257063" y="3032567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59BFEC-639C-D14E-A8A0-3967A0FA037C}"/>
              </a:ext>
            </a:extLst>
          </p:cNvPr>
          <p:cNvSpPr/>
          <p:nvPr/>
        </p:nvSpPr>
        <p:spPr>
          <a:xfrm>
            <a:off x="3078867" y="1577585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B660-180C-F448-9058-A194B6C5AD46}"/>
              </a:ext>
            </a:extLst>
          </p:cNvPr>
          <p:cNvSpPr txBox="1"/>
          <p:nvPr/>
        </p:nvSpPr>
        <p:spPr>
          <a:xfrm>
            <a:off x="325821" y="4062957"/>
            <a:ext cx="755420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1: </a:t>
            </a:r>
            <a:r>
              <a:rPr kumimoji="1" lang="en-US" altLang="zh-CN" dirty="0">
                <a:solidFill>
                  <a:srgbClr val="FF0000"/>
                </a:solidFill>
              </a:rPr>
              <a:t>Multiple </a:t>
            </a:r>
            <a:r>
              <a:rPr kumimoji="1" lang="en-US" altLang="zh-CN" dirty="0"/>
              <a:t>Cas proteins form a crRNA-binding complex and function together in binding and processing of the target DNA.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2: A </a:t>
            </a:r>
            <a:r>
              <a:rPr kumimoji="1" lang="en-US" altLang="zh-CN" dirty="0">
                <a:solidFill>
                  <a:srgbClr val="FF0000"/>
                </a:solidFill>
              </a:rPr>
              <a:t>single, multi-domain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tracrRNA:crRNA-binding</a:t>
            </a:r>
            <a:r>
              <a:rPr kumimoji="1" lang="en-US" altLang="zh-CN" dirty="0"/>
              <a:t> protein that is functionally analogous to the entire effector complex of Class 1.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F100F-0194-1E41-8C8D-4B79DF7403BD}"/>
              </a:ext>
            </a:extLst>
          </p:cNvPr>
          <p:cNvSpPr txBox="1"/>
          <p:nvPr/>
        </p:nvSpPr>
        <p:spPr>
          <a:xfrm>
            <a:off x="0" y="5901721"/>
            <a:ext cx="6230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 further divide into 6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5F464-EED3-654D-91DA-BA80C72F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70" y="1577313"/>
            <a:ext cx="9855260" cy="37033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8C805AA-287B-7249-A7EA-F72887CF2E10}"/>
              </a:ext>
            </a:extLst>
          </p:cNvPr>
          <p:cNvSpPr txBox="1"/>
          <p:nvPr/>
        </p:nvSpPr>
        <p:spPr>
          <a:xfrm>
            <a:off x="636895" y="5381057"/>
            <a:ext cx="718239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Next, we focus on </a:t>
            </a:r>
            <a:r>
              <a:rPr kumimoji="1" lang="en-US" altLang="zh-CN" b="1" dirty="0"/>
              <a:t>Type I </a:t>
            </a:r>
            <a:r>
              <a:rPr kumimoji="1" lang="en-US" altLang="zh-CN" dirty="0"/>
              <a:t>and</a:t>
            </a:r>
            <a:r>
              <a:rPr kumimoji="1" lang="en-US" altLang="zh-CN" b="1" dirty="0"/>
              <a:t> II </a:t>
            </a:r>
            <a:r>
              <a:rPr kumimoji="1" lang="en-US" altLang="zh-CN" dirty="0"/>
              <a:t>(i.e., </a:t>
            </a:r>
            <a:r>
              <a:rPr kumimoji="1" lang="en-US" altLang="zh-CN" dirty="0">
                <a:hlinkClick r:id="rId3"/>
              </a:rPr>
              <a:t>CRISPR-Cas9</a:t>
            </a:r>
            <a:r>
              <a:rPr kumimoji="1" lang="en-US" altLang="zh-CN" dirty="0"/>
              <a:t>) to see how Cas protein(s) function together with crRNA to cleave DNA.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D6A0A-FC35-694C-987D-48A70AE50F38}"/>
              </a:ext>
            </a:extLst>
          </p:cNvPr>
          <p:cNvSpPr txBox="1"/>
          <p:nvPr/>
        </p:nvSpPr>
        <p:spPr>
          <a:xfrm>
            <a:off x="8133660" y="5564956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672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5CCB867-0676-AA4A-A4A4-68370782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69" y="988627"/>
            <a:ext cx="5088337" cy="51994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9979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as an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Inheritable</a:t>
            </a:r>
            <a:r>
              <a:rPr kumimoji="1" lang="zh-CN" altLang="en-US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Adaptive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Immune System</a:t>
            </a:r>
            <a:endParaRPr kumimoji="1" lang="zh-CN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ED2AE-0747-4F49-ADD0-72A1BE23D92C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BC4F3-7921-9B46-83CF-740F47E62920}"/>
              </a:ext>
            </a:extLst>
          </p:cNvPr>
          <p:cNvSpPr txBox="1"/>
          <p:nvPr/>
        </p:nvSpPr>
        <p:spPr>
          <a:xfrm>
            <a:off x="7438163" y="2400300"/>
            <a:ext cx="3047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Invading DNA (plasmid, phage genome…)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50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134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099630-9377-584B-BD0D-29350C5A57A8}"/>
              </a:ext>
            </a:extLst>
          </p:cNvPr>
          <p:cNvSpPr txBox="1"/>
          <p:nvPr/>
        </p:nvSpPr>
        <p:spPr>
          <a:xfrm>
            <a:off x="325820" y="992811"/>
            <a:ext cx="8405592" cy="52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Pre-crRNA forms </a:t>
            </a:r>
            <a:r>
              <a:rPr kumimoji="1" lang="en-CN" altLang="zh-CN" sz="2000" b="1" dirty="0"/>
              <a:t>stem-loop</a:t>
            </a:r>
            <a:r>
              <a:rPr kumimoji="1" lang="en-CN" altLang="zh-CN" sz="2000" dirty="0"/>
              <a:t> structures - </a:t>
            </a:r>
            <a:r>
              <a:rPr kumimoji="1" lang="en-US" altLang="zh-CN" sz="2000" dirty="0"/>
              <a:t>due to </a:t>
            </a:r>
            <a:r>
              <a:rPr kumimoji="1" lang="en-US" altLang="zh-CN" sz="2000" i="1" dirty="0"/>
              <a:t>palindromic</a:t>
            </a:r>
            <a:r>
              <a:rPr kumimoji="1" lang="en-US" altLang="zh-CN" sz="2000" dirty="0"/>
              <a:t> repeats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Cas complex (namely Cascade) cleaves </a:t>
            </a:r>
            <a:r>
              <a:rPr kumimoji="1" lang="en-US" altLang="zh-CN" sz="2000" dirty="0">
                <a:solidFill>
                  <a:srgbClr val="FF0000"/>
                </a:solidFill>
              </a:rPr>
              <a:t>at the base of each stem-loop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Cascade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Cas-crRNA complex scans DNAs to find the sequence (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Cascade also needs to recognize </a:t>
            </a:r>
            <a:r>
              <a:rPr kumimoji="1" lang="en-US" altLang="zh-CN" dirty="0">
                <a:solidFill>
                  <a:schemeClr val="accent6"/>
                </a:solidFill>
              </a:rPr>
              <a:t>a short sequence motif</a:t>
            </a:r>
            <a:r>
              <a:rPr kumimoji="1" lang="en-US" altLang="zh-CN" dirty="0"/>
              <a:t> located </a:t>
            </a:r>
            <a:r>
              <a:rPr kumimoji="1" lang="en-US" altLang="zh-CN" dirty="0">
                <a:solidFill>
                  <a:srgbClr val="FF0000"/>
                </a:solidFill>
              </a:rPr>
              <a:t>immediately upstream</a:t>
            </a:r>
            <a:r>
              <a:rPr kumimoji="1" lang="en-US" altLang="zh-CN" dirty="0"/>
              <a:t> 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dirty="0"/>
              <a:t> recognized by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This short sequence motif is called</a:t>
            </a:r>
            <a:r>
              <a:rPr kumimoji="1" lang="en-US" altLang="zh-CN" dirty="0">
                <a:solidFill>
                  <a:schemeClr val="accent6"/>
                </a:solidFill>
              </a:rPr>
              <a:t> protospacer adjacent motif (PAM)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T</a:t>
            </a:r>
            <a:r>
              <a:rPr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wo-factor authentication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Cascade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 </a:t>
            </a:r>
            <a:r>
              <a:rPr kumimoji="1" lang="en-US" altLang="zh-CN" dirty="0"/>
              <a:t>in non-target strand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Cas3 nuclease is recruited and cleaves </a:t>
            </a:r>
            <a:r>
              <a:rPr kumimoji="1" lang="en-US" altLang="zh-CN" dirty="0">
                <a:solidFill>
                  <a:srgbClr val="FF0000"/>
                </a:solidFill>
              </a:rPr>
              <a:t>single</a:t>
            </a:r>
            <a:r>
              <a:rPr kumimoji="1" lang="en-US" altLang="zh-CN" dirty="0"/>
              <a:t> strand of the target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26E5F1-CE53-7A4E-987A-6951D7BF1C31}"/>
              </a:ext>
            </a:extLst>
          </p:cNvPr>
          <p:cNvGrpSpPr/>
          <p:nvPr/>
        </p:nvGrpSpPr>
        <p:grpSpPr>
          <a:xfrm>
            <a:off x="9282124" y="1011040"/>
            <a:ext cx="2095625" cy="4704235"/>
            <a:chOff x="8851050" y="771982"/>
            <a:chExt cx="2512618" cy="54870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53BF32-6746-4D41-9ACA-B071A134B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1050" y="771982"/>
              <a:ext cx="2512618" cy="5487014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7C6BB79-BCD1-C749-93D3-E47DB7BBC807}"/>
                </a:ext>
              </a:extLst>
            </p:cNvPr>
            <p:cNvCxnSpPr/>
            <p:nvPr/>
          </p:nvCxnSpPr>
          <p:spPr>
            <a:xfrm flipH="1" flipV="1">
              <a:off x="9448800" y="3299589"/>
              <a:ext cx="1651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B1E9B-DD51-CF48-86C6-15E6F4138E33}"/>
                </a:ext>
              </a:extLst>
            </p:cNvPr>
            <p:cNvSpPr txBox="1"/>
            <p:nvPr/>
          </p:nvSpPr>
          <p:spPr>
            <a:xfrm>
              <a:off x="8993552" y="2959829"/>
              <a:ext cx="848833" cy="373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R-loop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595773-9F0A-AF4A-A327-FAB99DDF12B6}"/>
              </a:ext>
            </a:extLst>
          </p:cNvPr>
          <p:cNvSpPr txBox="1"/>
          <p:nvPr/>
        </p:nvSpPr>
        <p:spPr>
          <a:xfrm>
            <a:off x="8512207" y="5823730"/>
            <a:ext cx="3378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15362" name="Picture 2" descr="Image result for palindromic sequence and stem loop">
            <a:extLst>
              <a:ext uri="{FF2B5EF4-FFF2-40B4-BE49-F238E27FC236}">
                <a16:creationId xmlns:a16="http://schemas.microsoft.com/office/drawing/2014/main" id="{D652EE71-0B7F-7743-AB1A-3FE721764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1" b="33981"/>
          <a:stretch/>
        </p:blipFill>
        <p:spPr bwMode="auto">
          <a:xfrm>
            <a:off x="5327722" y="246623"/>
            <a:ext cx="2269127" cy="96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0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238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2ED3C3-3C0B-924F-8520-090E38F38EF9}"/>
              </a:ext>
            </a:extLst>
          </p:cNvPr>
          <p:cNvGrpSpPr/>
          <p:nvPr/>
        </p:nvGrpSpPr>
        <p:grpSpPr>
          <a:xfrm>
            <a:off x="9549473" y="1153005"/>
            <a:ext cx="3142208" cy="4064000"/>
            <a:chOff x="7386092" y="1397000"/>
            <a:chExt cx="3142208" cy="4064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07ADC4-CBC7-8746-889F-4FB0F5A35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6092" y="1397000"/>
              <a:ext cx="2387600" cy="4064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F9944-16FD-944E-A962-7F783695B8CD}"/>
                </a:ext>
              </a:extLst>
            </p:cNvPr>
            <p:cNvSpPr/>
            <p:nvPr/>
          </p:nvSpPr>
          <p:spPr>
            <a:xfrm>
              <a:off x="9448800" y="25146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18" y="992811"/>
            <a:ext cx="8907440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cleavage of Pre-crRNA does</a:t>
            </a:r>
            <a:r>
              <a:rPr kumimoji="1" lang="en-CN" altLang="zh-CN" sz="2000" b="1" dirty="0"/>
              <a:t> not</a:t>
            </a:r>
            <a:r>
              <a:rPr kumimoji="1" lang="en-CN" altLang="zh-CN" sz="2000" dirty="0"/>
              <a:t> rely on the stem-loop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i="1" dirty="0">
                <a:solidFill>
                  <a:srgbClr val="FF7E79"/>
                </a:solidFill>
              </a:rPr>
              <a:t>Trans</a:t>
            </a:r>
            <a:r>
              <a:rPr kumimoji="1" lang="en-CN" altLang="zh-CN" sz="2000" dirty="0">
                <a:solidFill>
                  <a:srgbClr val="FF7E79"/>
                </a:solidFill>
              </a:rPr>
              <a:t>-activating crRNA (tracrRNA)</a:t>
            </a:r>
            <a:r>
              <a:rPr kumimoji="1" lang="en-CN" altLang="zh-CN" sz="2000" dirty="0"/>
              <a:t> links Cas9 and pre-crRNA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dsRNA is cleaved by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RNase III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 the presence of Cas9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Cas9-tracrRNA:crRNA complex scans DNAs to find the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/>
              <a:t>At the mean time, Cas9 recognizes </a:t>
            </a:r>
            <a:r>
              <a:rPr kumimoji="1" lang="en-US" altLang="zh-CN" dirty="0">
                <a:solidFill>
                  <a:schemeClr val="accent6"/>
                </a:solidFill>
              </a:rPr>
              <a:t>PAM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immediately downstream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Cas9 undergoes conformational changes  -&gt; activation of its nuclease domains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Nuclease domain of Cas9 cleaves</a:t>
            </a:r>
            <a:r>
              <a:rPr kumimoji="1" lang="en-US" altLang="zh-CN" i="1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double</a:t>
            </a:r>
            <a:r>
              <a:rPr kumimoji="1" lang="en-US" altLang="zh-CN" dirty="0"/>
              <a:t> strands of the target in the presence of Mg</a:t>
            </a:r>
            <a:r>
              <a:rPr kumimoji="1" lang="en-US" altLang="zh-CN" baseline="30000" dirty="0"/>
              <a:t>2+</a:t>
            </a:r>
            <a:endParaRPr kumimoji="1" lang="en-US" altLang="zh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024B2F-36B1-4845-AEB1-25D9405C8A98}"/>
              </a:ext>
            </a:extLst>
          </p:cNvPr>
          <p:cNvCxnSpPr/>
          <p:nvPr/>
        </p:nvCxnSpPr>
        <p:spPr>
          <a:xfrm flipH="1" flipV="1">
            <a:off x="10171696" y="3579737"/>
            <a:ext cx="16510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48A457-2827-904E-9234-C85A2E7383B6}"/>
              </a:ext>
            </a:extLst>
          </p:cNvPr>
          <p:cNvSpPr txBox="1"/>
          <p:nvPr/>
        </p:nvSpPr>
        <p:spPr>
          <a:xfrm>
            <a:off x="9573946" y="3210405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R-loop</a:t>
            </a:r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7D0EC-4CC8-CA40-906E-EBA6760D37F0}"/>
              </a:ext>
            </a:extLst>
          </p:cNvPr>
          <p:cNvSpPr txBox="1"/>
          <p:nvPr/>
        </p:nvSpPr>
        <p:spPr>
          <a:xfrm>
            <a:off x="9273327" y="5425983"/>
            <a:ext cx="2878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26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26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Summary: RNA-guided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/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CN" altLang="zh-CN" sz="2000" dirty="0"/>
                  <a:t>Site specificity is provided by </a:t>
                </a:r>
                <a:r>
                  <a:rPr kumimoji="1" lang="en-CN" altLang="zh-CN" sz="2000" dirty="0">
                    <a:solidFill>
                      <a:srgbClr val="FF0000"/>
                    </a:solidFill>
                  </a:rPr>
                  <a:t>RNA-DNA base pairing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CN" altLang="zh-CN" dirty="0"/>
                  <a:t>rather than protein-DNA interaction</a:t>
                </a:r>
                <a:r>
                  <a:rPr kumimoji="1" lang="en-CN" altLang="zh-CN" sz="2000" dirty="0"/>
                  <a:t>  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1 nt </a:t>
                </a:r>
                <a14:m>
                  <m:oMath xmlns:m="http://schemas.openxmlformats.org/officeDocument/2006/math">
                    <m:r>
                      <a:rPr kumimoji="1" lang="en-CN" altLang="zh-CN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CN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 1nt, theoretically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Much higher information capacity than protein-guided mechanisms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No need to </a:t>
                </a:r>
                <a:r>
                  <a:rPr lang="en-US" b="0" u="none" strike="noStrike" dirty="0">
                    <a:solidFill>
                      <a:srgbClr val="11111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decrypt</a:t>
                </a:r>
                <a:endParaRPr kumimoji="1" lang="en-CN" altLang="zh-CN" dirty="0">
                  <a:solidFill>
                    <a:prstClr val="black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And nucleotides are much smaller than amino acid residues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</a:rPr>
                  <a:t>Problems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srgbClr val="FF0000"/>
                    </a:solidFill>
                    <a:latin typeface="Calibri" panose="020F0502020204030204"/>
                    <a:ea typeface="等线" panose="02010600030101010101" pitchFamily="2" charset="-122"/>
                  </a:rPr>
                  <a:t>PAM is necessary</a:t>
                </a: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 for many Cas nucleases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Complicated mechanism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…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blipFill>
                <a:blip r:embed="rId2"/>
                <a:stretch>
                  <a:fillRect l="-618" b="-1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8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13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Aside: Seed Sequence and PAM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21" y="1153806"/>
            <a:ext cx="8473254" cy="522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Seed Sequence</a:t>
            </a:r>
            <a:r>
              <a:rPr kumimoji="1" lang="en-CN" altLang="zh-CN" sz="2000" dirty="0"/>
              <a:t>: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highly conserved sequence in the crRNA/protospacer </a:t>
            </a:r>
            <a:r>
              <a:rPr lang="en-US" sz="2000" dirty="0">
                <a:solidFill>
                  <a:srgbClr val="000000"/>
                </a:solidFill>
                <a:latin typeface="-webkit-standard"/>
              </a:rPr>
              <a:t>,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critical for the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crRNA recognition and binding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the target DNA sequence.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PAM</a:t>
            </a:r>
            <a:r>
              <a:rPr kumimoji="1" lang="en-CN" altLang="zh-CN" sz="2000" dirty="0"/>
              <a:t>: 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conserved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sequence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target DNA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required for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 recognition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b="1" dirty="0"/>
              <a:t>Only exist next to the protospacer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Usually 3 bases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Cas9</a:t>
            </a:r>
            <a:r>
              <a:rPr kumimoji="1" lang="en-CN" altLang="zh-CN" dirty="0"/>
              <a:t>, e.g. </a:t>
            </a:r>
            <a:r>
              <a:rPr kumimoji="1" lang="en-CN" altLang="zh-CN" dirty="0">
                <a:solidFill>
                  <a:srgbClr val="FF0000"/>
                </a:solidFill>
              </a:rPr>
              <a:t>5’-NGG-3’</a:t>
            </a:r>
            <a:r>
              <a:rPr kumimoji="1" lang="en-CN" altLang="zh-CN" dirty="0"/>
              <a:t> for SpCas9 (most widely used Cas9 discovered in 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-webkit-standard"/>
              </a:rPr>
              <a:t>Streptococcus pyogenes</a:t>
            </a:r>
            <a:r>
              <a:rPr kumimoji="1" lang="en-CN" altLang="zh-CN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Two-factor authentication to avoid </a:t>
            </a:r>
            <a:r>
              <a:rPr kumimoji="1" lang="en-CN" altLang="zh-CN" sz="2000" b="1" dirty="0"/>
              <a:t>auto-immunity</a:t>
            </a:r>
            <a:endParaRPr kumimoji="1" lang="en-US" altLang="zh-CN" sz="2000" b="1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I: crRNA and Cascade recognize the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strand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II: crRNA and Cas9 recognize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and</a:t>
            </a:r>
            <a:r>
              <a:rPr kumimoji="1" lang="en-US" altLang="zh-CN" dirty="0">
                <a:solidFill>
                  <a:srgbClr val="FF0000"/>
                </a:solidFill>
              </a:rPr>
              <a:t> non-complementary</a:t>
            </a:r>
            <a:r>
              <a:rPr kumimoji="1" lang="en-US" altLang="zh-CN" dirty="0"/>
              <a:t> strands of DNA, respectively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(Type III Cas does not rely on PAM, instead relies on differential base pairing between crRNA tag and the target sequence)</a:t>
            </a:r>
            <a:endParaRPr kumimoji="1" lang="en-CN" altLang="zh-C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6F4E8D-A05F-9B41-8CCF-C6A1DBF43E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984" r="2560" b="18516"/>
          <a:stretch/>
        </p:blipFill>
        <p:spPr>
          <a:xfrm>
            <a:off x="8889362" y="2555985"/>
            <a:ext cx="2594897" cy="1022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5F1167-D279-994F-8E7F-D16D2403BD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869" b="18309"/>
          <a:stretch/>
        </p:blipFill>
        <p:spPr>
          <a:xfrm>
            <a:off x="8889362" y="1185645"/>
            <a:ext cx="3236306" cy="9061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1614887-C9C3-474E-A409-06B5B7CD4B7F}"/>
              </a:ext>
            </a:extLst>
          </p:cNvPr>
          <p:cNvGrpSpPr/>
          <p:nvPr/>
        </p:nvGrpSpPr>
        <p:grpSpPr>
          <a:xfrm>
            <a:off x="8741038" y="4043022"/>
            <a:ext cx="2565400" cy="2038978"/>
            <a:chOff x="8534341" y="3848864"/>
            <a:chExt cx="2565400" cy="203897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C7DF7E0-B54E-944D-BB35-4E3C2D45C800}"/>
                </a:ext>
              </a:extLst>
            </p:cNvPr>
            <p:cNvGrpSpPr/>
            <p:nvPr/>
          </p:nvGrpSpPr>
          <p:grpSpPr>
            <a:xfrm>
              <a:off x="8534341" y="3848864"/>
              <a:ext cx="2565400" cy="2038978"/>
              <a:chOff x="8566434" y="4172310"/>
              <a:chExt cx="2565400" cy="20389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9DBB0F6-67E4-C040-84C3-D0D5AE7A5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66434" y="4172310"/>
                <a:ext cx="2565400" cy="166370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ABF0FAB-1864-2F44-9464-CBF4EA930913}"/>
                  </a:ext>
                </a:extLst>
              </p:cNvPr>
              <p:cNvSpPr/>
              <p:nvPr/>
            </p:nvSpPr>
            <p:spPr>
              <a:xfrm>
                <a:off x="9213850" y="5747138"/>
                <a:ext cx="469900" cy="464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CA9D16-DB83-D047-8F77-18D709ACADB7}"/>
                </a:ext>
              </a:extLst>
            </p:cNvPr>
            <p:cNvSpPr/>
            <p:nvPr/>
          </p:nvSpPr>
          <p:spPr>
            <a:xfrm>
              <a:off x="9980114" y="5256982"/>
              <a:ext cx="469900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8D7A9E8-C87B-F842-B1AB-6215D37B7E89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941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5568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Aside: CRISPR-Cas Immunization</a:t>
            </a:r>
            <a:endParaRPr kumimoji="1" lang="zh-CN" alt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012B81-0A67-6146-862C-F3E2E9C6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29" y="1362017"/>
            <a:ext cx="7183177" cy="4202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2E7EF5-98C9-6049-8076-F3369710E79C}"/>
              </a:ext>
            </a:extLst>
          </p:cNvPr>
          <p:cNvSpPr txBox="1"/>
          <p:nvPr/>
        </p:nvSpPr>
        <p:spPr>
          <a:xfrm>
            <a:off x="325820" y="1100035"/>
            <a:ext cx="4232532" cy="42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sampling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Cas1&amp;2 are involved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srgbClr val="FF0000"/>
                </a:solidFill>
              </a:rPr>
              <a:t>PAM (e.g., NGG) must be near the protospacer</a:t>
            </a:r>
            <a:endParaRPr kumimoji="1" lang="en-CN" altLang="zh-CN" dirty="0">
              <a:solidFill>
                <a:schemeClr val="accent5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 reaction that resembles retroviral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Could be viewed as a type of horizontal 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gene transfer (HGT)</a:t>
            </a:r>
            <a:r>
              <a:rPr kumimoji="1" lang="en-US" altLang="zh-C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chemeClr val="accent5"/>
                </a:solidFill>
              </a:rPr>
              <a:t>Why always repeat-spacer-…repeat?</a:t>
            </a:r>
            <a:endParaRPr kumimoji="1" lang="en-CN" altLang="zh-CN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A5592-7411-4947-82B7-1987D1FECDC3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A913A-44F3-354E-BF4E-C8C815B9D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7" y="5224994"/>
            <a:ext cx="3841750" cy="11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6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CRISPR-Cas-derived Genome Editing</a:t>
            </a:r>
          </a:p>
        </p:txBody>
      </p:sp>
    </p:spTree>
    <p:extLst>
      <p:ext uri="{BB962C8B-B14F-4D97-AF65-F5344CB8AC3E}">
        <p14:creationId xmlns:p14="http://schemas.microsoft.com/office/powerpoint/2010/main" val="1785770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14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Class 2 CRISPR-Cas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76E9A-5EC6-504C-ADE8-0F5CE1FA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05" y="1277332"/>
            <a:ext cx="10174774" cy="22309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4CC262-F3C5-EA4C-8A15-71F952657804}"/>
              </a:ext>
            </a:extLst>
          </p:cNvPr>
          <p:cNvSpPr/>
          <p:nvPr/>
        </p:nvSpPr>
        <p:spPr>
          <a:xfrm>
            <a:off x="2311655" y="2732313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EBC4C8-1BC1-3F47-B8EE-1B913AB17732}"/>
              </a:ext>
            </a:extLst>
          </p:cNvPr>
          <p:cNvSpPr/>
          <p:nvPr/>
        </p:nvSpPr>
        <p:spPr>
          <a:xfrm>
            <a:off x="3133459" y="1277331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173F6C-9664-EC44-8630-8F392C85AB62}"/>
              </a:ext>
            </a:extLst>
          </p:cNvPr>
          <p:cNvCxnSpPr>
            <a:cxnSpLocks/>
          </p:cNvCxnSpPr>
          <p:nvPr/>
        </p:nvCxnSpPr>
        <p:spPr>
          <a:xfrm>
            <a:off x="7300344" y="3508302"/>
            <a:ext cx="634272" cy="367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76A1DF-B98B-584A-846D-F1E9FEC08A16}"/>
              </a:ext>
            </a:extLst>
          </p:cNvPr>
          <p:cNvSpPr txBox="1"/>
          <p:nvPr/>
        </p:nvSpPr>
        <p:spPr>
          <a:xfrm>
            <a:off x="7934616" y="3762702"/>
            <a:ext cx="4166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Class 2 CRISPR-Cas systems are selected to manipulate genome.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7E806E-AFAB-9A49-ADA3-48AECCECDEB7}"/>
              </a:ext>
            </a:extLst>
          </p:cNvPr>
          <p:cNvCxnSpPr>
            <a:cxnSpLocks/>
          </p:cNvCxnSpPr>
          <p:nvPr/>
        </p:nvCxnSpPr>
        <p:spPr>
          <a:xfrm flipH="1" flipV="1">
            <a:off x="1828801" y="2606719"/>
            <a:ext cx="482854" cy="125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788EC9-ED52-6A4F-825E-0C94F04BDE84}"/>
              </a:ext>
            </a:extLst>
          </p:cNvPr>
          <p:cNvSpPr txBox="1"/>
          <p:nvPr/>
        </p:nvSpPr>
        <p:spPr>
          <a:xfrm>
            <a:off x="54593" y="2139074"/>
            <a:ext cx="2257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they need to be engineered.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A2FAC-1D46-7B41-8088-03EFABC1559D}"/>
              </a:ext>
            </a:extLst>
          </p:cNvPr>
          <p:cNvSpPr txBox="1"/>
          <p:nvPr/>
        </p:nvSpPr>
        <p:spPr>
          <a:xfrm>
            <a:off x="325821" y="4291052"/>
            <a:ext cx="7235038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Within Class 2,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Cas9 (Type II)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Cas12 (Type V)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are the most widely used nucleases in the context of genome editing.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By default, our discussion below will mainly focus on Cas9, with Cas12 as a complement.</a:t>
            </a:r>
            <a:endParaRPr kumimoji="1" lang="en-CN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/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dirty="0"/>
                  <a:t>  only one Cas nucleases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 an extra RNA required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blipFill>
                <a:blip r:embed="rId3"/>
                <a:stretch>
                  <a:fillRect t="-3846" r="-144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E4D0394-B6BA-D043-B507-1C60688797CB}"/>
              </a:ext>
            </a:extLst>
          </p:cNvPr>
          <p:cNvSpPr txBox="1"/>
          <p:nvPr/>
        </p:nvSpPr>
        <p:spPr>
          <a:xfrm>
            <a:off x="7934616" y="5859173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2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4" grpId="0"/>
      <p:bldP spid="16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0357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Unlocking the Potential of CRISPR-Cas-based Genome Editing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B9135-FF19-F246-9AE6-A75BF6485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1" y="1960300"/>
            <a:ext cx="6294556" cy="2104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892" y="1454389"/>
            <a:ext cx="3990299" cy="3795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D338B-E6AD-CD4A-BABD-4954C7F48746}"/>
              </a:ext>
            </a:extLst>
          </p:cNvPr>
          <p:cNvSpPr txBox="1"/>
          <p:nvPr/>
        </p:nvSpPr>
        <p:spPr>
          <a:xfrm>
            <a:off x="7191099" y="5250229"/>
            <a:ext cx="4489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Nobel Prize in Chemistry 2020</a:t>
            </a:r>
          </a:p>
          <a:p>
            <a:pPr algn="ctr"/>
            <a:r>
              <a:rPr kumimoji="1" lang="en-US" altLang="zh-CN" sz="1400" i="1" dirty="0"/>
              <a:t>“</a:t>
            </a:r>
            <a:r>
              <a:rPr kumimoji="1" lang="en-US" altLang="zh-CN" sz="1400" i="1" dirty="0">
                <a:solidFill>
                  <a:srgbClr val="2E2A25"/>
                </a:solidFill>
                <a:latin typeface="Alfred Serif"/>
              </a:rPr>
              <a:t>F</a:t>
            </a:r>
            <a:r>
              <a:rPr lang="en-US" sz="1400" b="0" i="1" u="none" strike="noStrike" dirty="0">
                <a:solidFill>
                  <a:srgbClr val="2E2A25"/>
                </a:solidFill>
                <a:effectLst/>
                <a:latin typeface="Alfred Serif"/>
              </a:rPr>
              <a:t>or the development of a method for genome editing</a:t>
            </a:r>
            <a:r>
              <a:rPr kumimoji="1" lang="en-US" altLang="zh-CN" sz="1400" i="1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8CDE-B8DD-7D46-ADA3-4541490B01D3}"/>
              </a:ext>
            </a:extLst>
          </p:cNvPr>
          <p:cNvSpPr txBox="1"/>
          <p:nvPr/>
        </p:nvSpPr>
        <p:spPr>
          <a:xfrm>
            <a:off x="743099" y="4492687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The </a:t>
            </a:r>
            <a:r>
              <a:rPr lang="zh-CN" altLang="en-US" dirty="0">
                <a:solidFill>
                  <a:srgbClr val="FF0000"/>
                </a:solidFill>
              </a:rPr>
              <a:t>dual-tracrRNA:crRNA</a:t>
            </a:r>
            <a:r>
              <a:rPr lang="zh-CN" altLang="en-US" dirty="0"/>
              <a:t>, when engineered as </a:t>
            </a:r>
            <a:r>
              <a:rPr lang="zh-CN" altLang="en-US" dirty="0">
                <a:solidFill>
                  <a:srgbClr val="FF0000"/>
                </a:solidFill>
              </a:rPr>
              <a:t>a single RNA chimera</a:t>
            </a:r>
            <a:r>
              <a:rPr lang="zh-CN" altLang="en-US" dirty="0"/>
              <a:t>, also directs sequence-specific Cas9 dsDNA cleavage.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B43C6-AA39-9D46-9C0B-7F46DDBD0D73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5715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8BF92-2B21-A145-BF07-50EA2B0EDDAB}"/>
              </a:ext>
            </a:extLst>
          </p:cNvPr>
          <p:cNvSpPr txBox="1"/>
          <p:nvPr/>
        </p:nvSpPr>
        <p:spPr>
          <a:xfrm>
            <a:off x="325821" y="464150"/>
            <a:ext cx="6753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CRISPR-Cas9 Machinery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FB511E-6B3D-E74B-847A-84688BFD901A}"/>
              </a:ext>
            </a:extLst>
          </p:cNvPr>
          <p:cNvGrpSpPr/>
          <p:nvPr/>
        </p:nvGrpSpPr>
        <p:grpSpPr>
          <a:xfrm>
            <a:off x="899465" y="1648044"/>
            <a:ext cx="10393069" cy="2810966"/>
            <a:chOff x="111645" y="1640912"/>
            <a:chExt cx="11968709" cy="32270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16460B-6F29-9741-8F7D-2B744A071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645" y="1990014"/>
              <a:ext cx="11968709" cy="287797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AAF98E-815B-7B4F-AD64-1E5AFB80FB41}"/>
                </a:ext>
              </a:extLst>
            </p:cNvPr>
            <p:cNvSpPr/>
            <p:nvPr/>
          </p:nvSpPr>
          <p:spPr>
            <a:xfrm>
              <a:off x="5818896" y="1640912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88CE7D-5D3B-9A4C-910B-4CE6A7B2F784}"/>
                </a:ext>
              </a:extLst>
            </p:cNvPr>
            <p:cNvSpPr/>
            <p:nvPr/>
          </p:nvSpPr>
          <p:spPr>
            <a:xfrm>
              <a:off x="5818896" y="2723811"/>
              <a:ext cx="10795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BCA772-FAF5-1446-B327-F7534AA8897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360A2-A742-F342-984C-5D1BFBCD5971}"/>
              </a:ext>
            </a:extLst>
          </p:cNvPr>
          <p:cNvSpPr txBox="1"/>
          <p:nvPr/>
        </p:nvSpPr>
        <p:spPr>
          <a:xfrm>
            <a:off x="2102176" y="5137663"/>
            <a:ext cx="844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/>
              <a:t>At that time, </a:t>
            </a:r>
            <a:r>
              <a:rPr kumimoji="1" lang="en-US" altLang="zh-CN" sz="2000" i="1" dirty="0" err="1"/>
              <a:t>tracrRNA</a:t>
            </a:r>
            <a:r>
              <a:rPr kumimoji="1" lang="en-US" altLang="zh-CN" sz="2000" i="1" dirty="0"/>
              <a:t> was considered to function only in pre-crRNA processing.</a:t>
            </a:r>
            <a:endParaRPr kumimoji="1"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19365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81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also functions in DNA cleavage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/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/>
                  <a:t>sp2 + Cas9 + crRNA-sp2 + </a:t>
                </a:r>
                <a:r>
                  <a:rPr kumimoji="1" lang="en-US" altLang="zh-CN" sz="2000" b="1" dirty="0" err="1"/>
                  <a:t>tracrRNA</a:t>
                </a:r>
                <a:r>
                  <a:rPr kumimoji="1" lang="en-US" altLang="zh-CN" sz="2000" dirty="0"/>
                  <a:t> + Mg</a:t>
                </a:r>
                <a:r>
                  <a:rPr kumimoji="1" lang="en-US" altLang="zh-CN" sz="2000" baseline="30000" dirty="0"/>
                  <a:t>2+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zh-CN" sz="2000" dirty="0"/>
                  <a:t> DNA cleavage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blipFill>
                <a:blip r:embed="rId2"/>
                <a:stretch>
                  <a:fillRect l="-198" t="-6061" r="-19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A6CB1E-3CE4-6E4A-A897-86032A9F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1599182"/>
            <a:ext cx="6021799" cy="333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61D60-94ED-D243-AC55-53F4A210B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670" y="1148135"/>
            <a:ext cx="5177509" cy="423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736F8-9326-E24F-80CE-7528C181744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79794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04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Site-specific DNA Cleavage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67548D-5C48-6745-84D4-BCC1711624E3}"/>
              </a:ext>
            </a:extLst>
          </p:cNvPr>
          <p:cNvGrpSpPr/>
          <p:nvPr/>
        </p:nvGrpSpPr>
        <p:grpSpPr>
          <a:xfrm>
            <a:off x="3302745" y="1412432"/>
            <a:ext cx="2452103" cy="3144396"/>
            <a:chOff x="562841" y="3682309"/>
            <a:chExt cx="2272580" cy="317922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7281B6C-0B11-5648-A7D2-F8CB59CF89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877"/>
            <a:stretch/>
          </p:blipFill>
          <p:spPr>
            <a:xfrm>
              <a:off x="741116" y="3682309"/>
              <a:ext cx="2094305" cy="3179221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49B736-B348-E94C-BBC7-F0C41F1C1DA9}"/>
                </a:ext>
              </a:extLst>
            </p:cNvPr>
            <p:cNvSpPr/>
            <p:nvPr/>
          </p:nvSpPr>
          <p:spPr>
            <a:xfrm>
              <a:off x="562841" y="3682309"/>
              <a:ext cx="592183" cy="799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8E674-EC5D-5C47-BDD0-75A1C657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38" y="1466974"/>
            <a:ext cx="2907974" cy="314439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554300B-B30C-6643-9850-C0F82B5BE13D}"/>
              </a:ext>
            </a:extLst>
          </p:cNvPr>
          <p:cNvGrpSpPr/>
          <p:nvPr/>
        </p:nvGrpSpPr>
        <p:grpSpPr>
          <a:xfrm>
            <a:off x="462614" y="4656525"/>
            <a:ext cx="6987902" cy="1697625"/>
            <a:chOff x="548680" y="4761930"/>
            <a:chExt cx="7174524" cy="16976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3A95C1-2B1D-EB43-8719-679EED676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2" b="-1188"/>
            <a:stretch/>
          </p:blipFill>
          <p:spPr>
            <a:xfrm>
              <a:off x="548680" y="4761930"/>
              <a:ext cx="7174524" cy="16976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82BCC7-B65A-1F4D-9B67-AEF54B91792A}"/>
                </a:ext>
              </a:extLst>
            </p:cNvPr>
            <p:cNvSpPr/>
            <p:nvPr/>
          </p:nvSpPr>
          <p:spPr>
            <a:xfrm>
              <a:off x="4326861" y="5363677"/>
              <a:ext cx="592183" cy="1023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62BD1-D26F-EC4F-BD8C-360329DA8787}"/>
                </a:ext>
              </a:extLst>
            </p:cNvPr>
            <p:cNvSpPr/>
            <p:nvPr/>
          </p:nvSpPr>
          <p:spPr>
            <a:xfrm>
              <a:off x="3029284" y="5016348"/>
              <a:ext cx="1387716" cy="1666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2B91B1F-150D-B145-9296-512F148F5969}"/>
              </a:ext>
            </a:extLst>
          </p:cNvPr>
          <p:cNvSpPr txBox="1"/>
          <p:nvPr/>
        </p:nvSpPr>
        <p:spPr>
          <a:xfrm>
            <a:off x="5794714" y="1093343"/>
            <a:ext cx="6240767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SpCas9 (used in this research), Cleavage usually occurs at</a:t>
            </a:r>
            <a:r>
              <a:rPr kumimoji="1" lang="en-US" altLang="zh-CN" sz="2000" dirty="0">
                <a:solidFill>
                  <a:srgbClr val="FF0000"/>
                </a:solidFill>
              </a:rPr>
              <a:t> 3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nt</a:t>
            </a:r>
            <a:r>
              <a:rPr kumimoji="1" lang="en-US" altLang="zh-CN" sz="2000" dirty="0">
                <a:solidFill>
                  <a:srgbClr val="FF0000"/>
                </a:solidFill>
              </a:rPr>
              <a:t> upstream of the NGG PAM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Cas12, it occurs at </a:t>
            </a:r>
            <a:r>
              <a:rPr kumimoji="1" lang="en-US" altLang="zh-CN" sz="2000" dirty="0">
                <a:solidFill>
                  <a:srgbClr val="FF0000"/>
                </a:solidFill>
              </a:rPr>
              <a:t>several nucleotides downstream of the T-rich PAM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3B5B75-F8D9-6A41-8B90-89D8364A7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222" y="3120077"/>
            <a:ext cx="2283418" cy="12710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2C1880-01D2-A449-9382-969D39265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44" y="3113259"/>
            <a:ext cx="2341436" cy="127106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A17088-DBE5-DE4E-B650-70DA5F505FB8}"/>
              </a:ext>
            </a:extLst>
          </p:cNvPr>
          <p:cNvCxnSpPr/>
          <p:nvPr/>
        </p:nvCxnSpPr>
        <p:spPr>
          <a:xfrm>
            <a:off x="8316101" y="4250725"/>
            <a:ext cx="321275" cy="4572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2B0F7F-E88A-DE4F-BFC4-016C21E18861}"/>
              </a:ext>
            </a:extLst>
          </p:cNvPr>
          <p:cNvSpPr txBox="1"/>
          <p:nvPr/>
        </p:nvSpPr>
        <p:spPr>
          <a:xfrm>
            <a:off x="7839466" y="4747243"/>
            <a:ext cx="225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C000"/>
                </a:solidFill>
              </a:rPr>
              <a:t>fused </a:t>
            </a:r>
            <a:r>
              <a:rPr kumimoji="1" lang="en-US" altLang="zh-CN" dirty="0" err="1">
                <a:solidFill>
                  <a:srgbClr val="FFC000"/>
                </a:solidFill>
              </a:rPr>
              <a:t>tracrRNA:crRNA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C5C6A6-9BA0-1D43-B078-E78487084DEC}"/>
              </a:ext>
            </a:extLst>
          </p:cNvPr>
          <p:cNvCxnSpPr>
            <a:cxnSpLocks/>
          </p:cNvCxnSpPr>
          <p:nvPr/>
        </p:nvCxnSpPr>
        <p:spPr>
          <a:xfrm>
            <a:off x="10293293" y="4250725"/>
            <a:ext cx="0" cy="11240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B9CC91-5477-704F-8EAE-2FB3DED65CF3}"/>
              </a:ext>
            </a:extLst>
          </p:cNvPr>
          <p:cNvSpPr txBox="1"/>
          <p:nvPr/>
        </p:nvSpPr>
        <p:spPr>
          <a:xfrm>
            <a:off x="8548160" y="5444276"/>
            <a:ext cx="3487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Many Cas12 nucleases are naturally guided by a single crRNA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45206-270A-9E43-A8A5-FD2D2AEC16F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1078924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191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helps Cas9 recognize targets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DC9C0-F516-B04B-B757-74B6CFCD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382" y="1357879"/>
            <a:ext cx="6668797" cy="4164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8F58A4-83ED-5A4B-BD94-F50FF6ABE56E}"/>
              </a:ext>
            </a:extLst>
          </p:cNvPr>
          <p:cNvSpPr txBox="1"/>
          <p:nvPr/>
        </p:nvSpPr>
        <p:spPr>
          <a:xfrm>
            <a:off x="325821" y="1155668"/>
            <a:ext cx="5119636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Use catalytically dead Cas9 (dCas9)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alone </a:t>
            </a:r>
            <a:r>
              <a:rPr kumimoji="1" lang="en-US" altLang="zh-CN" sz="2000" dirty="0"/>
              <a:t>binds target DNA with moderate affinity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Unaffected by crRNA, indicating non-specific binding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With </a:t>
            </a:r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alone, Cas9 no longer binds target DNA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With tracrRNA and crRNA, </a:t>
            </a:r>
            <a:r>
              <a:rPr kumimoji="1" lang="en-US" altLang="zh-CN" sz="2000" dirty="0"/>
              <a:t>target DNA binding is substantially enhanced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Distinct mobility indicates specific binding</a:t>
            </a:r>
            <a:endParaRPr kumimoji="1" lang="en-CN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664FE-0B3F-AF4A-A8E2-1FD6E6DF7E69}"/>
              </a:ext>
            </a:extLst>
          </p:cNvPr>
          <p:cNvSpPr txBox="1"/>
          <p:nvPr/>
        </p:nvSpPr>
        <p:spPr>
          <a:xfrm>
            <a:off x="3135467" y="5791528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is necessary for Cas9 to recognize target DNA</a:t>
            </a:r>
            <a:endParaRPr kumimoji="1" lang="zh-CN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0588D-E5DC-F648-B22C-CD75768E2199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297571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1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Part of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is enough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3C355-5752-8A48-B542-515E5F74E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772"/>
          <a:stretch/>
        </p:blipFill>
        <p:spPr>
          <a:xfrm>
            <a:off x="258621" y="1476468"/>
            <a:ext cx="4174755" cy="3905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685" y="2539195"/>
            <a:ext cx="7233694" cy="1933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4E693-1DB7-1B43-A643-EAC6FFFD4064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CD223-0240-BF40-B8CC-D7B03377058A}"/>
              </a:ext>
            </a:extLst>
          </p:cNvPr>
          <p:cNvSpPr/>
          <p:nvPr/>
        </p:nvSpPr>
        <p:spPr>
          <a:xfrm>
            <a:off x="3540034" y="3056709"/>
            <a:ext cx="483327" cy="195942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78768-FA2A-8244-83C8-C1814989E895}"/>
              </a:ext>
            </a:extLst>
          </p:cNvPr>
          <p:cNvSpPr txBox="1"/>
          <p:nvPr/>
        </p:nvSpPr>
        <p:spPr>
          <a:xfrm>
            <a:off x="4794069" y="4512289"/>
            <a:ext cx="525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Secondary structure of </a:t>
            </a:r>
            <a:r>
              <a:rPr kumimoji="1" lang="en-US" altLang="zh-CN" dirty="0" err="1"/>
              <a:t>tracrRNA</a:t>
            </a:r>
            <a:r>
              <a:rPr kumimoji="1" lang="en-US" altLang="zh-CN" dirty="0"/>
              <a:t> is not that important</a:t>
            </a:r>
            <a:endParaRPr kumimoji="1"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D4FB1-9879-BA4F-A6AA-D154E1E7422E}"/>
              </a:ext>
            </a:extLst>
          </p:cNvPr>
          <p:cNvSpPr/>
          <p:nvPr/>
        </p:nvSpPr>
        <p:spPr>
          <a:xfrm>
            <a:off x="5793594" y="3675055"/>
            <a:ext cx="1719943" cy="54468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80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51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Same is true for crRNA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1" y="2462047"/>
            <a:ext cx="7233694" cy="193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188F3-F33E-C74A-9014-97E74D925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98" y="1333919"/>
            <a:ext cx="2743199" cy="4190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3C5553-7207-7A44-A816-7FB78BFC0054}"/>
              </a:ext>
            </a:extLst>
          </p:cNvPr>
          <p:cNvSpPr txBox="1"/>
          <p:nvPr/>
        </p:nvSpPr>
        <p:spPr>
          <a:xfrm>
            <a:off x="1549100" y="5709398"/>
            <a:ext cx="909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A </a:t>
            </a:r>
            <a:r>
              <a:rPr kumimoji="1" lang="en-US" altLang="zh-CN" sz="2000" b="1" dirty="0"/>
              <a:t>short segment of </a:t>
            </a:r>
            <a:r>
              <a:rPr kumimoji="1" lang="en-US" altLang="zh-CN" sz="2000" b="1" dirty="0" err="1"/>
              <a:t>tracrRNA</a:t>
            </a:r>
            <a:r>
              <a:rPr kumimoji="1" lang="en-US" altLang="zh-CN" sz="2000" dirty="0"/>
              <a:t> along with </a:t>
            </a:r>
            <a:r>
              <a:rPr kumimoji="1" lang="en-US" altLang="zh-CN" sz="2000" b="1" dirty="0"/>
              <a:t>part of crRNA</a:t>
            </a:r>
            <a:r>
              <a:rPr kumimoji="1" lang="en-US" altLang="zh-CN" sz="2000" dirty="0"/>
              <a:t> is sufficient for DNA cleavage</a:t>
            </a:r>
            <a:endParaRPr kumimoji="1" lang="zh-CN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2D3E9-40BB-5242-B5B6-ABDD6F2A468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83699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654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Also the case for protospacer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5A1A6-8161-EF47-BDED-60339114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08" y="3594662"/>
            <a:ext cx="6413500" cy="2565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352165-4919-7F43-885D-50539AF6D054}"/>
              </a:ext>
            </a:extLst>
          </p:cNvPr>
          <p:cNvGrpSpPr/>
          <p:nvPr/>
        </p:nvGrpSpPr>
        <p:grpSpPr>
          <a:xfrm>
            <a:off x="705082" y="1242607"/>
            <a:ext cx="1517898" cy="1102518"/>
            <a:chOff x="2651432" y="1341632"/>
            <a:chExt cx="1517898" cy="1102518"/>
          </a:xfrm>
        </p:grpSpPr>
        <p:pic>
          <p:nvPicPr>
            <p:cNvPr id="35" name="Picture 2" descr="DNA photo-cleaving agents in the far-red to near-infrared range – a ...">
              <a:extLst>
                <a:ext uri="{FF2B5EF4-FFF2-40B4-BE49-F238E27FC236}">
                  <a16:creationId xmlns:a16="http://schemas.microsoft.com/office/drawing/2014/main" id="{DC003D28-5D90-A641-A794-2C526D1F43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85"/>
            <a:stretch/>
          </p:blipFill>
          <p:spPr bwMode="auto">
            <a:xfrm>
              <a:off x="2793441" y="1341632"/>
              <a:ext cx="1375889" cy="1102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B7E2FF-8264-114B-B0DE-79BF7B578024}"/>
                </a:ext>
              </a:extLst>
            </p:cNvPr>
            <p:cNvSpPr/>
            <p:nvPr/>
          </p:nvSpPr>
          <p:spPr>
            <a:xfrm>
              <a:off x="2651432" y="1424345"/>
              <a:ext cx="324207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C2D018F-8985-A449-88E0-1020F9E7FAE0}"/>
              </a:ext>
            </a:extLst>
          </p:cNvPr>
          <p:cNvSpPr txBox="1"/>
          <p:nvPr/>
        </p:nvSpPr>
        <p:spPr>
          <a:xfrm>
            <a:off x="3135467" y="6292820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Seed sequence was discovered</a:t>
            </a:r>
            <a:endParaRPr kumimoji="1" lang="zh-CN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47885-0136-F34C-9B37-AF8EDEAD077B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655BC0-F40D-2C4B-AB60-C7B98FBB25D8}"/>
              </a:ext>
            </a:extLst>
          </p:cNvPr>
          <p:cNvSpPr/>
          <p:nvPr/>
        </p:nvSpPr>
        <p:spPr>
          <a:xfrm>
            <a:off x="4349930" y="4933209"/>
            <a:ext cx="444139" cy="85095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ABBFD9-E11C-4447-9A00-51B71A5DA77D}"/>
              </a:ext>
            </a:extLst>
          </p:cNvPr>
          <p:cNvGrpSpPr/>
          <p:nvPr/>
        </p:nvGrpSpPr>
        <p:grpSpPr>
          <a:xfrm>
            <a:off x="2417508" y="960825"/>
            <a:ext cx="7200900" cy="2768600"/>
            <a:chOff x="2417508" y="960825"/>
            <a:chExt cx="7200900" cy="2768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407A49-18E0-EA4D-A811-84D15DCC44C8}"/>
                </a:ext>
              </a:extLst>
            </p:cNvPr>
            <p:cNvGrpSpPr/>
            <p:nvPr/>
          </p:nvGrpSpPr>
          <p:grpSpPr>
            <a:xfrm>
              <a:off x="2417508" y="960825"/>
              <a:ext cx="7200900" cy="2768600"/>
              <a:chOff x="2417508" y="960825"/>
              <a:chExt cx="7200900" cy="27686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BD16436-C2FF-7545-A151-3A785C6D4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7508" y="960825"/>
                <a:ext cx="7200900" cy="2768600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CF9594E-B94C-184E-99BA-2D99B5FB3ACA}"/>
                  </a:ext>
                </a:extLst>
              </p:cNvPr>
              <p:cNvSpPr/>
              <p:nvPr/>
            </p:nvSpPr>
            <p:spPr>
              <a:xfrm>
                <a:off x="2622295" y="1015039"/>
                <a:ext cx="582613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3B10B7-A627-884F-A0CC-5F10381C437A}"/>
                </a:ext>
              </a:extLst>
            </p:cNvPr>
            <p:cNvSpPr/>
            <p:nvPr/>
          </p:nvSpPr>
          <p:spPr>
            <a:xfrm>
              <a:off x="4467497" y="1658608"/>
              <a:ext cx="914400" cy="36613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61F5-DF1F-AB41-B929-879107D5C652}"/>
                </a:ext>
              </a:extLst>
            </p:cNvPr>
            <p:cNvSpPr/>
            <p:nvPr/>
          </p:nvSpPr>
          <p:spPr>
            <a:xfrm>
              <a:off x="2573592" y="2278258"/>
              <a:ext cx="3662108" cy="1366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342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773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Engineer CRISPR-Cas9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3FAB60-FA3B-6249-9237-8C916AAB9F0D}"/>
              </a:ext>
            </a:extLst>
          </p:cNvPr>
          <p:cNvGrpSpPr/>
          <p:nvPr/>
        </p:nvGrpSpPr>
        <p:grpSpPr>
          <a:xfrm>
            <a:off x="325821" y="2710978"/>
            <a:ext cx="9275379" cy="3134353"/>
            <a:chOff x="325821" y="2853130"/>
            <a:chExt cx="11445267" cy="38735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DB7BFE-C3DE-C241-B65B-B92FAA8B5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8939"/>
            <a:stretch/>
          </p:blipFill>
          <p:spPr>
            <a:xfrm>
              <a:off x="325821" y="2853130"/>
              <a:ext cx="4852151" cy="387350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B6ED118-3890-6944-8158-F2E0F5E64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1061"/>
            <a:stretch/>
          </p:blipFill>
          <p:spPr>
            <a:xfrm>
              <a:off x="7014030" y="2853130"/>
              <a:ext cx="4757058" cy="363974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E6AABC1-4CF1-434B-9575-4ACB62EB8D56}"/>
                </a:ext>
              </a:extLst>
            </p:cNvPr>
            <p:cNvCxnSpPr>
              <a:stCxn id="5" idx="3"/>
            </p:cNvCxnSpPr>
            <p:nvPr/>
          </p:nvCxnSpPr>
          <p:spPr>
            <a:xfrm flipV="1">
              <a:off x="5177972" y="4789884"/>
              <a:ext cx="18360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D6C26A5-47EC-3A40-A0D1-E32F44B784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51" t="45665" r="1886"/>
          <a:stretch/>
        </p:blipFill>
        <p:spPr>
          <a:xfrm>
            <a:off x="325821" y="1496709"/>
            <a:ext cx="5410873" cy="938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BF3D3-C25D-B64E-9975-CE0A03E61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089" y="1482780"/>
            <a:ext cx="3403600" cy="8382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8E94B7-9169-3D40-AC45-A7D700D21753}"/>
              </a:ext>
            </a:extLst>
          </p:cNvPr>
          <p:cNvCxnSpPr>
            <a:cxnSpLocks/>
          </p:cNvCxnSpPr>
          <p:nvPr/>
        </p:nvCxnSpPr>
        <p:spPr>
          <a:xfrm flipV="1">
            <a:off x="5736694" y="1839615"/>
            <a:ext cx="125193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35584A7-1EEF-894C-A8FA-B9EDD9594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6551" y="2467442"/>
            <a:ext cx="2069501" cy="38384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F6D294-EDAB-5240-9F99-5E9EDA17B708}"/>
              </a:ext>
            </a:extLst>
          </p:cNvPr>
          <p:cNvSpPr txBox="1"/>
          <p:nvPr/>
        </p:nvSpPr>
        <p:spPr>
          <a:xfrm>
            <a:off x="4733652" y="5936562"/>
            <a:ext cx="395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It’s now called single guide RNA (sgRNA)</a:t>
            </a:r>
            <a:endParaRPr kumimoji="1" lang="zh-CN" alt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98C543-D450-7E4E-AFED-7096DEE79D5B}"/>
              </a:ext>
            </a:extLst>
          </p:cNvPr>
          <p:cNvCxnSpPr/>
          <p:nvPr/>
        </p:nvCxnSpPr>
        <p:spPr>
          <a:xfrm flipH="1">
            <a:off x="6987597" y="5588629"/>
            <a:ext cx="684983" cy="392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C22883-67A0-0249-A14D-2BC2A86DEA9D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90404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722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They deserve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680" y="1239289"/>
            <a:ext cx="5714639" cy="54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0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60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Striking Advantage of CRISPR-Cas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05926-FA31-1746-BE91-565454F2DF17}"/>
              </a:ext>
            </a:extLst>
          </p:cNvPr>
          <p:cNvSpPr txBox="1"/>
          <p:nvPr/>
        </p:nvSpPr>
        <p:spPr>
          <a:xfrm>
            <a:off x="224475" y="5493522"/>
            <a:ext cx="3199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User-friendly and quick creation of KO/</a:t>
            </a:r>
            <a:r>
              <a:rPr kumimoji="1" lang="en-US" altLang="zh-CN" dirty="0" err="1"/>
              <a:t>transgenetic</a:t>
            </a:r>
            <a:r>
              <a:rPr kumimoji="1" lang="en-US" altLang="zh-CN" dirty="0"/>
              <a:t> models</a:t>
            </a:r>
            <a:endParaRPr kumimoji="1" lang="zh-CN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B55E8A-A4FB-124D-A989-5CE5C90F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56" y="1163637"/>
            <a:ext cx="7239000" cy="55118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0EB01E-EDC5-3941-A98C-2BFF6F31688A}"/>
              </a:ext>
            </a:extLst>
          </p:cNvPr>
          <p:cNvCxnSpPr>
            <a:cxnSpLocks/>
          </p:cNvCxnSpPr>
          <p:nvPr/>
        </p:nvCxnSpPr>
        <p:spPr>
          <a:xfrm>
            <a:off x="3391406" y="3429000"/>
            <a:ext cx="910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25BDAE-602E-5E4B-9B04-C6140EEBCE68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09D79D-D199-D04F-8345-31CFF93C60EA}"/>
              </a:ext>
            </a:extLst>
          </p:cNvPr>
          <p:cNvGrpSpPr/>
          <p:nvPr/>
        </p:nvGrpSpPr>
        <p:grpSpPr>
          <a:xfrm>
            <a:off x="325821" y="1350234"/>
            <a:ext cx="3521065" cy="4143288"/>
            <a:chOff x="325821" y="1350234"/>
            <a:chExt cx="3521065" cy="41432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6FF62E6-E095-5B4C-91E8-F3DB645C21B8}"/>
                </a:ext>
              </a:extLst>
            </p:cNvPr>
            <p:cNvGrpSpPr/>
            <p:nvPr/>
          </p:nvGrpSpPr>
          <p:grpSpPr>
            <a:xfrm>
              <a:off x="325821" y="1350234"/>
              <a:ext cx="3521065" cy="4143288"/>
              <a:chOff x="325821" y="1350234"/>
              <a:chExt cx="3521065" cy="414328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4B64404-9B65-F34A-824E-AC18EFB80523}"/>
                  </a:ext>
                </a:extLst>
              </p:cNvPr>
              <p:cNvGrpSpPr/>
              <p:nvPr/>
            </p:nvGrpSpPr>
            <p:grpSpPr>
              <a:xfrm>
                <a:off x="325821" y="1364478"/>
                <a:ext cx="3065585" cy="4129044"/>
                <a:chOff x="228600" y="1459523"/>
                <a:chExt cx="3065585" cy="412904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2559318-69F7-7648-9BC5-95126C12A26D}"/>
                    </a:ext>
                  </a:extLst>
                </p:cNvPr>
                <p:cNvSpPr/>
                <p:nvPr/>
              </p:nvSpPr>
              <p:spPr>
                <a:xfrm>
                  <a:off x="1676401" y="51028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167A468-445C-8C40-B535-49B0F426B4B3}"/>
                    </a:ext>
                  </a:extLst>
                </p:cNvPr>
                <p:cNvSpPr/>
                <p:nvPr/>
              </p:nvSpPr>
              <p:spPr>
                <a:xfrm>
                  <a:off x="1828801" y="52552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DDF1F879-AB3A-374F-9E99-802BAA763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384" y="1459523"/>
                  <a:ext cx="2758834" cy="3924300"/>
                </a:xfrm>
                <a:prstGeom prst="rect">
                  <a:avLst/>
                </a:prstGeom>
              </p:spPr>
            </p:pic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174EE70-53B1-AE49-A2F1-772785C54FA1}"/>
                    </a:ext>
                  </a:extLst>
                </p:cNvPr>
                <p:cNvSpPr/>
                <p:nvPr/>
              </p:nvSpPr>
              <p:spPr>
                <a:xfrm>
                  <a:off x="1727202" y="5244533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3B6EF79-6389-FB4C-90FB-A2CC7C318F7A}"/>
                    </a:ext>
                  </a:extLst>
                </p:cNvPr>
                <p:cNvSpPr/>
                <p:nvPr/>
              </p:nvSpPr>
              <p:spPr>
                <a:xfrm>
                  <a:off x="228600" y="5244533"/>
                  <a:ext cx="1231900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E3EC8D7-9244-A645-8E73-71A1A3153070}"/>
                  </a:ext>
                </a:extLst>
              </p:cNvPr>
              <p:cNvSpPr/>
              <p:nvPr/>
            </p:nvSpPr>
            <p:spPr>
              <a:xfrm>
                <a:off x="2381502" y="1350234"/>
                <a:ext cx="1465384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3B3D0F-1003-6F4C-A4EF-606FDC3DF8A4}"/>
                </a:ext>
              </a:extLst>
            </p:cNvPr>
            <p:cNvSpPr/>
            <p:nvPr/>
          </p:nvSpPr>
          <p:spPr>
            <a:xfrm>
              <a:off x="1855320" y="1364478"/>
              <a:ext cx="398208" cy="210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3102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2AED1-9CB0-B74D-98EB-44DD7BC15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3491151"/>
            <a:ext cx="4302387" cy="2454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4FD9C-3F14-4B4C-A955-5AA7CF0F4159}"/>
              </a:ext>
            </a:extLst>
          </p:cNvPr>
          <p:cNvSpPr txBox="1"/>
          <p:nvPr/>
        </p:nvSpPr>
        <p:spPr>
          <a:xfrm>
            <a:off x="1174253" y="5979842"/>
            <a:ext cx="260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(Relatively) low specificity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6604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Key Problems of CRISPR-Cas Nucleases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BC927-961D-E149-86DC-45BE6D1C3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562" y="1403818"/>
            <a:ext cx="1927646" cy="1073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C04812-2C4C-CA47-BDCE-4962A919D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21" y="1397000"/>
            <a:ext cx="1927646" cy="104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64E8D0-A039-EB4D-B799-59A29947A7FE}"/>
              </a:ext>
            </a:extLst>
          </p:cNvPr>
          <p:cNvSpPr txBox="1"/>
          <p:nvPr/>
        </p:nvSpPr>
        <p:spPr>
          <a:xfrm>
            <a:off x="937078" y="2647069"/>
            <a:ext cx="318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PAM constraint on target scope</a:t>
            </a:r>
            <a:endParaRPr kumimoji="1" lang="zh-CN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359AEE-7E21-8942-BD92-7FF0B5E3A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954" y="2354963"/>
            <a:ext cx="3613039" cy="25282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FB42C3-F5B2-CF48-A1A4-1CE080636128}"/>
              </a:ext>
            </a:extLst>
          </p:cNvPr>
          <p:cNvSpPr txBox="1"/>
          <p:nvPr/>
        </p:nvSpPr>
        <p:spPr>
          <a:xfrm>
            <a:off x="5383277" y="4883194"/>
            <a:ext cx="278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Uncertain editing outcomes</a:t>
            </a:r>
            <a:endParaRPr kumimoji="1"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EBEC8-53FB-134F-AB61-C2A91F5D3DE4}"/>
              </a:ext>
            </a:extLst>
          </p:cNvPr>
          <p:cNvSpPr/>
          <p:nvPr/>
        </p:nvSpPr>
        <p:spPr>
          <a:xfrm>
            <a:off x="8282036" y="1618174"/>
            <a:ext cx="760364" cy="333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E9E36-B1D8-AA42-B028-76129C748245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35B4C-D06B-C249-ADC4-B4A5DB22B6B1}"/>
              </a:ext>
            </a:extLst>
          </p:cNvPr>
          <p:cNvSpPr txBox="1"/>
          <p:nvPr/>
        </p:nvSpPr>
        <p:spPr>
          <a:xfrm>
            <a:off x="8578961" y="5656676"/>
            <a:ext cx="361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Some common issues: delivery, gene integration, ethics &amp; morality…</a:t>
            </a:r>
            <a:endParaRPr kumimoji="1"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4C8F5-75BA-DE45-B1F5-6850CB1C3E0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70"/>
          <a:stretch/>
        </p:blipFill>
        <p:spPr>
          <a:xfrm>
            <a:off x="9147897" y="1004835"/>
            <a:ext cx="2475166" cy="45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70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9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7474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Next: Step-by-step CRISPR-Cas Optimization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208D2D-5E5E-8F4C-B143-5BBCB0C9294D}"/>
              </a:ext>
            </a:extLst>
          </p:cNvPr>
          <p:cNvCxnSpPr/>
          <p:nvPr/>
        </p:nvCxnSpPr>
        <p:spPr>
          <a:xfrm>
            <a:off x="5352267" y="3483952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9F8C74-7C9B-474F-9AC8-091A87003B82}"/>
              </a:ext>
            </a:extLst>
          </p:cNvPr>
          <p:cNvSpPr txBox="1"/>
          <p:nvPr/>
        </p:nvSpPr>
        <p:spPr>
          <a:xfrm>
            <a:off x="3413018" y="288956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Nucleases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EFB92-87D6-F745-A0F4-CEDA70841201}"/>
              </a:ext>
            </a:extLst>
          </p:cNvPr>
          <p:cNvSpPr txBox="1"/>
          <p:nvPr/>
        </p:nvSpPr>
        <p:spPr>
          <a:xfrm>
            <a:off x="9509545" y="2518726"/>
            <a:ext cx="208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More Cas-accessible target sequences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3DE82-24AC-C942-B2FA-E6422DC0360E}"/>
              </a:ext>
            </a:extLst>
          </p:cNvPr>
          <p:cNvSpPr txBox="1"/>
          <p:nvPr/>
        </p:nvSpPr>
        <p:spPr>
          <a:xfrm>
            <a:off x="9757473" y="4008410"/>
            <a:ext cx="159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Less off targets</a:t>
            </a:r>
            <a:endParaRPr kumimoji="1"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C3214-367E-7946-BE24-2E36DFE0674F}"/>
              </a:ext>
            </a:extLst>
          </p:cNvPr>
          <p:cNvSpPr txBox="1"/>
          <p:nvPr/>
        </p:nvSpPr>
        <p:spPr>
          <a:xfrm>
            <a:off x="6438900" y="2670120"/>
            <a:ext cx="208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Expand target scope</a:t>
            </a:r>
            <a:endParaRPr kumimoji="1"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EC5E2A-F018-E04B-9333-A001411AD4E3}"/>
              </a:ext>
            </a:extLst>
          </p:cNvPr>
          <p:cNvSpPr txBox="1"/>
          <p:nvPr/>
        </p:nvSpPr>
        <p:spPr>
          <a:xfrm>
            <a:off x="6636967" y="400841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Enhance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fidelity</a:t>
            </a:r>
            <a:endParaRPr kumimoji="1" lang="zh-CN" alt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30B77F-1698-164B-A6E9-0DDFE9041A51}"/>
              </a:ext>
            </a:extLst>
          </p:cNvPr>
          <p:cNvCxnSpPr/>
          <p:nvPr/>
        </p:nvCxnSpPr>
        <p:spPr>
          <a:xfrm>
            <a:off x="8641567" y="285478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344512-66C4-0447-B043-75F58DA113EA}"/>
              </a:ext>
            </a:extLst>
          </p:cNvPr>
          <p:cNvCxnSpPr/>
          <p:nvPr/>
        </p:nvCxnSpPr>
        <p:spPr>
          <a:xfrm>
            <a:off x="8641567" y="419307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CF84B6-C64D-D34F-9EB6-2FBA53A9589A}"/>
              </a:ext>
            </a:extLst>
          </p:cNvPr>
          <p:cNvCxnSpPr>
            <a:cxnSpLocks/>
          </p:cNvCxnSpPr>
          <p:nvPr/>
        </p:nvCxnSpPr>
        <p:spPr>
          <a:xfrm flipH="1">
            <a:off x="2578100" y="1689100"/>
            <a:ext cx="1" cy="179485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B2BF681-850F-F943-ACCD-8383940D4391}"/>
              </a:ext>
            </a:extLst>
          </p:cNvPr>
          <p:cNvSpPr/>
          <p:nvPr/>
        </p:nvSpPr>
        <p:spPr>
          <a:xfrm rot="10800000">
            <a:off x="2349500" y="2117788"/>
            <a:ext cx="457192" cy="20631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65C8B3-0CA5-D74E-AED7-DD3EA8F0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6" y="1475822"/>
            <a:ext cx="1974353" cy="147043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B321CE6-D4AB-A545-A5C8-2B294EA92E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548"/>
          <a:stretch/>
        </p:blipFill>
        <p:spPr>
          <a:xfrm>
            <a:off x="2913761" y="1701181"/>
            <a:ext cx="2103662" cy="11350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7B28D88-A51B-674E-965F-45F4D0BFADE1}"/>
              </a:ext>
            </a:extLst>
          </p:cNvPr>
          <p:cNvSpPr txBox="1"/>
          <p:nvPr/>
        </p:nvSpPr>
        <p:spPr>
          <a:xfrm>
            <a:off x="545781" y="288956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Base Editors</a:t>
            </a:r>
            <a:endParaRPr kumimoji="1" lang="zh-CN" alt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427631D-E780-904E-821D-C08477C7A37C}"/>
              </a:ext>
            </a:extLst>
          </p:cNvPr>
          <p:cNvCxnSpPr>
            <a:cxnSpLocks/>
          </p:cNvCxnSpPr>
          <p:nvPr/>
        </p:nvCxnSpPr>
        <p:spPr>
          <a:xfrm>
            <a:off x="-31755" y="3483952"/>
            <a:ext cx="5219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5" name="Right Arrow 54">
            <a:extLst>
              <a:ext uri="{FF2B5EF4-FFF2-40B4-BE49-F238E27FC236}">
                <a16:creationId xmlns:a16="http://schemas.microsoft.com/office/drawing/2014/main" id="{26D54684-EC76-A345-B33D-3806979AF04A}"/>
              </a:ext>
            </a:extLst>
          </p:cNvPr>
          <p:cNvSpPr/>
          <p:nvPr/>
        </p:nvSpPr>
        <p:spPr>
          <a:xfrm rot="5400000">
            <a:off x="2283758" y="3419195"/>
            <a:ext cx="588674" cy="15557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7CFCD11-3E56-B249-93F9-3390D5876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46" y="3948989"/>
            <a:ext cx="2178285" cy="160037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646C81B-7C29-AF42-BF26-DB6A137C74A9}"/>
              </a:ext>
            </a:extLst>
          </p:cNvPr>
          <p:cNvSpPr txBox="1"/>
          <p:nvPr/>
        </p:nvSpPr>
        <p:spPr>
          <a:xfrm>
            <a:off x="451012" y="5677332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Transposases</a:t>
            </a:r>
            <a:endParaRPr kumimoji="1" lang="zh-CN" alt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C597BF7-4DE3-CA46-B06C-42AE5D57C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553" y="3844728"/>
            <a:ext cx="2340089" cy="170463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F18EDC0-A1D1-D44B-BA82-608F78FEC7B2}"/>
              </a:ext>
            </a:extLst>
          </p:cNvPr>
          <p:cNvSpPr txBox="1"/>
          <p:nvPr/>
        </p:nvSpPr>
        <p:spPr>
          <a:xfrm>
            <a:off x="3259989" y="5677332"/>
            <a:ext cx="134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Prime Editor</a:t>
            </a:r>
            <a:endParaRPr kumimoji="1" lang="zh-CN" altLang="en-US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143DB7C-B339-F842-99BB-6AEF9ACBC3E8}"/>
              </a:ext>
            </a:extLst>
          </p:cNvPr>
          <p:cNvSpPr/>
          <p:nvPr/>
        </p:nvSpPr>
        <p:spPr>
          <a:xfrm>
            <a:off x="6387322" y="2320988"/>
            <a:ext cx="5219695" cy="2351987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601D5-0775-8140-A2F4-5B8F967923CE}"/>
              </a:ext>
            </a:extLst>
          </p:cNvPr>
          <p:cNvSpPr txBox="1"/>
          <p:nvPr/>
        </p:nvSpPr>
        <p:spPr>
          <a:xfrm>
            <a:off x="7473450" y="1873985"/>
            <a:ext cx="304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General Optimization Goals</a:t>
            </a:r>
            <a:endParaRPr kumimoji="1" lang="zh-CN" altLang="en-US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0E5754-DC3D-304A-B76C-356FA7FF4390}"/>
              </a:ext>
            </a:extLst>
          </p:cNvPr>
          <p:cNvSpPr txBox="1"/>
          <p:nvPr/>
        </p:nvSpPr>
        <p:spPr>
          <a:xfrm>
            <a:off x="-47536" y="639633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772178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8" grpId="0"/>
      <p:bldP spid="29" grpId="0"/>
      <p:bldP spid="30" grpId="0"/>
      <p:bldP spid="41" grpId="0" animBg="1"/>
      <p:bldP spid="44" grpId="0"/>
      <p:bldP spid="55" grpId="0" animBg="1"/>
      <p:bldP spid="57" grpId="0"/>
      <p:bldP spid="61" grpId="0"/>
      <p:bldP spid="62" grpId="0" animBg="1"/>
      <p:bldP spid="6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896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Cas variants with expanded target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727404E-E911-294E-B880-85626A697C89}"/>
              </a:ext>
            </a:extLst>
          </p:cNvPr>
          <p:cNvSpPr txBox="1"/>
          <p:nvPr/>
        </p:nvSpPr>
        <p:spPr>
          <a:xfrm>
            <a:off x="325820" y="1054874"/>
            <a:ext cx="8691179" cy="355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Key: relax the constraint of PAM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Not all target sequences have a PAM nearby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Theoretically, shorter PAM is better (more easily to enumerate all possible PAMs)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Many natural Cas9/12 orthologs recognize diversed PAMs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e.g., SaCas9: NNGRRT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Engineered Cas variants through rational design and/or evolution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Result: over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half of the PAM sequence space can be recognized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Still not enough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2D79B-1665-DC49-A28A-CDF02C24517D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370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60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Externally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BE1F19-25E8-9E4B-8B33-99E617D76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567115"/>
            <a:ext cx="4321871" cy="432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AC24A69-F53A-3849-B4A8-3AB2E66A48A2}"/>
              </a:ext>
            </a:extLst>
          </p:cNvPr>
          <p:cNvGrpSpPr/>
          <p:nvPr/>
        </p:nvGrpSpPr>
        <p:grpSpPr>
          <a:xfrm>
            <a:off x="5539850" y="1390158"/>
            <a:ext cx="6144150" cy="2543748"/>
            <a:chOff x="5539850" y="1135630"/>
            <a:chExt cx="6144150" cy="254374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6113D7-67C1-A14F-BE45-492EBA44E7F4}"/>
                </a:ext>
              </a:extLst>
            </p:cNvPr>
            <p:cNvGrpSpPr/>
            <p:nvPr/>
          </p:nvGrpSpPr>
          <p:grpSpPr>
            <a:xfrm>
              <a:off x="5539850" y="1135630"/>
              <a:ext cx="6144150" cy="2438928"/>
              <a:chOff x="5539850" y="1135630"/>
              <a:chExt cx="6144150" cy="243892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E288286-49B9-1741-8C22-7F39354E9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5950" y="1135630"/>
                <a:ext cx="5988050" cy="243892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282F6F-5F08-FE48-85B9-584272B0A985}"/>
                  </a:ext>
                </a:extLst>
              </p:cNvPr>
              <p:cNvSpPr/>
              <p:nvPr/>
            </p:nvSpPr>
            <p:spPr>
              <a:xfrm>
                <a:off x="5539850" y="1160029"/>
                <a:ext cx="591600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313E12-4AC4-944C-9565-E30177A538B2}"/>
                </a:ext>
              </a:extLst>
            </p:cNvPr>
            <p:cNvSpPr/>
            <p:nvPr/>
          </p:nvSpPr>
          <p:spPr>
            <a:xfrm>
              <a:off x="5549900" y="3346090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41FAB6-53F6-DA4F-939B-195EBD054891}"/>
              </a:ext>
            </a:extLst>
          </p:cNvPr>
          <p:cNvGrpSpPr/>
          <p:nvPr/>
        </p:nvGrpSpPr>
        <p:grpSpPr>
          <a:xfrm>
            <a:off x="5504353" y="4131073"/>
            <a:ext cx="6371243" cy="1745263"/>
            <a:chOff x="5504399" y="4106988"/>
            <a:chExt cx="6371243" cy="174526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33C8366-A1CA-0C4C-B53B-3D6BF6BF4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2034" y="4129859"/>
              <a:ext cx="6253608" cy="172239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8ADDD0C-3CCB-CC4F-BD26-8080FC78DB7C}"/>
                </a:ext>
              </a:extLst>
            </p:cNvPr>
            <p:cNvSpPr/>
            <p:nvPr/>
          </p:nvSpPr>
          <p:spPr>
            <a:xfrm>
              <a:off x="5504399" y="410698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312E076-6B43-3149-9194-6A2ABD66518D}"/>
              </a:ext>
            </a:extLst>
          </p:cNvPr>
          <p:cNvSpPr txBox="1"/>
          <p:nvPr/>
        </p:nvSpPr>
        <p:spPr>
          <a:xfrm>
            <a:off x="325821" y="969014"/>
            <a:ext cx="869117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multiple verifications (at the cost of higher complexity)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2BCCBE-A5FE-994C-BF9D-3DEB8DD4B437}"/>
              </a:ext>
            </a:extLst>
          </p:cNvPr>
          <p:cNvSpPr txBox="1"/>
          <p:nvPr/>
        </p:nvSpPr>
        <p:spPr>
          <a:xfrm>
            <a:off x="325821" y="5909051"/>
            <a:ext cx="479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Ran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Double nicking by RNA-guided CRISPR Cas9 for enhanced genome editing specificity. </a:t>
            </a:r>
            <a:r>
              <a:rPr lang="en-US" altLang="zh-CN" sz="1200" i="1" dirty="0">
                <a:solidFill>
                  <a:schemeClr val="accent3"/>
                </a:solidFill>
              </a:rPr>
              <a:t>Cell</a:t>
            </a:r>
            <a:r>
              <a:rPr lang="en-US" altLang="zh-CN" sz="1200" dirty="0">
                <a:solidFill>
                  <a:schemeClr val="accent3"/>
                </a:solidFill>
              </a:rPr>
              <a:t>. 2013 Sep 12;154(6):1380-9.</a:t>
            </a:r>
          </a:p>
          <a:p>
            <a:endParaRPr lang="en-US" altLang="zh-CN" sz="1200" dirty="0">
              <a:solidFill>
                <a:schemeClr val="accent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838D72-2E79-4641-8ACF-7385248D69EC}"/>
              </a:ext>
            </a:extLst>
          </p:cNvPr>
          <p:cNvSpPr txBox="1"/>
          <p:nvPr/>
        </p:nvSpPr>
        <p:spPr>
          <a:xfrm>
            <a:off x="5759071" y="5941606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Bolukbasi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Orthogonal Cas9-Cas9 chimeras provide a versatile platform for genome editing.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Commun</a:t>
            </a:r>
            <a:r>
              <a:rPr lang="en-US" altLang="zh-CN" sz="1200" dirty="0">
                <a:solidFill>
                  <a:schemeClr val="accent3"/>
                </a:solidFill>
              </a:rPr>
              <a:t>. 2018 Nov 19;9(1):4856.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E5D41-8949-B34E-907F-9D8FF3D628B5}"/>
              </a:ext>
            </a:extLst>
          </p:cNvPr>
          <p:cNvSpPr txBox="1"/>
          <p:nvPr/>
        </p:nvSpPr>
        <p:spPr>
          <a:xfrm>
            <a:off x="5759071" y="3572505"/>
            <a:ext cx="457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Guilinger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Fusion of catalytically inactive Cas9 to </a:t>
            </a:r>
            <a:r>
              <a:rPr lang="en-US" altLang="zh-CN" sz="1200" dirty="0" err="1">
                <a:solidFill>
                  <a:schemeClr val="accent3"/>
                </a:solidFill>
              </a:rPr>
              <a:t>FokI</a:t>
            </a:r>
            <a:r>
              <a:rPr lang="en-US" altLang="zh-CN" sz="1200" dirty="0">
                <a:solidFill>
                  <a:schemeClr val="accent3"/>
                </a:solidFill>
              </a:rPr>
              <a:t> nuclease improves the specificity of genome modification.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Jun;32(6):577-582.</a:t>
            </a:r>
          </a:p>
        </p:txBody>
      </p:sp>
    </p:spTree>
    <p:extLst>
      <p:ext uri="{BB962C8B-B14F-4D97-AF65-F5344CB8AC3E}">
        <p14:creationId xmlns:p14="http://schemas.microsoft.com/office/powerpoint/2010/main" val="209104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DE25C83-F76C-E540-BA8B-D0BB06A16D0A}"/>
              </a:ext>
            </a:extLst>
          </p:cNvPr>
          <p:cNvGrpSpPr/>
          <p:nvPr/>
        </p:nvGrpSpPr>
        <p:grpSpPr>
          <a:xfrm>
            <a:off x="412750" y="1761259"/>
            <a:ext cx="11366498" cy="3924300"/>
            <a:chOff x="825500" y="1921863"/>
            <a:chExt cx="11366498" cy="392430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FFCD3957-5D49-CD42-9D85-290B04085D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71"/>
            <a:stretch/>
          </p:blipFill>
          <p:spPr bwMode="auto">
            <a:xfrm>
              <a:off x="825500" y="1921863"/>
              <a:ext cx="11366498" cy="392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35E074-E4F7-1F40-BCF3-87D3F2E2776E}"/>
                </a:ext>
              </a:extLst>
            </p:cNvPr>
            <p:cNvSpPr/>
            <p:nvPr/>
          </p:nvSpPr>
          <p:spPr>
            <a:xfrm>
              <a:off x="4571999" y="1921863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896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lower on-target activity)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C5D05-5A2C-2A48-9D5B-AA59A8194774}"/>
              </a:ext>
            </a:extLst>
          </p:cNvPr>
          <p:cNvSpPr txBox="1"/>
          <p:nvPr/>
        </p:nvSpPr>
        <p:spPr>
          <a:xfrm>
            <a:off x="325820" y="574962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Slaymaker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Rationally engineered Cas9 nucleases with improved specificity.</a:t>
            </a:r>
            <a:r>
              <a:rPr lang="en-US" altLang="zh-CN" sz="1200" i="1" dirty="0">
                <a:solidFill>
                  <a:schemeClr val="accent3"/>
                </a:solidFill>
              </a:rPr>
              <a:t> Science</a:t>
            </a:r>
            <a:r>
              <a:rPr lang="en-US" altLang="zh-CN" sz="1200" dirty="0">
                <a:solidFill>
                  <a:schemeClr val="accent3"/>
                </a:solidFill>
              </a:rPr>
              <a:t>. 2016 Jan 1;351(6268):84-8.</a:t>
            </a:r>
          </a:p>
        </p:txBody>
      </p:sp>
    </p:spTree>
    <p:extLst>
      <p:ext uri="{BB962C8B-B14F-4D97-AF65-F5344CB8AC3E}">
        <p14:creationId xmlns:p14="http://schemas.microsoft.com/office/powerpoint/2010/main" val="276263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134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limited Cas)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8CAEF1-5D17-F344-843B-E1341F339250}"/>
              </a:ext>
            </a:extLst>
          </p:cNvPr>
          <p:cNvGrpSpPr/>
          <p:nvPr/>
        </p:nvGrpSpPr>
        <p:grpSpPr>
          <a:xfrm>
            <a:off x="1819273" y="1685075"/>
            <a:ext cx="8553451" cy="4072626"/>
            <a:chOff x="2063749" y="1808983"/>
            <a:chExt cx="8064500" cy="36068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395B50-C511-0D48-9032-65BA841EB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749" y="1808983"/>
              <a:ext cx="8064500" cy="3606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D302A-6BD8-1C47-8B65-110FEC0B7A39}"/>
                </a:ext>
              </a:extLst>
            </p:cNvPr>
            <p:cNvSpPr/>
            <p:nvPr/>
          </p:nvSpPr>
          <p:spPr>
            <a:xfrm>
              <a:off x="2063749" y="186034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A0B687-2C9F-B74D-8B7E-DC4B11B973E0}"/>
              </a:ext>
            </a:extLst>
          </p:cNvPr>
          <p:cNvSpPr txBox="1"/>
          <p:nvPr/>
        </p:nvSpPr>
        <p:spPr>
          <a:xfrm>
            <a:off x="325820" y="581570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Fu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Improving CRISPR-Cas nuclease specificity using truncated guide RNAs. Nat </a:t>
            </a:r>
            <a:r>
              <a:rPr lang="en-US" altLang="zh-CN" sz="1200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Mar;32(3):279-284.</a:t>
            </a:r>
          </a:p>
        </p:txBody>
      </p:sp>
    </p:spTree>
    <p:extLst>
      <p:ext uri="{BB962C8B-B14F-4D97-AF65-F5344CB8AC3E}">
        <p14:creationId xmlns:p14="http://schemas.microsoft.com/office/powerpoint/2010/main" val="729207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C164568-E2C5-344C-ADFC-68961FA1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311" y="1102263"/>
            <a:ext cx="8393373" cy="47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73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42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124879"/>
            <a:ext cx="5793498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Definition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Editing bases of interest without generating DSBs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DSB-induced DNA repairs lead to uncertain results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C•G to T•A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A•T to G•C</a:t>
            </a:r>
            <a:endParaRPr kumimoji="1" lang="en-CN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Basic Principle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Deaminases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were connected to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Cas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zh-CN" altLang="en-US" dirty="0"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(e.g., Cas9n) or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dCas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 (e.g., dCas9)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028" name="Picture 4" descr="胞嘧啶_360百科">
            <a:extLst>
              <a:ext uri="{FF2B5EF4-FFF2-40B4-BE49-F238E27FC236}">
                <a16:creationId xmlns:a16="http://schemas.microsoft.com/office/drawing/2014/main" id="{D147ACE5-D60A-BA4C-9ECD-C59D6A945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721" y="1487332"/>
            <a:ext cx="909179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尿嘧啶_360百科">
            <a:extLst>
              <a:ext uri="{FF2B5EF4-FFF2-40B4-BE49-F238E27FC236}">
                <a16:creationId xmlns:a16="http://schemas.microsoft.com/office/drawing/2014/main" id="{2D2C5812-DD89-3F49-92CA-4D516FB9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141" y="1487332"/>
            <a:ext cx="911458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腺嘌呤 – 美仑生物">
            <a:extLst>
              <a:ext uri="{FF2B5EF4-FFF2-40B4-BE49-F238E27FC236}">
                <a16:creationId xmlns:a16="http://schemas.microsoft.com/office/drawing/2014/main" id="{EC2CB1A3-7DC4-BE4E-91D9-FC94786F8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035" y="3314628"/>
            <a:ext cx="1886550" cy="18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次黄嘌呤 – 美仑生物">
            <a:extLst>
              <a:ext uri="{FF2B5EF4-FFF2-40B4-BE49-F238E27FC236}">
                <a16:creationId xmlns:a16="http://schemas.microsoft.com/office/drawing/2014/main" id="{B1CB79BE-058A-7043-8A87-F1AECC24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157" y="3497190"/>
            <a:ext cx="1521425" cy="15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鸟嘌呤|Guanosine|73-40-5|参数，分子结构式，图谱信息 – 物竞">
            <a:extLst>
              <a:ext uri="{FF2B5EF4-FFF2-40B4-BE49-F238E27FC236}">
                <a16:creationId xmlns:a16="http://schemas.microsoft.com/office/drawing/2014/main" id="{C55743AD-D762-1841-A288-246DCF426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9517">
            <a:off x="10493192" y="3675470"/>
            <a:ext cx="1612940" cy="133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1026D7-FA39-DA49-9061-D0FAD552AF68}"/>
              </a:ext>
            </a:extLst>
          </p:cNvPr>
          <p:cNvCxnSpPr>
            <a:cxnSpLocks/>
          </p:cNvCxnSpPr>
          <p:nvPr/>
        </p:nvCxnSpPr>
        <p:spPr>
          <a:xfrm>
            <a:off x="7473685" y="2122332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46E44-5FD4-8546-83A2-F38763266241}"/>
              </a:ext>
            </a:extLst>
          </p:cNvPr>
          <p:cNvCxnSpPr>
            <a:cxnSpLocks/>
          </p:cNvCxnSpPr>
          <p:nvPr/>
        </p:nvCxnSpPr>
        <p:spPr>
          <a:xfrm>
            <a:off x="74736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A56D43-3E97-D94D-A789-0ED217B6EE18}"/>
              </a:ext>
            </a:extLst>
          </p:cNvPr>
          <p:cNvCxnSpPr>
            <a:cxnSpLocks/>
          </p:cNvCxnSpPr>
          <p:nvPr/>
        </p:nvCxnSpPr>
        <p:spPr>
          <a:xfrm>
            <a:off x="95818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7176B9-03CB-4843-A16A-D2E056D1FDDC}"/>
              </a:ext>
            </a:extLst>
          </p:cNvPr>
          <p:cNvSpPr txBox="1"/>
          <p:nvPr/>
        </p:nvSpPr>
        <p:spPr>
          <a:xfrm>
            <a:off x="6265104" y="2805142"/>
            <a:ext cx="9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cytosine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C5CDA8-F83A-FA49-9A10-F2A83997FCBE}"/>
              </a:ext>
            </a:extLst>
          </p:cNvPr>
          <p:cNvSpPr txBox="1"/>
          <p:nvPr/>
        </p:nvSpPr>
        <p:spPr>
          <a:xfrm>
            <a:off x="8252744" y="2805142"/>
            <a:ext cx="113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thymidine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A8B52-DF11-7440-AC86-272040CF1C2E}"/>
              </a:ext>
            </a:extLst>
          </p:cNvPr>
          <p:cNvSpPr txBox="1"/>
          <p:nvPr/>
        </p:nvSpPr>
        <p:spPr>
          <a:xfrm>
            <a:off x="6338514" y="493070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adenine</a:t>
            </a:r>
            <a:endParaRPr kumimoji="1"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12098-F46E-EF45-8748-36F8BE8682FE}"/>
              </a:ext>
            </a:extLst>
          </p:cNvPr>
          <p:cNvSpPr txBox="1"/>
          <p:nvPr/>
        </p:nvSpPr>
        <p:spPr>
          <a:xfrm>
            <a:off x="10773979" y="488499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g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uanine</a:t>
            </a:r>
            <a:endParaRPr kumimoji="1"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EFDB9-60B6-5B42-B35A-F81BC965EEBE}"/>
              </a:ext>
            </a:extLst>
          </p:cNvPr>
          <p:cNvSpPr txBox="1"/>
          <p:nvPr/>
        </p:nvSpPr>
        <p:spPr>
          <a:xfrm>
            <a:off x="8186861" y="491266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h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ypoxanthine</a:t>
            </a:r>
            <a:endParaRPr kumimoji="1" lang="zh-CN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1E8E6-53EE-DC48-9E11-9B809A1B4C7B}"/>
              </a:ext>
            </a:extLst>
          </p:cNvPr>
          <p:cNvSpPr txBox="1"/>
          <p:nvPr/>
        </p:nvSpPr>
        <p:spPr>
          <a:xfrm>
            <a:off x="3028" y="591217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453238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Principle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907372-AD35-344D-A34F-DE12998B0189}"/>
              </a:ext>
            </a:extLst>
          </p:cNvPr>
          <p:cNvGrpSpPr/>
          <p:nvPr/>
        </p:nvGrpSpPr>
        <p:grpSpPr>
          <a:xfrm>
            <a:off x="932454" y="943372"/>
            <a:ext cx="10445296" cy="5072290"/>
            <a:chOff x="514441" y="919061"/>
            <a:chExt cx="11131457" cy="52922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EAB6BC-1067-3B40-A13D-FA5D647D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098" y="919061"/>
              <a:ext cx="11099800" cy="529222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791287-9B27-BB47-90E9-7377B57A9946}"/>
                </a:ext>
              </a:extLst>
            </p:cNvPr>
            <p:cNvSpPr/>
            <p:nvPr/>
          </p:nvSpPr>
          <p:spPr>
            <a:xfrm>
              <a:off x="514441" y="1048925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8D3420-525C-514D-88F1-8A41B8D686DB}"/>
                </a:ext>
              </a:extLst>
            </p:cNvPr>
            <p:cNvSpPr/>
            <p:nvPr/>
          </p:nvSpPr>
          <p:spPr>
            <a:xfrm>
              <a:off x="546098" y="3533220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0865F15-7529-FD46-BA3A-E90A4CF8A66B}"/>
              </a:ext>
            </a:extLst>
          </p:cNvPr>
          <p:cNvSpPr txBox="1"/>
          <p:nvPr/>
        </p:nvSpPr>
        <p:spPr>
          <a:xfrm>
            <a:off x="325821" y="1147208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CBE</a:t>
            </a:r>
            <a:endParaRPr kumimoji="1" lang="zh-CN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95A38-2594-F741-AAA2-3A38A531E2A4}"/>
              </a:ext>
            </a:extLst>
          </p:cNvPr>
          <p:cNvSpPr txBox="1"/>
          <p:nvPr/>
        </p:nvSpPr>
        <p:spPr>
          <a:xfrm>
            <a:off x="325821" y="3648469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ABE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8807B-1C0A-C244-8A8C-EAE6467C4332}"/>
              </a:ext>
            </a:extLst>
          </p:cNvPr>
          <p:cNvSpPr txBox="1"/>
          <p:nvPr/>
        </p:nvSpPr>
        <p:spPr>
          <a:xfrm>
            <a:off x="6673850" y="2391619"/>
            <a:ext cx="610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UNG2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92BD0-0C14-E84D-BF8F-FBE3DAA73E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559859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41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054874"/>
            <a:ext cx="7522780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Again, </a:t>
            </a:r>
            <a:r>
              <a:rPr kumimoji="1" lang="en-US" altLang="zh-CN" sz="2000" dirty="0"/>
              <a:t>expanding target scope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PAM is always a constraint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Modifying R-loop-deaminase interactions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R-loop forms after Cas binds its target and defines where base editing would occur (</a:t>
            </a:r>
            <a:r>
              <a:rPr kumimoji="1" lang="en-US" altLang="zh-CN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activity window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)</a:t>
            </a:r>
            <a:endParaRPr kumimoji="1" lang="en-US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Generally a smaller Cas leads to a larger activity window (e.g., SaCas9, Cas12a vs. SpCas9)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Position and structure of deaminase domain also makes a difference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Minimizing undesired base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Transition/transversion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Bystander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C0438B-27B0-7C46-9915-5765BECC86C0}"/>
              </a:ext>
            </a:extLst>
          </p:cNvPr>
          <p:cNvGrpSpPr/>
          <p:nvPr/>
        </p:nvGrpSpPr>
        <p:grpSpPr>
          <a:xfrm>
            <a:off x="8482979" y="1851606"/>
            <a:ext cx="2908921" cy="2402894"/>
            <a:chOff x="6802031" y="1581732"/>
            <a:chExt cx="2545169" cy="20574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FDAFF4-6056-CB45-AA5D-BDBC9F357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412" t="5912" r="71281" b="68411"/>
            <a:stretch/>
          </p:blipFill>
          <p:spPr>
            <a:xfrm>
              <a:off x="6802031" y="2003261"/>
              <a:ext cx="2446260" cy="163593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1A8010-077C-9A41-A53F-C1E9E3031A33}"/>
                </a:ext>
              </a:extLst>
            </p:cNvPr>
            <p:cNvSpPr/>
            <p:nvPr/>
          </p:nvSpPr>
          <p:spPr>
            <a:xfrm>
              <a:off x="7923561" y="1581732"/>
              <a:ext cx="1423639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6A2212B-58A6-B844-A82A-DD6CFB22C651}"/>
              </a:ext>
            </a:extLst>
          </p:cNvPr>
          <p:cNvSpPr txBox="1"/>
          <p:nvPr/>
        </p:nvSpPr>
        <p:spPr>
          <a:xfrm>
            <a:off x="7483882" y="4667251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69866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630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Precision Issue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8E0705-8DB0-FB46-BB91-5A4FED09C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86" b="138"/>
          <a:stretch/>
        </p:blipFill>
        <p:spPr>
          <a:xfrm>
            <a:off x="2505182" y="1510590"/>
            <a:ext cx="7181632" cy="3823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8758B7-9125-FF44-9205-63F70A520118}"/>
              </a:ext>
            </a:extLst>
          </p:cNvPr>
          <p:cNvSpPr txBox="1"/>
          <p:nvPr/>
        </p:nvSpPr>
        <p:spPr>
          <a:xfrm>
            <a:off x="0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177664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036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Motivation: Difficulty in Gene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2DE72D8-0DFC-EA43-8BD0-90A8A5B706FC}"/>
              </a:ext>
            </a:extLst>
          </p:cNvPr>
          <p:cNvSpPr txBox="1"/>
          <p:nvPr/>
        </p:nvSpPr>
        <p:spPr>
          <a:xfrm>
            <a:off x="325822" y="1048925"/>
            <a:ext cx="7268777" cy="221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Recap: HDR mainly occurs during </a:t>
            </a:r>
            <a:r>
              <a:rPr kumimoji="1" lang="en-CN" altLang="zh-CN" sz="2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S/G2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phase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Nuclease- and </a:t>
            </a:r>
            <a:r>
              <a:rPr kumimoji="1" lang="en-US" altLang="zh-CN" dirty="0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-mediated gene integration is limited to 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actively dividing cells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iscovery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of CRISPR-associated transposases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latin typeface="Calibri" panose="020F0502020204030204"/>
                <a:ea typeface="等线" panose="02010600030101010101" pitchFamily="2" charset="-122"/>
              </a:rPr>
              <a:t>Nuclease activity of Cas is </a:t>
            </a:r>
            <a:r>
              <a:rPr kumimoji="1" lang="en-CN" altLang="zh-CN" b="1" dirty="0">
                <a:latin typeface="Calibri" panose="020F0502020204030204"/>
                <a:ea typeface="等线" panose="02010600030101010101" pitchFamily="2" charset="-122"/>
              </a:rPr>
              <a:t>not involved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055B8A-37DD-394D-84AF-B524AB5107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616" r="44407"/>
          <a:stretch/>
        </p:blipFill>
        <p:spPr>
          <a:xfrm>
            <a:off x="7308850" y="971970"/>
            <a:ext cx="4279900" cy="22531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FDE8D6D-63AD-5E43-AB19-05C287C043AC}"/>
              </a:ext>
            </a:extLst>
          </p:cNvPr>
          <p:cNvGrpSpPr/>
          <p:nvPr/>
        </p:nvGrpSpPr>
        <p:grpSpPr>
          <a:xfrm>
            <a:off x="317327" y="3470380"/>
            <a:ext cx="7772935" cy="2712164"/>
            <a:chOff x="1802864" y="3359514"/>
            <a:chExt cx="7772935" cy="27121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61E4CA-E317-684F-B619-31FC16F70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8924" y="3433182"/>
              <a:ext cx="7546875" cy="263849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731D16-35A0-784B-A383-BE909FE47899}"/>
                </a:ext>
              </a:extLst>
            </p:cNvPr>
            <p:cNvSpPr/>
            <p:nvPr/>
          </p:nvSpPr>
          <p:spPr>
            <a:xfrm>
              <a:off x="1802864" y="3359514"/>
              <a:ext cx="531758" cy="4238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E52BE08-B058-2146-97E1-1462DF1EB569}"/>
              </a:ext>
            </a:extLst>
          </p:cNvPr>
          <p:cNvSpPr txBox="1"/>
          <p:nvPr/>
        </p:nvSpPr>
        <p:spPr>
          <a:xfrm>
            <a:off x="7307073" y="3134182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862BD-0D1B-5347-A99A-677B80440D78}"/>
              </a:ext>
            </a:extLst>
          </p:cNvPr>
          <p:cNvSpPr txBox="1"/>
          <p:nvPr/>
        </p:nvSpPr>
        <p:spPr>
          <a:xfrm>
            <a:off x="8382000" y="5512388"/>
            <a:ext cx="3193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</p:spTree>
    <p:extLst>
      <p:ext uri="{BB962C8B-B14F-4D97-AF65-F5344CB8AC3E}">
        <p14:creationId xmlns:p14="http://schemas.microsoft.com/office/powerpoint/2010/main" val="467259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8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Transposases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5567744" y="3831838"/>
            <a:ext cx="5877443" cy="1429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TnsAB</a:t>
            </a:r>
            <a:r>
              <a:rPr kumimoji="1" lang="en-US" altLang="zh-CN" sz="2000" dirty="0"/>
              <a:t> complex catalyzes the excision of transposon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solidFill>
                  <a:srgbClr val="FF0000"/>
                </a:solidFill>
              </a:rPr>
              <a:t>TnsD</a:t>
            </a:r>
            <a:r>
              <a:rPr kumimoji="1" lang="en-US" altLang="zh-CN" sz="2000" dirty="0">
                <a:solidFill>
                  <a:srgbClr val="FF0000"/>
                </a:solidFill>
              </a:rPr>
              <a:t> or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TnsE</a:t>
            </a:r>
            <a:r>
              <a:rPr kumimoji="1" lang="en-US" altLang="zh-CN" sz="2000" dirty="0">
                <a:solidFill>
                  <a:srgbClr val="FF0000"/>
                </a:solidFill>
              </a:rPr>
              <a:t> determines target DNA substrate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TnsC</a:t>
            </a:r>
            <a:r>
              <a:rPr kumimoji="1" lang="en-US" altLang="zh-CN" sz="2000" dirty="0"/>
              <a:t> is an ATPase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48B816-B634-C64F-AD4D-CACF7BD1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554" y="2318696"/>
            <a:ext cx="4682795" cy="881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597C0-C66A-0F46-BF25-1BD6A562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47" y="1638226"/>
            <a:ext cx="4354897" cy="44070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45F0CE0-86A8-0E4C-B095-5AA078E5FD05}"/>
              </a:ext>
            </a:extLst>
          </p:cNvPr>
          <p:cNvSpPr/>
          <p:nvPr/>
        </p:nvSpPr>
        <p:spPr>
          <a:xfrm>
            <a:off x="4215823" y="3542276"/>
            <a:ext cx="1351922" cy="2503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CAF2E-3B2A-C645-B646-62A6B6877581}"/>
              </a:ext>
            </a:extLst>
          </p:cNvPr>
          <p:cNvSpPr txBox="1"/>
          <p:nvPr/>
        </p:nvSpPr>
        <p:spPr>
          <a:xfrm>
            <a:off x="-115459" y="1341313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(DNA donor)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E6DCFD-BC0C-F34F-9820-8A6A0FBD7C33}"/>
              </a:ext>
            </a:extLst>
          </p:cNvPr>
          <p:cNvCxnSpPr/>
          <p:nvPr/>
        </p:nvCxnSpPr>
        <p:spPr>
          <a:xfrm flipH="1">
            <a:off x="4450842" y="2930109"/>
            <a:ext cx="1495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A46191-DA79-1C47-B8AC-0F2758EBA735}"/>
              </a:ext>
            </a:extLst>
          </p:cNvPr>
          <p:cNvSpPr txBox="1"/>
          <p:nvPr/>
        </p:nvSpPr>
        <p:spPr>
          <a:xfrm>
            <a:off x="7465405" y="1987930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locus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E7535-D19C-5E47-9CE9-1DCFFB2E7359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339DC8-A220-334B-87C9-8BE1E6A32901}"/>
              </a:ext>
            </a:extLst>
          </p:cNvPr>
          <p:cNvSpPr txBox="1"/>
          <p:nvPr/>
        </p:nvSpPr>
        <p:spPr>
          <a:xfrm>
            <a:off x="6213565" y="3271764"/>
            <a:ext cx="3645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3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2" grpId="0"/>
      <p:bldP spid="31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325821" y="1048925"/>
            <a:ext cx="6115905" cy="926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Replace the </a:t>
            </a:r>
            <a:r>
              <a:rPr kumimoji="1" lang="en-US" altLang="zh-CN" sz="2000" i="1" dirty="0" err="1"/>
              <a:t>tnsD</a:t>
            </a:r>
            <a:r>
              <a:rPr kumimoji="1" lang="en-US" altLang="zh-CN" sz="2000" dirty="0"/>
              <a:t> or </a:t>
            </a:r>
            <a:r>
              <a:rPr kumimoji="1" lang="en-US" altLang="zh-CN" sz="2000" i="1" dirty="0" err="1"/>
              <a:t>tnsE</a:t>
            </a:r>
            <a:r>
              <a:rPr kumimoji="1" lang="en-US" altLang="zh-CN" sz="2000" dirty="0"/>
              <a:t> genes with </a:t>
            </a:r>
            <a:r>
              <a:rPr kumimoji="1" lang="en-US" altLang="zh-CN" sz="2000" i="1" dirty="0" err="1"/>
              <a:t>cas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</a:t>
            </a:r>
            <a:r>
              <a:rPr kumimoji="1" lang="en-US" altLang="zh-CN" sz="1800" dirty="0"/>
              <a:t>arget DNA substrate is now determined by Cas-sgRNA</a:t>
            </a:r>
            <a:endParaRPr kumimoji="1" lang="zh-CN" alt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8E4D02-5D16-9B46-9246-3A16EE28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" y="2155942"/>
            <a:ext cx="4682795" cy="8817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55F3C6-D616-3B42-BE18-940D4338F8AA}"/>
              </a:ext>
            </a:extLst>
          </p:cNvPr>
          <p:cNvGrpSpPr/>
          <p:nvPr/>
        </p:nvGrpSpPr>
        <p:grpSpPr>
          <a:xfrm>
            <a:off x="161271" y="3381209"/>
            <a:ext cx="5772025" cy="2399942"/>
            <a:chOff x="1908935" y="2753215"/>
            <a:chExt cx="7797800" cy="311767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E0D389-7E9C-D545-9959-350DBF95914C}"/>
                </a:ext>
              </a:extLst>
            </p:cNvPr>
            <p:cNvGrpSpPr/>
            <p:nvPr/>
          </p:nvGrpSpPr>
          <p:grpSpPr>
            <a:xfrm>
              <a:off x="1908935" y="2953126"/>
              <a:ext cx="7797800" cy="2917767"/>
              <a:chOff x="1777999" y="3153911"/>
              <a:chExt cx="7797800" cy="2917767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2864841-6FA1-044C-A96B-CA009FFF5B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924" y="3433183"/>
                <a:ext cx="7546875" cy="2638495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5480D3-B40E-6C45-AF60-CBF5E0D357A6}"/>
                  </a:ext>
                </a:extLst>
              </p:cNvPr>
              <p:cNvSpPr/>
              <p:nvPr/>
            </p:nvSpPr>
            <p:spPr>
              <a:xfrm>
                <a:off x="1777999" y="3153911"/>
                <a:ext cx="520701" cy="6735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64C4C4-5931-D849-8175-EE5A1D8FEB70}"/>
                </a:ext>
              </a:extLst>
            </p:cNvPr>
            <p:cNvSpPr txBox="1"/>
            <p:nvPr/>
          </p:nvSpPr>
          <p:spPr>
            <a:xfrm>
              <a:off x="2718226" y="2753215"/>
              <a:ext cx="6106886" cy="399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1400" i="1" dirty="0" err="1"/>
                <a:t>tnsD</a:t>
              </a:r>
              <a:r>
                <a:rPr kumimoji="1" lang="en-US" altLang="zh-CN" sz="1400" i="1" dirty="0"/>
                <a:t> </a:t>
              </a:r>
              <a:r>
                <a:rPr kumimoji="1" lang="en-US" altLang="zh-CN" sz="1400" dirty="0"/>
                <a:t>homolog</a:t>
              </a:r>
              <a:endParaRPr lang="zh-CN" altLang="en-US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D6FEF90-1A17-954B-B1F3-A5F8BD0BE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773" y="3153037"/>
              <a:ext cx="0" cy="609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F60426-69B8-A14B-B9F9-11139AEC499B}"/>
              </a:ext>
            </a:extLst>
          </p:cNvPr>
          <p:cNvGrpSpPr/>
          <p:nvPr/>
        </p:nvGrpSpPr>
        <p:grpSpPr>
          <a:xfrm>
            <a:off x="6193391" y="3299373"/>
            <a:ext cx="5630750" cy="2546790"/>
            <a:chOff x="6065991" y="3324499"/>
            <a:chExt cx="5630750" cy="25467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E8218A-DF68-7F45-BE7A-7E70A163F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8" y="3533501"/>
              <a:ext cx="5600743" cy="2337788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FA5138-7AAD-5142-BDD2-B8DBEE1A1DA9}"/>
                </a:ext>
              </a:extLst>
            </p:cNvPr>
            <p:cNvSpPr/>
            <p:nvPr/>
          </p:nvSpPr>
          <p:spPr>
            <a:xfrm>
              <a:off x="6065991" y="3324499"/>
              <a:ext cx="385429" cy="518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7BBECB4-0E65-9846-A5E2-F612116EB065}"/>
              </a:ext>
            </a:extLst>
          </p:cNvPr>
          <p:cNvSpPr txBox="1"/>
          <p:nvPr/>
        </p:nvSpPr>
        <p:spPr>
          <a:xfrm>
            <a:off x="353985" y="5856668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66B71-9630-5A4C-89B0-0409A3BBFB9B}"/>
              </a:ext>
            </a:extLst>
          </p:cNvPr>
          <p:cNvSpPr txBox="1"/>
          <p:nvPr/>
        </p:nvSpPr>
        <p:spPr>
          <a:xfrm>
            <a:off x="5280708" y="2445344"/>
            <a:ext cx="249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F6996-FAD9-FB4C-B892-E36065C5185D}"/>
              </a:ext>
            </a:extLst>
          </p:cNvPr>
          <p:cNvSpPr txBox="1"/>
          <p:nvPr/>
        </p:nvSpPr>
        <p:spPr>
          <a:xfrm>
            <a:off x="6358411" y="5846163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58342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C0EF16A-5994-8346-896B-3194D4BA553D}"/>
              </a:ext>
            </a:extLst>
          </p:cNvPr>
          <p:cNvGrpSpPr/>
          <p:nvPr/>
        </p:nvGrpSpPr>
        <p:grpSpPr>
          <a:xfrm>
            <a:off x="162909" y="1048925"/>
            <a:ext cx="11866178" cy="3583542"/>
            <a:chOff x="325821" y="1524000"/>
            <a:chExt cx="11866178" cy="35835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1D6EEB-4602-EE48-8CAF-476F9636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9" y="1750457"/>
              <a:ext cx="11480800" cy="335708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850C5-FBEF-4C42-9FD1-111D5FEAC138}"/>
                </a:ext>
              </a:extLst>
            </p:cNvPr>
            <p:cNvSpPr/>
            <p:nvPr/>
          </p:nvSpPr>
          <p:spPr>
            <a:xfrm>
              <a:off x="7918449" y="3428998"/>
              <a:ext cx="4032251" cy="1371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FB31D-7694-824F-B32E-7518778D177E}"/>
                </a:ext>
              </a:extLst>
            </p:cNvPr>
            <p:cNvSpPr/>
            <p:nvPr/>
          </p:nvSpPr>
          <p:spPr>
            <a:xfrm>
              <a:off x="325821" y="1524000"/>
              <a:ext cx="1016000" cy="634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12C734-2E63-5447-8B90-3A3E3337EEB4}"/>
              </a:ext>
            </a:extLst>
          </p:cNvPr>
          <p:cNvSpPr txBox="1"/>
          <p:nvPr/>
        </p:nvSpPr>
        <p:spPr>
          <a:xfrm>
            <a:off x="325821" y="4878205"/>
            <a:ext cx="9705221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Now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RISPR-associated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ransposases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have been successfully applied in mammalian cells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Cons: low efficiency and substantial target sequence restrictions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1D564-8F50-E44A-95EC-9E21BB2AAD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B209C-F739-D248-80FF-6B8EE286CE98}"/>
              </a:ext>
            </a:extLst>
          </p:cNvPr>
          <p:cNvSpPr txBox="1"/>
          <p:nvPr/>
        </p:nvSpPr>
        <p:spPr>
          <a:xfrm>
            <a:off x="7888710" y="5357734"/>
            <a:ext cx="3765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362370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Prime Editors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Prime Editors</a:t>
              </a:r>
              <a:endParaRPr kumimoji="1" lang="zh-CN" altLang="en-US" sz="2000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DE35E3-5D0B-5B40-8035-624B8B195C77}"/>
              </a:ext>
            </a:extLst>
          </p:cNvPr>
          <p:cNvGrpSpPr/>
          <p:nvPr/>
        </p:nvGrpSpPr>
        <p:grpSpPr>
          <a:xfrm>
            <a:off x="322215" y="2177911"/>
            <a:ext cx="11547566" cy="3819776"/>
            <a:chOff x="0" y="1291409"/>
            <a:chExt cx="12192000" cy="39574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20F42A-D6D3-ED44-BEBC-95CD783ED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09121"/>
              <a:ext cx="12192000" cy="363975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D2F5208-BAB4-504C-9785-E3B9C0BB1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9686" y="1609121"/>
              <a:ext cx="0" cy="6638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613637-7F31-104C-96E7-D0C7FB0D1A3E}"/>
                </a:ext>
              </a:extLst>
            </p:cNvPr>
            <p:cNvSpPr txBox="1"/>
            <p:nvPr/>
          </p:nvSpPr>
          <p:spPr>
            <a:xfrm>
              <a:off x="4679707" y="1291409"/>
              <a:ext cx="21451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primer binding sequence (PBS)</a:t>
              </a:r>
              <a:endPara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73BF070-43D9-B744-B12A-F9B56B1D366D}"/>
              </a:ext>
            </a:extLst>
          </p:cNvPr>
          <p:cNvSpPr txBox="1"/>
          <p:nvPr/>
        </p:nvSpPr>
        <p:spPr>
          <a:xfrm>
            <a:off x="325821" y="1048925"/>
            <a:ext cx="8761822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Motivation: nucleases and BEs are not precise enough to install point mutations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FF0000"/>
                </a:solidFill>
              </a:rPr>
              <a:t>Extend sgRNA</a:t>
            </a:r>
            <a:r>
              <a:rPr kumimoji="1" lang="en-US" altLang="zh-CN" sz="2000" dirty="0"/>
              <a:t> and </a:t>
            </a:r>
            <a:r>
              <a:rPr kumimoji="1" lang="en-US" altLang="zh-CN" sz="2000" dirty="0">
                <a:solidFill>
                  <a:srgbClr val="FF0000"/>
                </a:solidFill>
              </a:rPr>
              <a:t>add a reverse transcriptase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9C5DE-4B55-FF43-B37D-C6BF5AC596D7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368470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86637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775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0" y="1054874"/>
            <a:ext cx="10576642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Protein-guided vs. RNA-guided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 &amp; TALEN vs.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 principle: introduce site-specificity to non-specific molecules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Naturally occurred CRISPR-Cas is an diversed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inheritable </a:t>
            </a:r>
            <a:r>
              <a:rPr kumimoji="1" lang="en-CN" altLang="zh-CN" sz="2000" dirty="0">
                <a:solidFill>
                  <a:prstClr val="black"/>
                </a:solidFill>
              </a:rPr>
              <a:t>and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adaptive </a:t>
            </a:r>
            <a:r>
              <a:rPr kumimoji="1" lang="en-CN" altLang="zh-CN" sz="2000" dirty="0">
                <a:solidFill>
                  <a:prstClr val="black"/>
                </a:solidFill>
              </a:rPr>
              <a:t>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 Key concept: spacer, repeat, protospacer, pre-crRNA, crRNA, tracrRNA, Cas, PAM, seed sequence, R-loop…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Diversity: 2 classes, 6 types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2012 marks the beginning of an era belonging to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</a:rPr>
              <a:t>sgRNA simplifies CRISPR-Cas significantly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prstClr val="black"/>
                </a:solidFill>
              </a:rPr>
              <a:t> Many extraordinary researches and figures working on improving CRISPR-Cas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Improved Nucleases, base editors, transposases, prime editors…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Charpentier, </a:t>
            </a:r>
            <a:r>
              <a:rPr kumimoji="1" lang="en-US" altLang="zh-CN" dirty="0" err="1">
                <a:solidFill>
                  <a:prstClr val="black"/>
                </a:solidFill>
              </a:rPr>
              <a:t>Doudna</a:t>
            </a:r>
            <a:r>
              <a:rPr kumimoji="1" lang="en-US" altLang="zh-CN" dirty="0">
                <a:solidFill>
                  <a:prstClr val="black"/>
                </a:solidFill>
              </a:rPr>
              <a:t>, David Liu, Feng Zhang…</a:t>
            </a:r>
            <a:endParaRPr kumimoji="1" lang="en-CN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8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F6D3B8-49A7-374A-99A4-022E1442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6FFDC4-F2A1-2041-9FFC-2C9B1DE5C21B}"/>
              </a:ext>
            </a:extLst>
          </p:cNvPr>
          <p:cNvGrpSpPr/>
          <p:nvPr/>
        </p:nvGrpSpPr>
        <p:grpSpPr>
          <a:xfrm>
            <a:off x="2324099" y="190500"/>
            <a:ext cx="7124701" cy="6477000"/>
            <a:chOff x="2324099" y="198437"/>
            <a:chExt cx="7124701" cy="6477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334A79-485E-1240-B346-84C75E301834}"/>
                </a:ext>
              </a:extLst>
            </p:cNvPr>
            <p:cNvGrpSpPr/>
            <p:nvPr/>
          </p:nvGrpSpPr>
          <p:grpSpPr>
            <a:xfrm>
              <a:off x="2324099" y="198437"/>
              <a:ext cx="7124701" cy="6477000"/>
              <a:chOff x="2324100" y="381000"/>
              <a:chExt cx="7124701" cy="6477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08C738C-670B-9B44-B599-A007A5109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24100" y="381000"/>
                <a:ext cx="7124700" cy="647700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EB3903-1CFA-D04F-8DB6-A17BC273A8CC}"/>
                  </a:ext>
                </a:extLst>
              </p:cNvPr>
              <p:cNvSpPr/>
              <p:nvPr/>
            </p:nvSpPr>
            <p:spPr>
              <a:xfrm>
                <a:off x="7221923" y="381000"/>
                <a:ext cx="2226878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DFB997-7CD1-7D4C-BE74-AFE5E4582538}"/>
                </a:ext>
              </a:extLst>
            </p:cNvPr>
            <p:cNvSpPr/>
            <p:nvPr/>
          </p:nvSpPr>
          <p:spPr>
            <a:xfrm>
              <a:off x="5480049" y="3100387"/>
              <a:ext cx="812800" cy="673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D5CF29-F3C9-094D-8856-FBC6335DA35C}"/>
                </a:ext>
              </a:extLst>
            </p:cNvPr>
            <p:cNvSpPr/>
            <p:nvPr/>
          </p:nvSpPr>
          <p:spPr>
            <a:xfrm>
              <a:off x="5587998" y="3062287"/>
              <a:ext cx="336551" cy="265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5D0684-9E04-9E41-9D6C-D70B04522105}"/>
                </a:ext>
              </a:extLst>
            </p:cNvPr>
            <p:cNvSpPr/>
            <p:nvPr/>
          </p:nvSpPr>
          <p:spPr>
            <a:xfrm>
              <a:off x="5333997" y="3265487"/>
              <a:ext cx="336551" cy="5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5BBE52-2E99-5342-8026-FF5BF2B6304F}"/>
                </a:ext>
              </a:extLst>
            </p:cNvPr>
            <p:cNvSpPr/>
            <p:nvPr/>
          </p:nvSpPr>
          <p:spPr>
            <a:xfrm>
              <a:off x="5727701" y="3438524"/>
              <a:ext cx="768349" cy="4079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04496-B7D5-2E45-87A3-FC3E755F2E50}"/>
                </a:ext>
              </a:extLst>
            </p:cNvPr>
            <p:cNvSpPr/>
            <p:nvPr/>
          </p:nvSpPr>
          <p:spPr>
            <a:xfrm>
              <a:off x="5632449" y="3265487"/>
              <a:ext cx="768349" cy="66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C150C6C-6ACC-094A-B639-F5D11EC91A23}"/>
              </a:ext>
            </a:extLst>
          </p:cNvPr>
          <p:cNvSpPr txBox="1"/>
          <p:nvPr/>
        </p:nvSpPr>
        <p:spPr>
          <a:xfrm>
            <a:off x="-40279" y="6027003"/>
            <a:ext cx="274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408292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1" y="931360"/>
            <a:ext cx="11744259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 err="1"/>
              <a:t>Gaj</a:t>
            </a:r>
            <a:r>
              <a:rPr kumimoji="1" lang="en-US" altLang="zh-CN" dirty="0"/>
              <a:t> T, </a:t>
            </a:r>
            <a:r>
              <a:rPr kumimoji="1" lang="en-US" altLang="zh-CN" dirty="0" err="1"/>
              <a:t>Sirk</a:t>
            </a:r>
            <a:r>
              <a:rPr kumimoji="1" lang="en-US" altLang="zh-CN" dirty="0"/>
              <a:t> SJ, Shui SL, Liu J. Genome-Editing Technologies: Principles and Applications. </a:t>
            </a:r>
            <a:r>
              <a:rPr kumimoji="1" lang="en-US" altLang="zh-CN" i="1" dirty="0"/>
              <a:t>Cold Spring </a:t>
            </a:r>
            <a:r>
              <a:rPr kumimoji="1" lang="en-US" altLang="zh-CN" i="1" dirty="0" err="1"/>
              <a:t>Harb</a:t>
            </a:r>
            <a:r>
              <a:rPr kumimoji="1" lang="en-US" altLang="zh-CN" i="1" dirty="0"/>
              <a:t> </a:t>
            </a:r>
            <a:r>
              <a:rPr kumimoji="1" lang="en-US" altLang="zh-CN" i="1" dirty="0" err="1"/>
              <a:t>Perspect</a:t>
            </a:r>
            <a:r>
              <a:rPr kumimoji="1" lang="en-US" altLang="zh-CN" i="1" dirty="0"/>
              <a:t> Biol. </a:t>
            </a:r>
            <a:r>
              <a:rPr kumimoji="1" lang="en-US" altLang="zh-CN" dirty="0"/>
              <a:t>2016 Dec 1;8(12):a023754.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/>
              <a:t>Urnov</a:t>
            </a:r>
            <a:r>
              <a:rPr lang="en-US" dirty="0"/>
              <a:t> FD, Rebar EJ, Holmes MC, Zhang HS, Gregory PD. Genome editing with engineered zinc finger nucleases. </a:t>
            </a:r>
            <a:r>
              <a:rPr lang="en-US" i="1" dirty="0"/>
              <a:t>Nat Rev Genet.</a:t>
            </a:r>
            <a:r>
              <a:rPr lang="en-US" dirty="0"/>
              <a:t> 2010 Sep;11(9):636-46.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linkMacSystemFont"/>
              </a:rPr>
              <a:t>Lander ES. The Heroes of CRISPR. </a:t>
            </a:r>
            <a:r>
              <a:rPr lang="en-US" i="1" dirty="0">
                <a:latin typeface="BlinkMacSystemFont"/>
              </a:rPr>
              <a:t>Cell</a:t>
            </a:r>
            <a:r>
              <a:rPr lang="en-US" dirty="0">
                <a:latin typeface="BlinkMacSystemFont"/>
              </a:rPr>
              <a:t>. 2016 Jan 14;164(1-2):18-28.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>
                <a:latin typeface="BlinkMacSystemFont"/>
              </a:rPr>
              <a:t>Marraffini</a:t>
            </a:r>
            <a:r>
              <a:rPr lang="en-US" dirty="0">
                <a:latin typeface="BlinkMacSystemFont"/>
              </a:rPr>
              <a:t> LA. CRISPR-Cas immunity in prokaryotes. </a:t>
            </a:r>
            <a:r>
              <a:rPr lang="en-US" i="1" dirty="0">
                <a:latin typeface="BlinkMacSystemFont"/>
              </a:rPr>
              <a:t>Nature.</a:t>
            </a:r>
            <a:r>
              <a:rPr lang="en-US" dirty="0">
                <a:latin typeface="BlinkMacSystemFont"/>
              </a:rPr>
              <a:t> 2015 Oct 1;526(7571):55-61.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Makarova </a:t>
            </a:r>
            <a:r>
              <a:rPr lang="en-US" altLang="zh-CN" i="1" dirty="0"/>
              <a:t>et al.</a:t>
            </a:r>
            <a:r>
              <a:rPr lang="en-US" altLang="zh-CN" dirty="0"/>
              <a:t> Evolutionary classification of CRISPR-Cas systems: a burst of class 2 and derived variants. </a:t>
            </a:r>
            <a:r>
              <a:rPr lang="en-US" altLang="zh-CN" i="1" dirty="0"/>
              <a:t>Nat Rev Microbiol</a:t>
            </a:r>
            <a:r>
              <a:rPr lang="en-US" altLang="zh-CN" dirty="0"/>
              <a:t>. 2020 Feb;18(2):67-83.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Jinek</a:t>
            </a:r>
            <a:r>
              <a:rPr lang="en-US" altLang="zh-CN" i="1" dirty="0"/>
              <a:t> et al</a:t>
            </a:r>
            <a:r>
              <a:rPr lang="en-US" altLang="zh-CN" dirty="0"/>
              <a:t>. A programmable dual-RNA-guided DNA endonuclease in adaptive bacterial immunity. </a:t>
            </a:r>
            <a:r>
              <a:rPr lang="en-US" altLang="zh-CN" i="1" dirty="0"/>
              <a:t>Science</a:t>
            </a:r>
            <a:r>
              <a:rPr lang="en-US" altLang="zh-CN" dirty="0"/>
              <a:t>. 2012 Aug 17;337(6096):816-21.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Wang JY, </a:t>
            </a:r>
            <a:r>
              <a:rPr lang="en-US" altLang="zh-CN" dirty="0" err="1"/>
              <a:t>Doudna</a:t>
            </a:r>
            <a:r>
              <a:rPr lang="en-US" altLang="zh-CN" dirty="0"/>
              <a:t> JA. CRISPR technology: A decade of genome editing is only the beginning. </a:t>
            </a:r>
            <a:r>
              <a:rPr lang="en-US" altLang="zh-CN" i="1" dirty="0"/>
              <a:t>Science</a:t>
            </a:r>
            <a:r>
              <a:rPr lang="en-US" altLang="zh-CN" dirty="0"/>
              <a:t>. 2023 Jan 20;379(6629):eadd8643.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Anzalone</a:t>
            </a:r>
            <a:r>
              <a:rPr lang="zh-CN" altLang="en-US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Genome editing with CRISPR-Cas nucleases, base editors, transposases and prime editors.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2020 Jul;38(7):824-844.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037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0" y="1048925"/>
            <a:ext cx="11744260" cy="7528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Ran </a:t>
            </a:r>
            <a:r>
              <a:rPr lang="en-US" altLang="zh-CN" i="1" dirty="0"/>
              <a:t>et al</a:t>
            </a:r>
            <a:r>
              <a:rPr lang="en-US" altLang="zh-CN" dirty="0"/>
              <a:t>. Double nicking by RNA-guided CRISPR Cas9 for enhanced genome editing specificity. </a:t>
            </a:r>
            <a:r>
              <a:rPr lang="en-US" altLang="zh-CN" i="1" dirty="0"/>
              <a:t>Cell</a:t>
            </a:r>
            <a:r>
              <a:rPr lang="en-US" altLang="zh-CN" dirty="0"/>
              <a:t>. 2013 Sep 12;154(6):1380-9.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Guilinger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Fusion of catalytically inactive Cas9 to </a:t>
            </a:r>
            <a:r>
              <a:rPr lang="en-US" altLang="zh-CN" dirty="0" err="1"/>
              <a:t>FokI</a:t>
            </a:r>
            <a:r>
              <a:rPr lang="en-US" altLang="zh-CN" dirty="0"/>
              <a:t> nuclease improves the specificity of genome modification.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2014 Jun;32(6):577-582.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Bolukbasi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Orthogonal Cas9-Cas9 chimeras provide a versatile platform for genome editing. </a:t>
            </a:r>
            <a:r>
              <a:rPr lang="en-US" altLang="zh-CN" i="1" dirty="0"/>
              <a:t>Nat </a:t>
            </a:r>
            <a:r>
              <a:rPr lang="en-US" altLang="zh-CN" i="1" dirty="0" err="1"/>
              <a:t>Commun</a:t>
            </a:r>
            <a:r>
              <a:rPr lang="en-US" altLang="zh-CN" dirty="0"/>
              <a:t>. 2018 Nov 19;9(1):4856.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Slaymaker</a:t>
            </a:r>
            <a:r>
              <a:rPr lang="en-US" altLang="zh-CN" i="1" dirty="0"/>
              <a:t> et al</a:t>
            </a:r>
            <a:r>
              <a:rPr lang="en-US" altLang="zh-CN" dirty="0"/>
              <a:t>. Rationally engineered Cas9 nucleases with improved specificity.</a:t>
            </a:r>
            <a:r>
              <a:rPr lang="en-US" altLang="zh-CN" i="1" dirty="0"/>
              <a:t> Science</a:t>
            </a:r>
            <a:r>
              <a:rPr lang="en-US" altLang="zh-CN" dirty="0"/>
              <a:t>. 2016 Jan 1;351(6268):84-8.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Fu </a:t>
            </a:r>
            <a:r>
              <a:rPr lang="en-US" altLang="zh-CN" i="1" dirty="0"/>
              <a:t>et al</a:t>
            </a:r>
            <a:r>
              <a:rPr lang="en-US" altLang="zh-CN" dirty="0"/>
              <a:t>. Improving CRISPR-Cas nuclease specificity using truncated guide RNAs. Nat </a:t>
            </a:r>
            <a:r>
              <a:rPr lang="en-US" altLang="zh-CN" dirty="0" err="1"/>
              <a:t>Biotechnol</a:t>
            </a:r>
            <a:r>
              <a:rPr lang="en-US" altLang="zh-CN" dirty="0"/>
              <a:t>. 2014 Mar;32(3):279-284.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i="1" dirty="0" err="1"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0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97595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486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627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通过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切口酶活性在非编辑链引入切口，这个切口为什么只激活了错配修复（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MMR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）而没有激活其他修复途径（如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NHEJ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技术与传统的基因组编辑方法（如锌指核酸酶和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TALENs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）相比具有哪些优势和局限性？在什么情况下选择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技术更为合适？</a:t>
            </a:r>
            <a:endParaRPr lang="zh-CN" altLang="en-US" sz="1800" kern="0" spc="2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碱基编辑器的活性窗口（</a:t>
            </a:r>
            <a:r>
              <a:rPr lang="en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activity window</a:t>
            </a: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）是一个关键参数，设计活性窗口的大小和位置时需要考虑哪些因素？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ABEs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的编辑窗口集中在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protospacer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4-7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位，而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的窗口更宽。这种差异与哪些因素有关？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CN" kern="0" spc="2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ABE7.10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在特定位点表现良好，但编辑效率仍会受靶点序列上下游结构、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甲基化状态等影响。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AlphaFold 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等结构预测工具是否可辅助设计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靶向区域？</a:t>
            </a:r>
            <a:endParaRPr lang="en-US" altLang="zh-CN" sz="18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在碱基编辑过程中，如何确保编辑的永久性？</a:t>
            </a:r>
            <a:endParaRPr lang="en-CN" altLang="zh-CN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除了文中研究的细胞系，碱基编辑技术在其他细胞类型中的效果如何？是否存在差异？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在碱基编辑过程中，如何避免或减少因多次编辑同一区域而导致的基因组不稳定？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对于具有复杂遗传背景的多基因疾病，碱基编辑技术如何实现多个相关基因突变的同时精准校正？</a:t>
            </a: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蛋白如何在极高的分子噪声中保持精准识别目标序列，从而避免误伤宿主基因组，在这方面还存在哪些尚未解决的机制或者调控因素</a:t>
            </a:r>
            <a:r>
              <a:rPr lang="zh-CN" altLang="en-US" sz="1800" dirty="0">
                <a:solidFill>
                  <a:srgbClr val="00000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？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41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544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辅文献中提到利用决策树的方法指导不同编辑器的选择。在实际应用中，如何综合考量目标位点的序列背景、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PAM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位置以及编辑器的内在特性，以实现既高效又精准的编辑方案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不同细胞类型对碱基编辑的响应有差异，不同的环境因素是如何影响碱基编辑的？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目前常用的基因编辑方法除了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CRISPR-Cas9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base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，还有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prime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，这几种编辑方法在实际使用中有何优劣？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以外，目前有许多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家族或与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家族同源的核酸酶如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Cas13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CasE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TnpB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等也在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编辑中被使用。开发不同类型的核酸酶对于开发基因编辑工具有什么意义？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基于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的基因编辑治疗方法疗效低下的原因是什么？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主文献强调不需要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就可以进行基因编辑，为什么强调这一点？难道说不使用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的基因编辑比使用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的更有优势？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当有了成熟的基因编辑技术之后，那剩下的问题就是我们如何知道每个基因（及其等位基因）是干什么的，这样我们就可以把基因按照自己想要的方式进行编辑。那我们如何解决这一问题呢？未来有哪些可能的解决这一问题的方式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63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的两个核酸酶结构域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RuvC-like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可以分别切割互补链和非互补链，这两类结构域在进化上是否独立起源？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从下面的图看可能是独立起源的？</a:t>
            </a: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插入到了</a:t>
            </a:r>
            <a:r>
              <a:rPr lang="en-US" altLang="zh-CN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中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可能很难确认，因为</a:t>
            </a:r>
            <a:r>
              <a:rPr lang="en-US" altLang="zh-CN" i="1" dirty="0" err="1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基因大多从转座子演化而来，很难确定这些转座子在演化上的最初来源（可能是某些病毒基因组的片段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…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7DAF2-5FF2-F04D-A8FC-648E78D7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9" y="4047025"/>
            <a:ext cx="5126182" cy="2348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EEF5A-D294-064C-9DCB-C001EDEBBB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05"/>
          <a:stretch/>
        </p:blipFill>
        <p:spPr>
          <a:xfrm>
            <a:off x="180109" y="3061856"/>
            <a:ext cx="6273800" cy="333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6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目前碱基编辑技术主要是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的转换，如果想要实现其他转换该如何做？</a:t>
            </a:r>
            <a:r>
              <a:rPr lang="en-CN" dirty="0">
                <a:solidFill>
                  <a:schemeClr val="accent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67801B-DAC1-7149-924F-5C0843881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3681"/>
            <a:ext cx="4959927" cy="1454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D90BA1-E81D-1347-AA92-F59ACBDD4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0" y="1633700"/>
            <a:ext cx="5722505" cy="3502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8F3333-CC96-0B43-A8BE-FD510AE56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066" y="1592184"/>
            <a:ext cx="5585114" cy="367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6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66293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使用非病原性细菌来源的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变体是否能够降低免疫原性，从而更适合体内治疗？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的免疫原性确实会导致其在体内的基因编辑效率下降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但人体对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的免疫原性高低和其来源的细菌是否致病关系可能不大？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kern="100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降低对异体蛋白的免疫反应可能是更好的思路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190C10-2870-824A-A3F0-7434D4C5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541" y="2790539"/>
            <a:ext cx="4635500" cy="35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5C1715-FAF5-E04B-B1E1-9A9A0720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1" y="5005328"/>
            <a:ext cx="6221268" cy="13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6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21319</TotalTime>
  <Words>5030</Words>
  <Application>Microsoft Macintosh PowerPoint</Application>
  <PresentationFormat>Widescreen</PresentationFormat>
  <Paragraphs>647</Paragraphs>
  <Slides>62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-apple-system</vt:lpstr>
      <vt:lpstr>-webkit-standard</vt:lpstr>
      <vt:lpstr>Alfred Serif</vt:lpstr>
      <vt:lpstr>BlinkMacSystemFont</vt:lpstr>
      <vt:lpstr>system-ui</vt:lpstr>
      <vt:lpstr>Arial</vt:lpstr>
      <vt:lpstr>Calibri</vt:lpstr>
      <vt:lpstr>Calibri Light</vt:lpstr>
      <vt:lpstr>Cambria Math</vt:lpstr>
      <vt:lpstr>Wingdings</vt:lpstr>
      <vt:lpstr>Office Theme</vt:lpstr>
      <vt:lpstr>Genome Editing: Past, Present and 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580</cp:revision>
  <dcterms:created xsi:type="dcterms:W3CDTF">2024-09-08T14:28:50Z</dcterms:created>
  <dcterms:modified xsi:type="dcterms:W3CDTF">2025-06-06T09:13:32Z</dcterms:modified>
</cp:coreProperties>
</file>