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405" r:id="rId3"/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9" r:id="rId16"/>
    <p:sldId id="420" r:id="rId17"/>
    <p:sldId id="421" r:id="rId18"/>
    <p:sldId id="423" r:id="rId19"/>
    <p:sldId id="422" r:id="rId20"/>
    <p:sldId id="424" r:id="rId21"/>
    <p:sldId id="425" r:id="rId22"/>
    <p:sldId id="426" r:id="rId23"/>
    <p:sldId id="427" r:id="rId24"/>
    <p:sldId id="428" r:id="rId25"/>
    <p:sldId id="429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94682"/>
  </p:normalViewPr>
  <p:slideViewPr>
    <p:cSldViewPr snapToGrid="0">
      <p:cViewPr varScale="1">
        <p:scale>
          <a:sx n="119" d="100"/>
          <a:sy n="119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23BA5-30BC-4745-9AC5-345338C6F2FA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712BF-4BE4-4529-9C72-6E5234D30C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497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712BF-4BE4-4529-9C72-6E5234D30C8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79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541BE-A044-8E31-C7A1-B739D3D4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A4F86E-B179-7C06-B4FC-5290592C3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052A6B-1851-76FC-4D65-4B90C5D08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28B7A5-18A0-D103-A38E-4B30201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3FC72-25D6-3B16-5F64-32B22EFD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4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0C50B-2623-D656-6AE7-323DB43E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ABA780-D77A-58C8-7361-D55E5DCFC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10B04-22CF-C72F-06F3-15894292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3000CD-D925-3123-B8A9-0F4F2345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86209D-CA7A-0EAB-146E-DEA38F83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22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08CF0-C181-2D9A-2FDB-1B51A8B35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E1A34B-56EA-D3B8-0C9D-4EDFF8DEF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AC07D2-1F50-0C75-CC66-86587D457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AB4B04-D7F4-3E3C-9062-B7948486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25044-8C13-3FBA-FC60-8212336C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1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69081-954E-5C86-8708-545E63A1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AE6778-5EF0-80DC-6506-D5F27566C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6F3B30-628A-93F6-A7CD-A76005531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FD6072-2753-B5F4-7F32-54537F06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35398E-5543-E5BC-F63B-FB0CCAEE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A483A0-DDD4-639B-54E0-B3DAA3A2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299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A9581-98C3-264E-839D-E5C39903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364E67-3A52-A7A4-C04B-CBBF70D01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4F3528-028F-53F0-9840-CD831F4BF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05D882-5B0E-F86F-E7E3-AC80EA734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C1310C-7D89-0A03-413B-2D29A8A65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05B03B-B145-366A-790B-80C999F36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FD15ED-B30B-36C4-D128-7C8F0A9C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38C8CC-5752-7DB5-E31B-3F121D22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48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C9229-8E44-C90B-EB85-0F8F7183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A42BAD-48FD-1381-3C7C-792E9A77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B3DBDE-7464-4145-A7DF-45103F87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C18FE5-80CE-1417-6492-D5D4703A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769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BA0304-FA9D-EC59-02BE-93467518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A1FDDB-9FB5-7161-6082-8B141CB0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6D8BFF-3D42-5E37-C335-79F95B36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54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55E46-C93B-3042-3433-C8919DAE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511313-794B-DAEB-048C-2A63E2E17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FEE781-C56E-C0BC-1C83-F5A0543E5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F76C89-12EE-A162-7617-A6E5A7F0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11B2BE-4849-3AA0-624D-B23A75B8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1D138C-EB76-6613-793B-CE2DE9DC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50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AE718-EB0B-0C9A-C0FD-AE51373B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E986E3-AD7E-2376-FFE0-F758F0A1E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06737C-72BE-A710-CAD4-5239C6EE2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760749-3477-E026-3E38-FAEB23E3F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E091D2-0646-811B-EA85-592269B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5217C3-EFDD-799F-EDA2-683B75F9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71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27F22-A502-1962-1EDB-A255B9E5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800CF5-D0B9-4964-F4CD-6314A7172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5329E6-F405-6E75-6F75-40060DF6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65072E-011D-0169-5E46-244637D9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119D2-B70D-6FF4-9DC0-1681F347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48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012E84-53F0-7186-9C12-0D18AD5540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2DAE94-90B3-7985-8359-55A0ECB0D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349FAA-294F-77C7-1AEA-E3C41F04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7E732-9B36-3FC6-1282-F9A01B0EC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0597C3-ABC4-CB62-FA98-13D8B50A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93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A8014B-D161-A3E6-A0A7-AE415BDC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80A64-E248-37CE-4C74-63B7BD8AD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57C01-1422-485D-1E0D-5DCD6DA64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03CF-F49A-405C-B552-A7BC870A0E3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588730-A8E5-8F2C-CD52-6255280A2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153456-C43B-EC3D-F1E4-84BE2828C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B900C-B111-4AB0-8E9C-126991DA5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81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3D53B72-28E5-9219-7F0B-E0D58032995F}"/>
              </a:ext>
            </a:extLst>
          </p:cNvPr>
          <p:cNvSpPr txBox="1"/>
          <p:nvPr/>
        </p:nvSpPr>
        <p:spPr>
          <a:xfrm>
            <a:off x="2526753" y="1825917"/>
            <a:ext cx="71384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latin typeface="+mn-ea"/>
              </a:rPr>
              <a:t>概率统计第一次作业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83124D-57DF-3446-032F-21FF29A30A19}"/>
              </a:ext>
            </a:extLst>
          </p:cNvPr>
          <p:cNvSpPr txBox="1"/>
          <p:nvPr/>
        </p:nvSpPr>
        <p:spPr>
          <a:xfrm>
            <a:off x="4753323" y="2856833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+mj-lt"/>
              </a:rPr>
              <a:t>2025 </a:t>
            </a:r>
            <a:r>
              <a:rPr lang="zh-CN" altLang="en-US" sz="3600" dirty="0">
                <a:latin typeface="+mj-lt"/>
              </a:rPr>
              <a:t>年 </a:t>
            </a:r>
            <a:r>
              <a:rPr lang="en-US" altLang="zh-CN" sz="3600" dirty="0">
                <a:latin typeface="+mj-lt"/>
              </a:rPr>
              <a:t>3 </a:t>
            </a:r>
            <a:r>
              <a:rPr lang="zh-CN" altLang="en-US" sz="3600" dirty="0">
                <a:latin typeface="+mj-lt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17756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E30E-3D1F-E0A4-4DDB-8B9C5695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A80A40A-07AD-A4D5-FA28-A663D9E048B4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第一题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34F530-3F95-ED5E-21A3-F4BD7ABA0BA3}"/>
              </a:ext>
            </a:extLst>
          </p:cNvPr>
          <p:cNvSpPr/>
          <p:nvPr/>
        </p:nvSpPr>
        <p:spPr>
          <a:xfrm>
            <a:off x="1764282" y="1331236"/>
            <a:ext cx="8663436" cy="22293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945F2B-CBA5-904A-9AF4-73C27294E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1386656"/>
            <a:ext cx="8524876" cy="210574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13EF06-0B8E-16A9-F6C0-9CCBBD89F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406" y="3715076"/>
            <a:ext cx="8459188" cy="1811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64251F6-C740-F5F6-FAD1-398EBC00CB3B}"/>
                  </a:ext>
                </a:extLst>
              </p:cNvPr>
              <p:cNvSpPr txBox="1"/>
              <p:nvPr/>
            </p:nvSpPr>
            <p:spPr>
              <a:xfrm>
                <a:off x="1272135" y="5526764"/>
                <a:ext cx="9647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注：可列可加性推出有限可加性依赖于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64251F6-C740-F5F6-FAD1-398EBC00C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5" y="5526764"/>
                <a:ext cx="9647729" cy="461665"/>
              </a:xfrm>
              <a:prstGeom prst="rect">
                <a:avLst/>
              </a:prstGeom>
              <a:blipFill>
                <a:blip r:embed="rId4"/>
                <a:stretch>
                  <a:fillRect l="-1011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58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3ED22-69F8-534D-6EE1-416731ED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D36587-D808-5465-F7FC-4923D61F60A8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第一题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1CBE4E-478C-38B3-4D8E-628E639E00E9}"/>
              </a:ext>
            </a:extLst>
          </p:cNvPr>
          <p:cNvSpPr/>
          <p:nvPr/>
        </p:nvSpPr>
        <p:spPr>
          <a:xfrm>
            <a:off x="1764282" y="1331236"/>
            <a:ext cx="8663436" cy="22293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6955E1-F761-7A9E-C9AE-C9F9B4A14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1386656"/>
            <a:ext cx="8524876" cy="210574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C697510-46DC-E1B9-C902-37256152B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282" y="3666714"/>
            <a:ext cx="8651429" cy="128927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8405E9D-7FEC-5DEA-16A2-2A2A9970E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400" y="4961009"/>
            <a:ext cx="7909191" cy="184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82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3D6B3-A299-87B1-F56C-919B1731F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D14401E-AD2C-26FF-CD46-40209AA4AD83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第一题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A93E27-93E4-40E9-25F2-F32E71BF7A91}"/>
              </a:ext>
            </a:extLst>
          </p:cNvPr>
          <p:cNvSpPr/>
          <p:nvPr/>
        </p:nvSpPr>
        <p:spPr>
          <a:xfrm>
            <a:off x="1764282" y="1331236"/>
            <a:ext cx="8663436" cy="22293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4C358FE-18CF-AD58-F2D2-E5BBBE41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1386656"/>
            <a:ext cx="8524876" cy="21057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2C20D95-E12B-B9C3-A702-8CD9D46AD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36" y="3715076"/>
            <a:ext cx="10141527" cy="19102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A7657D6-B2ED-6636-3A56-737C2BCF8AB4}"/>
                  </a:ext>
                </a:extLst>
              </p:cNvPr>
              <p:cNvSpPr txBox="1"/>
              <p:nvPr/>
            </p:nvSpPr>
            <p:spPr>
              <a:xfrm>
                <a:off x="1272135" y="5526764"/>
                <a:ext cx="964772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注：有同学的做法是对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 归纳，但这只能证明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/>
                  <a:t> 的情况，不能证明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zh-CN" altLang="en-US" sz="2400" dirty="0"/>
                  <a:t> 的情况。</a:t>
                </a:r>
                <a:endParaRPr lang="en-US" altLang="zh-CN" sz="2400" dirty="0"/>
              </a:p>
              <a:p>
                <a:r>
                  <a:rPr lang="zh-CN" altLang="en-US" sz="2400" dirty="0"/>
                  <a:t>如果先归纳再令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sz="2400" dirty="0"/>
                  <a:t>，需要用到连续性。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A7657D6-B2ED-6636-3A56-737C2BCF8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5" y="5526764"/>
                <a:ext cx="9647729" cy="1200329"/>
              </a:xfrm>
              <a:prstGeom prst="rect">
                <a:avLst/>
              </a:prstGeom>
              <a:blipFill>
                <a:blip r:embed="rId4"/>
                <a:stretch>
                  <a:fillRect l="-1011" t="-5584" r="-822" b="-9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05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952C-9EF3-8830-3DD9-6F05F39D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F18E2ED-76E1-ED54-A60B-00E2E0D4DA89}"/>
              </a:ext>
            </a:extLst>
          </p:cNvPr>
          <p:cNvSpPr txBox="1"/>
          <p:nvPr/>
        </p:nvSpPr>
        <p:spPr>
          <a:xfrm>
            <a:off x="699247" y="345781"/>
            <a:ext cx="20329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第二题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0B3BDE-B397-5AC8-1194-A06EAC4CC7CA}"/>
              </a:ext>
            </a:extLst>
          </p:cNvPr>
          <p:cNvSpPr/>
          <p:nvPr/>
        </p:nvSpPr>
        <p:spPr>
          <a:xfrm>
            <a:off x="1764282" y="1331236"/>
            <a:ext cx="8663436" cy="83099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C7B71C-7530-33B0-E6D8-E27E311527F3}"/>
              </a:ext>
            </a:extLst>
          </p:cNvPr>
          <p:cNvSpPr txBox="1"/>
          <p:nvPr/>
        </p:nvSpPr>
        <p:spPr>
          <a:xfrm>
            <a:off x="1272130" y="3217015"/>
            <a:ext cx="9647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注：对于一般情况，可以使用以下方法：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99C052-8B95-9150-B2B6-A829EB089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7" y="1422808"/>
            <a:ext cx="8192643" cy="6096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30F8AAF-E49B-2CDC-504C-487C55CB9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971" y="2253805"/>
            <a:ext cx="6312049" cy="83099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46AAEE9-EC84-5018-ACAB-61C16AB18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773" y="3807883"/>
            <a:ext cx="6814441" cy="304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9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905A2-E45C-37BA-43AA-B95F5791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5FC704-B739-C7B3-5AF5-8D76C94E6141}"/>
              </a:ext>
            </a:extLst>
          </p:cNvPr>
          <p:cNvSpPr txBox="1"/>
          <p:nvPr/>
        </p:nvSpPr>
        <p:spPr>
          <a:xfrm>
            <a:off x="699247" y="345781"/>
            <a:ext cx="20329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第二题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A0844D-0551-C59E-DCB2-8BAF3B6DA0D4}"/>
              </a:ext>
            </a:extLst>
          </p:cNvPr>
          <p:cNvSpPr/>
          <p:nvPr/>
        </p:nvSpPr>
        <p:spPr>
          <a:xfrm>
            <a:off x="1764282" y="1331236"/>
            <a:ext cx="8663436" cy="83099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3D3F2E-9BBB-DF9E-D2CA-981DE1655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7" y="1422808"/>
            <a:ext cx="8192643" cy="6096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8A09744-390E-BD20-49FF-3909C4C20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520" y="2253805"/>
            <a:ext cx="8140956" cy="420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0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ED07D-DF21-7689-6B46-04099C940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6A4BB8A-CB0C-40A1-183A-09C4D889BA3A}"/>
              </a:ext>
            </a:extLst>
          </p:cNvPr>
          <p:cNvSpPr txBox="1"/>
          <p:nvPr/>
        </p:nvSpPr>
        <p:spPr>
          <a:xfrm>
            <a:off x="699247" y="345781"/>
            <a:ext cx="20329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第二题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05EB72-7EBD-A72B-17B1-2C03BCADA406}"/>
              </a:ext>
            </a:extLst>
          </p:cNvPr>
          <p:cNvSpPr/>
          <p:nvPr/>
        </p:nvSpPr>
        <p:spPr>
          <a:xfrm>
            <a:off x="1764282" y="1331236"/>
            <a:ext cx="8663436" cy="83099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0A1778-27BF-33A0-5C53-F320F3C0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7" y="1422808"/>
            <a:ext cx="8192643" cy="6096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1DE7C07-FF14-460A-9F18-176CA4E3C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863" y="2253805"/>
            <a:ext cx="7580269" cy="453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68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7FBDC-A458-365C-946C-071ECB623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A9B6923-2E62-81DC-9094-66E2A1D357DC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第三题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4DB808-2783-E237-E47C-72C931027D10}"/>
              </a:ext>
            </a:extLst>
          </p:cNvPr>
          <p:cNvSpPr/>
          <p:nvPr/>
        </p:nvSpPr>
        <p:spPr>
          <a:xfrm>
            <a:off x="1764282" y="1331236"/>
            <a:ext cx="8663436" cy="199385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A0E9ED-E417-762B-955B-45C753719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50" y="1521876"/>
            <a:ext cx="8204900" cy="16667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D7DCEFF-B81C-059E-E07D-E5B3B2CD4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92" y="3479549"/>
            <a:ext cx="1140301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793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0C9C2-3D4E-ADD4-89FF-55126A19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1858380-7557-2F8C-EE7C-7F918425E8A2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第三题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24BB32-32EA-8802-6F99-AC32A7BFE8D1}"/>
              </a:ext>
            </a:extLst>
          </p:cNvPr>
          <p:cNvSpPr/>
          <p:nvPr/>
        </p:nvSpPr>
        <p:spPr>
          <a:xfrm>
            <a:off x="1764282" y="1331236"/>
            <a:ext cx="8663436" cy="199385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E6F668-05C5-E2B3-633D-F4B1D0CEF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50" y="1521876"/>
            <a:ext cx="8204900" cy="16667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255B5D-2929-9B0B-2E65-030AFBED55B0}"/>
                  </a:ext>
                </a:extLst>
              </p:cNvPr>
              <p:cNvSpPr txBox="1"/>
              <p:nvPr/>
            </p:nvSpPr>
            <p:spPr>
              <a:xfrm>
                <a:off x="1272135" y="3642546"/>
                <a:ext cx="9647729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</a:t>
                </a:r>
                <a:endParaRPr lang="en-US" altLang="zh-CN" sz="2400" dirty="0"/>
              </a:p>
              <a:p>
                <a:pPr marL="457200" indent="-457200">
                  <a:buAutoNum type="arabicPeriod"/>
                </a:pPr>
                <a:r>
                  <a:rPr lang="zh-CN" altLang="en-US" sz="2400" dirty="0"/>
                  <a:t>“写出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”需要列出完整的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，或者说明：“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2400" dirty="0"/>
                  <a:t> 是由</a:t>
                </a:r>
                <a:r>
                  <a:rPr lang="en-US" altLang="zh-CN" sz="2400" dirty="0"/>
                  <a:t>……</a:t>
                </a:r>
                <a:r>
                  <a:rPr lang="zh-CN" altLang="en-US" sz="2400" dirty="0"/>
                  <a:t>（结合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sz="2400" dirty="0"/>
                  <a:t>-</a:t>
                </a:r>
                <a:r>
                  <a:rPr lang="zh-CN" altLang="en-US" sz="2400" dirty="0"/>
                  <a:t>代数的定义）生成的”或“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 是由</a:t>
                </a:r>
                <a:r>
                  <a:rPr lang="en-US" altLang="zh-CN" sz="2400" dirty="0"/>
                  <a:t>……</a:t>
                </a:r>
                <a:r>
                  <a:rPr lang="zh-CN" altLang="en-US" sz="2400" dirty="0"/>
                  <a:t>（结合公理化三个条件）生成的”。</a:t>
                </a:r>
                <a:endParaRPr lang="en-US" altLang="zh-CN" sz="2400" dirty="0"/>
              </a:p>
              <a:p>
                <a:pPr marL="457200" indent="-457200">
                  <a:buAutoNum type="arabicPeriod"/>
                </a:pPr>
                <a:r>
                  <a:rPr lang="zh-CN" altLang="en-US" sz="2400" dirty="0"/>
                  <a:t>从本题 </a:t>
                </a:r>
                <a:r>
                  <a:rPr lang="en-US" altLang="zh-CN" sz="2400" dirty="0"/>
                  <a:t>(2) </a:t>
                </a:r>
                <a:r>
                  <a:rPr lang="zh-CN" altLang="en-US" sz="2400" dirty="0"/>
                  <a:t>可知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2400" dirty="0"/>
                  <a:t> 不一定要包含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/>
                  <a:t> 的所有子集。事实上，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2400" dirty="0"/>
                  <a:t> 分别取实数集、（由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(−∞,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 生成的）所有可测集时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2400" dirty="0"/>
                  <a:t> 也不包含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/>
                  <a:t> 的所有子集。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255B5D-2929-9B0B-2E65-030AFBED5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5" y="3642546"/>
                <a:ext cx="9647729" cy="2677656"/>
              </a:xfrm>
              <a:prstGeom prst="rect">
                <a:avLst/>
              </a:prstGeom>
              <a:blipFill>
                <a:blip r:embed="rId3"/>
                <a:stretch>
                  <a:fillRect l="-1011" t="-2506" r="-948" b="-3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6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63101-A16B-2506-153E-F16CB12F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27D6CF2-A255-A71A-1663-8C62822E9F04}"/>
              </a:ext>
            </a:extLst>
          </p:cNvPr>
          <p:cNvSpPr txBox="1"/>
          <p:nvPr/>
        </p:nvSpPr>
        <p:spPr>
          <a:xfrm>
            <a:off x="699247" y="345781"/>
            <a:ext cx="5134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关于概率的公理化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3B2E90E-116B-A916-2F40-F8C31379640C}"/>
                  </a:ext>
                </a:extLst>
              </p:cNvPr>
              <p:cNvSpPr txBox="1"/>
              <p:nvPr/>
            </p:nvSpPr>
            <p:spPr>
              <a:xfrm>
                <a:off x="1272135" y="3920318"/>
                <a:ext cx="9647729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</a:t>
                </a:r>
                <a:endParaRPr lang="en-US" altLang="zh-CN" sz="2400" dirty="0"/>
              </a:p>
              <a:p>
                <a:pPr marL="457200" indent="-457200">
                  <a:buAutoNum type="arabicPeriod"/>
                </a:pPr>
                <a:r>
                  <a:rPr lang="zh-CN" altLang="en-US" sz="2400" dirty="0"/>
                  <a:t>不可列就没有可加性了。例子：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/>
                  <a:t>。相应地，</a:t>
                </a:r>
                <a:r>
                  <a:rPr lang="en-US" altLang="zh-CN" sz="2400" dirty="0"/>
                  <a:t>Union Bound </a:t>
                </a:r>
                <a:r>
                  <a:rPr lang="zh-CN" altLang="en-US" sz="2400" dirty="0"/>
                  <a:t>等也不再成立。</a:t>
                </a:r>
                <a:endParaRPr lang="en-US" altLang="zh-CN" sz="2400" dirty="0"/>
              </a:p>
              <a:p>
                <a:pPr marL="457200" indent="-457200">
                  <a:buAutoNum type="arabicPeriod"/>
                </a:pPr>
                <a:r>
                  <a:rPr lang="zh-CN" altLang="en-US" sz="2400" dirty="0"/>
                  <a:t>试图给遇到的各种例子写出对应的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 是理解这几条性质的好方法。</a:t>
                </a:r>
                <a:br>
                  <a:rPr lang="en-US" altLang="zh-CN" sz="2400" dirty="0"/>
                </a:br>
                <a:r>
                  <a:rPr lang="zh-CN" altLang="en-US" sz="2400" dirty="0"/>
                  <a:t>例如，设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是一列实随机变量，分布函数分别为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zh-CN" altLang="en-US" sz="2400" dirty="0"/>
                  <a:t>，对应的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 是什么？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3B2E90E-116B-A916-2F40-F8C31379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5" y="3920318"/>
                <a:ext cx="9647729" cy="2677656"/>
              </a:xfrm>
              <a:prstGeom prst="rect">
                <a:avLst/>
              </a:prstGeom>
              <a:blipFill>
                <a:blip r:embed="rId2"/>
                <a:stretch>
                  <a:fillRect l="-1011" t="-2506" b="-3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BAB7AB02-0EF5-7175-01B5-F97091973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862" y="1176778"/>
            <a:ext cx="8964276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98F77-3C12-09FE-5126-B9F0DDFFB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24A7977-35A3-99EA-6F84-F6DAF63A43F9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第四题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EA6F5D-F0D5-6949-7064-A8C7CCECDA52}"/>
              </a:ext>
            </a:extLst>
          </p:cNvPr>
          <p:cNvSpPr/>
          <p:nvPr/>
        </p:nvSpPr>
        <p:spPr>
          <a:xfrm>
            <a:off x="1764282" y="1331236"/>
            <a:ext cx="8663436" cy="940909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74CB4B8-F8D6-43CC-6A6D-6B59434EA33D}"/>
                  </a:ext>
                </a:extLst>
              </p:cNvPr>
              <p:cNvSpPr txBox="1"/>
              <p:nvPr/>
            </p:nvSpPr>
            <p:spPr>
              <a:xfrm>
                <a:off x="1272135" y="2435142"/>
                <a:ext cx="9647729" cy="1788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几何概率模型：</a:t>
                </a:r>
                <a:endParaRPr lang="en-US" altLang="zh-CN" sz="2400" dirty="0"/>
              </a:p>
              <a:p>
                <a:pPr marL="342900" indent="-342900">
                  <a:buFontTx/>
                  <a:buChar char="-"/>
                </a:pPr>
                <a:r>
                  <a:rPr lang="zh-CN" altLang="en-US" sz="2400" dirty="0"/>
                  <a:t>样本空间：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pPr marL="342900" indent="-342900">
                  <a:buFontTx/>
                  <a:buChar char="-"/>
                </a:pPr>
                <a:r>
                  <a:rPr lang="zh-CN" altLang="en-US" sz="2400" dirty="0"/>
                  <a:t>满足条件的区域：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Tx/>
                  <a:buChar char="-"/>
                </a:pPr>
                <a:r>
                  <a:rPr lang="zh-CN" altLang="en-US" sz="2400" dirty="0"/>
                  <a:t>概率：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𝑎𝑟𝑒𝑎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𝑎𝑟𝑒𝑎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74CB4B8-F8D6-43CC-6A6D-6B59434EA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5" y="2435142"/>
                <a:ext cx="9647729" cy="1788695"/>
              </a:xfrm>
              <a:prstGeom prst="rect">
                <a:avLst/>
              </a:prstGeom>
              <a:blipFill>
                <a:blip r:embed="rId2"/>
                <a:stretch>
                  <a:fillRect l="-1011" t="-3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E867E26D-0092-E029-852C-82A832088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95" y="1494233"/>
            <a:ext cx="8393609" cy="6397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171F2A-B932-F16F-E58D-38F9C8E69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57" y="4367647"/>
            <a:ext cx="10436485" cy="19216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2818A18-6C74-C5A7-F830-62DB75A08E0D}"/>
              </a:ext>
            </a:extLst>
          </p:cNvPr>
          <p:cNvSpPr txBox="1"/>
          <p:nvPr/>
        </p:nvSpPr>
        <p:spPr>
          <a:xfrm>
            <a:off x="1272135" y="5971394"/>
            <a:ext cx="9647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注：考试时遇到大分值简单计算题一定细心检查。</a:t>
            </a:r>
          </a:p>
        </p:txBody>
      </p:sp>
    </p:spTree>
    <p:extLst>
      <p:ext uri="{BB962C8B-B14F-4D97-AF65-F5344CB8AC3E}">
        <p14:creationId xmlns:p14="http://schemas.microsoft.com/office/powerpoint/2010/main" val="82612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DDF0A-01A6-EE67-304F-4FE51EE4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1CE3CBE-664E-902C-DB72-0BDFDB522ADF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第五题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DC8026-F350-0CF9-3AEF-B3B97275EE8F}"/>
              </a:ext>
            </a:extLst>
          </p:cNvPr>
          <p:cNvSpPr/>
          <p:nvPr/>
        </p:nvSpPr>
        <p:spPr>
          <a:xfrm>
            <a:off x="1764282" y="1331236"/>
            <a:ext cx="8663436" cy="284483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378798-AC1C-67E8-A54C-E9A37824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348" y="1395118"/>
            <a:ext cx="8165302" cy="26811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46D17ED-FBC2-9B39-9DD7-F20E75BE4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79" y="4239956"/>
            <a:ext cx="8087840" cy="248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71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59853-913D-E068-45EA-5442AA0D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BE0F34F-D8D2-14BA-D118-F7AC1685EBA2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第五题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1E6D3D-2E1C-05C5-E574-8B19380B73B3}"/>
              </a:ext>
            </a:extLst>
          </p:cNvPr>
          <p:cNvSpPr/>
          <p:nvPr/>
        </p:nvSpPr>
        <p:spPr>
          <a:xfrm>
            <a:off x="1764282" y="1331236"/>
            <a:ext cx="8663436" cy="284483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704746-89E7-4B62-7799-298189F23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348" y="1395118"/>
            <a:ext cx="8165302" cy="26811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B0CD3D2-243D-4119-B025-E8F80CC157BF}"/>
                  </a:ext>
                </a:extLst>
              </p:cNvPr>
              <p:cNvSpPr txBox="1"/>
              <p:nvPr/>
            </p:nvSpPr>
            <p:spPr>
              <a:xfrm>
                <a:off x="1272134" y="4239956"/>
                <a:ext cx="9647729" cy="2367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注：有同学第二题错对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运用全概率公式，这虽然也可以证明第三问，但需要更详细的论证。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假设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进行前状态为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zh-CN" altLang="en-US" sz="2400" dirty="0"/>
                  <a:t>，可算得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r>
                  <a:rPr lang="zh-CN" altLang="en-US" sz="2400" dirty="0"/>
                  <a:t>在此基础上对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归纳证明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en-US" sz="2400" dirty="0"/>
                  <a:t>：枚举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sSup>
                              <m:s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B0CD3D2-243D-4119-B025-E8F80CC15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4" y="4239956"/>
                <a:ext cx="9647729" cy="2367315"/>
              </a:xfrm>
              <a:prstGeom prst="rect">
                <a:avLst/>
              </a:prstGeom>
              <a:blipFill>
                <a:blip r:embed="rId3"/>
                <a:stretch>
                  <a:fillRect l="-1011" t="-2835" b="-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65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5BD43-3675-F327-2BB8-7178725A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7F49CC0-37C5-C85B-152E-070DB183079B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第六题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A6B106-56D4-ADA4-3BD6-982625F0BE7A}"/>
              </a:ext>
            </a:extLst>
          </p:cNvPr>
          <p:cNvSpPr/>
          <p:nvPr/>
        </p:nvSpPr>
        <p:spPr>
          <a:xfrm>
            <a:off x="1764282" y="1137805"/>
            <a:ext cx="8663436" cy="310008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28422C-D0E0-8E35-73C4-E11924591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71" y="1282650"/>
            <a:ext cx="8440656" cy="28309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1EC9A27-270C-8F4A-B56D-DAD7D8721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12" y="4343764"/>
            <a:ext cx="10088576" cy="244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1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41136-CFCD-3EA5-4934-C20479FE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0F570DE-90F4-1086-DC28-183970516F39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第六题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58267B4-63A8-3F7B-EBA7-D4F81DABF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31" y="1176778"/>
            <a:ext cx="10291138" cy="53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13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BF0DF-E26C-100B-C2B6-39EA0F543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77FCC6D-1763-8C9B-D03B-8DF8BC0CEC92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第七题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D4201B-2655-0BF8-DD7F-D428F18C6419}"/>
              </a:ext>
            </a:extLst>
          </p:cNvPr>
          <p:cNvSpPr/>
          <p:nvPr/>
        </p:nvSpPr>
        <p:spPr>
          <a:xfrm>
            <a:off x="1764282" y="1137806"/>
            <a:ext cx="8663436" cy="329351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0FE8A93-EEF9-018E-134C-60DA027A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723" y="1207961"/>
            <a:ext cx="8314554" cy="15216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1EF0B9F-D069-3999-1642-FEF1BDAFA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115" y="2729643"/>
            <a:ext cx="7993770" cy="15216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CDED274-AC71-DE11-F81F-0CE9C6C4B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599" y="4501479"/>
            <a:ext cx="7706801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85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F8E8-5248-A397-8804-3C5DA5E1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45C3D26-6995-AF3B-2938-38AC52C59971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第七题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AA1F4A-6EEB-69D8-2E49-2E7D7874EC99}"/>
              </a:ext>
            </a:extLst>
          </p:cNvPr>
          <p:cNvSpPr/>
          <p:nvPr/>
        </p:nvSpPr>
        <p:spPr>
          <a:xfrm>
            <a:off x="1764282" y="1137806"/>
            <a:ext cx="8663436" cy="174607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6BDF45-A67D-C310-1B78-6FD6A1EEA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745" y="1217222"/>
            <a:ext cx="8036510" cy="15031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8DBEF3-C4F5-375D-EA24-FDA88E5BB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15" y="3153410"/>
            <a:ext cx="11026969" cy="155595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ECF95A5-9F97-EA55-FB25-3E19CE084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16" y="4697015"/>
            <a:ext cx="10381568" cy="7757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6309597-2199-556D-0C59-3F40DEA0D633}"/>
                  </a:ext>
                </a:extLst>
              </p:cNvPr>
              <p:cNvSpPr txBox="1"/>
              <p:nvPr/>
            </p:nvSpPr>
            <p:spPr>
              <a:xfrm>
                <a:off x="1272134" y="5472724"/>
                <a:ext cx="964772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注：也可以说对于同一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取了不同的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，或者将弦的端点 </a:t>
                </a:r>
                <a:r>
                  <a:rPr lang="en-US" altLang="zh-CN" sz="2400" dirty="0"/>
                  <a:t>/ </a:t>
                </a:r>
                <a:r>
                  <a:rPr lang="zh-CN" altLang="en-US" sz="2400" dirty="0"/>
                  <a:t>中点看成实随机变量，它的概率密度函数 </a:t>
                </a:r>
                <a:r>
                  <a:rPr lang="en-US" altLang="zh-CN" sz="2400" dirty="0"/>
                  <a:t>/ </a:t>
                </a:r>
                <a:r>
                  <a:rPr lang="zh-CN" altLang="en-US" sz="2400" dirty="0"/>
                  <a:t>分布函数不同。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6309597-2199-556D-0C59-3F40DEA0D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4" y="5472724"/>
                <a:ext cx="9647729" cy="830997"/>
              </a:xfrm>
              <a:prstGeom prst="rect">
                <a:avLst/>
              </a:prstGeom>
              <a:blipFill>
                <a:blip r:embed="rId5"/>
                <a:stretch>
                  <a:fillRect l="-1011" t="-8088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128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1AF2-C00B-1D4D-D84B-746F997E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292D6CD-72E5-FE05-904D-8A142344B950}"/>
              </a:ext>
            </a:extLst>
          </p:cNvPr>
          <p:cNvSpPr txBox="1"/>
          <p:nvPr/>
        </p:nvSpPr>
        <p:spPr>
          <a:xfrm>
            <a:off x="699247" y="345781"/>
            <a:ext cx="21162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第八题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E30DE2-EDAC-2E4E-5BD7-18691AE448A3}"/>
              </a:ext>
            </a:extLst>
          </p:cNvPr>
          <p:cNvSpPr/>
          <p:nvPr/>
        </p:nvSpPr>
        <p:spPr>
          <a:xfrm>
            <a:off x="1764282" y="1137806"/>
            <a:ext cx="8663436" cy="331110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92026E-D38C-C1C3-8346-CB556F28E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05" y="4589585"/>
            <a:ext cx="10650589" cy="9163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46537D7-BB5F-732C-55FE-B84C0132C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013" y="1317455"/>
            <a:ext cx="8363973" cy="2808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2D96788-11E1-BE4A-7C6B-F99C8B86E806}"/>
                  </a:ext>
                </a:extLst>
              </p:cNvPr>
              <p:cNvSpPr txBox="1"/>
              <p:nvPr/>
            </p:nvSpPr>
            <p:spPr>
              <a:xfrm>
                <a:off x="1272134" y="5472724"/>
                <a:ext cx="9647729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注：建议不要写成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133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343</m:t>
                        </m:r>
                      </m:den>
                    </m:f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2D96788-11E1-BE4A-7C6B-F99C8B86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4" y="5472724"/>
                <a:ext cx="9647729" cy="616515"/>
              </a:xfrm>
              <a:prstGeom prst="rect">
                <a:avLst/>
              </a:prstGeom>
              <a:blipFill>
                <a:blip r:embed="rId4"/>
                <a:stretch>
                  <a:fillRect l="-1011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152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D0D66-9851-1A58-0D31-C1D4E295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C9F3FAC-9A48-20E9-4E7D-17B7194F885D}"/>
              </a:ext>
            </a:extLst>
          </p:cNvPr>
          <p:cNvSpPr txBox="1"/>
          <p:nvPr/>
        </p:nvSpPr>
        <p:spPr>
          <a:xfrm>
            <a:off x="699247" y="345781"/>
            <a:ext cx="21162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第八题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924263E-2031-9198-5237-C57BABA90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7" y="1176778"/>
            <a:ext cx="3262882" cy="543813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8C9CCA4-288C-C4AF-7180-E7F7E8797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093" y="1629458"/>
            <a:ext cx="8287907" cy="2486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DA96008-9ED4-B7AB-0421-FC14F8635FC6}"/>
                  </a:ext>
                </a:extLst>
              </p:cNvPr>
              <p:cNvSpPr txBox="1"/>
              <p:nvPr/>
            </p:nvSpPr>
            <p:spPr>
              <a:xfrm>
                <a:off x="4191182" y="4153011"/>
                <a:ext cx="76608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注：有同学从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=50→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≈120000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看出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altLang="en-US" sz="2400" dirty="0"/>
                  <a:t>，说明态度不严谨。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DA96008-9ED4-B7AB-0421-FC14F8635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182" y="4153011"/>
                <a:ext cx="7660850" cy="830997"/>
              </a:xfrm>
              <a:prstGeom prst="rect">
                <a:avLst/>
              </a:prstGeom>
              <a:blipFill>
                <a:blip r:embed="rId4"/>
                <a:stretch>
                  <a:fillRect l="-1274" t="-8029" b="-13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570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ED2F-29C3-CD35-4FDD-9C763AD7E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E069E45-AC7A-98C7-417E-42360F7E766F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latin typeface="+mj-lt"/>
              </a:rPr>
              <a:t>第</a:t>
            </a:r>
            <a:r>
              <a:rPr lang="zh-CN" altLang="en-US" sz="4800" b="1" dirty="0">
                <a:latin typeface="+mj-lt"/>
              </a:rPr>
              <a:t>九</a:t>
            </a:r>
            <a:r>
              <a:rPr lang="zh-CN" altLang="en-US" sz="4800" b="1">
                <a:latin typeface="+mj-lt"/>
              </a:rPr>
              <a:t>题</a:t>
            </a:r>
            <a:endParaRPr lang="zh-CN" altLang="en-US" sz="4800" b="1" dirty="0">
              <a:latin typeface="+mj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233DEA-B697-95DF-CBA4-B4432F39E4AC}"/>
              </a:ext>
            </a:extLst>
          </p:cNvPr>
          <p:cNvSpPr/>
          <p:nvPr/>
        </p:nvSpPr>
        <p:spPr>
          <a:xfrm>
            <a:off x="1764282" y="1137807"/>
            <a:ext cx="8663436" cy="164695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2194C1-101C-A86D-AED1-31C4FC0BD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48" y="1302726"/>
            <a:ext cx="8221904" cy="12641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5DD8DB1-2167-B379-A473-D4A6B067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707" y="2949684"/>
            <a:ext cx="8434586" cy="62710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818983F-8D58-B73B-7B47-6DA273F60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807" y="3646649"/>
            <a:ext cx="9902386" cy="26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50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430A2-FC3F-7CE9-D1D0-44DF0640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CF5B64F-68C0-48CA-948D-EA0A95EE56CF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latin typeface="+mj-lt"/>
              </a:rPr>
              <a:t>第</a:t>
            </a:r>
            <a:r>
              <a:rPr lang="zh-CN" altLang="en-US" sz="4800" b="1" dirty="0">
                <a:latin typeface="+mj-lt"/>
              </a:rPr>
              <a:t>九</a:t>
            </a:r>
            <a:r>
              <a:rPr lang="zh-CN" altLang="en-US" sz="4800" b="1">
                <a:latin typeface="+mj-lt"/>
              </a:rPr>
              <a:t>题</a:t>
            </a:r>
            <a:endParaRPr lang="zh-CN" altLang="en-US" sz="4800" b="1" dirty="0">
              <a:latin typeface="+mj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3488B6-6BD4-9E8A-EC6B-6D5AE3FE672A}"/>
              </a:ext>
            </a:extLst>
          </p:cNvPr>
          <p:cNvSpPr/>
          <p:nvPr/>
        </p:nvSpPr>
        <p:spPr>
          <a:xfrm>
            <a:off x="1764282" y="1137807"/>
            <a:ext cx="8663436" cy="164695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26EEDE-A28C-4775-5E16-7CB631763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48" y="1302726"/>
            <a:ext cx="8221904" cy="126415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E74C585-2541-0CB8-F564-BB768137E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83" y="2869149"/>
            <a:ext cx="10076233" cy="26613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0F07E6B-92A3-8974-CF14-7C509034E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532" y="5614929"/>
            <a:ext cx="9628936" cy="10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87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4B18-331A-51A8-D1C8-B66A3CFA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DC07AEE-37F2-3E50-0588-41FE9B8EFFF5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第九题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31A48DB-8CAB-28CE-853A-85233343ED7A}"/>
                  </a:ext>
                </a:extLst>
              </p:cNvPr>
              <p:cNvSpPr txBox="1"/>
              <p:nvPr/>
            </p:nvSpPr>
            <p:spPr>
              <a:xfrm>
                <a:off x="1272135" y="2881348"/>
                <a:ext cx="9647729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</a:t>
                </a:r>
                <a:endParaRPr lang="en-US" altLang="zh-CN" sz="2400" dirty="0"/>
              </a:p>
              <a:p>
                <a:pPr marL="457200" indent="-457200">
                  <a:buAutoNum type="arabicPeriod"/>
                </a:pPr>
                <a:r>
                  <a:rPr lang="zh-CN" altLang="en-US" sz="2400" dirty="0"/>
                  <a:t>第二题存在很多不同的证法，但用到的核心不等式大同小异。</a:t>
                </a:r>
                <a:endParaRPr lang="en-US" altLang="zh-CN" sz="2400" dirty="0"/>
              </a:p>
              <a:p>
                <a:pPr marL="457200" indent="-457200">
                  <a:buAutoNum type="arabicPeriod"/>
                </a:pPr>
                <a:r>
                  <a:rPr lang="zh-CN" altLang="en-US" sz="2400" dirty="0"/>
                  <a:t>许多同学第二题取等条件写不全，写全的方法是认真看每个不等号什么时候取等。</a:t>
                </a:r>
                <a:endParaRPr lang="en-US" altLang="zh-CN" sz="2400" dirty="0"/>
              </a:p>
              <a:p>
                <a:pPr marL="457200" indent="-457200">
                  <a:buAutoNum type="arabicPeriod"/>
                </a:pPr>
                <a:r>
                  <a:rPr lang="zh-CN" altLang="en-US" sz="2400" dirty="0"/>
                  <a:t>许多同学第二题取等条件不严谨。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不能写成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且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（例如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≤0.5</m:t>
                    </m:r>
                    <m:r>
                      <m:rPr>
                        <m:lit/>
                      </m:rP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&lt;0.5}</m:t>
                    </m:r>
                  </m:oMath>
                </a14:m>
                <a:r>
                  <a:rPr lang="zh-CN" altLang="en-US" sz="2400" dirty="0"/>
                  <a:t>）。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31A48DB-8CAB-28CE-853A-85233343E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5" y="2881348"/>
                <a:ext cx="9647729" cy="2677656"/>
              </a:xfrm>
              <a:prstGeom prst="rect">
                <a:avLst/>
              </a:prstGeom>
              <a:blipFill>
                <a:blip r:embed="rId2"/>
                <a:stretch>
                  <a:fillRect l="-1011" t="-2506" r="-822" b="-3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EDD998C9-16CE-6619-4B7B-3F5F478F0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048" y="1302726"/>
            <a:ext cx="8221904" cy="126415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424155-CD64-D5B9-3799-271ED86AA3A0}"/>
              </a:ext>
            </a:extLst>
          </p:cNvPr>
          <p:cNvSpPr/>
          <p:nvPr/>
        </p:nvSpPr>
        <p:spPr>
          <a:xfrm>
            <a:off x="1764282" y="1137807"/>
            <a:ext cx="8663436" cy="164695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6147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5150-F67F-D855-0789-A8AE82D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40E3EFC-0C2B-9361-C144-BC56717EBB01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第十题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70FD7E-AF77-BDFB-BE8B-6C0036325C82}"/>
              </a:ext>
            </a:extLst>
          </p:cNvPr>
          <p:cNvSpPr/>
          <p:nvPr/>
        </p:nvSpPr>
        <p:spPr>
          <a:xfrm>
            <a:off x="1764282" y="1220934"/>
            <a:ext cx="8663436" cy="131444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3ED635-5856-5ADA-C332-CDF3AB787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096" y="1370242"/>
            <a:ext cx="8501807" cy="9434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14054BC-5012-AE1C-8D53-D474E5645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3" y="2684690"/>
            <a:ext cx="11400932" cy="174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13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B0D43-6CF6-C88A-A65E-0953BB2B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D76C39D-6B88-D8EA-B6E0-44C12C4B09A3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第十题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64838A-BE89-6353-BCAD-2C974A8B0C02}"/>
              </a:ext>
            </a:extLst>
          </p:cNvPr>
          <p:cNvSpPr/>
          <p:nvPr/>
        </p:nvSpPr>
        <p:spPr>
          <a:xfrm>
            <a:off x="1764282" y="1220934"/>
            <a:ext cx="8663436" cy="110663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2A0929-F619-5172-5D0F-66FF2C72A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409" y="1306619"/>
            <a:ext cx="8497182" cy="8832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596469D-295D-0CEC-60CC-AD694362A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761" y="2371720"/>
            <a:ext cx="9116478" cy="440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11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64973-C050-A7B1-A130-24B71AE7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EAB26B8-590B-8C02-0F49-BB24B3E9E43C}"/>
              </a:ext>
            </a:extLst>
          </p:cNvPr>
          <p:cNvSpPr txBox="1"/>
          <p:nvPr/>
        </p:nvSpPr>
        <p:spPr>
          <a:xfrm>
            <a:off x="699247" y="345781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</a:rPr>
              <a:t>第十题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A3B0193-FE9F-2293-0C2D-7D441A758B1F}"/>
                  </a:ext>
                </a:extLst>
              </p:cNvPr>
              <p:cNvSpPr txBox="1"/>
              <p:nvPr/>
            </p:nvSpPr>
            <p:spPr>
              <a:xfrm>
                <a:off x="1272135" y="1176778"/>
                <a:ext cx="9647729" cy="511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</a:t>
                </a:r>
                <a:endParaRPr lang="en-US" altLang="zh-CN" sz="2400" dirty="0"/>
              </a:p>
              <a:p>
                <a:pPr marL="457200" indent="-457200">
                  <a:buAutoNum type="arabicPeriod"/>
                </a:pPr>
                <a:r>
                  <a:rPr lang="zh-CN" altLang="en-US" sz="2400" dirty="0"/>
                  <a:t>本题说明，“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 中有无穷个发生”可以写成</a:t>
                </a:r>
                <a:br>
                  <a:rPr lang="en-US" altLang="zh-CN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 ∩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br>
                  <a:rPr lang="en-US" altLang="zh-CN" sz="3200" dirty="0"/>
                </a:br>
                <a:r>
                  <a:rPr lang="zh-CN" altLang="en-US" sz="2400" dirty="0"/>
                  <a:t>注意到这确实是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 进行可列次交与并得到的。因此，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2400" dirty="0"/>
                  <a:t>。</a:t>
                </a:r>
                <a:br>
                  <a:rPr lang="en-US" altLang="zh-CN" sz="2400" dirty="0"/>
                </a:br>
                <a:br>
                  <a:rPr lang="en-US" altLang="zh-CN" sz="2400" dirty="0"/>
                </a:br>
                <a:r>
                  <a:rPr lang="zh-CN" altLang="en-US" sz="2400" dirty="0"/>
                  <a:t>思考题：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是实随机变量，固定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  <m:limLow>
                      <m:limLow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是不是事件？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存在是不是事件？</a:t>
                </a:r>
                <a:endParaRPr lang="en-US" altLang="zh-CN" sz="2400" dirty="0"/>
              </a:p>
              <a:p>
                <a:pPr marL="457200" indent="-457200">
                  <a:buAutoNum type="arabicPeriod"/>
                </a:pPr>
                <a:r>
                  <a:rPr lang="zh-CN" altLang="en-US" sz="2400" dirty="0"/>
                  <a:t>本题说明，若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相互独立</a:t>
                </a:r>
                <a:r>
                  <a:rPr lang="zh-CN" altLang="en-US" sz="2400" dirty="0"/>
                  <a:t>，则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2400" dirty="0"/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 中有无穷个发生”的概率非 </a:t>
                </a:r>
                <a:r>
                  <a:rPr lang="en-US" altLang="zh-CN" sz="2400" dirty="0"/>
                  <a:t>0 </a:t>
                </a:r>
                <a:r>
                  <a:rPr lang="zh-CN" altLang="en-US" sz="2400" dirty="0"/>
                  <a:t>即 </a:t>
                </a:r>
                <a:r>
                  <a:rPr lang="en-US" altLang="zh-CN" sz="2400" dirty="0"/>
                  <a:t>1</a:t>
                </a:r>
                <a:r>
                  <a:rPr lang="zh-CN" altLang="en-US" sz="2400" dirty="0"/>
                  <a:t>。</a:t>
                </a:r>
                <a:br>
                  <a:rPr lang="en-US" altLang="zh-CN" sz="2400" dirty="0"/>
                </a:br>
                <a:r>
                  <a:rPr lang="zh-CN" altLang="en-US" sz="2400" dirty="0"/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的指示变量，则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相互独立</a:t>
                </a:r>
                <a:r>
                  <a:rPr lang="zh-CN" altLang="en-US" sz="2400" dirty="0"/>
                  <a:t>；且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改变任意有限个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的取值不影响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400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是否发生</a:t>
                </a:r>
                <a:r>
                  <a:rPr lang="zh-CN" altLang="en-US" sz="2400" dirty="0"/>
                  <a:t>。</a:t>
                </a:r>
                <a:br>
                  <a:rPr lang="en-US" altLang="zh-CN" sz="2400" dirty="0"/>
                </a:br>
                <a:r>
                  <a:rPr lang="zh-CN" altLang="en-US" sz="2400" dirty="0"/>
                  <a:t>是不是对于任意满足上述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橙色条件</a:t>
                </a:r>
                <a:r>
                  <a:rPr lang="zh-CN" altLang="en-US" sz="2400" dirty="0"/>
                  <a:t>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以及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,…)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都有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altLang="zh-CN" sz="24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0,1}</m:t>
                    </m:r>
                  </m:oMath>
                </a14:m>
                <a:r>
                  <a:rPr lang="zh-CN" altLang="en-US" sz="2400" dirty="0"/>
                  <a:t>？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A3B0193-FE9F-2293-0C2D-7D441A758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35" y="1176778"/>
                <a:ext cx="9647729" cy="5116529"/>
              </a:xfrm>
              <a:prstGeom prst="rect">
                <a:avLst/>
              </a:prstGeom>
              <a:blipFill>
                <a:blip r:embed="rId3"/>
                <a:stretch>
                  <a:fillRect l="-1011" t="-1311" r="-822" b="-1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D5528D52-B1E6-0D15-7E1F-F2F7A03CBB62}"/>
              </a:ext>
            </a:extLst>
          </p:cNvPr>
          <p:cNvSpPr txBox="1"/>
          <p:nvPr/>
        </p:nvSpPr>
        <p:spPr>
          <a:xfrm>
            <a:off x="1272135" y="6231996"/>
            <a:ext cx="9647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是的。这样的事件称为“尾事件”，且可以证明其与自身独立。</a:t>
            </a:r>
            <a:endParaRPr lang="en-US" altLang="zh-CN" sz="2400" i="1" dirty="0"/>
          </a:p>
        </p:txBody>
      </p:sp>
    </p:spTree>
    <p:extLst>
      <p:ext uri="{BB962C8B-B14F-4D97-AF65-F5344CB8AC3E}">
        <p14:creationId xmlns:p14="http://schemas.microsoft.com/office/powerpoint/2010/main" val="112414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mbria"/>
        <a:ea typeface="楷体"/>
        <a:cs typeface=""/>
      </a:majorFont>
      <a:minorFont>
        <a:latin typeface="Cambria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4356</TotalTime>
  <Words>798</Words>
  <Application>Microsoft Macintosh PowerPoint</Application>
  <PresentationFormat>Widescreen</PresentationFormat>
  <Paragraphs>57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等线</vt:lpstr>
      <vt:lpstr>楷体</vt:lpstr>
      <vt:lpstr>Arial</vt:lpstr>
      <vt:lpstr>Cambria</vt:lpstr>
      <vt:lpstr>Cambria Math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Rotate Subari</dc:creator>
  <cp:lastModifiedBy>刘 沛雨</cp:lastModifiedBy>
  <cp:revision>1345</cp:revision>
  <cp:lastPrinted>2024-07-17T08:03:57Z</cp:lastPrinted>
  <dcterms:created xsi:type="dcterms:W3CDTF">2024-04-08T13:02:55Z</dcterms:created>
  <dcterms:modified xsi:type="dcterms:W3CDTF">2025-03-20T08:08:07Z</dcterms:modified>
</cp:coreProperties>
</file>