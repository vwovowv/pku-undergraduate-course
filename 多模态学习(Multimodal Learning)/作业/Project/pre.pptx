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1377" r:id="rId3"/>
    <p:sldId id="1381" r:id="rId4"/>
    <p:sldId id="1383" r:id="rId5"/>
    <p:sldId id="1384" r:id="rId6"/>
    <p:sldId id="1385" r:id="rId7"/>
    <p:sldId id="1395" r:id="rId8"/>
    <p:sldId id="1396" r:id="rId9"/>
    <p:sldId id="1397" r:id="rId10"/>
    <p:sldId id="1407" r:id="rId11"/>
    <p:sldId id="1389" r:id="rId12"/>
    <p:sldId id="1398" r:id="rId13"/>
    <p:sldId id="1400" r:id="rId14"/>
    <p:sldId id="1401" r:id="rId15"/>
    <p:sldId id="1404" r:id="rId16"/>
    <p:sldId id="1405" r:id="rId17"/>
    <p:sldId id="1406" r:id="rId18"/>
    <p:sldId id="1392" r:id="rId19"/>
    <p:sldId id="277" r:id="rId2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4609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94444" autoAdjust="0"/>
  </p:normalViewPr>
  <p:slideViewPr>
    <p:cSldViewPr snapToGrid="0" snapToObjects="1">
      <p:cViewPr varScale="1">
        <p:scale>
          <a:sx n="96" d="100"/>
          <a:sy n="96" d="100"/>
        </p:scale>
        <p:origin x="200" y="6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1E0A4-180A-D54B-AE01-447F5D1F9F06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39031-2824-2048-A7ED-51813629652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28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2234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39031-2824-2048-A7ED-51813629652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9991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39031-2824-2048-A7ED-51813629652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525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7CA6-90C1-0661-49D4-7961C92D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9F13F5-CD95-3828-4AFA-FE9805DB9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464C9A-F369-C357-39DD-FB6DBB9C1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27ED8E-8323-228D-9F3B-9EC6AEA55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39031-2824-2048-A7ED-51813629652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6599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A6DFD-E916-4873-17E1-A823F414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AB27FB-BE86-677A-DA16-CAD43519F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D539C7-9874-5EA7-0B9E-4F9B01030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D6280B-295D-47BC-6BF6-D212B78A9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39031-2824-2048-A7ED-51813629652B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5074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469D-BDE0-F07B-1593-DDB18205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73005E-80BF-1698-7EAF-7A7BBC58C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9B76B5-AB7F-4F1A-69F3-A03CA0D04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E357C4-6A95-251F-E2CA-02D6D4F67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39031-2824-2048-A7ED-51813629652B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0326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1AFA-3F81-9E41-BEA3-670943E7B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F481B-34E4-C048-A06A-7C807B72C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487FA-662B-B040-BB73-A27B6CDD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5FAB3-5C5F-F84B-9F62-27ED5AF6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EE1B-1942-3B43-9916-204CA643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33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6D91-F36A-594D-BAAE-ED21655E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262B6-7E48-8A4A-877A-05438B3C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2A758-5FC9-7A4A-82AB-181418C2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73AC6-555B-6245-9CC5-E44885F5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9157F-7E66-EA45-BA53-60D822DB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486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0ACD-DB9F-2A45-8EF7-7B8B43DF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F1764-0CEB-4C42-910E-2D98EDD94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7E819-5BE7-6845-8BC3-5EBE34A7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7897C-7151-1B45-B8A5-884A29AC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6D852-7A11-5B43-B4FB-6CFFF2E3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029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569C-8CE3-304D-B991-E19B0738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D1C3-856D-F149-83D6-C25628B89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435D2-6D82-0B4B-9736-1855C64F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E9542-BA0B-8B47-B16E-6FFF061F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B2902-CBF5-364B-B45C-1CD70220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1AB89-11E2-B84E-8D64-5CE5A74A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72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45D1-A6FF-B141-8335-03603689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4DDA1-D75A-CC4C-A6C7-04A9072D7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4A8EA-D5D0-BE48-BE83-182ACCFD6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C47238-5726-7240-9287-5B7DD4D11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08F71-7445-144F-8B26-DBDC82887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8F390-4EBF-FA47-8F06-68652AE9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08594-5E1F-0D4A-B655-69C151AA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8847A-1C33-0B43-9E21-16D1524D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818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F8AE-19E7-C046-ACC3-1BA6D9DD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D8A17-670C-6A43-AEF3-63FC4A0C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FDC4B-ECB2-2149-BB7F-AF575B2F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250DA-D085-0940-BD50-7C0F4FDB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631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5A5A8-FCEB-614D-B05A-4B30E9D9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69728-00FB-A248-B7AE-07146DCE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DC65D-4B1A-C846-B8DB-2BFB6569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654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BFC2-A307-1546-B7B9-11E8E8B9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42AAA-464A-E940-B60A-23E299D85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BCABD-20B9-444C-9582-CB1871DC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54176-F1EA-EC48-B5A2-F78251A92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B239A-59A5-6A45-8BE7-8F3F4BC18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389AF-1CB2-CA4C-96A7-21CA8EB5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393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FECC-3D4B-5B48-9401-F1E00B0D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93897-981C-FD4E-BD73-266002789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31350-5BD6-6B49-9762-3A02988E4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28D96-7939-BA4C-90FE-368F77B1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B3962-2328-7542-9A75-68C8F126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CED89-77BD-0842-BE26-0DD305B5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359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0950-CACC-2240-AABE-D1061E0D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D64B8-2AA5-6041-A163-29EA83D30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8FE0A-47E4-CF47-80DD-1EAE3A76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8861A-4686-5543-9FBE-19906FF4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DA44-27F6-BC46-AAE3-A0D1B4F9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321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2CC94-8E6B-8749-832F-F2B0D9E57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EEF0D-34EB-904C-AA94-E0BB8B474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9FD9A-E5C2-0541-A5E9-3AC40B37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5C683-E666-204F-9FF6-0F0D3AE2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C142-1892-C44F-9A12-7DC1731F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697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53C91-D45C-EE48-AA2A-E1FE0E3B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06CAB-0DC7-2442-ADA9-9404F3567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93D2-DD82-A744-BDA8-D3B8BBD9C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EFBBD-C40F-C24C-8CB1-B9636E2482F1}" type="datetimeFigureOut">
              <a:rPr kumimoji="1" lang="zh-CN" altLang="en-US" smtClean="0"/>
              <a:t>2026/1/11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A3BA3-871E-C74D-A372-7CAC09074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B643C-2C74-C94B-A13D-F5A727A2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22023-E956-3E4F-BFB0-F00BE82F25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66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3.png"/><Relationship Id="rId5" Type="http://schemas.openxmlformats.org/officeDocument/2006/relationships/image" Target="../media/image19.png"/><Relationship Id="rId10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43" y="823404"/>
            <a:ext cx="11872511" cy="2387600"/>
          </a:xfrm>
        </p:spPr>
        <p:txBody>
          <a:bodyPr>
            <a:normAutofit/>
          </a:bodyPr>
          <a:lstStyle/>
          <a:p>
            <a:r>
              <a:rPr lang="en-US" altLang="zh-CN" sz="5400" b="1" dirty="0"/>
              <a:t>Instruct-CLIP (I-CLIP)</a:t>
            </a:r>
            <a:endParaRPr lang="en-US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6C44D-EF52-3E45-B5A7-9F0C333C3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6638" y="3429000"/>
            <a:ext cx="7538720" cy="2011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Improving Instruction-Guided </a:t>
            </a:r>
            <a:r>
              <a:rPr lang="en-US" b="1" dirty="0"/>
              <a:t>Image Editing</a:t>
            </a:r>
            <a:r>
              <a:rPr lang="en-US" dirty="0"/>
              <a:t>  with Automated Data Refinement Using Contrastive Learning</a:t>
            </a:r>
          </a:p>
        </p:txBody>
      </p:sp>
    </p:spTree>
    <p:extLst>
      <p:ext uri="{BB962C8B-B14F-4D97-AF65-F5344CB8AC3E}">
        <p14:creationId xmlns:p14="http://schemas.microsoft.com/office/powerpoint/2010/main" val="963539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N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Outline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C7293-F103-D64C-AE53-5094C8270DC8}"/>
              </a:ext>
            </a:extLst>
          </p:cNvPr>
          <p:cNvSpPr txBox="1"/>
          <p:nvPr/>
        </p:nvSpPr>
        <p:spPr>
          <a:xfrm>
            <a:off x="268438" y="1232876"/>
            <a:ext cx="1966500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Results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Improvements</a:t>
            </a:r>
          </a:p>
        </p:txBody>
      </p:sp>
    </p:spTree>
    <p:extLst>
      <p:ext uri="{BB962C8B-B14F-4D97-AF65-F5344CB8AC3E}">
        <p14:creationId xmlns:p14="http://schemas.microsoft.com/office/powerpoint/2010/main" val="344309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N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Outline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C7293-F103-D64C-AE53-5094C8270DC8}"/>
              </a:ext>
            </a:extLst>
          </p:cNvPr>
          <p:cNvSpPr txBox="1"/>
          <p:nvPr/>
        </p:nvSpPr>
        <p:spPr>
          <a:xfrm>
            <a:off x="268438" y="1232876"/>
            <a:ext cx="1966500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Results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Improvements</a:t>
            </a:r>
          </a:p>
        </p:txBody>
      </p:sp>
    </p:spTree>
    <p:extLst>
      <p:ext uri="{BB962C8B-B14F-4D97-AF65-F5344CB8AC3E}">
        <p14:creationId xmlns:p14="http://schemas.microsoft.com/office/powerpoint/2010/main" val="123209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Motivation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D7C61-68AA-1944-AE60-4E7F34BA963D}"/>
              </a:ext>
            </a:extLst>
          </p:cNvPr>
          <p:cNvSpPr txBox="1"/>
          <p:nvPr/>
        </p:nvSpPr>
        <p:spPr>
          <a:xfrm>
            <a:off x="268438" y="1232876"/>
            <a:ext cx="8299067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DL-based, instruction-guided image editing needs large-scale, high-quality datasets.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Generating paired data: 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(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original image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,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,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edited image</a:t>
            </a:r>
            <a:r>
              <a:rPr kumimoji="1" lang="en-US" altLang="zh-CN" i="1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85F19-E219-1841-ACE1-043DCD736C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16" r="44145" b="36648"/>
          <a:stretch/>
        </p:blipFill>
        <p:spPr>
          <a:xfrm>
            <a:off x="455323" y="2235200"/>
            <a:ext cx="7085345" cy="2031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2FE0D9-C409-8A41-978C-2BBAC4E8862E}"/>
              </a:ext>
            </a:extLst>
          </p:cNvPr>
          <p:cNvSpPr txBox="1"/>
          <p:nvPr/>
        </p:nvSpPr>
        <p:spPr>
          <a:xfrm>
            <a:off x="7540668" y="2235200"/>
            <a:ext cx="4228209" cy="792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dirty="0"/>
              <a:t>Finetune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LLMs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generate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edited captions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/>
              <a:t>(</a:t>
            </a:r>
            <a:r>
              <a:rPr kumimoji="1" lang="en-US" altLang="zh-CN" sz="1600" i="1" dirty="0">
                <a:solidFill>
                  <a:srgbClr val="C00000"/>
                </a:solidFill>
              </a:rPr>
              <a:t>original caption</a:t>
            </a:r>
            <a:r>
              <a:rPr kumimoji="1" lang="en-US" altLang="zh-CN" sz="1600" i="1" dirty="0"/>
              <a:t>,</a:t>
            </a:r>
            <a:r>
              <a:rPr kumimoji="1" lang="zh-CN" altLang="en-US" sz="1600" i="1" dirty="0"/>
              <a:t> 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instruction</a:t>
            </a:r>
            <a:r>
              <a:rPr kumimoji="1" lang="en-US" altLang="zh-CN" sz="1600" i="1" dirty="0"/>
              <a:t>, </a:t>
            </a:r>
            <a:r>
              <a:rPr kumimoji="1" lang="en-US" altLang="zh-CN" sz="1600" i="1" dirty="0">
                <a:solidFill>
                  <a:srgbClr val="C00000"/>
                </a:solidFill>
              </a:rPr>
              <a:t>edited caption</a:t>
            </a:r>
            <a:r>
              <a:rPr kumimoji="1" lang="en-US" altLang="zh-CN" sz="1600" i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151C6-DC1C-C344-9DA4-48DCFE5A3570}"/>
              </a:ext>
            </a:extLst>
          </p:cNvPr>
          <p:cNvSpPr txBox="1"/>
          <p:nvPr/>
        </p:nvSpPr>
        <p:spPr>
          <a:xfrm>
            <a:off x="7540668" y="3105043"/>
            <a:ext cx="4332957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>
                <a:solidFill>
                  <a:srgbClr val="C00000"/>
                </a:solidFill>
              </a:rPr>
              <a:t>original caption</a:t>
            </a:r>
            <a:r>
              <a:rPr kumimoji="1" lang="en-US" altLang="zh-CN" sz="1600" i="1" dirty="0"/>
              <a:t>		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original image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>
                <a:solidFill>
                  <a:srgbClr val="C00000"/>
                </a:solidFill>
              </a:rPr>
              <a:t>edited caption</a:t>
            </a:r>
            <a:r>
              <a:rPr kumimoji="1" lang="en-US" altLang="zh-CN" sz="1600" i="1" dirty="0"/>
              <a:t>		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edited image</a:t>
            </a:r>
            <a:endParaRPr kumimoji="1" lang="en-US" altLang="zh-CN" sz="160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zh-CN" sz="1600" i="1" dirty="0"/>
              <a:t>(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original image</a:t>
            </a:r>
            <a:r>
              <a:rPr kumimoji="1" lang="en-US" altLang="zh-CN" sz="1600" i="1" dirty="0"/>
              <a:t>, </a:t>
            </a:r>
            <a:r>
              <a:rPr kumimoji="1" lang="en-US" altLang="zh-CN" sz="1600" i="1" dirty="0">
                <a:solidFill>
                  <a:schemeClr val="accent1"/>
                </a:solidFill>
              </a:rPr>
              <a:t>edited image</a:t>
            </a:r>
            <a:r>
              <a:rPr kumimoji="1" lang="en-US" altLang="zh-CN" sz="1600" i="1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538F24-DF4E-EA42-A64F-C38ABF1AA93B}"/>
              </a:ext>
            </a:extLst>
          </p:cNvPr>
          <p:cNvCxnSpPr/>
          <p:nvPr/>
        </p:nvCxnSpPr>
        <p:spPr>
          <a:xfrm>
            <a:off x="9343785" y="3378235"/>
            <a:ext cx="9042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A6D942-FD92-BA48-A6B3-C51C33BC569C}"/>
              </a:ext>
            </a:extLst>
          </p:cNvPr>
          <p:cNvCxnSpPr/>
          <p:nvPr/>
        </p:nvCxnSpPr>
        <p:spPr>
          <a:xfrm>
            <a:off x="9343785" y="3743995"/>
            <a:ext cx="9042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356EEE-6D6F-0441-A5B0-938A2DC443CD}"/>
              </a:ext>
            </a:extLst>
          </p:cNvPr>
          <p:cNvSpPr txBox="1"/>
          <p:nvPr/>
        </p:nvSpPr>
        <p:spPr>
          <a:xfrm>
            <a:off x="9592965" y="3072970"/>
            <a:ext cx="405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/>
              <a:t>SD</a:t>
            </a:r>
            <a:endParaRPr kumimoji="1" lang="zh-CN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9CFB66-6597-2640-A166-A29585203C04}"/>
              </a:ext>
            </a:extLst>
          </p:cNvPr>
          <p:cNvSpPr txBox="1"/>
          <p:nvPr/>
        </p:nvSpPr>
        <p:spPr>
          <a:xfrm>
            <a:off x="9388934" y="3420469"/>
            <a:ext cx="813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/>
              <a:t>SD, P2P</a:t>
            </a:r>
            <a:endParaRPr kumimoji="1" lang="zh-CN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6F550-B663-4448-A166-27A8D673F20C}"/>
              </a:ext>
            </a:extLst>
          </p:cNvPr>
          <p:cNvSpPr txBox="1"/>
          <p:nvPr/>
        </p:nvSpPr>
        <p:spPr>
          <a:xfrm>
            <a:off x="268438" y="4493500"/>
            <a:ext cx="8993488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Problem: </a:t>
            </a:r>
            <a:r>
              <a:rPr kumimoji="1" lang="en-US" altLang="zh-CN" i="1" dirty="0">
                <a:solidFill>
                  <a:schemeClr val="accent1"/>
                </a:solidFill>
              </a:rPr>
              <a:t>instruction </a:t>
            </a:r>
            <a:r>
              <a:rPr kumimoji="1" lang="en-US" altLang="zh-CN" dirty="0"/>
              <a:t>never sees and interacts with </a:t>
            </a:r>
            <a:r>
              <a:rPr kumimoji="1" lang="en-US" altLang="zh-CN" sz="1800" i="1" dirty="0">
                <a:solidFill>
                  <a:schemeClr val="accent1"/>
                </a:solidFill>
              </a:rPr>
              <a:t>original image</a:t>
            </a:r>
            <a:r>
              <a:rPr kumimoji="1" lang="en-US" altLang="zh-CN" i="1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/>
              <a:t>and</a:t>
            </a:r>
            <a:r>
              <a:rPr kumimoji="1" lang="en-US" altLang="zh-CN" sz="1800" i="1" dirty="0"/>
              <a:t> </a:t>
            </a:r>
            <a:r>
              <a:rPr kumimoji="1" lang="en-US" altLang="zh-CN" sz="1800" i="1" dirty="0">
                <a:solidFill>
                  <a:schemeClr val="accent1"/>
                </a:solidFill>
              </a:rPr>
              <a:t>edited image </a:t>
            </a:r>
            <a:r>
              <a:rPr kumimoji="1" lang="en-US" altLang="zh-CN" sz="1800" dirty="0"/>
              <a:t>directly.</a:t>
            </a:r>
            <a:endParaRPr kumimoji="1"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BA97B1-77D2-D947-9F8C-C66612B46ED4}"/>
              </a:ext>
            </a:extLst>
          </p:cNvPr>
          <p:cNvSpPr txBox="1"/>
          <p:nvPr/>
        </p:nvSpPr>
        <p:spPr>
          <a:xfrm>
            <a:off x="701075" y="4239944"/>
            <a:ext cx="6593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3"/>
                </a:solidFill>
              </a:rPr>
              <a:t>Brooks</a:t>
            </a:r>
            <a:r>
              <a:rPr lang="en-US" altLang="zh-CN" sz="1400" dirty="0">
                <a:solidFill>
                  <a:schemeClr val="accent3"/>
                </a:solidFill>
              </a:rPr>
              <a:t> </a:t>
            </a:r>
            <a:r>
              <a:rPr lang="en-US" altLang="zh-CN" sz="1400" i="1" dirty="0">
                <a:solidFill>
                  <a:schemeClr val="accent3"/>
                </a:solidFill>
              </a:rPr>
              <a:t>et al.</a:t>
            </a:r>
            <a:r>
              <a:rPr lang="en-US" altLang="zh-CN" sz="1400" dirty="0">
                <a:solidFill>
                  <a:schemeClr val="accent3"/>
                </a:solidFill>
              </a:rPr>
              <a:t>, InstructPix2Pix: Learning to follow image editing instructions. </a:t>
            </a:r>
            <a:r>
              <a:rPr lang="en-US" altLang="zh-CN" sz="1400" i="1" dirty="0">
                <a:solidFill>
                  <a:schemeClr val="accent3"/>
                </a:solidFill>
              </a:rPr>
              <a:t>CVPR</a:t>
            </a:r>
            <a:r>
              <a:rPr lang="en-US" altLang="zh-CN" sz="1400" dirty="0">
                <a:solidFill>
                  <a:schemeClr val="accent3"/>
                </a:solidFill>
              </a:rPr>
              <a:t>, 2023.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0D7EA85-09A4-7C48-90E3-B2759C48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88" y="5140974"/>
            <a:ext cx="1409051" cy="14090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C0E4FE-AFC5-7D41-8BF2-E47015A7B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190" y="5140973"/>
            <a:ext cx="1409052" cy="1409052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76CF8F-95BB-4A48-AC33-AFA4B8E89540}"/>
              </a:ext>
            </a:extLst>
          </p:cNvPr>
          <p:cNvCxnSpPr>
            <a:cxnSpLocks/>
          </p:cNvCxnSpPr>
          <p:nvPr/>
        </p:nvCxnSpPr>
        <p:spPr>
          <a:xfrm>
            <a:off x="2234492" y="5850614"/>
            <a:ext cx="19933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2BFBAC-BDAC-544C-9126-EA756BE11F5F}"/>
              </a:ext>
            </a:extLst>
          </p:cNvPr>
          <p:cNvSpPr txBox="1"/>
          <p:nvPr/>
        </p:nvSpPr>
        <p:spPr>
          <a:xfrm>
            <a:off x="2234492" y="5512997"/>
            <a:ext cx="2013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“make it a daydream”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617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3" grpId="0"/>
      <p:bldP spid="1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3A2E8-535D-504C-BC42-995AB5A0344C}"/>
              </a:ext>
            </a:extLst>
          </p:cNvPr>
          <p:cNvSpPr txBox="1"/>
          <p:nvPr/>
        </p:nvSpPr>
        <p:spPr>
          <a:xfrm>
            <a:off x="268438" y="1232876"/>
            <a:ext cx="8393195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Refine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after seeing </a:t>
            </a:r>
            <a:r>
              <a:rPr kumimoji="1" lang="en-US" altLang="zh-CN" dirty="0">
                <a:solidFill>
                  <a:srgbClr val="F94609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differences</a:t>
            </a:r>
            <a:r>
              <a:rPr kumimoji="1" lang="en-US" altLang="zh-CN" dirty="0">
                <a:solidFill>
                  <a:srgbClr val="FF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between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original image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and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edited image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F2907-BF44-054F-85E9-0462AEE9B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290" y="2098835"/>
            <a:ext cx="6399645" cy="3609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E38FBE-49E8-8142-8ED5-51E22DFE5115}"/>
              </a:ext>
            </a:extLst>
          </p:cNvPr>
          <p:cNvSpPr txBox="1"/>
          <p:nvPr/>
        </p:nvSpPr>
        <p:spPr>
          <a:xfrm>
            <a:off x="1352673" y="2784956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91793-B501-2846-91AA-6B415D025A0C}"/>
              </a:ext>
            </a:extLst>
          </p:cNvPr>
          <p:cNvSpPr txBox="1"/>
          <p:nvPr/>
        </p:nvSpPr>
        <p:spPr>
          <a:xfrm>
            <a:off x="1415639" y="4248230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D8417-C831-114A-9F4E-28F298F624A2}"/>
              </a:ext>
            </a:extLst>
          </p:cNvPr>
          <p:cNvSpPr txBox="1"/>
          <p:nvPr/>
        </p:nvSpPr>
        <p:spPr>
          <a:xfrm>
            <a:off x="5873178" y="2969622"/>
            <a:ext cx="12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94609"/>
                </a:solidFill>
              </a:rPr>
              <a:t>differences</a:t>
            </a:r>
            <a:endParaRPr kumimoji="1" lang="zh-CN" altLang="en-US" dirty="0">
              <a:solidFill>
                <a:srgbClr val="F9460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6FAD1-765D-AA43-A802-2CC70949F4B0}"/>
              </a:ext>
            </a:extLst>
          </p:cNvPr>
          <p:cNvSpPr txBox="1"/>
          <p:nvPr/>
        </p:nvSpPr>
        <p:spPr>
          <a:xfrm>
            <a:off x="4145690" y="5809789"/>
            <a:ext cx="3900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kumimoji="1"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CLIP</a:t>
            </a:r>
            <a:r>
              <a:rPr kumimoji="1"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difference encoder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958657-206F-CD4A-91E9-0991DC5A0F38}"/>
              </a:ext>
            </a:extLst>
          </p:cNvPr>
          <p:cNvSpPr txBox="1"/>
          <p:nvPr/>
        </p:nvSpPr>
        <p:spPr>
          <a:xfrm>
            <a:off x="9396415" y="3189154"/>
            <a:ext cx="1352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F94609"/>
                </a:solidFill>
              </a:rPr>
              <a:t>encoded</a:t>
            </a:r>
            <a:r>
              <a:rPr kumimoji="1" lang="zh-CN" altLang="en-US" dirty="0">
                <a:solidFill>
                  <a:srgbClr val="F94609"/>
                </a:solidFill>
              </a:rPr>
              <a:t> </a:t>
            </a:r>
            <a:r>
              <a:rPr kumimoji="1" lang="en-US" altLang="zh-CN" dirty="0">
                <a:solidFill>
                  <a:srgbClr val="F94609"/>
                </a:solidFill>
              </a:rPr>
              <a:t>differences</a:t>
            </a:r>
            <a:endParaRPr kumimoji="1" lang="zh-CN" altLang="en-US" dirty="0">
              <a:solidFill>
                <a:srgbClr val="F946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9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3A2E8-535D-504C-BC42-995AB5A0344C}"/>
              </a:ext>
            </a:extLst>
          </p:cNvPr>
          <p:cNvSpPr txBox="1"/>
          <p:nvPr/>
        </p:nvSpPr>
        <p:spPr>
          <a:xfrm>
            <a:off x="268438" y="1232876"/>
            <a:ext cx="8112990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should describe </a:t>
            </a:r>
            <a:r>
              <a:rPr kumimoji="1" lang="en-US" altLang="zh-CN" dirty="0">
                <a:solidFill>
                  <a:srgbClr val="F94609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differences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between </a:t>
            </a:r>
            <a:r>
              <a:rPr kumimoji="1" lang="en-US" altLang="zh-CN" i="1" dirty="0">
                <a:solidFill>
                  <a:schemeClr val="accent1"/>
                </a:solidFill>
              </a:rPr>
              <a:t>original image </a:t>
            </a:r>
            <a:r>
              <a:rPr kumimoji="1" lang="en-US" altLang="zh-CN" dirty="0"/>
              <a:t>and</a:t>
            </a:r>
            <a:r>
              <a:rPr kumimoji="1" lang="en-US" altLang="zh-CN" i="1" dirty="0">
                <a:solidFill>
                  <a:schemeClr val="accent1"/>
                </a:solidFill>
              </a:rPr>
              <a:t> edited image</a:t>
            </a:r>
            <a:r>
              <a:rPr kumimoji="1" lang="en-US" altLang="zh-CN" dirty="0"/>
              <a:t>.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endParaRPr kumimoji="1" lang="en-US" altLang="zh-CN" i="1" dirty="0">
              <a:solidFill>
                <a:schemeClr val="accent1"/>
              </a:solidFill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2F4227-01FC-934F-B89C-D6579CB83A58}"/>
              </a:ext>
            </a:extLst>
          </p:cNvPr>
          <p:cNvSpPr txBox="1"/>
          <p:nvPr/>
        </p:nvSpPr>
        <p:spPr>
          <a:xfrm>
            <a:off x="268438" y="5816796"/>
            <a:ext cx="7454348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Inference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: replace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with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refined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if the latter is better.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DCFB0-D257-5049-9151-9FAD9EBB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20" y="2028654"/>
            <a:ext cx="6942815" cy="336792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BE1775-BC2D-E342-A6B3-6C140DD90A08}"/>
              </a:ext>
            </a:extLst>
          </p:cNvPr>
          <p:cNvSpPr txBox="1"/>
          <p:nvPr/>
        </p:nvSpPr>
        <p:spPr>
          <a:xfrm>
            <a:off x="416028" y="2278662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BB7B2-9138-0C44-BFD3-CF368D6397A7}"/>
              </a:ext>
            </a:extLst>
          </p:cNvPr>
          <p:cNvSpPr txBox="1"/>
          <p:nvPr/>
        </p:nvSpPr>
        <p:spPr>
          <a:xfrm>
            <a:off x="478994" y="3068179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A765D0-EB02-2D4C-A226-5F14819CCA7A}"/>
              </a:ext>
            </a:extLst>
          </p:cNvPr>
          <p:cNvSpPr txBox="1"/>
          <p:nvPr/>
        </p:nvSpPr>
        <p:spPr>
          <a:xfrm>
            <a:off x="592038" y="4397344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5D52-CAF9-3E45-A910-EA60A9A1B3E2}"/>
              </a:ext>
            </a:extLst>
          </p:cNvPr>
          <p:cNvSpPr txBox="1"/>
          <p:nvPr/>
        </p:nvSpPr>
        <p:spPr>
          <a:xfrm>
            <a:off x="8865468" y="4380045"/>
            <a:ext cx="1906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</a:t>
            </a:r>
            <a:r>
              <a:rPr kumimoji="1" lang="en-US" altLang="zh-CN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4AF50EA-AAB5-5341-8DFE-393CA6533F8E}"/>
              </a:ext>
            </a:extLst>
          </p:cNvPr>
          <p:cNvGrpSpPr/>
          <p:nvPr/>
        </p:nvGrpSpPr>
        <p:grpSpPr>
          <a:xfrm>
            <a:off x="8098165" y="2007700"/>
            <a:ext cx="3393020" cy="1704916"/>
            <a:chOff x="8041869" y="2156290"/>
            <a:chExt cx="3393020" cy="170491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132B60A-4C1D-B447-8B7C-E90D4C426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4997" y="2981012"/>
              <a:ext cx="3309892" cy="77738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6B415FF-6889-4946-9AE6-684D02A84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1869" y="2177244"/>
              <a:ext cx="2381250" cy="777384"/>
            </a:xfrm>
            <a:prstGeom prst="rect">
              <a:avLst/>
            </a:prstGeom>
          </p:spPr>
        </p:pic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5D43F67C-C3FF-304A-BAC9-24DB3A138344}"/>
                </a:ext>
              </a:extLst>
            </p:cNvPr>
            <p:cNvSpPr/>
            <p:nvPr/>
          </p:nvSpPr>
          <p:spPr>
            <a:xfrm>
              <a:off x="8041869" y="2156290"/>
              <a:ext cx="3393020" cy="170491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23C23C4-043D-F24B-AD9B-FFE7B76EF3C8}"/>
                  </a:ext>
                </a:extLst>
              </p:cNvPr>
              <p:cNvSpPr txBox="1"/>
              <p:nvPr/>
            </p:nvSpPr>
            <p:spPr>
              <a:xfrm>
                <a:off x="7989486" y="3762051"/>
                <a:ext cx="3786485" cy="314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Dress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𝑣𝑖𝑠</m:t>
                        </m:r>
                      </m:sup>
                    </m:sSup>
                  </m:oMath>
                </a14:m>
                <a:r>
                  <a:rPr kumimoji="1" lang="en-US" altLang="zh-CN" sz="1400" b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up as a tex</a:t>
                </a:r>
                <a:r>
                  <a:rPr kumimoji="1" lang="en-US" altLang="zh-CN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 encoding </a:t>
                </a:r>
                <a:r>
                  <a:rPr kumimoji="1" lang="en-US" altLang="zh-CN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during inference</a:t>
                </a:r>
                <a:r>
                  <a:rPr kumimoji="1" lang="en-US" altLang="zh-CN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kumimoji="1" lang="en-US" altLang="zh-CN" sz="1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23C23C4-043D-F24B-AD9B-FFE7B76EF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486" y="3762051"/>
                <a:ext cx="3786485" cy="314702"/>
              </a:xfrm>
              <a:prstGeom prst="rect">
                <a:avLst/>
              </a:prstGeom>
              <a:blipFill>
                <a:blip r:embed="rId5"/>
                <a:stretch>
                  <a:fillRect l="-334" r="-334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40363A2-6009-8E4C-9036-57D8A87D39D2}"/>
              </a:ext>
            </a:extLst>
          </p:cNvPr>
          <p:cNvSpPr txBox="1"/>
          <p:nvPr/>
        </p:nvSpPr>
        <p:spPr>
          <a:xfrm>
            <a:off x="4625308" y="2094180"/>
            <a:ext cx="139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F94609"/>
                </a:solidFill>
              </a:rPr>
              <a:t>encoded</a:t>
            </a:r>
            <a:r>
              <a:rPr kumimoji="1" lang="zh-CN" altLang="en-US" dirty="0">
                <a:solidFill>
                  <a:srgbClr val="F94609"/>
                </a:solidFill>
              </a:rPr>
              <a:t> </a:t>
            </a:r>
            <a:r>
              <a:rPr kumimoji="1" lang="en-US" altLang="zh-CN" dirty="0">
                <a:solidFill>
                  <a:srgbClr val="F94609"/>
                </a:solidFill>
              </a:rPr>
              <a:t>differences</a:t>
            </a:r>
            <a:endParaRPr kumimoji="1" lang="zh-CN" altLang="en-US" dirty="0">
              <a:solidFill>
                <a:srgbClr val="F94609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BEB0A6-C9F7-AD46-A8A9-01AFE7FB1C8D}"/>
              </a:ext>
            </a:extLst>
          </p:cNvPr>
          <p:cNvSpPr txBox="1"/>
          <p:nvPr/>
        </p:nvSpPr>
        <p:spPr>
          <a:xfrm>
            <a:off x="5009741" y="5351925"/>
            <a:ext cx="217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I-CLIP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39665EF-72AB-E042-9568-81A33267598F}"/>
              </a:ext>
            </a:extLst>
          </p:cNvPr>
          <p:cNvSpPr/>
          <p:nvPr/>
        </p:nvSpPr>
        <p:spPr>
          <a:xfrm>
            <a:off x="7182258" y="1863264"/>
            <a:ext cx="4749911" cy="23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6943EA-7290-F945-9868-91688BBADA5B}"/>
              </a:ext>
            </a:extLst>
          </p:cNvPr>
          <p:cNvSpPr/>
          <p:nvPr/>
        </p:nvSpPr>
        <p:spPr>
          <a:xfrm>
            <a:off x="8768819" y="4378451"/>
            <a:ext cx="312996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3128B39-4984-3F4B-937D-9B170D772CA2}"/>
              </a:ext>
            </a:extLst>
          </p:cNvPr>
          <p:cNvSpPr/>
          <p:nvPr/>
        </p:nvSpPr>
        <p:spPr>
          <a:xfrm>
            <a:off x="5994020" y="1842183"/>
            <a:ext cx="2706468" cy="1645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82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4" grpId="0" animBg="1"/>
      <p:bldP spid="55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F8E76B-3798-DB45-A10C-6CDDDA628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5" y="1887216"/>
            <a:ext cx="1979930" cy="1979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8B1DA9-BC49-1A4C-B45F-33DC3A62A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504" y="1887216"/>
            <a:ext cx="1979930" cy="19799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CD83EB-AF47-B645-95E0-FE756DCBB19F}"/>
              </a:ext>
            </a:extLst>
          </p:cNvPr>
          <p:cNvSpPr txBox="1"/>
          <p:nvPr/>
        </p:nvSpPr>
        <p:spPr>
          <a:xfrm>
            <a:off x="4713663" y="2692515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make it </a:t>
            </a:r>
            <a:r>
              <a:rPr lang="zh-CN" altLang="en-US" dirty="0">
                <a:solidFill>
                  <a:srgbClr val="F94609"/>
                </a:solidFill>
              </a:rPr>
              <a:t>a video game character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B3505A-67EB-364E-ADDB-9CFD20532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35" y="4106601"/>
            <a:ext cx="1979930" cy="197993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9A2BC1-4230-DA46-95AB-997AAE524B78}"/>
              </a:ext>
            </a:extLst>
          </p:cNvPr>
          <p:cNvSpPr txBox="1"/>
          <p:nvPr/>
        </p:nvSpPr>
        <p:spPr>
          <a:xfrm>
            <a:off x="4637245" y="4911899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</a:t>
            </a:r>
            <a:r>
              <a:rPr kumimoji="1" lang="en-US" altLang="zh-CN" sz="1800" dirty="0"/>
              <a:t>make it a </a:t>
            </a:r>
            <a:r>
              <a:rPr kumimoji="1" lang="en-US" altLang="zh-CN" sz="1800" dirty="0">
                <a:solidFill>
                  <a:srgbClr val="F94609"/>
                </a:solidFill>
              </a:rPr>
              <a:t>daydream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67062A-C231-754D-A76C-41FFB6884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504" y="4106600"/>
            <a:ext cx="1979931" cy="197993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3959E2C-94FA-A540-98A8-74ED471A4FFE}"/>
              </a:ext>
            </a:extLst>
          </p:cNvPr>
          <p:cNvSpPr txBox="1"/>
          <p:nvPr/>
        </p:nvSpPr>
        <p:spPr>
          <a:xfrm>
            <a:off x="8026650" y="5108567"/>
            <a:ext cx="3693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Reproduced: “</a:t>
            </a:r>
            <a:r>
              <a:rPr lang="zh-CN" altLang="en-US" dirty="0"/>
              <a:t>make it </a:t>
            </a:r>
            <a:r>
              <a:rPr lang="zh-CN" altLang="en-US" dirty="0">
                <a:solidFill>
                  <a:schemeClr val="accent6"/>
                </a:solidFill>
              </a:rPr>
              <a:t>a summer day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BD8A84-C3AB-A846-9CE0-AE1FF9D6BDEC}"/>
              </a:ext>
            </a:extLst>
          </p:cNvPr>
          <p:cNvSpPr txBox="1"/>
          <p:nvPr/>
        </p:nvSpPr>
        <p:spPr>
          <a:xfrm>
            <a:off x="7905490" y="2939679"/>
            <a:ext cx="3935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Reproduced: “</a:t>
            </a:r>
            <a:r>
              <a:rPr lang="zh-CN" altLang="en-US" dirty="0"/>
              <a:t>as a </a:t>
            </a:r>
            <a:r>
              <a:rPr lang="zh-CN" altLang="en-US" dirty="0">
                <a:solidFill>
                  <a:schemeClr val="accent6"/>
                </a:solidFill>
              </a:rPr>
              <a:t>3 d computer model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3F3F9E-BE1E-5943-96C6-7C991C34D1F3}"/>
              </a:ext>
            </a:extLst>
          </p:cNvPr>
          <p:cNvSpPr txBox="1"/>
          <p:nvPr/>
        </p:nvSpPr>
        <p:spPr>
          <a:xfrm>
            <a:off x="8450700" y="2529684"/>
            <a:ext cx="2845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Paper: “as a </a:t>
            </a:r>
            <a:r>
              <a:rPr lang="en-US" altLang="zh-CN" dirty="0">
                <a:solidFill>
                  <a:schemeClr val="accent6"/>
                </a:solidFill>
              </a:rPr>
              <a:t>3 d sculpture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776BF9-84B9-9F46-8309-5EBBD834A0C6}"/>
              </a:ext>
            </a:extLst>
          </p:cNvPr>
          <p:cNvSpPr txBox="1"/>
          <p:nvPr/>
        </p:nvSpPr>
        <p:spPr>
          <a:xfrm>
            <a:off x="8707612" y="4710574"/>
            <a:ext cx="2331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Paper: “make it </a:t>
            </a:r>
            <a:r>
              <a:rPr lang="en-US" altLang="zh-CN" dirty="0">
                <a:solidFill>
                  <a:schemeClr val="accent6"/>
                </a:solidFill>
              </a:rPr>
              <a:t>spring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4FE78C-2190-6C4B-8C4E-F1AF33FDB9E1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929B67-8A4D-694A-AE8C-9681ECE29417}"/>
              </a:ext>
            </a:extLst>
          </p:cNvPr>
          <p:cNvSpPr txBox="1"/>
          <p:nvPr/>
        </p:nvSpPr>
        <p:spPr>
          <a:xfrm>
            <a:off x="2889039" y="1463095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3F672F-0C91-804A-B798-23DB20929AA9}"/>
              </a:ext>
            </a:extLst>
          </p:cNvPr>
          <p:cNvSpPr txBox="1"/>
          <p:nvPr/>
        </p:nvSpPr>
        <p:spPr>
          <a:xfrm>
            <a:off x="5642774" y="1463095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26C857-25AC-194C-AE49-34BD641E5688}"/>
              </a:ext>
            </a:extLst>
          </p:cNvPr>
          <p:cNvSpPr txBox="1"/>
          <p:nvPr/>
        </p:nvSpPr>
        <p:spPr>
          <a:xfrm>
            <a:off x="8926548" y="1463095"/>
            <a:ext cx="1893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36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D58468-D1C4-584B-8B05-683120D58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26" y="1862240"/>
            <a:ext cx="1988217" cy="19882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08D62A-ED82-1D45-9BC4-F83B81DD2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29" y="1862240"/>
            <a:ext cx="1988217" cy="198821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F4F362B-565A-6247-886F-07C861BF3B25}"/>
              </a:ext>
            </a:extLst>
          </p:cNvPr>
          <p:cNvSpPr txBox="1"/>
          <p:nvPr/>
        </p:nvSpPr>
        <p:spPr>
          <a:xfrm>
            <a:off x="4603282" y="2671682"/>
            <a:ext cx="326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a </a:t>
            </a:r>
            <a:r>
              <a:rPr lang="en-US" altLang="zh-CN" dirty="0">
                <a:solidFill>
                  <a:srgbClr val="F94609"/>
                </a:solidFill>
              </a:rPr>
              <a:t>drawing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7EE48-DB40-584D-AC0C-F6A26524967B}"/>
              </a:ext>
            </a:extLst>
          </p:cNvPr>
          <p:cNvSpPr txBox="1"/>
          <p:nvPr/>
        </p:nvSpPr>
        <p:spPr>
          <a:xfrm>
            <a:off x="8084016" y="2671682"/>
            <a:ext cx="357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into a </a:t>
            </a:r>
            <a:r>
              <a:rPr lang="en-US" altLang="zh-CN" dirty="0">
                <a:solidFill>
                  <a:schemeClr val="accent6"/>
                </a:solidFill>
              </a:rPr>
              <a:t>watercolor painting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AEEF737-0E16-284A-A88A-58CD5F912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825" y="4081778"/>
            <a:ext cx="1988217" cy="198821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F2752C0-0A1B-2446-8608-517B15EB7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28" y="4081779"/>
            <a:ext cx="1988217" cy="19882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A2B0613-61A3-D14F-B2ED-934748019F57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941428-60A1-2C42-ADA7-FB2D72D4DF76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731E19-E2EC-B647-A2B7-CFA764C99C08}"/>
              </a:ext>
            </a:extLst>
          </p:cNvPr>
          <p:cNvSpPr txBox="1"/>
          <p:nvPr/>
        </p:nvSpPr>
        <p:spPr>
          <a:xfrm>
            <a:off x="2889039" y="1463095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5C41AB-C991-8C4A-8C11-5AAC5608DD2B}"/>
              </a:ext>
            </a:extLst>
          </p:cNvPr>
          <p:cNvSpPr txBox="1"/>
          <p:nvPr/>
        </p:nvSpPr>
        <p:spPr>
          <a:xfrm>
            <a:off x="5642774" y="1463095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AC78F1-6105-2F46-9B92-86A686F2E892}"/>
              </a:ext>
            </a:extLst>
          </p:cNvPr>
          <p:cNvSpPr txBox="1"/>
          <p:nvPr/>
        </p:nvSpPr>
        <p:spPr>
          <a:xfrm>
            <a:off x="8296508" y="1463095"/>
            <a:ext cx="315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 </a:t>
            </a:r>
            <a:r>
              <a:rPr kumimoji="1" lang="en-US" altLang="zh-CN" dirty="0"/>
              <a:t>(reproduced)</a:t>
            </a:r>
            <a:endParaRPr kumimoji="1" lang="zh-CN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F9B40C-E2E7-3E40-BEDC-46411111BB1A}"/>
              </a:ext>
            </a:extLst>
          </p:cNvPr>
          <p:cNvSpPr txBox="1"/>
          <p:nvPr/>
        </p:nvSpPr>
        <p:spPr>
          <a:xfrm>
            <a:off x="4854415" y="4891220"/>
            <a:ext cx="27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the bird a </a:t>
            </a:r>
            <a:r>
              <a:rPr lang="en-US" altLang="zh-CN" dirty="0">
                <a:solidFill>
                  <a:schemeClr val="accent6"/>
                </a:solidFill>
              </a:rPr>
              <a:t>cockatoo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E08379-25D1-F54A-A880-46DB55F2C0BA}"/>
              </a:ext>
            </a:extLst>
          </p:cNvPr>
          <p:cNvSpPr txBox="1"/>
          <p:nvPr/>
        </p:nvSpPr>
        <p:spPr>
          <a:xfrm>
            <a:off x="7797500" y="4891220"/>
            <a:ext cx="415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“replace the bird with a </a:t>
            </a:r>
            <a:r>
              <a:rPr lang="en-US" altLang="zh-CN" dirty="0">
                <a:solidFill>
                  <a:srgbClr val="F94609"/>
                </a:solidFill>
              </a:rPr>
              <a:t>hummingbird</a:t>
            </a:r>
            <a:r>
              <a:rPr lang="en-US" altLang="zh-CN" dirty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827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362B-565A-6247-886F-07C861BF3B25}"/>
              </a:ext>
            </a:extLst>
          </p:cNvPr>
          <p:cNvSpPr txBox="1"/>
          <p:nvPr/>
        </p:nvSpPr>
        <p:spPr>
          <a:xfrm>
            <a:off x="4603282" y="2671682"/>
            <a:ext cx="326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“add a </a:t>
            </a:r>
            <a:r>
              <a:rPr lang="en-US" altLang="zh-CN" dirty="0">
                <a:solidFill>
                  <a:srgbClr val="F94609"/>
                </a:solidFill>
              </a:rPr>
              <a:t>hedge maze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7EE48-DB40-584D-AC0C-F6A26524967B}"/>
              </a:ext>
            </a:extLst>
          </p:cNvPr>
          <p:cNvSpPr txBox="1"/>
          <p:nvPr/>
        </p:nvSpPr>
        <p:spPr>
          <a:xfrm>
            <a:off x="8084016" y="2671682"/>
            <a:ext cx="357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leaves 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yellow leaves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2B0613-61A3-D14F-B2ED-934748019F57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941428-60A1-2C42-ADA7-FB2D72D4DF76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731E19-E2EC-B647-A2B7-CFA764C99C08}"/>
              </a:ext>
            </a:extLst>
          </p:cNvPr>
          <p:cNvSpPr txBox="1"/>
          <p:nvPr/>
        </p:nvSpPr>
        <p:spPr>
          <a:xfrm>
            <a:off x="2889039" y="1463095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5C41AB-C991-8C4A-8C11-5AAC5608DD2B}"/>
              </a:ext>
            </a:extLst>
          </p:cNvPr>
          <p:cNvSpPr txBox="1"/>
          <p:nvPr/>
        </p:nvSpPr>
        <p:spPr>
          <a:xfrm>
            <a:off x="5642774" y="1463095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AC78F1-6105-2F46-9B92-86A686F2E892}"/>
              </a:ext>
            </a:extLst>
          </p:cNvPr>
          <p:cNvSpPr txBox="1"/>
          <p:nvPr/>
        </p:nvSpPr>
        <p:spPr>
          <a:xfrm>
            <a:off x="8296508" y="1463095"/>
            <a:ext cx="315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 </a:t>
            </a:r>
            <a:r>
              <a:rPr kumimoji="1" lang="en-US" altLang="zh-CN" dirty="0"/>
              <a:t>(reproduced)</a:t>
            </a:r>
            <a:endParaRPr kumimoji="1" lang="zh-CN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F9B40C-E2E7-3E40-BEDC-46411111BB1A}"/>
              </a:ext>
            </a:extLst>
          </p:cNvPr>
          <p:cNvSpPr txBox="1"/>
          <p:nvPr/>
        </p:nvSpPr>
        <p:spPr>
          <a:xfrm>
            <a:off x="4876323" y="4891220"/>
            <a:ext cx="27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make it a sunny day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E08379-25D1-F54A-A880-46DB55F2C0BA}"/>
              </a:ext>
            </a:extLst>
          </p:cNvPr>
          <p:cNvSpPr txBox="1"/>
          <p:nvPr/>
        </p:nvSpPr>
        <p:spPr>
          <a:xfrm>
            <a:off x="7797500" y="4891220"/>
            <a:ext cx="415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make it a sunny day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E9EC96-B1F1-C048-9DB1-8838A9C24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25" y="1862239"/>
            <a:ext cx="1988216" cy="1988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B9600-137F-3B46-9012-2D7A08C97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27" y="1862239"/>
            <a:ext cx="1988217" cy="19882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FF86DA-8B32-C243-BC94-8D3D3F03D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825" y="4078420"/>
            <a:ext cx="1988216" cy="1988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0E2C2A-F9BC-534D-B951-65CD736C9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27" y="4078420"/>
            <a:ext cx="1988216" cy="19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5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3906-EA5E-BE02-058E-D0B4174BE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F6ECA-22A9-56D1-15B1-BA1B9EAF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F541F6-725A-3E4A-3193-6A9DF3800491}"/>
              </a:ext>
            </a:extLst>
          </p:cNvPr>
          <p:cNvSpPr txBox="1"/>
          <p:nvPr/>
        </p:nvSpPr>
        <p:spPr>
          <a:xfrm>
            <a:off x="4915019" y="1305337"/>
            <a:ext cx="326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add a </a:t>
            </a:r>
            <a:r>
              <a:rPr lang="en-US" altLang="zh-CN" dirty="0">
                <a:solidFill>
                  <a:srgbClr val="F94609"/>
                </a:solidFill>
              </a:rPr>
              <a:t>hedge maze</a:t>
            </a:r>
            <a:endParaRPr lang="zh-CN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DBD237-159F-587C-61DD-82278BE99694}"/>
              </a:ext>
            </a:extLst>
          </p:cNvPr>
          <p:cNvSpPr txBox="1"/>
          <p:nvPr/>
        </p:nvSpPr>
        <p:spPr>
          <a:xfrm>
            <a:off x="8231161" y="1305337"/>
            <a:ext cx="357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leaves </a:t>
            </a:r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yellow leaves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5306E0-315E-DC32-2768-1A497860E416}"/>
              </a:ext>
            </a:extLst>
          </p:cNvPr>
          <p:cNvSpPr txBox="1"/>
          <p:nvPr/>
        </p:nvSpPr>
        <p:spPr>
          <a:xfrm>
            <a:off x="693549" y="96750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0B86D2-7BD2-5187-B4E2-FFA59C374635}"/>
              </a:ext>
            </a:extLst>
          </p:cNvPr>
          <p:cNvSpPr txBox="1"/>
          <p:nvPr/>
        </p:nvSpPr>
        <p:spPr>
          <a:xfrm>
            <a:off x="3036184" y="96750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3AC238-ED50-E46A-81ED-926E3B6565DB}"/>
              </a:ext>
            </a:extLst>
          </p:cNvPr>
          <p:cNvSpPr txBox="1"/>
          <p:nvPr/>
        </p:nvSpPr>
        <p:spPr>
          <a:xfrm>
            <a:off x="5569515" y="96750"/>
            <a:ext cx="194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original 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B5B4F4-D7E3-1DC0-6C27-AC8756446200}"/>
              </a:ext>
            </a:extLst>
          </p:cNvPr>
          <p:cNvSpPr txBox="1"/>
          <p:nvPr/>
        </p:nvSpPr>
        <p:spPr>
          <a:xfrm>
            <a:off x="9073691" y="96750"/>
            <a:ext cx="1893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</a:t>
            </a:r>
            <a:endParaRPr kumimoji="1" lang="zh-CN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DBD64B-9972-D8DC-9857-6BF69A3296C6}"/>
              </a:ext>
            </a:extLst>
          </p:cNvPr>
          <p:cNvSpPr txBox="1"/>
          <p:nvPr/>
        </p:nvSpPr>
        <p:spPr>
          <a:xfrm>
            <a:off x="5188060" y="3524875"/>
            <a:ext cx="27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make it a sunny day</a:t>
            </a:r>
            <a:endParaRPr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D5E156-BDBD-3FF4-7D08-DAA7F209E272}"/>
              </a:ext>
            </a:extLst>
          </p:cNvPr>
          <p:cNvSpPr txBox="1"/>
          <p:nvPr/>
        </p:nvSpPr>
        <p:spPr>
          <a:xfrm>
            <a:off x="7944645" y="3524875"/>
            <a:ext cx="415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make it a sunny day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61A33-B1D2-C1BB-8585-6BFE9075A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970" y="495894"/>
            <a:ext cx="1988216" cy="1988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D447ED-0FAA-7CDC-5F76-997913902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72" y="495894"/>
            <a:ext cx="1988217" cy="19882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1D50A7-9374-0AB9-B8EF-8438A39D7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6970" y="2712075"/>
            <a:ext cx="1988216" cy="1988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95A4D5-00E4-1434-4860-E7174E8C0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72" y="2712075"/>
            <a:ext cx="1988216" cy="198821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E805F9-0115-8ADC-EC90-9D8A4780CF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01" y="4928255"/>
            <a:ext cx="1979930" cy="1979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4047F2-A521-C28A-D553-A44873E132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6970" y="4928255"/>
            <a:ext cx="1979930" cy="1979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25D9DE-DCFF-3C23-9102-CE4F8B3218B1}"/>
              </a:ext>
            </a:extLst>
          </p:cNvPr>
          <p:cNvSpPr txBox="1"/>
          <p:nvPr/>
        </p:nvSpPr>
        <p:spPr>
          <a:xfrm>
            <a:off x="4992488" y="5733400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make it </a:t>
            </a:r>
            <a:r>
              <a:rPr lang="zh-CN" altLang="en-US" dirty="0">
                <a:solidFill>
                  <a:srgbClr val="F94609"/>
                </a:solidFill>
              </a:rPr>
              <a:t>a video game character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BDB51-D52C-53D6-5C19-C5CA7ADE7F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301" y="7147640"/>
            <a:ext cx="1979930" cy="19799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B825E6-A253-CEB8-F346-9B2460F49473}"/>
              </a:ext>
            </a:extLst>
          </p:cNvPr>
          <p:cNvSpPr txBox="1"/>
          <p:nvPr/>
        </p:nvSpPr>
        <p:spPr>
          <a:xfrm>
            <a:off x="4946303" y="7952938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/>
              <a:t>make it a </a:t>
            </a:r>
            <a:r>
              <a:rPr kumimoji="1" lang="en-US" altLang="zh-CN" sz="1800" dirty="0">
                <a:solidFill>
                  <a:srgbClr val="F94609"/>
                </a:solidFill>
              </a:rPr>
              <a:t>daydream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BCB01B-5F20-34C8-BEC4-92E3E9E379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6970" y="7147639"/>
            <a:ext cx="1979931" cy="19799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FC7B60-7AC4-AE20-ADBD-7A1077021F14}"/>
              </a:ext>
            </a:extLst>
          </p:cNvPr>
          <p:cNvSpPr txBox="1"/>
          <p:nvPr/>
        </p:nvSpPr>
        <p:spPr>
          <a:xfrm>
            <a:off x="8173797" y="7955535"/>
            <a:ext cx="3693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make it </a:t>
            </a:r>
            <a:r>
              <a:rPr lang="zh-CN" altLang="en-US" dirty="0">
                <a:solidFill>
                  <a:schemeClr val="accent6"/>
                </a:solidFill>
              </a:rPr>
              <a:t>a summer day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D8718-53A1-F2E8-18B4-2321B7EF1D50}"/>
              </a:ext>
            </a:extLst>
          </p:cNvPr>
          <p:cNvSpPr txBox="1"/>
          <p:nvPr/>
        </p:nvSpPr>
        <p:spPr>
          <a:xfrm>
            <a:off x="8115849" y="5733554"/>
            <a:ext cx="3935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as a </a:t>
            </a:r>
            <a:r>
              <a:rPr lang="zh-CN" altLang="en-US" dirty="0">
                <a:solidFill>
                  <a:schemeClr val="accent6"/>
                </a:solidFill>
              </a:rPr>
              <a:t>3 d computer model</a:t>
            </a:r>
            <a:endParaRPr lang="zh-CN" alt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F8B3D2-0269-8D29-9851-2A68CE8C88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38683" y="9367024"/>
            <a:ext cx="1988217" cy="19882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5E7C5-2EA5-3354-EC4B-96C317E977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186" y="9367024"/>
            <a:ext cx="1988217" cy="19882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FB925E0-9A76-C264-12F6-0E32EB8EA34C}"/>
              </a:ext>
            </a:extLst>
          </p:cNvPr>
          <p:cNvSpPr txBox="1"/>
          <p:nvPr/>
        </p:nvSpPr>
        <p:spPr>
          <a:xfrm>
            <a:off x="4906731" y="10176466"/>
            <a:ext cx="326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make it a </a:t>
            </a:r>
            <a:r>
              <a:rPr lang="en-US" altLang="zh-CN" dirty="0">
                <a:solidFill>
                  <a:srgbClr val="F94609"/>
                </a:solidFill>
              </a:rPr>
              <a:t>drawing</a:t>
            </a:r>
            <a:endParaRPr lang="zh-CN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EE0A3-3940-B5D8-1D10-69D514DDEDC5}"/>
              </a:ext>
            </a:extLst>
          </p:cNvPr>
          <p:cNvSpPr txBox="1"/>
          <p:nvPr/>
        </p:nvSpPr>
        <p:spPr>
          <a:xfrm>
            <a:off x="8222873" y="10176466"/>
            <a:ext cx="357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make it into a </a:t>
            </a:r>
            <a:r>
              <a:rPr lang="en-US" altLang="zh-CN" dirty="0">
                <a:solidFill>
                  <a:schemeClr val="accent6"/>
                </a:solidFill>
              </a:rPr>
              <a:t>watercolor painting</a:t>
            </a:r>
            <a:endParaRPr lang="zh-CN" alt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D195A92-E4D0-7F92-8791-C1093C4B8A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8682" y="11586562"/>
            <a:ext cx="1988217" cy="19882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C86C3BA-0535-7024-B9CA-7D32FB3435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185" y="11586563"/>
            <a:ext cx="1988217" cy="19882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E522472-7C6F-7311-FEAF-08F170EC7BF7}"/>
              </a:ext>
            </a:extLst>
          </p:cNvPr>
          <p:cNvSpPr txBox="1"/>
          <p:nvPr/>
        </p:nvSpPr>
        <p:spPr>
          <a:xfrm>
            <a:off x="5157864" y="12396004"/>
            <a:ext cx="27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make the bird a </a:t>
            </a:r>
            <a:r>
              <a:rPr lang="en-US" altLang="zh-CN" dirty="0">
                <a:solidFill>
                  <a:schemeClr val="accent6"/>
                </a:solidFill>
              </a:rPr>
              <a:t>cockatoo</a:t>
            </a:r>
            <a:endParaRPr lang="zh-CN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F9707C-9053-663A-5BAA-8435F4A08408}"/>
              </a:ext>
            </a:extLst>
          </p:cNvPr>
          <p:cNvSpPr txBox="1"/>
          <p:nvPr/>
        </p:nvSpPr>
        <p:spPr>
          <a:xfrm>
            <a:off x="7936357" y="12396004"/>
            <a:ext cx="415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replace the bird with a </a:t>
            </a:r>
            <a:r>
              <a:rPr lang="en-US" altLang="zh-CN" dirty="0">
                <a:solidFill>
                  <a:srgbClr val="F94609"/>
                </a:solidFill>
              </a:rPr>
              <a:t>hummingbird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1854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18AB7-A5A2-5042-A691-ABD872EFD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59" y="3745829"/>
            <a:ext cx="7393261" cy="183969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I-CLIP as a judge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FEAB36-356C-CA46-BC16-E278078FF184}"/>
                  </a:ext>
                </a:extLst>
              </p:cNvPr>
              <p:cNvSpPr txBox="1"/>
              <p:nvPr/>
            </p:nvSpPr>
            <p:spPr>
              <a:xfrm>
                <a:off x="268438" y="1232876"/>
                <a:ext cx="7629691" cy="5477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  <m: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CLIP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=1−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sim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𝑡𝑥𝑡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is used when finetuning </a:t>
                </a:r>
                <a:r>
                  <a:rPr kumimoji="1" lang="en-US" altLang="zh-CN" u="sng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SD-based image editing models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judges whether the</a:t>
                </a:r>
                <a:r>
                  <a:rPr kumimoji="1" lang="en-US" altLang="zh-CN" dirty="0">
                    <a:solidFill>
                      <a:srgbClr val="F94609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differences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between </a:t>
                </a:r>
                <a:r>
                  <a:rPr kumimoji="1" lang="en-US" altLang="zh-CN" i="1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original images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and </a:t>
                </a:r>
              </a:p>
              <a:p>
                <a:pPr lvl="1">
                  <a:lnSpc>
                    <a:spcPct val="150000"/>
                  </a:lnSpc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    generated</a:t>
                </a:r>
                <a:r>
                  <a:rPr kumimoji="1" lang="en-US" altLang="zh-CN" i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i="1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edited images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match </a:t>
                </a:r>
                <a:r>
                  <a:rPr kumimoji="1" lang="en-US" altLang="zh-CN" i="1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instruction</a:t>
                </a:r>
                <a:r>
                  <a:rPr kumimoji="1" lang="en-US" altLang="zh-CN" i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.</a:t>
                </a: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However, </a:t>
                </a:r>
                <a:r>
                  <a:rPr kumimoji="1" lang="en-US" altLang="zh-CN" u="sng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SD works in latent space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while DINO works on raw images.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Distillation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: DINOv2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LD-DINOv2.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lvl="1">
                  <a:lnSpc>
                    <a:spcPct val="150000"/>
                  </a:lnSpc>
                  <a:defRPr/>
                </a:pPr>
                <a:endParaRPr kumimoji="1" lang="en-US" altLang="zh-CN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Replace DINOv2 in I-</a:t>
                </a:r>
                <a:r>
                  <a:rPr kumimoji="1" lang="en-US" altLang="zh-CN" dirty="0" err="1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CLIP</a:t>
                </a:r>
                <a:r>
                  <a:rPr kumimoji="1" lang="en-US" altLang="zh-CN" baseline="-25000" dirty="0" err="1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vis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with LD-DINOv2.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In this way, I-CLIP can extracting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from SD outputs</a:t>
                </a: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(in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latent space)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with LD-DINOv2, without decoding SD outputs into generated images</a:t>
                </a:r>
                <a:endParaRPr kumimoji="1" lang="en-US" altLang="zh-CN" b="1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FEAB36-356C-CA46-BC16-E278078FF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8" y="1232876"/>
                <a:ext cx="7629691" cy="5477653"/>
              </a:xfrm>
              <a:prstGeom prst="rect">
                <a:avLst/>
              </a:prstGeom>
              <a:blipFill>
                <a:blip r:embed="rId3"/>
                <a:stretch>
                  <a:fillRect l="-498" b="-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A82BE120-F252-804F-9823-2CF56D744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499" y="1141015"/>
            <a:ext cx="4781063" cy="269667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51D8D0-4181-7241-B162-E3A6ADCCB964}"/>
              </a:ext>
            </a:extLst>
          </p:cNvPr>
          <p:cNvCxnSpPr>
            <a:cxnSpLocks/>
          </p:cNvCxnSpPr>
          <p:nvPr/>
        </p:nvCxnSpPr>
        <p:spPr>
          <a:xfrm flipV="1">
            <a:off x="6686550" y="3297103"/>
            <a:ext cx="1211579" cy="674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40D9F7-EADA-6D40-B6F8-64173B92E162}"/>
              </a:ext>
            </a:extLst>
          </p:cNvPr>
          <p:cNvSpPr txBox="1"/>
          <p:nvPr/>
        </p:nvSpPr>
        <p:spPr>
          <a:xfrm rot="19813641">
            <a:off x="6968049" y="3554901"/>
            <a:ext cx="87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replace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376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5731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I-CLIP as a judge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1FD588-6829-C644-B09A-A572ED75F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5" y="2062646"/>
            <a:ext cx="1979930" cy="19799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DA2F39-B76F-864E-8713-F8EFD6FF0395}"/>
              </a:ext>
            </a:extLst>
          </p:cNvPr>
          <p:cNvSpPr txBox="1"/>
          <p:nvPr/>
        </p:nvSpPr>
        <p:spPr>
          <a:xfrm>
            <a:off x="546404" y="1463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E59B4D-79E9-164E-990B-A4250FA95B51}"/>
              </a:ext>
            </a:extLst>
          </p:cNvPr>
          <p:cNvSpPr txBox="1"/>
          <p:nvPr/>
        </p:nvSpPr>
        <p:spPr>
          <a:xfrm>
            <a:off x="8507022" y="1093763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1878B-5289-1D43-B4FF-17824F88F4B3}"/>
              </a:ext>
            </a:extLst>
          </p:cNvPr>
          <p:cNvSpPr txBox="1"/>
          <p:nvPr/>
        </p:nvSpPr>
        <p:spPr>
          <a:xfrm>
            <a:off x="3072315" y="1453177"/>
            <a:ext cx="118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9F574-10CD-0B4C-A400-3F305F6C674A}"/>
              </a:ext>
            </a:extLst>
          </p:cNvPr>
          <p:cNvSpPr txBox="1"/>
          <p:nvPr/>
        </p:nvSpPr>
        <p:spPr>
          <a:xfrm>
            <a:off x="2489087" y="2858027"/>
            <a:ext cx="2294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a 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652A0E-7055-A14C-8934-85A4FD4C53B6}"/>
              </a:ext>
            </a:extLst>
          </p:cNvPr>
          <p:cNvCxnSpPr>
            <a:cxnSpLocks/>
          </p:cNvCxnSpPr>
          <p:nvPr/>
        </p:nvCxnSpPr>
        <p:spPr>
          <a:xfrm>
            <a:off x="4830179" y="3038834"/>
            <a:ext cx="14791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F8F288-2833-A943-8CC5-8A5A219F8944}"/>
              </a:ext>
            </a:extLst>
          </p:cNvPr>
          <p:cNvSpPr txBox="1"/>
          <p:nvPr/>
        </p:nvSpPr>
        <p:spPr>
          <a:xfrm>
            <a:off x="7204420" y="1463095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paper</a:t>
            </a:r>
            <a:endParaRPr kumimoji="1"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2631D-802F-9543-A0C8-31158655E027}"/>
              </a:ext>
            </a:extLst>
          </p:cNvPr>
          <p:cNvSpPr txBox="1"/>
          <p:nvPr/>
        </p:nvSpPr>
        <p:spPr>
          <a:xfrm>
            <a:off x="10182405" y="1463095"/>
            <a:ext cx="127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reproduced</a:t>
            </a:r>
            <a:endParaRPr kumimoji="1" lang="zh-CN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388EE7-4EDC-7945-A229-AEEB0175B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35" y="4229969"/>
            <a:ext cx="1979930" cy="19799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C974AF-5B08-A445-9417-125E849B4EFF}"/>
              </a:ext>
            </a:extLst>
          </p:cNvPr>
          <p:cNvSpPr txBox="1"/>
          <p:nvPr/>
        </p:nvSpPr>
        <p:spPr>
          <a:xfrm>
            <a:off x="2433063" y="5069781"/>
            <a:ext cx="2294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“remove snow”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899595-7014-B646-B09F-A2D601B7D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03" y="2062646"/>
            <a:ext cx="1979930" cy="1979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4AF973-6A49-8941-A57C-652B7A792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435" y="2062646"/>
            <a:ext cx="1979930" cy="197993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4581B9-E080-2C43-80C3-FDF79EF0F94B}"/>
              </a:ext>
            </a:extLst>
          </p:cNvPr>
          <p:cNvCxnSpPr>
            <a:cxnSpLocks/>
          </p:cNvCxnSpPr>
          <p:nvPr/>
        </p:nvCxnSpPr>
        <p:spPr>
          <a:xfrm>
            <a:off x="4772961" y="5254447"/>
            <a:ext cx="14791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F34880F-6D4E-394D-ABC7-88AECDB3E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03" y="4229969"/>
            <a:ext cx="1979930" cy="1979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7C76E0-DBE8-9A4E-9EAE-46DEC85B8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0435" y="4228622"/>
            <a:ext cx="1979930" cy="19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6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17DB6-4DDE-6BE1-38F4-74461CB7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5CE212C-8B25-00BD-05A6-8B71714BE39E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Outline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A5FB8-AA6F-8421-F854-660F84EAD04D}"/>
              </a:ext>
            </a:extLst>
          </p:cNvPr>
          <p:cNvSpPr txBox="1"/>
          <p:nvPr/>
        </p:nvSpPr>
        <p:spPr>
          <a:xfrm>
            <a:off x="268438" y="1232876"/>
            <a:ext cx="1966500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9C9C9"/>
                </a:solidFill>
                <a:effectLst/>
                <a:uLnTx/>
                <a:uFillTx/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Introduction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9C9C9"/>
                </a:solidFill>
                <a:effectLst/>
                <a:uLnTx/>
                <a:uFillTx/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Motivation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9C9C9"/>
                </a:solidFill>
                <a:effectLst/>
                <a:uLnTx/>
                <a:uFillTx/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Methods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9C9C9"/>
                </a:solidFill>
                <a:effectLst/>
                <a:uLnTx/>
                <a:uFillTx/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Results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Improvements</a:t>
            </a:r>
          </a:p>
        </p:txBody>
      </p:sp>
    </p:spTree>
    <p:extLst>
      <p:ext uri="{BB962C8B-B14F-4D97-AF65-F5344CB8AC3E}">
        <p14:creationId xmlns:p14="http://schemas.microsoft.com/office/powerpoint/2010/main" val="574595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9442-59FD-6F3B-5D62-94FCEDE3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C7005-5EA5-BE97-F138-098892DE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3075C-8E7D-904C-24E4-D530D40D0A0C}"/>
              </a:ext>
            </a:extLst>
          </p:cNvPr>
          <p:cNvSpPr txBox="1"/>
          <p:nvPr/>
        </p:nvSpPr>
        <p:spPr>
          <a:xfrm>
            <a:off x="268438" y="311669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Key changes uncaught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F944D-C759-8E92-2E00-1706C314384C}"/>
              </a:ext>
            </a:extLst>
          </p:cNvPr>
          <p:cNvSpPr txBox="1"/>
          <p:nvPr/>
        </p:nvSpPr>
        <p:spPr>
          <a:xfrm>
            <a:off x="268438" y="896444"/>
            <a:ext cx="11507766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 the </a:t>
            </a:r>
            <a:r>
              <a:rPr kumimoji="1" lang="en-US" altLang="zh-CN" u="sng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refined dataset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,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there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are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still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some examples where the refined instruction doesn’t match the image pair well:</a:t>
            </a:r>
          </a:p>
        </p:txBody>
      </p:sp>
      <p:pic>
        <p:nvPicPr>
          <p:cNvPr id="32" name="Picture 1">
            <a:extLst>
              <a:ext uri="{FF2B5EF4-FFF2-40B4-BE49-F238E27FC236}">
                <a16:creationId xmlns:a16="http://schemas.microsoft.com/office/drawing/2014/main" id="{0498920A-729E-C0DE-18B4-F5BBBC50F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7287" y="1830207"/>
            <a:ext cx="1979930" cy="1979930"/>
          </a:xfrm>
          <a:prstGeom prst="rect">
            <a:avLst/>
          </a:prstGeom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C9E4BD68-0B9F-260E-E0CE-F1BC6C70B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76956" y="1830207"/>
            <a:ext cx="1979930" cy="1979930"/>
          </a:xfrm>
          <a:prstGeom prst="rect">
            <a:avLst/>
          </a:prstGeom>
        </p:spPr>
      </p:pic>
      <p:sp>
        <p:nvSpPr>
          <p:cNvPr id="34" name="TextBox 21">
            <a:extLst>
              <a:ext uri="{FF2B5EF4-FFF2-40B4-BE49-F238E27FC236}">
                <a16:creationId xmlns:a16="http://schemas.microsoft.com/office/drawing/2014/main" id="{4C4832F8-A8C0-82AC-D10E-F9AEDB4F8E84}"/>
              </a:ext>
            </a:extLst>
          </p:cNvPr>
          <p:cNvSpPr txBox="1"/>
          <p:nvPr/>
        </p:nvSpPr>
        <p:spPr>
          <a:xfrm>
            <a:off x="5356625" y="2617024"/>
            <a:ext cx="3191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“turn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shopping mall”</a:t>
            </a:r>
          </a:p>
          <a:p>
            <a:pPr algn="ctr"/>
            <a:r>
              <a:rPr lang="en-US" altLang="zh-CN" dirty="0">
                <a:solidFill>
                  <a:srgbClr val="F94609"/>
                </a:solidFill>
              </a:rPr>
              <a:t>(?????)</a:t>
            </a:r>
            <a:endParaRPr lang="zh-CN" altLang="en-US" dirty="0">
              <a:solidFill>
                <a:srgbClr val="F94609"/>
              </a:solidFill>
            </a:endParaRPr>
          </a:p>
        </p:txBody>
      </p:sp>
      <p:sp>
        <p:nvSpPr>
          <p:cNvPr id="42" name="TextBox 26">
            <a:extLst>
              <a:ext uri="{FF2B5EF4-FFF2-40B4-BE49-F238E27FC236}">
                <a16:creationId xmlns:a16="http://schemas.microsoft.com/office/drawing/2014/main" id="{518FAA8F-D7F1-0C0A-DAFB-5C045B0A5FFE}"/>
              </a:ext>
            </a:extLst>
          </p:cNvPr>
          <p:cNvSpPr txBox="1"/>
          <p:nvPr/>
        </p:nvSpPr>
        <p:spPr>
          <a:xfrm>
            <a:off x="1020856" y="1406086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3" name="TextBox 48">
            <a:extLst>
              <a:ext uri="{FF2B5EF4-FFF2-40B4-BE49-F238E27FC236}">
                <a16:creationId xmlns:a16="http://schemas.microsoft.com/office/drawing/2014/main" id="{4A94B5C8-A764-9802-CF7F-278E3C782607}"/>
              </a:ext>
            </a:extLst>
          </p:cNvPr>
          <p:cNvSpPr txBox="1"/>
          <p:nvPr/>
        </p:nvSpPr>
        <p:spPr>
          <a:xfrm>
            <a:off x="3363491" y="1406086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4" name="TextBox 52">
            <a:extLst>
              <a:ext uri="{FF2B5EF4-FFF2-40B4-BE49-F238E27FC236}">
                <a16:creationId xmlns:a16="http://schemas.microsoft.com/office/drawing/2014/main" id="{C77FA90F-DDDE-415C-5B00-A80AAD4FC375}"/>
              </a:ext>
            </a:extLst>
          </p:cNvPr>
          <p:cNvSpPr txBox="1"/>
          <p:nvPr/>
        </p:nvSpPr>
        <p:spPr>
          <a:xfrm>
            <a:off x="5959195" y="1906416"/>
            <a:ext cx="194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original 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45" name="TextBox 53">
            <a:extLst>
              <a:ext uri="{FF2B5EF4-FFF2-40B4-BE49-F238E27FC236}">
                <a16:creationId xmlns:a16="http://schemas.microsoft.com/office/drawing/2014/main" id="{E10B9B1E-BAC9-3101-1014-CA82C2DA2207}"/>
              </a:ext>
            </a:extLst>
          </p:cNvPr>
          <p:cNvSpPr txBox="1"/>
          <p:nvPr/>
        </p:nvSpPr>
        <p:spPr>
          <a:xfrm>
            <a:off x="9401000" y="1906416"/>
            <a:ext cx="1893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50" name="TextBox 21">
            <a:extLst>
              <a:ext uri="{FF2B5EF4-FFF2-40B4-BE49-F238E27FC236}">
                <a16:creationId xmlns:a16="http://schemas.microsoft.com/office/drawing/2014/main" id="{D05F3D21-1DB9-C125-13DD-0776B3B01871}"/>
              </a:ext>
            </a:extLst>
          </p:cNvPr>
          <p:cNvSpPr txBox="1"/>
          <p:nvPr/>
        </p:nvSpPr>
        <p:spPr>
          <a:xfrm>
            <a:off x="8752012" y="2608397"/>
            <a:ext cx="3191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into a movie poster”</a:t>
            </a:r>
          </a:p>
          <a:p>
            <a:pPr algn="ctr"/>
            <a:r>
              <a:rPr lang="en-US" altLang="zh-CN" dirty="0">
                <a:solidFill>
                  <a:srgbClr val="F94609"/>
                </a:solidFill>
              </a:rPr>
              <a:t>(??)</a:t>
            </a:r>
            <a:endParaRPr lang="zh-CN" altLang="en-US" dirty="0">
              <a:solidFill>
                <a:srgbClr val="F94609"/>
              </a:solidFill>
            </a:endParaRPr>
          </a:p>
        </p:txBody>
      </p:sp>
      <p:sp>
        <p:nvSpPr>
          <p:cNvPr id="51" name="TextBox 15">
            <a:extLst>
              <a:ext uri="{FF2B5EF4-FFF2-40B4-BE49-F238E27FC236}">
                <a16:creationId xmlns:a16="http://schemas.microsoft.com/office/drawing/2014/main" id="{CA8D8A5B-ED91-4104-531E-FF89C5106AE5}"/>
              </a:ext>
            </a:extLst>
          </p:cNvPr>
          <p:cNvSpPr txBox="1"/>
          <p:nvPr/>
        </p:nvSpPr>
        <p:spPr>
          <a:xfrm>
            <a:off x="4324013" y="708362"/>
            <a:ext cx="7973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Preview: https://huggingface.co/datasets/SherryXTChen/InstructCLIP-InstructPix2Pix-Data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EC186C6D-AAA8-AA09-3CE6-DD1131A0E6AD}"/>
              </a:ext>
            </a:extLst>
          </p:cNvPr>
          <p:cNvSpPr txBox="1"/>
          <p:nvPr/>
        </p:nvSpPr>
        <p:spPr>
          <a:xfrm>
            <a:off x="268438" y="3918456"/>
            <a:ext cx="9438546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Actually, if we feed our editing model with the original image and the refined instruction above: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061C5D6B-380D-3A93-D115-E2B05827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7287" y="4531610"/>
            <a:ext cx="1979930" cy="1979930"/>
          </a:xfrm>
          <a:prstGeom prst="rect">
            <a:avLst/>
          </a:prstGeom>
        </p:spPr>
      </p:pic>
      <p:cxnSp>
        <p:nvCxnSpPr>
          <p:cNvPr id="4" name="Straight Arrow Connector 23">
            <a:extLst>
              <a:ext uri="{FF2B5EF4-FFF2-40B4-BE49-F238E27FC236}">
                <a16:creationId xmlns:a16="http://schemas.microsoft.com/office/drawing/2014/main" id="{84A264F8-CE57-52AD-B8CD-F5C796245284}"/>
              </a:ext>
            </a:extLst>
          </p:cNvPr>
          <p:cNvCxnSpPr>
            <a:cxnSpLocks/>
          </p:cNvCxnSpPr>
          <p:nvPr/>
        </p:nvCxnSpPr>
        <p:spPr>
          <a:xfrm>
            <a:off x="3097779" y="5591840"/>
            <a:ext cx="35359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21">
            <a:extLst>
              <a:ext uri="{FF2B5EF4-FFF2-40B4-BE49-F238E27FC236}">
                <a16:creationId xmlns:a16="http://schemas.microsoft.com/office/drawing/2014/main" id="{84A4D6E8-2478-5184-222B-CA126020D8DC}"/>
              </a:ext>
            </a:extLst>
          </p:cNvPr>
          <p:cNvSpPr txBox="1"/>
          <p:nvPr/>
        </p:nvSpPr>
        <p:spPr>
          <a:xfrm>
            <a:off x="3254111" y="5152243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into a movie poster”</a:t>
            </a: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568AC12D-857D-41D4-4D27-AA35136086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00635" y="4531610"/>
            <a:ext cx="1979930" cy="19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24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7905-AD45-86D8-70BD-95AFF364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A8DD8-C54E-0738-ADEB-469CB62E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EE145C-A5BF-DD15-922C-E3ADECC9D0D4}"/>
              </a:ext>
            </a:extLst>
          </p:cNvPr>
          <p:cNvSpPr txBox="1"/>
          <p:nvPr/>
        </p:nvSpPr>
        <p:spPr>
          <a:xfrm>
            <a:off x="268438" y="311669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Instruction refinement mechanism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993A25-930E-4F6E-3ECF-9BA5614F7672}"/>
                  </a:ext>
                </a:extLst>
              </p:cNvPr>
              <p:cNvSpPr txBox="1"/>
              <p:nvPr/>
            </p:nvSpPr>
            <p:spPr>
              <a:xfrm>
                <a:off x="268438" y="896444"/>
                <a:ext cx="11465639" cy="1738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The </a:t>
                </a:r>
                <a:r>
                  <a:rPr kumimoji="1" lang="en-US" altLang="zh-CN" dirty="0">
                    <a:solidFill>
                      <a:schemeClr val="accent6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text decoder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is trained on </a:t>
                </a:r>
                <a:r>
                  <a:rPr kumimoji="1" lang="en-US" altLang="zh-CN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text features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𝑡𝑥𝑡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, but it needs to handle </a:t>
                </a:r>
                <a:r>
                  <a:rPr kumimoji="1" lang="en-US" altLang="zh-CN" dirty="0">
                    <a:solidFill>
                      <a:srgbClr val="F94609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image features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as input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at inference time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An </a:t>
                </a:r>
                <a:r>
                  <a:rPr kumimoji="1" lang="en-US" altLang="zh-CN" u="sng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alternative representation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of </a:t>
                </a:r>
                <a:r>
                  <a:rPr kumimoji="1" lang="en-US" altLang="zh-CN" dirty="0">
                    <a:solidFill>
                      <a:srgbClr val="F94609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image features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which is more similar to the </a:t>
                </a:r>
                <a:r>
                  <a:rPr kumimoji="1" lang="en-US" altLang="zh-CN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text features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 linear combination of the text features of </a:t>
                </a: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all instructions already in the dataset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!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How much the </a:t>
                </a:r>
                <a:r>
                  <a:rPr kumimoji="1" lang="en-US" altLang="zh-CN" dirty="0" err="1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i-th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instruction should contribute: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993A25-930E-4F6E-3ECF-9BA5614F7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8" y="896444"/>
                <a:ext cx="11465639" cy="1738168"/>
              </a:xfrm>
              <a:prstGeom prst="rect">
                <a:avLst/>
              </a:prstGeom>
              <a:blipFill>
                <a:blip r:embed="rId3"/>
                <a:stretch>
                  <a:fillRect l="-319" b="-4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63801BFB-3BB7-8078-EE9D-96B9FA6BD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540" y="2710005"/>
            <a:ext cx="4286557" cy="9100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E58A47E-D00C-AE33-A1AE-26F808EFA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716" y="3673778"/>
            <a:ext cx="2856204" cy="910085"/>
          </a:xfrm>
          <a:prstGeom prst="rect">
            <a:avLst/>
          </a:prstGeom>
        </p:spPr>
      </p:pic>
      <p:cxnSp>
        <p:nvCxnSpPr>
          <p:cNvPr id="14" name="Straight Arrow Connector 23">
            <a:extLst>
              <a:ext uri="{FF2B5EF4-FFF2-40B4-BE49-F238E27FC236}">
                <a16:creationId xmlns:a16="http://schemas.microsoft.com/office/drawing/2014/main" id="{0D0A94D4-4ED2-0687-7C89-C3155635AA10}"/>
              </a:ext>
            </a:extLst>
          </p:cNvPr>
          <p:cNvCxnSpPr>
            <a:cxnSpLocks/>
          </p:cNvCxnSpPr>
          <p:nvPr/>
        </p:nvCxnSpPr>
        <p:spPr>
          <a:xfrm>
            <a:off x="7689415" y="4098469"/>
            <a:ext cx="14791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21">
            <a:extLst>
              <a:ext uri="{FF2B5EF4-FFF2-40B4-BE49-F238E27FC236}">
                <a16:creationId xmlns:a16="http://schemas.microsoft.com/office/drawing/2014/main" id="{AC1998AD-A00C-91BF-A049-9B05C72DB68E}"/>
              </a:ext>
            </a:extLst>
          </p:cNvPr>
          <p:cNvSpPr txBox="1"/>
          <p:nvPr/>
        </p:nvSpPr>
        <p:spPr>
          <a:xfrm>
            <a:off x="7718290" y="3726221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Text decoder</a:t>
            </a: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9E22B968-88ED-BD55-0293-E7F7CA856E72}"/>
              </a:ext>
            </a:extLst>
          </p:cNvPr>
          <p:cNvSpPr txBox="1"/>
          <p:nvPr/>
        </p:nvSpPr>
        <p:spPr>
          <a:xfrm>
            <a:off x="9410300" y="3878020"/>
            <a:ext cx="3191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refined instruction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CA52FDF3-AD68-2A4E-72AC-698ACF436C56}"/>
              </a:ext>
            </a:extLst>
          </p:cNvPr>
          <p:cNvSpPr txBox="1"/>
          <p:nvPr/>
        </p:nvSpPr>
        <p:spPr>
          <a:xfrm>
            <a:off x="404264" y="4149314"/>
            <a:ext cx="2619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Possible problems</a:t>
            </a:r>
            <a:r>
              <a:rPr lang="en-US" altLang="zh-CN" sz="2400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5E0DA167-7E96-5E8D-9146-84922260441B}"/>
                  </a:ext>
                </a:extLst>
              </p:cNvPr>
              <p:cNvSpPr txBox="1"/>
              <p:nvPr/>
            </p:nvSpPr>
            <p:spPr>
              <a:xfrm>
                <a:off x="427706" y="4661741"/>
                <a:ext cx="11604010" cy="1720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All instructions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contribute to the final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)′</m:t>
                    </m:r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(though most of them are of small weight)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For some image pairs, even the most matched instruction (almost the original one) actually doesn’t quite match (~0.1),</a:t>
                </a: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    which potentially </a:t>
                </a:r>
                <a:r>
                  <a:rPr kumimoji="1" lang="en-US" altLang="zh-CN" b="1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increases other instructions’ weights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and makes the output chaotic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en-US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兜兜转转绕不出来了，仅靠原有的那些指令数据可能永远接近不了正确答案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.</a:t>
                </a:r>
                <a:endParaRPr kumimoji="1" lang="en-US" altLang="zh-CN" b="1" dirty="0"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5E0DA167-7E96-5E8D-9146-849222604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06" y="4661741"/>
                <a:ext cx="11604010" cy="1720279"/>
              </a:xfrm>
              <a:prstGeom prst="rect">
                <a:avLst/>
              </a:prstGeom>
              <a:blipFill>
                <a:blip r:embed="rId6"/>
                <a:stretch>
                  <a:fillRect l="-315" b="-4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817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522E-63E8-A191-F487-83589830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B73BB-07E0-4B29-6E50-D26ED723E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2FF6C-B572-9D4E-BB48-254841F10DD7}"/>
              </a:ext>
            </a:extLst>
          </p:cNvPr>
          <p:cNvSpPr txBox="1"/>
          <p:nvPr/>
        </p:nvSpPr>
        <p:spPr>
          <a:xfrm>
            <a:off x="268438" y="311669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A possible solution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33A15-3A60-9E74-D882-9E2C777B69EB}"/>
              </a:ext>
            </a:extLst>
          </p:cNvPr>
          <p:cNvSpPr txBox="1"/>
          <p:nvPr/>
        </p:nvSpPr>
        <p:spPr>
          <a:xfrm>
            <a:off x="268438" y="896444"/>
            <a:ext cx="1165512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Real-time instruction updating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: With model being trained, </a:t>
            </a:r>
            <a:r>
              <a:rPr kumimoji="1" lang="en-US" altLang="zh-CN" u="sng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replace some instructions in the dataset with refined instructions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(calculated by the current model) every several training epochs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Experiment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Training on the first 50000 samples from the dataset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Starting from the 60000th epoch, replace 15% instructions every 2000 epochs, until the 100000th epoch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70DDFD26-59A8-E530-8858-002A0DD7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403" y="3574794"/>
            <a:ext cx="1979930" cy="197993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961A21C-8A27-798E-1B1A-D2A5472BEA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0072" y="3574794"/>
            <a:ext cx="1979930" cy="1979930"/>
          </a:xfrm>
          <a:prstGeom prst="rect">
            <a:avLst/>
          </a:prstGeom>
        </p:spPr>
      </p:pic>
      <p:sp>
        <p:nvSpPr>
          <p:cNvPr id="8" name="TextBox 26">
            <a:extLst>
              <a:ext uri="{FF2B5EF4-FFF2-40B4-BE49-F238E27FC236}">
                <a16:creationId xmlns:a16="http://schemas.microsoft.com/office/drawing/2014/main" id="{990257DC-B0E0-F50D-2C58-E5B243849870}"/>
              </a:ext>
            </a:extLst>
          </p:cNvPr>
          <p:cNvSpPr txBox="1"/>
          <p:nvPr/>
        </p:nvSpPr>
        <p:spPr>
          <a:xfrm>
            <a:off x="683972" y="3150673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chemeClr val="accent1"/>
                </a:solidFill>
              </a:rPr>
              <a:t>original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71DA615B-A1EB-375D-93C9-C3EB6598C962}"/>
              </a:ext>
            </a:extLst>
          </p:cNvPr>
          <p:cNvSpPr txBox="1"/>
          <p:nvPr/>
        </p:nvSpPr>
        <p:spPr>
          <a:xfrm>
            <a:off x="3026607" y="3150673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edited image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19" name="TextBox 53">
            <a:extLst>
              <a:ext uri="{FF2B5EF4-FFF2-40B4-BE49-F238E27FC236}">
                <a16:creationId xmlns:a16="http://schemas.microsoft.com/office/drawing/2014/main" id="{1A8D0895-2B8A-5181-5191-B75203890FFC}"/>
              </a:ext>
            </a:extLst>
          </p:cNvPr>
          <p:cNvSpPr txBox="1"/>
          <p:nvPr/>
        </p:nvSpPr>
        <p:spPr>
          <a:xfrm>
            <a:off x="5820401" y="3651003"/>
            <a:ext cx="1893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1"/>
                </a:solidFill>
              </a:rPr>
              <a:t>refined instruction</a:t>
            </a:r>
            <a:endParaRPr kumimoji="1" lang="zh-CN" altLang="en-US" i="1" dirty="0">
              <a:solidFill>
                <a:schemeClr val="accent1"/>
              </a:solidFill>
            </a:endParaRP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7037C8F6-7051-A222-8BCC-7826F4493BAF}"/>
              </a:ext>
            </a:extLst>
          </p:cNvPr>
          <p:cNvSpPr txBox="1"/>
          <p:nvPr/>
        </p:nvSpPr>
        <p:spPr>
          <a:xfrm>
            <a:off x="5171413" y="4352984"/>
            <a:ext cx="3191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into a movie poster”</a:t>
            </a:r>
          </a:p>
          <a:p>
            <a:pPr algn="ctr"/>
            <a:r>
              <a:rPr lang="en-US" altLang="zh-CN" dirty="0">
                <a:solidFill>
                  <a:srgbClr val="F94609"/>
                </a:solidFill>
              </a:rPr>
              <a:t>(??)</a:t>
            </a:r>
            <a:endParaRPr lang="zh-CN" altLang="en-US" dirty="0">
              <a:solidFill>
                <a:srgbClr val="F94609"/>
              </a:solidFill>
            </a:endParaRPr>
          </a:p>
        </p:txBody>
      </p:sp>
      <p:sp>
        <p:nvSpPr>
          <p:cNvPr id="21" name="TextBox 53">
            <a:extLst>
              <a:ext uri="{FF2B5EF4-FFF2-40B4-BE49-F238E27FC236}">
                <a16:creationId xmlns:a16="http://schemas.microsoft.com/office/drawing/2014/main" id="{6C8DD65B-D783-C3E9-CD7B-BF7BCA3CF704}"/>
              </a:ext>
            </a:extLst>
          </p:cNvPr>
          <p:cNvSpPr txBox="1"/>
          <p:nvPr/>
        </p:nvSpPr>
        <p:spPr>
          <a:xfrm>
            <a:off x="8378247" y="3651003"/>
            <a:ext cx="316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accent6"/>
                </a:solidFill>
              </a:rPr>
              <a:t>re-re-re-…-re-refined instruction</a:t>
            </a:r>
            <a:endParaRPr kumimoji="1" lang="zh-CN" altLang="en-US" i="1" dirty="0"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3190FF-75D2-E329-BDE5-20B20980C46B}"/>
              </a:ext>
            </a:extLst>
          </p:cNvPr>
          <p:cNvSpPr txBox="1"/>
          <p:nvPr/>
        </p:nvSpPr>
        <p:spPr>
          <a:xfrm>
            <a:off x="8363240" y="4352984"/>
            <a:ext cx="3191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“make it spread”</a:t>
            </a:r>
          </a:p>
          <a:p>
            <a:pPr algn="ctr"/>
            <a:r>
              <a:rPr lang="en-US" altLang="zh-CN" dirty="0">
                <a:solidFill>
                  <a:schemeClr val="accent6"/>
                </a:solidFill>
              </a:rPr>
              <a:t>(?!)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AA5EFF54-2925-B5DB-F3F4-DB1718B1ADF0}"/>
              </a:ext>
            </a:extLst>
          </p:cNvPr>
          <p:cNvSpPr txBox="1"/>
          <p:nvPr/>
        </p:nvSpPr>
        <p:spPr>
          <a:xfrm>
            <a:off x="683972" y="5672099"/>
            <a:ext cx="11655124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However, only a few cases become better.</a:t>
            </a:r>
          </a:p>
        </p:txBody>
      </p:sp>
    </p:spTree>
    <p:extLst>
      <p:ext uri="{BB962C8B-B14F-4D97-AF65-F5344CB8AC3E}">
        <p14:creationId xmlns:p14="http://schemas.microsoft.com/office/powerpoint/2010/main" val="4021183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CFB03-915B-8E5B-37EF-E4580226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EFE4-F324-0774-D7D1-B62CE3EE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56192-FEEF-2C0F-18E0-F92C4FB08355}"/>
              </a:ext>
            </a:extLst>
          </p:cNvPr>
          <p:cNvSpPr txBox="1"/>
          <p:nvPr/>
        </p:nvSpPr>
        <p:spPr>
          <a:xfrm>
            <a:off x="268438" y="311669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Other ideas (unvalidated)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35017C-A2CB-651A-9C0E-8C6FA7DE86B4}"/>
                  </a:ext>
                </a:extLst>
              </p:cNvPr>
              <p:cNvSpPr txBox="1"/>
              <p:nvPr/>
            </p:nvSpPr>
            <p:spPr>
              <a:xfrm>
                <a:off x="268438" y="1319959"/>
                <a:ext cx="11655124" cy="1724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Top-k filter / Filter with a threshold + Normalization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: only those instructions with </a:t>
                </a:r>
                <a:r>
                  <a:rPr kumimoji="1" lang="en-US" altLang="zh-CN" u="sng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relatively high similarity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𝑣𝑖𝑠</m:t>
                        </m:r>
                      </m:sup>
                    </m:sSup>
                  </m:oMath>
                </a14:m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are allowed to contribute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zh-CN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Optionally employ VLM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:</a:t>
                </a:r>
                <a:r>
                  <a:rPr kumimoji="1" lang="zh-CN" altLang="en-US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Directly use VLM to generate instruction text to introduce </a:t>
                </a:r>
                <a:r>
                  <a:rPr kumimoji="1" lang="en-US" altLang="zh-CN" dirty="0">
                    <a:solidFill>
                      <a:schemeClr val="accent6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brand new instructions</a:t>
                </a: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kumimoji="1" lang="en-US" altLang="zh-CN" dirty="0"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     (replace badly matched instructions before training / randomly participate in training?)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35017C-A2CB-651A-9C0E-8C6FA7DE8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8" y="1319959"/>
                <a:ext cx="11655124" cy="1724768"/>
              </a:xfrm>
              <a:prstGeom prst="rect">
                <a:avLst/>
              </a:prstGeom>
              <a:blipFill>
                <a:blip r:embed="rId3"/>
                <a:stretch>
                  <a:fillRect l="-314" b="-4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4CFB2AA-5A95-BB54-75D1-05B81C5B7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561" y="538189"/>
            <a:ext cx="3516176" cy="7465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2BF105-C49A-1E12-12AF-A4E3BDF63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098" y="565556"/>
            <a:ext cx="2300078" cy="732884"/>
          </a:xfrm>
          <a:prstGeom prst="rect">
            <a:avLst/>
          </a:prstGeom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6BF4FD2C-8C22-EDF1-C636-C29D88E616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9160" y="3386247"/>
            <a:ext cx="1536221" cy="1536221"/>
          </a:xfrm>
          <a:prstGeom prst="rect">
            <a:avLst/>
          </a:prstGeom>
        </p:spPr>
      </p:pic>
      <p:pic>
        <p:nvPicPr>
          <p:cNvPr id="14" name="Picture 1">
            <a:extLst>
              <a:ext uri="{FF2B5EF4-FFF2-40B4-BE49-F238E27FC236}">
                <a16:creationId xmlns:a16="http://schemas.microsoft.com/office/drawing/2014/main" id="{C5925F29-D3A2-44DB-15BA-9D24727C18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400884" y="3386246"/>
            <a:ext cx="1536221" cy="153622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84EC330-0EA8-93DB-EA4B-CAFF7C3597BA}"/>
              </a:ext>
            </a:extLst>
          </p:cNvPr>
          <p:cNvSpPr/>
          <p:nvPr/>
        </p:nvSpPr>
        <p:spPr>
          <a:xfrm>
            <a:off x="625023" y="3291972"/>
            <a:ext cx="3436838" cy="1724768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C32ED1E-040E-AB71-CB07-15E2DE009082}"/>
              </a:ext>
            </a:extLst>
          </p:cNvPr>
          <p:cNvSpPr txBox="1"/>
          <p:nvPr/>
        </p:nvSpPr>
        <p:spPr>
          <a:xfrm>
            <a:off x="4185998" y="3622110"/>
            <a:ext cx="7741388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“Provide an edit instruction that transforms the source image to the target image”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53215FA4-6B94-9A3F-2C44-5E126661FECC}"/>
              </a:ext>
            </a:extLst>
          </p:cNvPr>
          <p:cNvSpPr txBox="1"/>
          <p:nvPr/>
        </p:nvSpPr>
        <p:spPr>
          <a:xfrm>
            <a:off x="4185998" y="4228228"/>
            <a:ext cx="7741388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→  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“Enhance colors, add textures, soften edges…”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EFAD4E81-F1B3-3EFA-825C-435C4FE48D0A}"/>
              </a:ext>
            </a:extLst>
          </p:cNvPr>
          <p:cNvSpPr txBox="1"/>
          <p:nvPr/>
        </p:nvSpPr>
        <p:spPr>
          <a:xfrm>
            <a:off x="272262" y="5125784"/>
            <a:ext cx="11655124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Better metrics than CLIP/DINO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: make </a:t>
            </a:r>
            <a:r>
              <a:rPr kumimoji="1" lang="it-IT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qualitative performance quantizable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VIEScore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Instruction Alignment,</a:t>
            </a:r>
            <a:r>
              <a:rPr lang="zh-CN" altLang="en-US" dirty="0"/>
              <a:t> </a:t>
            </a:r>
            <a:r>
              <a:rPr lang="en-US" altLang="zh-CN" dirty="0"/>
              <a:t>Edit Faithfulness,</a:t>
            </a:r>
            <a:r>
              <a:rPr lang="zh-CN" altLang="en-US" dirty="0"/>
              <a:t> </a:t>
            </a:r>
            <a:r>
              <a:rPr lang="en-US" altLang="zh-CN"/>
              <a:t>…</a:t>
            </a:r>
            <a:endParaRPr kumimoji="1" lang="en-US" altLang="zh-CN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99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727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Reference</a:t>
            </a:r>
            <a:endParaRPr kumimoji="1" lang="zh-CN" altLang="en-US" sz="3200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D7C61-68AA-1944-AE60-4E7F34BA963D}"/>
              </a:ext>
            </a:extLst>
          </p:cNvPr>
          <p:cNvSpPr txBox="1"/>
          <p:nvPr/>
        </p:nvSpPr>
        <p:spPr>
          <a:xfrm>
            <a:off x="268438" y="1232876"/>
            <a:ext cx="953850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800" dirty="0"/>
              <a:t>Chen </a:t>
            </a:r>
            <a:r>
              <a:rPr lang="en-US" altLang="zh-CN" sz="1800" i="1" dirty="0"/>
              <a:t>et al.</a:t>
            </a:r>
            <a:r>
              <a:rPr lang="en-US" altLang="zh-CN" sz="1800" dirty="0"/>
              <a:t>, Instruct-CLIP: improving instruction-guided </a:t>
            </a:r>
            <a:r>
              <a:rPr lang="en-US" altLang="zh-CN" dirty="0"/>
              <a:t>i</a:t>
            </a:r>
            <a:r>
              <a:rPr lang="en-US" altLang="zh-CN" sz="1800" dirty="0"/>
              <a:t>mage </a:t>
            </a:r>
            <a:r>
              <a:rPr lang="en-US" altLang="zh-CN" dirty="0"/>
              <a:t>e</a:t>
            </a:r>
            <a:r>
              <a:rPr lang="en-US" altLang="zh-CN" sz="1800" dirty="0"/>
              <a:t>diting  with automated </a:t>
            </a:r>
            <a:r>
              <a:rPr lang="en-US" altLang="zh-CN" dirty="0"/>
              <a:t>d</a:t>
            </a:r>
            <a:r>
              <a:rPr lang="en-US" altLang="zh-CN" sz="1800" dirty="0"/>
              <a:t>ata </a:t>
            </a:r>
            <a:r>
              <a:rPr lang="en-US" altLang="zh-CN" dirty="0"/>
              <a:t>r</a:t>
            </a:r>
            <a:r>
              <a:rPr lang="en-US" altLang="zh-CN" sz="1800" dirty="0"/>
              <a:t>efinement </a:t>
            </a:r>
            <a:r>
              <a:rPr lang="en-US" altLang="zh-CN" dirty="0"/>
              <a:t>u</a:t>
            </a:r>
            <a:r>
              <a:rPr lang="en-US" altLang="zh-CN" sz="1800" dirty="0"/>
              <a:t>sing </a:t>
            </a:r>
            <a:r>
              <a:rPr lang="en-US" altLang="zh-CN" dirty="0"/>
              <a:t>c</a:t>
            </a:r>
            <a:r>
              <a:rPr lang="en-US" altLang="zh-CN" sz="1800" dirty="0"/>
              <a:t>ontrastive </a:t>
            </a:r>
            <a:r>
              <a:rPr lang="en-US" altLang="zh-CN" dirty="0"/>
              <a:t>l</a:t>
            </a:r>
            <a:r>
              <a:rPr lang="en-US" altLang="zh-CN" sz="1800" dirty="0"/>
              <a:t>earning. </a:t>
            </a:r>
            <a:r>
              <a:rPr lang="en-US" altLang="zh-CN" sz="1800" i="1" dirty="0"/>
              <a:t>CVPR</a:t>
            </a:r>
            <a:r>
              <a:rPr lang="en-US" altLang="zh-CN" sz="1800" dirty="0"/>
              <a:t>, 2025.</a:t>
            </a:r>
            <a:endParaRPr lang="en-US" altLang="zh-CN" sz="1800" i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/>
              <a:t>Brooks</a:t>
            </a:r>
            <a:r>
              <a:rPr lang="en-US" altLang="zh-CN" sz="1800" dirty="0"/>
              <a:t> </a:t>
            </a:r>
            <a:r>
              <a:rPr lang="en-US" altLang="zh-CN" sz="1800" i="1" dirty="0"/>
              <a:t>et al.</a:t>
            </a:r>
            <a:r>
              <a:rPr lang="en-US" altLang="zh-CN" sz="1800" dirty="0"/>
              <a:t>, InstructPix2Pix: learning to follow image editing instructions. </a:t>
            </a:r>
            <a:r>
              <a:rPr lang="en-US" altLang="zh-CN" sz="1800" i="1" dirty="0"/>
              <a:t>CVPR</a:t>
            </a:r>
            <a:r>
              <a:rPr lang="en-US" altLang="zh-CN" sz="1800" dirty="0"/>
              <a:t>, 2023.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9210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944AC3-E599-2349-876F-2BD18851E21E}"/>
              </a:ext>
            </a:extLst>
          </p:cNvPr>
          <p:cNvGrpSpPr/>
          <p:nvPr/>
        </p:nvGrpSpPr>
        <p:grpSpPr>
          <a:xfrm>
            <a:off x="2399176" y="2585468"/>
            <a:ext cx="7393647" cy="1687064"/>
            <a:chOff x="1641575" y="2677801"/>
            <a:chExt cx="7393647" cy="16870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B2C29-6C36-CC44-A825-1EB7BA0CADF3}"/>
                </a:ext>
              </a:extLst>
            </p:cNvPr>
            <p:cNvSpPr txBox="1"/>
            <p:nvPr/>
          </p:nvSpPr>
          <p:spPr>
            <a:xfrm>
              <a:off x="1641575" y="2967335"/>
              <a:ext cx="581005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600" dirty="0"/>
                <a:t>Thank</a:t>
              </a:r>
              <a:r>
                <a:rPr kumimoji="1" lang="zh-CN" altLang="en-US" sz="6600" dirty="0"/>
                <a:t> </a:t>
              </a:r>
              <a:r>
                <a:rPr kumimoji="1" lang="en-US" altLang="zh-CN" sz="6600" dirty="0"/>
                <a:t>you!</a:t>
              </a:r>
              <a:endParaRPr kumimoji="1" lang="zh-CN" altLang="en-US" sz="6600" dirty="0"/>
            </a:p>
          </p:txBody>
        </p:sp>
        <p:pic>
          <p:nvPicPr>
            <p:cNvPr id="3" name="图片 3">
              <a:extLst>
                <a:ext uri="{FF2B5EF4-FFF2-40B4-BE49-F238E27FC236}">
                  <a16:creationId xmlns:a16="http://schemas.microsoft.com/office/drawing/2014/main" id="{A2F7A61C-D60C-8F44-8D57-D33E1FE7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0335" y="2677801"/>
              <a:ext cx="1854887" cy="1687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2193</TotalTime>
  <Words>1025</Words>
  <Application>Microsoft Macintosh PowerPoint</Application>
  <PresentationFormat>Widescreen</PresentationFormat>
  <Paragraphs>188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Instruct-CLIP (I-CLIP)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I/O</dc:title>
  <dc:creator>刘 沛雨</dc:creator>
  <cp:lastModifiedBy>沛雨 刘</cp:lastModifiedBy>
  <cp:revision>119</cp:revision>
  <dcterms:created xsi:type="dcterms:W3CDTF">2025-12-17T06:38:28Z</dcterms:created>
  <dcterms:modified xsi:type="dcterms:W3CDTF">2026-01-11T14:48:28Z</dcterms:modified>
</cp:coreProperties>
</file>