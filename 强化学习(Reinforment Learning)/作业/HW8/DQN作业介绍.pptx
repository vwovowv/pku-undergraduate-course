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90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BB41D-242D-4380-8A54-3D60B0C3F2E5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93BA7-BF3C-4435-9E8C-96FC1D67D3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5706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38517"/>
            <a:ext cx="10515600" cy="552171"/>
          </a:xfrm>
        </p:spPr>
        <p:txBody>
          <a:bodyPr>
            <a:normAutofit/>
          </a:bodyPr>
          <a:lstStyle>
            <a:lvl1pPr>
              <a:defRPr sz="426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8068"/>
            <a:ext cx="2743200" cy="365125"/>
          </a:xfrm>
        </p:spPr>
        <p:txBody>
          <a:bodyPr/>
          <a:lstStyle/>
          <a:p>
            <a:fld id="{D11BB41D-242D-4380-8A54-3D60B0C3F2E5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428068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0727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1851" y="6428070"/>
            <a:ext cx="2743200" cy="365125"/>
          </a:xfrm>
        </p:spPr>
        <p:txBody>
          <a:bodyPr/>
          <a:lstStyle/>
          <a:p>
            <a:fld id="{D11BB41D-242D-4380-8A54-3D60B0C3F2E5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5425" y="6440676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7414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20589"/>
            <a:ext cx="10515600" cy="570100"/>
          </a:xfrm>
        </p:spPr>
        <p:txBody>
          <a:bodyPr>
            <a:normAutofit/>
          </a:bodyPr>
          <a:lstStyle>
            <a:lvl1pPr>
              <a:defRPr sz="426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463928"/>
            <a:ext cx="2743200" cy="365125"/>
          </a:xfrm>
        </p:spPr>
        <p:txBody>
          <a:bodyPr/>
          <a:lstStyle/>
          <a:p>
            <a:fld id="{D11BB41D-242D-4380-8A54-3D60B0C3F2E5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445999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8865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2" y="1138517"/>
            <a:ext cx="10517188" cy="552171"/>
          </a:xfrm>
        </p:spPr>
        <p:txBody>
          <a:bodyPr>
            <a:normAutofit/>
          </a:bodyPr>
          <a:lstStyle>
            <a:lvl1pPr>
              <a:defRPr sz="426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936376"/>
            <a:ext cx="5159375" cy="56869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936375"/>
            <a:ext cx="5183188" cy="568700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93239"/>
            <a:ext cx="2743200" cy="365125"/>
          </a:xfrm>
        </p:spPr>
        <p:txBody>
          <a:bodyPr/>
          <a:lstStyle/>
          <a:p>
            <a:fld id="{D11BB41D-242D-4380-8A54-3D60B0C3F2E5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11707" y="639324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9565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091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419104"/>
            <a:ext cx="2743200" cy="365125"/>
          </a:xfrm>
        </p:spPr>
        <p:txBody>
          <a:bodyPr/>
          <a:lstStyle/>
          <a:p>
            <a:fld id="{D11BB41D-242D-4380-8A54-3D60B0C3F2E5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19104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419104"/>
            <a:ext cx="2743200" cy="365125"/>
          </a:xfrm>
        </p:spPr>
        <p:txBody>
          <a:bodyPr/>
          <a:lstStyle/>
          <a:p>
            <a:fld id="{10993BA7-BF3C-4435-9E8C-96FC1D67D3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66591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2" y="1129554"/>
            <a:ext cx="3933825" cy="927847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1129554"/>
            <a:ext cx="6172200" cy="4873625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32212"/>
            <a:ext cx="3932237" cy="4022259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429284"/>
            <a:ext cx="2743200" cy="365125"/>
          </a:xfrm>
        </p:spPr>
        <p:txBody>
          <a:bodyPr/>
          <a:lstStyle/>
          <a:p>
            <a:fld id="{D11BB41D-242D-4380-8A54-3D60B0C3F2E5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56529" y="6429284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3141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2" y="1084730"/>
            <a:ext cx="3933825" cy="972671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360895" y="1308848"/>
            <a:ext cx="5994495" cy="4552203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371166"/>
            <a:ext cx="3932237" cy="3811588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437032"/>
            <a:ext cx="2743200" cy="365125"/>
          </a:xfrm>
        </p:spPr>
        <p:txBody>
          <a:bodyPr/>
          <a:lstStyle/>
          <a:p>
            <a:fld id="{D11BB41D-242D-4380-8A54-3D60B0C3F2E5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56531" y="6437034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4035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1BB41D-242D-4380-8A54-3D60B0C3F2E5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993BA7-BF3C-4435-9E8C-96FC1D67D326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929"/>
            <a:ext cx="12196133" cy="6875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755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4766E3-22EC-1264-DC17-2EAAF4BF9B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sz="5400" dirty="0"/>
              <a:t>DQN</a:t>
            </a:r>
            <a:r>
              <a:rPr lang="zh-CN" altLang="en-US" sz="5400" dirty="0"/>
              <a:t>作业介绍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E8EB68A-769B-FD6F-5092-68E97835D0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75117"/>
            <a:ext cx="9144000" cy="982683"/>
          </a:xfrm>
        </p:spPr>
        <p:txBody>
          <a:bodyPr/>
          <a:lstStyle/>
          <a:p>
            <a:r>
              <a:rPr lang="zh-CN" altLang="en-US" dirty="0"/>
              <a:t>鲁云龙  </a:t>
            </a:r>
            <a:r>
              <a:rPr lang="en-US" altLang="zh-CN" dirty="0"/>
              <a:t>2025.11.6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92757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8BD8AC-20BF-4A75-2BB7-2EB91D864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作业要求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C796BB-53AE-5260-EAA7-A6CD9F3D3B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68378" cy="4351339"/>
          </a:xfrm>
        </p:spPr>
        <p:txBody>
          <a:bodyPr>
            <a:normAutofit/>
          </a:bodyPr>
          <a:lstStyle/>
          <a:p>
            <a:r>
              <a:rPr lang="zh-CN" altLang="en-US" sz="3200" dirty="0"/>
              <a:t>在</a:t>
            </a:r>
            <a:r>
              <a:rPr lang="en-US" altLang="zh-CN" sz="3200" dirty="0" err="1"/>
              <a:t>CartPole</a:t>
            </a:r>
            <a:r>
              <a:rPr lang="zh-CN" altLang="en-US" sz="3200" dirty="0"/>
              <a:t>和</a:t>
            </a:r>
            <a:r>
              <a:rPr lang="en-US" altLang="zh-CN" sz="3200" dirty="0"/>
              <a:t>Breakout</a:t>
            </a:r>
            <a:r>
              <a:rPr lang="zh-CN" altLang="en-US" sz="3200" dirty="0"/>
              <a:t>环境上实现</a:t>
            </a:r>
            <a:r>
              <a:rPr lang="en-US" altLang="zh-CN" sz="3200" dirty="0"/>
              <a:t>DQN</a:t>
            </a:r>
            <a:r>
              <a:rPr lang="zh-CN" altLang="en-US" sz="3200"/>
              <a:t>算法，在提供的示例代码基础</a:t>
            </a:r>
            <a:r>
              <a:rPr lang="zh-CN" altLang="en-US" sz="3200" dirty="0"/>
              <a:t>上进行补全、修改，提交实验报告。</a:t>
            </a:r>
            <a:endParaRPr lang="en-US" altLang="zh-CN" sz="3200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D8A69A2-3D04-0A3A-D71D-677AE26A8D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4717" y="3429000"/>
            <a:ext cx="2983097" cy="1988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environment video">
            <a:extLst>
              <a:ext uri="{FF2B5EF4-FFF2-40B4-BE49-F238E27FC236}">
                <a16:creationId xmlns:a16="http://schemas.microsoft.com/office/drawing/2014/main" id="{179F2D83-9E3C-7BB8-7314-4DD6692049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4188" y="2943480"/>
            <a:ext cx="2566416" cy="3368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0893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0DB3A7-EDF1-9FE5-CD52-D83AC7B55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实验环境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E0629E-1977-6CB7-3D81-A932B66ED0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3200" dirty="0"/>
              <a:t>Gym Atari</a:t>
            </a:r>
            <a:r>
              <a:rPr lang="zh-CN" altLang="en-US" sz="3200" dirty="0"/>
              <a:t>环境</a:t>
            </a:r>
            <a:endParaRPr lang="en-US" altLang="zh-CN" sz="3200" dirty="0"/>
          </a:p>
          <a:p>
            <a:pPr lvl="1"/>
            <a:r>
              <a:rPr lang="en-US" altLang="zh-CN" sz="2667" dirty="0"/>
              <a:t>CartPole-v0</a:t>
            </a:r>
          </a:p>
          <a:p>
            <a:pPr lvl="2"/>
            <a:r>
              <a:rPr lang="zh-CN" altLang="en-US" sz="2134" dirty="0"/>
              <a:t>状态空间</a:t>
            </a:r>
            <a:r>
              <a:rPr lang="en-US" altLang="zh-CN" sz="2134" dirty="0"/>
              <a:t>4</a:t>
            </a:r>
          </a:p>
          <a:p>
            <a:pPr lvl="2"/>
            <a:r>
              <a:rPr lang="zh-CN" altLang="en-US" sz="2134" dirty="0"/>
              <a:t>动作空间</a:t>
            </a:r>
            <a:r>
              <a:rPr lang="en-US" altLang="zh-CN" sz="2134" dirty="0"/>
              <a:t>2</a:t>
            </a:r>
            <a:r>
              <a:rPr lang="zh-CN" altLang="en-US" sz="2134" dirty="0"/>
              <a:t>（向左、向右）</a:t>
            </a:r>
            <a:endParaRPr lang="en-US" altLang="zh-CN" sz="2134" dirty="0"/>
          </a:p>
          <a:p>
            <a:pPr lvl="1"/>
            <a:r>
              <a:rPr lang="en-US" altLang="zh-CN" sz="2667" dirty="0"/>
              <a:t>BreakoutDeterministic-v4</a:t>
            </a:r>
          </a:p>
          <a:p>
            <a:pPr lvl="2"/>
            <a:r>
              <a:rPr lang="zh-CN" altLang="en-US" sz="2134" dirty="0"/>
              <a:t>状态空间</a:t>
            </a:r>
            <a:r>
              <a:rPr lang="en-US" altLang="zh-CN" sz="2134" dirty="0"/>
              <a:t>210*160*3</a:t>
            </a:r>
            <a:r>
              <a:rPr lang="zh-CN" altLang="en-US" sz="2134" dirty="0"/>
              <a:t>，图像输入</a:t>
            </a:r>
            <a:endParaRPr lang="en-US" altLang="zh-CN" sz="2134" dirty="0"/>
          </a:p>
          <a:p>
            <a:pPr lvl="2"/>
            <a:r>
              <a:rPr lang="zh-CN" altLang="en-US" sz="2134" dirty="0"/>
              <a:t>动作空间</a:t>
            </a:r>
            <a:r>
              <a:rPr lang="en-US" altLang="zh-CN" sz="2134" dirty="0"/>
              <a:t>4</a:t>
            </a:r>
            <a:r>
              <a:rPr lang="zh-CN" altLang="en-US" sz="2134" dirty="0"/>
              <a:t>（无操作、发射球、挡板向左、挡板向右）</a:t>
            </a:r>
            <a:endParaRPr lang="en-US" altLang="zh-CN" sz="2134" dirty="0"/>
          </a:p>
        </p:txBody>
      </p:sp>
    </p:spTree>
    <p:extLst>
      <p:ext uri="{BB962C8B-B14F-4D97-AF65-F5344CB8AC3E}">
        <p14:creationId xmlns:p14="http://schemas.microsoft.com/office/powerpoint/2010/main" val="387018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AAE988-B9AC-3189-62D4-2DF2A8340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示例代码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A84FFD2-D554-CACD-B636-83E73F9DA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/>
              <a:t>提供一份标准化的训练框架代码</a:t>
            </a:r>
            <a:endParaRPr lang="en-US" altLang="zh-CN" sz="2800" dirty="0"/>
          </a:p>
          <a:p>
            <a:pPr lvl="1"/>
            <a:r>
              <a:rPr lang="zh-CN" altLang="en-US" sz="2400" dirty="0"/>
              <a:t>将</a:t>
            </a:r>
            <a:r>
              <a:rPr lang="en-US" altLang="zh-CN" sz="2400" dirty="0"/>
              <a:t>RL</a:t>
            </a:r>
            <a:r>
              <a:rPr lang="zh-CN" altLang="en-US" sz="2400" dirty="0"/>
              <a:t>环境、</a:t>
            </a:r>
            <a:r>
              <a:rPr lang="en-US" altLang="zh-CN" sz="2400" dirty="0"/>
              <a:t>RL</a:t>
            </a:r>
            <a:r>
              <a:rPr lang="zh-CN" altLang="en-US" sz="2400" dirty="0"/>
              <a:t>算法、神经网络模型、训练代码分别组件化</a:t>
            </a:r>
            <a:endParaRPr lang="en-US" altLang="zh-CN" sz="2400" dirty="0"/>
          </a:p>
          <a:p>
            <a:pPr lvl="1"/>
            <a:r>
              <a:rPr lang="zh-CN" altLang="en-US" sz="2400" dirty="0"/>
              <a:t>同一份算法代码可以不做修改直接适配不同的环境</a:t>
            </a:r>
            <a:endParaRPr lang="en-US" altLang="zh-CN" sz="2400" dirty="0"/>
          </a:p>
          <a:p>
            <a:endParaRPr lang="en-US" altLang="zh-CN" sz="2800" dirty="0"/>
          </a:p>
          <a:p>
            <a:r>
              <a:rPr lang="zh-CN" altLang="en-US" sz="2800" dirty="0"/>
              <a:t>推荐作业步骤：</a:t>
            </a:r>
            <a:endParaRPr lang="en-US" altLang="zh-CN" sz="2800" dirty="0"/>
          </a:p>
          <a:p>
            <a:pPr lvl="1"/>
            <a:r>
              <a:rPr lang="zh-CN" altLang="en-US" sz="2400" dirty="0"/>
              <a:t>（</a:t>
            </a:r>
            <a:r>
              <a:rPr lang="en-US" altLang="zh-CN" sz="2400" dirty="0"/>
              <a:t>1</a:t>
            </a:r>
            <a:r>
              <a:rPr lang="zh-CN" altLang="en-US" sz="2400" dirty="0"/>
              <a:t>）将</a:t>
            </a:r>
            <a:r>
              <a:rPr lang="en-US" altLang="zh-CN" sz="2400" dirty="0"/>
              <a:t>DQN</a:t>
            </a:r>
            <a:r>
              <a:rPr lang="zh-CN" altLang="en-US" sz="2400" dirty="0"/>
              <a:t>算法代码中空缺的部分补全</a:t>
            </a:r>
            <a:endParaRPr lang="en-US" altLang="zh-CN" sz="2400" dirty="0"/>
          </a:p>
          <a:p>
            <a:pPr lvl="1"/>
            <a:r>
              <a:rPr lang="zh-CN" altLang="en-US" sz="2400" dirty="0"/>
              <a:t>（</a:t>
            </a:r>
            <a:r>
              <a:rPr lang="en-US" altLang="zh-CN" sz="2400" dirty="0"/>
              <a:t>2</a:t>
            </a:r>
            <a:r>
              <a:rPr lang="zh-CN" altLang="en-US" sz="2400" dirty="0"/>
              <a:t>）在</a:t>
            </a:r>
            <a:r>
              <a:rPr lang="en-US" altLang="zh-CN" sz="2400" dirty="0" err="1"/>
              <a:t>CartPole</a:t>
            </a:r>
            <a:r>
              <a:rPr lang="zh-CN" altLang="en-US" sz="2400" dirty="0"/>
              <a:t>环境上尝试调整网络结构和训练参数，对比训练效果</a:t>
            </a:r>
            <a:endParaRPr lang="en-US" altLang="zh-CN" sz="2400" dirty="0"/>
          </a:p>
          <a:p>
            <a:pPr lvl="1"/>
            <a:r>
              <a:rPr lang="zh-CN" altLang="en-US" sz="2400" dirty="0"/>
              <a:t>（</a:t>
            </a:r>
            <a:r>
              <a:rPr lang="en-US" altLang="zh-CN" sz="2400" dirty="0"/>
              <a:t>3</a:t>
            </a:r>
            <a:r>
              <a:rPr lang="zh-CN" altLang="en-US" sz="2400" dirty="0"/>
              <a:t>）适配</a:t>
            </a:r>
            <a:r>
              <a:rPr lang="en-US" altLang="zh-CN" sz="2400" dirty="0"/>
              <a:t>Breakout</a:t>
            </a:r>
            <a:r>
              <a:rPr lang="zh-CN" altLang="en-US" sz="2400" dirty="0"/>
              <a:t>环境</a:t>
            </a:r>
            <a:r>
              <a:rPr lang="zh-CN" altLang="en-US" sz="2400"/>
              <a:t>训练，修改</a:t>
            </a:r>
            <a:r>
              <a:rPr lang="en-US" altLang="zh-CN" sz="2400" dirty="0"/>
              <a:t>Q</a:t>
            </a:r>
            <a:r>
              <a:rPr lang="zh-CN" altLang="en-US" sz="2400" dirty="0"/>
              <a:t>网络结构和环境部分代码</a:t>
            </a:r>
            <a:endParaRPr lang="en-US" altLang="zh-CN" sz="2400" dirty="0"/>
          </a:p>
          <a:p>
            <a:pPr lvl="1"/>
            <a:r>
              <a:rPr lang="zh-CN" altLang="en-US" sz="2400" dirty="0"/>
              <a:t>（</a:t>
            </a:r>
            <a:r>
              <a:rPr lang="en-US" altLang="zh-CN" sz="2400" dirty="0"/>
              <a:t>4</a:t>
            </a:r>
            <a:r>
              <a:rPr lang="zh-CN" altLang="en-US" sz="2400" dirty="0"/>
              <a:t>）在</a:t>
            </a:r>
            <a:r>
              <a:rPr lang="en-US" altLang="zh-CN" sz="2400" dirty="0"/>
              <a:t>Breakout</a:t>
            </a:r>
            <a:r>
              <a:rPr lang="zh-CN" altLang="en-US" sz="2400" dirty="0"/>
              <a:t>环境上尝试调整网络结构和训练参数，对比训练效果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15397794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469F7E-7FF6-5D67-289B-1C7E71ACB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示例代码结构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9AEF39-25FD-04EB-F530-7986712351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35752" cy="4351339"/>
          </a:xfrm>
        </p:spPr>
        <p:txBody>
          <a:bodyPr>
            <a:normAutofit/>
          </a:bodyPr>
          <a:lstStyle/>
          <a:p>
            <a:r>
              <a:rPr lang="en-US" altLang="zh-CN" sz="3200" dirty="0"/>
              <a:t>env.py</a:t>
            </a:r>
          </a:p>
          <a:p>
            <a:pPr lvl="1"/>
            <a:r>
              <a:rPr lang="en-US" altLang="zh-CN" sz="2800" dirty="0"/>
              <a:t>Env</a:t>
            </a:r>
            <a:r>
              <a:rPr lang="zh-CN" altLang="en-US" sz="2800" dirty="0"/>
              <a:t>类定义通用的</a:t>
            </a:r>
            <a:r>
              <a:rPr lang="en-US" altLang="zh-CN" sz="2800" dirty="0"/>
              <a:t>RL</a:t>
            </a:r>
            <a:r>
              <a:rPr lang="zh-CN" altLang="en-US" sz="2800" dirty="0"/>
              <a:t>环境接口</a:t>
            </a:r>
            <a:endParaRPr lang="en-US" altLang="zh-CN" sz="3200" dirty="0"/>
          </a:p>
          <a:p>
            <a:endParaRPr lang="en-US" altLang="zh-CN" sz="3200" dirty="0"/>
          </a:p>
          <a:p>
            <a:r>
              <a:rPr lang="en-US" altLang="zh-CN" sz="3200" dirty="0"/>
              <a:t>gym_env.py</a:t>
            </a:r>
          </a:p>
          <a:p>
            <a:pPr lvl="1"/>
            <a:r>
              <a:rPr lang="en-US" altLang="zh-CN" sz="2667" dirty="0" err="1"/>
              <a:t>GymEnv</a:t>
            </a:r>
            <a:r>
              <a:rPr lang="zh-CN" altLang="en-US" sz="2667" dirty="0"/>
              <a:t>类对通用</a:t>
            </a:r>
            <a:r>
              <a:rPr lang="en-US" altLang="zh-CN" sz="2667" dirty="0"/>
              <a:t>Gym</a:t>
            </a:r>
            <a:r>
              <a:rPr lang="zh-CN" altLang="en-US" sz="2667" dirty="0"/>
              <a:t>环境包装</a:t>
            </a:r>
            <a:endParaRPr lang="en-US" altLang="zh-CN" sz="2667" dirty="0"/>
          </a:p>
          <a:p>
            <a:pPr lvl="1"/>
            <a:r>
              <a:rPr lang="en-US" altLang="zh-CN" sz="2667" dirty="0" err="1"/>
              <a:t>BreakoutEnv</a:t>
            </a:r>
            <a:r>
              <a:rPr lang="zh-CN" altLang="en-US" sz="2667" dirty="0"/>
              <a:t>类对</a:t>
            </a:r>
            <a:r>
              <a:rPr lang="en-US" altLang="zh-CN" sz="2667" dirty="0"/>
              <a:t>Breakout</a:t>
            </a:r>
            <a:r>
              <a:rPr lang="zh-CN" altLang="en-US" sz="2667" dirty="0"/>
              <a:t>环境包装，增加了图像预处理提高训练效率</a:t>
            </a:r>
            <a:endParaRPr lang="en-US" altLang="zh-CN" sz="2667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3C4981F-6D78-513D-8BEB-D1D1EA2816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4225" y="2358231"/>
            <a:ext cx="4219575" cy="3286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8048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1DF891-103A-6910-E7BD-73E81674F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示例代码结构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E36559-F6CC-D32E-3998-7C585C75EB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46648" cy="4351339"/>
          </a:xfrm>
        </p:spPr>
        <p:txBody>
          <a:bodyPr>
            <a:normAutofit/>
          </a:bodyPr>
          <a:lstStyle/>
          <a:p>
            <a:r>
              <a:rPr lang="en-US" altLang="zh-CN" sz="3200" dirty="0"/>
              <a:t>model.py</a:t>
            </a:r>
          </a:p>
          <a:p>
            <a:pPr lvl="1"/>
            <a:r>
              <a:rPr lang="en-US" altLang="zh-CN" sz="2800" dirty="0"/>
              <a:t>Model</a:t>
            </a:r>
            <a:r>
              <a:rPr lang="zh-CN" altLang="en-US" sz="2800" dirty="0"/>
              <a:t>类定义通用的模型接口</a:t>
            </a:r>
            <a:endParaRPr lang="en-US" altLang="zh-CN" sz="2800" dirty="0"/>
          </a:p>
          <a:p>
            <a:endParaRPr lang="en-US" altLang="zh-CN" sz="3200" dirty="0"/>
          </a:p>
          <a:p>
            <a:r>
              <a:rPr lang="en-US" altLang="zh-CN" sz="3200" dirty="0"/>
              <a:t>q_network.py</a:t>
            </a:r>
          </a:p>
          <a:p>
            <a:pPr lvl="1"/>
            <a:r>
              <a:rPr lang="en-US" altLang="zh-CN" sz="2667" dirty="0" err="1"/>
              <a:t>QNetwork</a:t>
            </a:r>
            <a:r>
              <a:rPr lang="zh-CN" altLang="en-US" sz="2667" dirty="0"/>
              <a:t>类实现了针对</a:t>
            </a:r>
            <a:r>
              <a:rPr lang="en-US" altLang="zh-CN" sz="2667" dirty="0" err="1"/>
              <a:t>CartPole</a:t>
            </a:r>
            <a:r>
              <a:rPr lang="zh-CN" altLang="en-US" sz="2667" dirty="0"/>
              <a:t>的简易</a:t>
            </a:r>
            <a:r>
              <a:rPr lang="en-US" altLang="zh-CN" sz="2667" dirty="0"/>
              <a:t>Q</a:t>
            </a:r>
            <a:r>
              <a:rPr lang="zh-CN" altLang="en-US" sz="2667" dirty="0"/>
              <a:t>网络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AD1AD75-3EF3-0980-4062-BDD0E926EB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3275" y="2543969"/>
            <a:ext cx="4200525" cy="2914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6404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404B68-5935-5B56-5406-EFD229A50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示例代码结构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8DD7E8-59AA-C4DF-E9C1-1506E7FDA9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/>
              <a:t>agent.py</a:t>
            </a:r>
          </a:p>
          <a:p>
            <a:pPr lvl="1"/>
            <a:r>
              <a:rPr lang="en-US" altLang="zh-CN" sz="2800" dirty="0"/>
              <a:t>Agent</a:t>
            </a:r>
            <a:r>
              <a:rPr lang="zh-CN" altLang="en-US" sz="2800" dirty="0"/>
              <a:t>类定义通用的算法接口</a:t>
            </a:r>
            <a:endParaRPr lang="en-US" altLang="zh-CN" sz="2800" dirty="0"/>
          </a:p>
          <a:p>
            <a:endParaRPr lang="en-US" altLang="zh-CN" sz="3200" dirty="0"/>
          </a:p>
          <a:p>
            <a:r>
              <a:rPr lang="en-US" altLang="zh-CN" sz="3200" dirty="0"/>
              <a:t>dqn_agent.py</a:t>
            </a:r>
          </a:p>
          <a:p>
            <a:pPr lvl="1"/>
            <a:r>
              <a:rPr lang="en-US" altLang="zh-CN" sz="2667" dirty="0" err="1"/>
              <a:t>DQNAgent</a:t>
            </a:r>
            <a:r>
              <a:rPr lang="zh-CN" altLang="en-US" sz="2667" dirty="0"/>
              <a:t>类实现</a:t>
            </a:r>
            <a:r>
              <a:rPr lang="en-US" altLang="zh-CN" sz="2667" dirty="0"/>
              <a:t>DQN</a:t>
            </a:r>
            <a:r>
              <a:rPr lang="zh-CN" altLang="en-US" sz="2667" dirty="0"/>
              <a:t>算法（需要补全）</a:t>
            </a:r>
            <a:endParaRPr lang="en-US" altLang="zh-CN" sz="2667" dirty="0"/>
          </a:p>
          <a:p>
            <a:pPr lvl="1"/>
            <a:endParaRPr lang="en-US" altLang="zh-CN" sz="2667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AE9DC94-8D21-03AC-63C4-3B45157AB5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9609" y="1138517"/>
            <a:ext cx="4171950" cy="504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0253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8A2DF3-BDA5-6B86-11A7-16BAE73BB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示例代码结构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237E4E-902A-CE6A-01A5-E92B4134A9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88556" cy="4351339"/>
          </a:xfrm>
        </p:spPr>
        <p:txBody>
          <a:bodyPr>
            <a:normAutofit/>
          </a:bodyPr>
          <a:lstStyle/>
          <a:p>
            <a:r>
              <a:rPr lang="en-US" altLang="zh-CN" sz="3200" dirty="0"/>
              <a:t>dqn_train.py</a:t>
            </a:r>
          </a:p>
          <a:p>
            <a:pPr lvl="1"/>
            <a:r>
              <a:rPr lang="zh-CN" altLang="en-US" sz="2667" dirty="0"/>
              <a:t>训练流程</a:t>
            </a:r>
            <a:endParaRPr lang="en-US" altLang="zh-CN" sz="2667" dirty="0"/>
          </a:p>
          <a:p>
            <a:pPr lvl="1"/>
            <a:r>
              <a:rPr lang="zh-CN" altLang="en-US" sz="2667" dirty="0"/>
              <a:t>将环境、算法、模型组件作为黑箱调用</a:t>
            </a:r>
            <a:endParaRPr lang="en-US" altLang="zh-CN" sz="2667" dirty="0"/>
          </a:p>
          <a:p>
            <a:pPr lvl="1"/>
            <a:endParaRPr lang="en-US" altLang="zh-CN" sz="2667" dirty="0"/>
          </a:p>
          <a:p>
            <a:pPr lvl="1"/>
            <a:endParaRPr lang="en-US" altLang="zh-CN" sz="2667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61B055A0-42F1-5DA7-FA74-7D49F6A560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1964" y="1292577"/>
            <a:ext cx="4829175" cy="462915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191EFFD-B21C-4730-54D1-20C7DF7642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1964" y="883002"/>
            <a:ext cx="6010275" cy="544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112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38CC5-FFFC-89D2-4E06-A96E1B6D4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21AD5B-675C-7259-A955-3ADA148DD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示例代码结构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2547D32-F86F-F894-AD5E-F0CAD4E3CE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/>
              <a:t>sample.py</a:t>
            </a:r>
          </a:p>
          <a:p>
            <a:pPr lvl="1"/>
            <a:r>
              <a:rPr lang="en-US" altLang="zh-CN" sz="2800" dirty="0"/>
              <a:t>Frame</a:t>
            </a:r>
            <a:r>
              <a:rPr lang="zh-CN" altLang="en-US" sz="2800" dirty="0"/>
              <a:t>类，对单帧观测</a:t>
            </a:r>
            <a:r>
              <a:rPr lang="en-US" altLang="zh-CN" sz="2800" dirty="0"/>
              <a:t>/</a:t>
            </a:r>
            <a:r>
              <a:rPr lang="zh-CN" altLang="en-US" sz="2800" dirty="0"/>
              <a:t>样本的抽象</a:t>
            </a:r>
            <a:endParaRPr lang="en-US" altLang="zh-CN" sz="2800" dirty="0"/>
          </a:p>
          <a:p>
            <a:pPr lvl="1"/>
            <a:r>
              <a:rPr lang="en-US" altLang="zh-CN" sz="2800" dirty="0" err="1"/>
              <a:t>SampleBatch</a:t>
            </a:r>
            <a:r>
              <a:rPr lang="zh-CN" altLang="en-US" sz="2800" dirty="0"/>
              <a:t>类，对样本</a:t>
            </a:r>
            <a:r>
              <a:rPr lang="en-US" altLang="zh-CN" sz="2800" dirty="0"/>
              <a:t>Batch</a:t>
            </a:r>
            <a:r>
              <a:rPr lang="zh-CN" altLang="en-US" sz="2800" dirty="0"/>
              <a:t>的抽象</a:t>
            </a:r>
            <a:endParaRPr lang="en-US" altLang="zh-CN" sz="2800" dirty="0"/>
          </a:p>
          <a:p>
            <a:pPr lvl="1"/>
            <a:r>
              <a:rPr lang="zh-CN" altLang="en-US" sz="2800" dirty="0"/>
              <a:t>细节比较复杂，为了保证算法代码在面向不同观测空间时的可复用性</a:t>
            </a: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12979491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C4F644-2CB4-CF5C-3763-2ADCA70BB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框架通用性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11BDFB-55AD-566A-125C-FF66D125E9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/>
              <a:t>针对不同的环境（状态空间、动作空间），同一份算法代码可以完全复用</a:t>
            </a:r>
            <a:endParaRPr lang="en-US" altLang="zh-CN" sz="2800" dirty="0"/>
          </a:p>
          <a:p>
            <a:endParaRPr lang="en-US" altLang="zh-CN" sz="2800" dirty="0"/>
          </a:p>
          <a:p>
            <a:r>
              <a:rPr lang="en-US" altLang="zh-CN" sz="2800" dirty="0"/>
              <a:t>Gym</a:t>
            </a:r>
            <a:r>
              <a:rPr lang="zh-CN" altLang="en-US" sz="2800" dirty="0"/>
              <a:t>环境的状态空间基本都是简单的</a:t>
            </a:r>
            <a:r>
              <a:rPr lang="en-US" altLang="zh-CN" sz="2800" dirty="0" err="1"/>
              <a:t>numpy</a:t>
            </a:r>
            <a:r>
              <a:rPr lang="zh-CN" altLang="en-US" sz="2800" dirty="0"/>
              <a:t>数组</a:t>
            </a:r>
            <a:endParaRPr lang="en-US" altLang="zh-CN" sz="2800" dirty="0"/>
          </a:p>
          <a:p>
            <a:pPr marL="609585" lvl="1" indent="0">
              <a:buNone/>
            </a:pPr>
            <a:r>
              <a:rPr lang="en-US" altLang="zh-CN" sz="2400" dirty="0" err="1"/>
              <a:t>obs</a:t>
            </a:r>
            <a:r>
              <a:rPr lang="en-US" altLang="zh-CN" sz="2400" dirty="0"/>
              <a:t>: </a:t>
            </a:r>
            <a:r>
              <a:rPr lang="en-US" altLang="zh-CN" sz="2400" dirty="0" err="1"/>
              <a:t>numpy.ndarray</a:t>
            </a:r>
            <a:r>
              <a:rPr lang="en-US" altLang="zh-CN" sz="2400" dirty="0"/>
              <a:t>(shape=N)</a:t>
            </a:r>
          </a:p>
          <a:p>
            <a:r>
              <a:rPr lang="zh-CN" altLang="en-US" sz="2800" dirty="0"/>
              <a:t>麻将的状态空间包含特征和可行动作掩码两部分</a:t>
            </a:r>
            <a:r>
              <a:rPr lang="en-US" altLang="zh-CN" sz="2800" dirty="0" err="1"/>
              <a:t>numpy</a:t>
            </a:r>
            <a:r>
              <a:rPr lang="zh-CN" altLang="en-US" sz="2800" dirty="0"/>
              <a:t>数组</a:t>
            </a:r>
            <a:endParaRPr lang="en-US" altLang="zh-CN" sz="2800" dirty="0"/>
          </a:p>
          <a:p>
            <a:pPr marL="609585" lvl="1" indent="0">
              <a:buNone/>
            </a:pPr>
            <a:r>
              <a:rPr lang="en-US" altLang="zh-CN" sz="2400" dirty="0" err="1"/>
              <a:t>obs</a:t>
            </a:r>
            <a:r>
              <a:rPr lang="en-US" altLang="zh-CN" sz="2400" dirty="0"/>
              <a:t>: </a:t>
            </a:r>
            <a:r>
              <a:rPr lang="en-US" altLang="zh-CN" sz="2400" dirty="0" err="1"/>
              <a:t>dict</a:t>
            </a:r>
            <a:r>
              <a:rPr lang="en-US" altLang="zh-CN" sz="2400" dirty="0"/>
              <a:t>(state=</a:t>
            </a:r>
            <a:r>
              <a:rPr lang="en-US" altLang="zh-CN" sz="2400" dirty="0" err="1"/>
              <a:t>numpy.ndarray</a:t>
            </a:r>
            <a:r>
              <a:rPr lang="en-US" altLang="zh-CN" sz="2400" dirty="0"/>
              <a:t>(shape=174*4*9), </a:t>
            </a:r>
            <a:r>
              <a:rPr lang="en-US" altLang="zh-CN" sz="2400" dirty="0" err="1"/>
              <a:t>action_mask</a:t>
            </a:r>
            <a:r>
              <a:rPr lang="en-US" altLang="zh-CN" sz="2400" dirty="0"/>
              <a:t>=</a:t>
            </a:r>
            <a:r>
              <a:rPr lang="en-US" altLang="zh-CN" sz="2400" dirty="0" err="1"/>
              <a:t>numpy.ndarray</a:t>
            </a:r>
            <a:r>
              <a:rPr lang="en-US" altLang="zh-CN" sz="2400" dirty="0"/>
              <a:t>(shape=235))</a:t>
            </a:r>
            <a:endParaRPr lang="en-US" altLang="zh-CN" sz="2800" dirty="0"/>
          </a:p>
          <a:p>
            <a:r>
              <a:rPr lang="zh-CN" altLang="en-US" sz="2800" dirty="0"/>
              <a:t>难点：算法的各个函数都需要能兼容多字段的状态</a:t>
            </a:r>
          </a:p>
        </p:txBody>
      </p:sp>
    </p:spTree>
    <p:extLst>
      <p:ext uri="{BB962C8B-B14F-4D97-AF65-F5344CB8AC3E}">
        <p14:creationId xmlns:p14="http://schemas.microsoft.com/office/powerpoint/2010/main" val="21647535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9F958A-2957-0EC5-1A34-AD911ED30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框架通用性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2B06A7-E63C-BC1D-BEAA-4438A20DD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27133" cy="4351339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样本类</a:t>
            </a:r>
            <a:r>
              <a:rPr lang="en-US" altLang="zh-CN" sz="2800" dirty="0"/>
              <a:t>Frame</a:t>
            </a:r>
            <a:r>
              <a:rPr lang="zh-CN" altLang="en-US" sz="2800" dirty="0"/>
              <a:t>和</a:t>
            </a:r>
            <a:r>
              <a:rPr lang="en-US" altLang="zh-CN" sz="2800" dirty="0" err="1"/>
              <a:t>SampleBatch</a:t>
            </a:r>
            <a:r>
              <a:rPr lang="zh-CN" altLang="en-US" sz="2800" dirty="0"/>
              <a:t>支持多层</a:t>
            </a:r>
            <a:r>
              <a:rPr lang="en-US" altLang="zh-CN" sz="2800" dirty="0"/>
              <a:t>key-value</a:t>
            </a:r>
            <a:r>
              <a:rPr lang="zh-CN" altLang="en-US" sz="2800" dirty="0"/>
              <a:t>的字典</a:t>
            </a:r>
            <a:endParaRPr lang="en-US" altLang="zh-CN" sz="2800" dirty="0"/>
          </a:p>
          <a:p>
            <a:r>
              <a:rPr lang="zh-CN" altLang="en-US" sz="2800" dirty="0"/>
              <a:t>例如</a:t>
            </a:r>
            <a:r>
              <a:rPr lang="en-US" altLang="zh-CN" sz="2800" dirty="0"/>
              <a:t>DQN</a:t>
            </a:r>
            <a:r>
              <a:rPr lang="zh-CN" altLang="en-US" sz="2800" dirty="0"/>
              <a:t>算法中，训练所需的抽象字段为</a:t>
            </a:r>
            <a:r>
              <a:rPr lang="en-US" altLang="zh-CN" sz="2800" dirty="0" err="1"/>
              <a:t>obs</a:t>
            </a:r>
            <a:r>
              <a:rPr lang="en-US" altLang="zh-CN" sz="2800" dirty="0"/>
              <a:t>, action, </a:t>
            </a:r>
            <a:r>
              <a:rPr lang="en-US" altLang="zh-CN" sz="2800" dirty="0" err="1"/>
              <a:t>next_obs</a:t>
            </a:r>
            <a:r>
              <a:rPr lang="zh-CN" altLang="en-US" sz="2800" dirty="0"/>
              <a:t>等，但</a:t>
            </a:r>
            <a:r>
              <a:rPr lang="en-US" altLang="zh-CN" sz="2800" dirty="0" err="1"/>
              <a:t>obs</a:t>
            </a:r>
            <a:r>
              <a:rPr lang="zh-CN" altLang="en-US" sz="2800" dirty="0"/>
              <a:t>可以包含</a:t>
            </a:r>
            <a:r>
              <a:rPr lang="en-US" altLang="zh-CN" sz="2800" dirty="0" err="1"/>
              <a:t>action_mask</a:t>
            </a:r>
            <a:r>
              <a:rPr lang="zh-CN" altLang="en-US" sz="2800" dirty="0"/>
              <a:t>等多个子字段</a:t>
            </a:r>
            <a:endParaRPr lang="en-US" altLang="zh-CN" sz="2800" dirty="0"/>
          </a:p>
          <a:p>
            <a:r>
              <a:rPr lang="zh-CN" altLang="en-US" sz="2800" dirty="0"/>
              <a:t>算法不关注</a:t>
            </a:r>
            <a:r>
              <a:rPr lang="en-US" altLang="zh-CN" sz="2800" dirty="0" err="1"/>
              <a:t>obs</a:t>
            </a:r>
            <a:r>
              <a:rPr lang="zh-CN" altLang="en-US" sz="2800" dirty="0"/>
              <a:t>内部结构，而是直接喂给处理不同输入的模型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D222EDC-D66E-D62F-66E4-EEE02FFF59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5861" y="1795183"/>
            <a:ext cx="5657850" cy="39243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051CFD14-A0E7-844B-8A69-097D02EE83EC}"/>
              </a:ext>
            </a:extLst>
          </p:cNvPr>
          <p:cNvSpPr/>
          <p:nvPr/>
        </p:nvSpPr>
        <p:spPr>
          <a:xfrm>
            <a:off x="7773105" y="3429000"/>
            <a:ext cx="3210984" cy="21731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2B85A4C-183A-B193-4126-5C6C23F580CD}"/>
              </a:ext>
            </a:extLst>
          </p:cNvPr>
          <p:cNvSpPr/>
          <p:nvPr/>
        </p:nvSpPr>
        <p:spPr>
          <a:xfrm>
            <a:off x="8298038" y="4111977"/>
            <a:ext cx="3589161" cy="21731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30876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FDC1A9-73B5-2E32-4F41-1D5FC8142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框架通用性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44310FF-71C5-6663-CED3-B2BC223D2F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88556" cy="4351339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举例：</a:t>
            </a:r>
            <a:r>
              <a:rPr lang="en-US" altLang="zh-CN" sz="2800" dirty="0" err="1"/>
              <a:t>CartPole</a:t>
            </a:r>
            <a:r>
              <a:rPr lang="zh-CN" altLang="en-US" sz="2800" dirty="0"/>
              <a:t>的样本</a:t>
            </a:r>
            <a:endParaRPr lang="en-US" altLang="zh-CN" sz="2800" dirty="0"/>
          </a:p>
          <a:p>
            <a:pPr lvl="1"/>
            <a:r>
              <a:rPr lang="en-US" altLang="zh-CN" sz="2267" dirty="0" err="1"/>
              <a:t>samples.obs</a:t>
            </a:r>
            <a:r>
              <a:rPr lang="en-US" altLang="zh-CN" sz="2267" dirty="0"/>
              <a:t>: B*4</a:t>
            </a:r>
          </a:p>
          <a:p>
            <a:pPr lvl="1"/>
            <a:r>
              <a:rPr lang="en-US" altLang="zh-CN" sz="2267" dirty="0" err="1"/>
              <a:t>samples.action</a:t>
            </a:r>
            <a:r>
              <a:rPr lang="en-US" altLang="zh-CN" sz="2267" dirty="0"/>
              <a:t>: B*1</a:t>
            </a:r>
          </a:p>
          <a:p>
            <a:pPr lvl="1"/>
            <a:r>
              <a:rPr lang="en-US" altLang="zh-CN" sz="2267" dirty="0" err="1"/>
              <a:t>samples.reward</a:t>
            </a:r>
            <a:r>
              <a:rPr lang="en-US" altLang="zh-CN" sz="2267" dirty="0"/>
              <a:t>: B*1</a:t>
            </a:r>
          </a:p>
          <a:p>
            <a:pPr lvl="1"/>
            <a:r>
              <a:rPr lang="en-US" altLang="zh-CN" sz="2267" dirty="0" err="1"/>
              <a:t>samples.done</a:t>
            </a:r>
            <a:r>
              <a:rPr lang="en-US" altLang="zh-CN" sz="2267" dirty="0"/>
              <a:t>: B*1</a:t>
            </a:r>
          </a:p>
          <a:p>
            <a:pPr lvl="1"/>
            <a:r>
              <a:rPr lang="en-US" altLang="zh-CN" sz="2267" dirty="0" err="1"/>
              <a:t>samples.next_obs</a:t>
            </a:r>
            <a:r>
              <a:rPr lang="en-US" altLang="zh-CN" sz="2267" dirty="0"/>
              <a:t>: B*4</a:t>
            </a:r>
          </a:p>
          <a:p>
            <a:endParaRPr lang="zh-CN" altLang="en-US" sz="2800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5012E59-53AF-398C-0037-FEC48DD16817}"/>
              </a:ext>
            </a:extLst>
          </p:cNvPr>
          <p:cNvSpPr txBox="1">
            <a:spLocks/>
          </p:cNvSpPr>
          <p:nvPr/>
        </p:nvSpPr>
        <p:spPr>
          <a:xfrm>
            <a:off x="5226756" y="1825624"/>
            <a:ext cx="6127044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Font typeface="Arial"/>
              <a:buChar char="•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/>
              <a:t>举例：麻将的样本</a:t>
            </a:r>
            <a:endParaRPr lang="en-US" altLang="zh-CN" sz="2800" dirty="0"/>
          </a:p>
          <a:p>
            <a:pPr lvl="1"/>
            <a:r>
              <a:rPr lang="en-US" altLang="zh-CN" sz="2400" dirty="0" err="1"/>
              <a:t>samples.obs.state</a:t>
            </a:r>
            <a:r>
              <a:rPr lang="en-US" altLang="zh-CN" sz="2400" dirty="0"/>
              <a:t>: B*174*4*9</a:t>
            </a:r>
          </a:p>
          <a:p>
            <a:pPr lvl="1"/>
            <a:r>
              <a:rPr lang="en-US" altLang="zh-CN" sz="2400" dirty="0" err="1"/>
              <a:t>samples.obs.action_mask</a:t>
            </a:r>
            <a:r>
              <a:rPr lang="en-US" altLang="zh-CN" sz="2400" dirty="0"/>
              <a:t>: B*235</a:t>
            </a:r>
          </a:p>
          <a:p>
            <a:pPr lvl="1"/>
            <a:r>
              <a:rPr lang="en-US" altLang="zh-CN" sz="2400" dirty="0" err="1"/>
              <a:t>samples.action</a:t>
            </a:r>
            <a:r>
              <a:rPr lang="en-US" altLang="zh-CN" sz="2400" dirty="0"/>
              <a:t>: B*1</a:t>
            </a:r>
          </a:p>
          <a:p>
            <a:pPr lvl="1"/>
            <a:r>
              <a:rPr lang="en-US" altLang="zh-CN" sz="2400" dirty="0" err="1"/>
              <a:t>samples.reward</a:t>
            </a:r>
            <a:r>
              <a:rPr lang="en-US" altLang="zh-CN" sz="2400" dirty="0"/>
              <a:t>: B*1</a:t>
            </a:r>
          </a:p>
          <a:p>
            <a:pPr lvl="1"/>
            <a:r>
              <a:rPr lang="en-US" altLang="zh-CN" sz="2400" dirty="0" err="1"/>
              <a:t>samples.done</a:t>
            </a:r>
            <a:r>
              <a:rPr lang="en-US" altLang="zh-CN" sz="2400" dirty="0"/>
              <a:t>: B*1</a:t>
            </a:r>
          </a:p>
          <a:p>
            <a:pPr lvl="1"/>
            <a:r>
              <a:rPr lang="en-US" altLang="zh-CN" sz="2400" dirty="0" err="1"/>
              <a:t>samples.next_obs.state</a:t>
            </a:r>
            <a:r>
              <a:rPr lang="en-US" altLang="zh-CN" sz="2400" dirty="0"/>
              <a:t>: B*174*4*9</a:t>
            </a:r>
          </a:p>
          <a:p>
            <a:pPr lvl="1"/>
            <a:r>
              <a:rPr lang="en-US" altLang="zh-CN" sz="2400" dirty="0" err="1"/>
              <a:t>samples.next_obs.action_mask</a:t>
            </a:r>
            <a:r>
              <a:rPr lang="en-US" altLang="zh-CN" sz="2400" dirty="0"/>
              <a:t>: B*235</a:t>
            </a:r>
          </a:p>
        </p:txBody>
      </p:sp>
    </p:spTree>
    <p:extLst>
      <p:ext uri="{BB962C8B-B14F-4D97-AF65-F5344CB8AC3E}">
        <p14:creationId xmlns:p14="http://schemas.microsoft.com/office/powerpoint/2010/main" val="32497863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B6B05E-0537-F716-34A6-598AE6D41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框架通用性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466E76-D397-A3E4-CEA6-11422A8D1B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800" dirty="0" err="1"/>
              <a:t>SampleBatch</a:t>
            </a:r>
            <a:r>
              <a:rPr lang="zh-CN" altLang="en-US" sz="2800" dirty="0"/>
              <a:t>内部实现是将多层字典摊平成一个字典</a:t>
            </a:r>
          </a:p>
          <a:p>
            <a:pPr lvl="1"/>
            <a:r>
              <a:rPr lang="zh-CN" altLang="en-US" sz="2267" dirty="0"/>
              <a:t>例如</a:t>
            </a:r>
            <a:r>
              <a:rPr lang="en-US" altLang="zh-CN" sz="2267" dirty="0" err="1"/>
              <a:t>samples.obs.state</a:t>
            </a:r>
            <a:r>
              <a:rPr lang="zh-CN" altLang="en-US" sz="2267" dirty="0"/>
              <a:t>实际对应一个”</a:t>
            </a:r>
            <a:r>
              <a:rPr lang="en-US" altLang="zh-CN" sz="2267" dirty="0" err="1"/>
              <a:t>obs.state</a:t>
            </a:r>
            <a:r>
              <a:rPr lang="en-US" altLang="zh-CN" sz="2267" dirty="0"/>
              <a:t>”</a:t>
            </a:r>
            <a:r>
              <a:rPr lang="zh-CN" altLang="en-US" sz="2267" dirty="0"/>
              <a:t>的</a:t>
            </a:r>
            <a:r>
              <a:rPr lang="en-US" altLang="zh-CN" sz="2267" dirty="0"/>
              <a:t>key</a:t>
            </a:r>
          </a:p>
          <a:p>
            <a:pPr lvl="1"/>
            <a:r>
              <a:rPr lang="zh-CN" altLang="en-US" sz="2267" dirty="0"/>
              <a:t>重载了</a:t>
            </a:r>
            <a:r>
              <a:rPr lang="en-US" altLang="zh-CN" sz="2267" dirty="0" err="1"/>
              <a:t>set_attr</a:t>
            </a:r>
            <a:r>
              <a:rPr lang="en-US" altLang="zh-CN" sz="2267" dirty="0"/>
              <a:t>/</a:t>
            </a:r>
            <a:r>
              <a:rPr lang="en-US" altLang="zh-CN" sz="2267" dirty="0" err="1"/>
              <a:t>get_attr</a:t>
            </a:r>
            <a:r>
              <a:rPr lang="zh-CN" altLang="en-US" sz="2267" dirty="0"/>
              <a:t>和</a:t>
            </a:r>
            <a:r>
              <a:rPr lang="en-US" altLang="zh-CN" sz="2267" dirty="0" err="1"/>
              <a:t>set_item</a:t>
            </a:r>
            <a:r>
              <a:rPr lang="en-US" altLang="zh-CN" sz="2267" dirty="0"/>
              <a:t>/</a:t>
            </a:r>
            <a:r>
              <a:rPr lang="en-US" altLang="zh-CN" sz="2267" dirty="0" err="1"/>
              <a:t>get_item</a:t>
            </a:r>
            <a:r>
              <a:rPr lang="zh-CN" altLang="en-US" sz="2267" dirty="0"/>
              <a:t>，同时支持</a:t>
            </a:r>
            <a:r>
              <a:rPr lang="en-US" altLang="zh-CN" sz="2267" dirty="0" err="1"/>
              <a:t>samples.obs</a:t>
            </a:r>
            <a:r>
              <a:rPr lang="zh-CN" altLang="en-US" sz="2267" dirty="0"/>
              <a:t>和</a:t>
            </a:r>
            <a:r>
              <a:rPr lang="en-US" altLang="zh-CN" sz="2267" dirty="0"/>
              <a:t>samples[‘</a:t>
            </a:r>
            <a:r>
              <a:rPr lang="en-US" altLang="zh-CN" sz="2267" dirty="0" err="1"/>
              <a:t>obs’</a:t>
            </a:r>
            <a:r>
              <a:rPr lang="en-US" altLang="zh-CN" sz="2267" dirty="0"/>
              <a:t>]</a:t>
            </a:r>
            <a:r>
              <a:rPr lang="zh-CN" altLang="en-US" sz="2267" dirty="0"/>
              <a:t>等使用方式，获取往里一层的字典</a:t>
            </a:r>
          </a:p>
          <a:p>
            <a:pPr lvl="1"/>
            <a:r>
              <a:rPr lang="zh-CN" altLang="en-US" sz="2267" dirty="0"/>
              <a:t>实现了</a:t>
            </a:r>
            <a:r>
              <a:rPr lang="en-US" altLang="zh-CN" sz="2267" dirty="0" err="1"/>
              <a:t>to_torch</a:t>
            </a:r>
            <a:r>
              <a:rPr lang="zh-CN" altLang="en-US" sz="2267" dirty="0"/>
              <a:t>函数，将每个键的</a:t>
            </a:r>
            <a:r>
              <a:rPr lang="en-US" altLang="zh-CN" sz="2267" dirty="0" err="1"/>
              <a:t>numpy</a:t>
            </a:r>
            <a:r>
              <a:rPr lang="zh-CN" altLang="en-US" sz="2267" dirty="0"/>
              <a:t>数组都转成</a:t>
            </a:r>
            <a:r>
              <a:rPr lang="en-US" altLang="zh-CN" sz="2267" dirty="0"/>
              <a:t>torch</a:t>
            </a:r>
            <a:r>
              <a:rPr lang="zh-CN" altLang="en-US" sz="2267" dirty="0"/>
              <a:t>数组</a:t>
            </a:r>
          </a:p>
          <a:p>
            <a:pPr lvl="1"/>
            <a:r>
              <a:rPr lang="zh-CN" altLang="en-US" sz="2267" dirty="0"/>
              <a:t>实现了</a:t>
            </a:r>
            <a:r>
              <a:rPr lang="en-US" altLang="zh-CN" sz="2267" dirty="0"/>
              <a:t>offset</a:t>
            </a:r>
            <a:r>
              <a:rPr lang="zh-CN" altLang="en-US" sz="2267" dirty="0"/>
              <a:t>工具函数，支持对子字段进行时间步的移位，整体构造新字段</a:t>
            </a:r>
            <a:endParaRPr lang="en-US" altLang="zh-CN" sz="2267" dirty="0"/>
          </a:p>
          <a:p>
            <a:r>
              <a:rPr lang="zh-CN" altLang="en-US" sz="2800" dirty="0"/>
              <a:t>例如</a:t>
            </a:r>
            <a:r>
              <a:rPr lang="en-US" altLang="zh-CN" sz="2800" dirty="0"/>
              <a:t>PPO</a:t>
            </a:r>
            <a:r>
              <a:rPr lang="zh-CN" altLang="en-US" sz="2800" dirty="0"/>
              <a:t>算法的样本处理，将一整局</a:t>
            </a:r>
            <a:r>
              <a:rPr lang="en-US" altLang="zh-CN" sz="2800" dirty="0" err="1"/>
              <a:t>obs</a:t>
            </a:r>
            <a:r>
              <a:rPr lang="zh-CN" altLang="en-US" sz="2800" dirty="0"/>
              <a:t>整体移位得到</a:t>
            </a:r>
            <a:r>
              <a:rPr lang="en-US" altLang="zh-CN" sz="2800" dirty="0" err="1"/>
              <a:t>next_obs</a:t>
            </a:r>
            <a:endParaRPr lang="zh-CN" altLang="en-US" sz="28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DC6AB5A-38B5-DC24-C782-24F7232A9E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8616" y="4837114"/>
            <a:ext cx="6896100" cy="123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4987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437679-C77F-D765-9463-027AF66ED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框架通用性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30E160-02D8-F9D5-EF84-50119EDE0C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/>
              <a:t>对于单帧的状态，使用</a:t>
            </a:r>
            <a:r>
              <a:rPr lang="en-US" altLang="zh-CN" sz="2800" dirty="0"/>
              <a:t>Frame</a:t>
            </a:r>
            <a:r>
              <a:rPr lang="zh-CN" altLang="en-US" sz="2800" dirty="0"/>
              <a:t>类进行抽象</a:t>
            </a:r>
            <a:endParaRPr lang="en-US" altLang="zh-CN" sz="2800" dirty="0"/>
          </a:p>
          <a:p>
            <a:pPr lvl="1"/>
            <a:r>
              <a:rPr lang="zh-CN" altLang="en-US" sz="2400" dirty="0"/>
              <a:t>既支持普通的</a:t>
            </a:r>
            <a:r>
              <a:rPr lang="en-US" altLang="zh-CN" sz="2400" dirty="0" err="1"/>
              <a:t>numpy</a:t>
            </a:r>
            <a:r>
              <a:rPr lang="zh-CN" altLang="en-US" sz="2400" dirty="0"/>
              <a:t>数组（</a:t>
            </a:r>
            <a:r>
              <a:rPr lang="en-US" altLang="zh-CN" sz="2400" dirty="0" err="1"/>
              <a:t>FrameArrayNumpy</a:t>
            </a:r>
            <a:r>
              <a:rPr lang="zh-CN" altLang="en-US" sz="2400" dirty="0"/>
              <a:t>类）</a:t>
            </a:r>
            <a:endParaRPr lang="en-US" altLang="zh-CN" sz="2400" dirty="0"/>
          </a:p>
          <a:p>
            <a:pPr lvl="1"/>
            <a:r>
              <a:rPr lang="zh-CN" altLang="en-US" sz="2400" dirty="0"/>
              <a:t>也支持复杂的字典（</a:t>
            </a:r>
            <a:r>
              <a:rPr lang="en-US" altLang="zh-CN" sz="2400" dirty="0" err="1"/>
              <a:t>FrameDict</a:t>
            </a:r>
            <a:r>
              <a:rPr lang="zh-CN" altLang="en-US" sz="2400" dirty="0"/>
              <a:t>类）</a:t>
            </a:r>
            <a:endParaRPr lang="en-US" altLang="zh-CN" sz="2400" dirty="0"/>
          </a:p>
          <a:p>
            <a:pPr lvl="1"/>
            <a:r>
              <a:rPr lang="zh-CN" altLang="en-US" sz="2400" dirty="0"/>
              <a:t>均实现了</a:t>
            </a:r>
            <a:r>
              <a:rPr lang="en-US" altLang="zh-CN" sz="2400" dirty="0" err="1"/>
              <a:t>to_torch</a:t>
            </a:r>
            <a:r>
              <a:rPr lang="zh-CN" altLang="en-US" sz="2400" dirty="0"/>
              <a:t>函数，可以转成</a:t>
            </a:r>
            <a:r>
              <a:rPr lang="en-US" altLang="zh-CN" sz="2400" dirty="0"/>
              <a:t>torch tensor</a:t>
            </a:r>
            <a:r>
              <a:rPr lang="zh-CN" altLang="en-US" sz="2400" dirty="0"/>
              <a:t>进行模型推理</a:t>
            </a:r>
            <a:r>
              <a:rPr lang="en-US" altLang="zh-CN" sz="2400" dirty="0"/>
              <a:t>/</a:t>
            </a:r>
            <a:r>
              <a:rPr lang="zh-CN" altLang="en-US" sz="2400" dirty="0"/>
              <a:t>训练</a:t>
            </a:r>
            <a:endParaRPr lang="en-US" altLang="zh-CN" sz="2000" dirty="0"/>
          </a:p>
          <a:p>
            <a:r>
              <a:rPr lang="zh-CN" altLang="en-US" sz="2800" dirty="0"/>
              <a:t>算法实现中，</a:t>
            </a:r>
            <a:r>
              <a:rPr lang="en-US" altLang="zh-CN" sz="2800" dirty="0"/>
              <a:t>predict</a:t>
            </a:r>
            <a:r>
              <a:rPr lang="zh-CN" altLang="en-US" sz="2800" dirty="0"/>
              <a:t>和</a:t>
            </a:r>
            <a:r>
              <a:rPr lang="en-US" altLang="zh-CN" sz="2800" dirty="0"/>
              <a:t>exploit</a:t>
            </a:r>
            <a:r>
              <a:rPr lang="zh-CN" altLang="en-US" sz="2800" dirty="0"/>
              <a:t>输入状态直接转成</a:t>
            </a:r>
            <a:r>
              <a:rPr lang="en-US" altLang="zh-CN" sz="2800" dirty="0"/>
              <a:t>Frame</a:t>
            </a:r>
          </a:p>
          <a:p>
            <a:pPr lvl="1"/>
            <a:r>
              <a:rPr lang="zh-CN" altLang="en-US" sz="2400" dirty="0"/>
              <a:t>不用管内部结构是普通数组还是复杂字典</a:t>
            </a:r>
            <a:endParaRPr lang="en-US" altLang="zh-CN" sz="2400" dirty="0"/>
          </a:p>
          <a:p>
            <a:pPr lvl="1"/>
            <a:endParaRPr lang="en-US" altLang="zh-CN" sz="2400" dirty="0"/>
          </a:p>
          <a:p>
            <a:pPr lvl="1"/>
            <a:r>
              <a:rPr lang="zh-CN" altLang="en-US" sz="2400" dirty="0"/>
              <a:t>不同环境的训练不用改算法代码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AE07454-7599-5D18-5565-86141C3C23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3107" y="4151689"/>
            <a:ext cx="3710693" cy="202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8320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D2A4B6-9EB6-84EC-60C4-4693394C2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框架通用性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46ACE8-84EA-94C9-D869-9E0AF3F909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4783667" cy="4351339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由于不同环境状态空间的区别，全都隐藏到了</a:t>
            </a:r>
            <a:r>
              <a:rPr lang="en-US" altLang="zh-CN" sz="2800" dirty="0" err="1"/>
              <a:t>obs</a:t>
            </a:r>
            <a:r>
              <a:rPr lang="zh-CN" altLang="en-US" sz="2800" dirty="0"/>
              <a:t>内部结构中</a:t>
            </a:r>
            <a:endParaRPr lang="en-US" altLang="zh-CN" sz="2800" dirty="0"/>
          </a:p>
          <a:p>
            <a:r>
              <a:rPr lang="zh-CN" altLang="en-US" sz="2800" dirty="0"/>
              <a:t>训练流程中收集样本的代码也比较固定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3C4E906-4360-90F3-9303-C1D7E6A932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0277" y="859895"/>
            <a:ext cx="6019800" cy="547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557479"/>
      </p:ext>
    </p:extLst>
  </p:cSld>
  <p:clrMapOvr>
    <a:masterClrMapping/>
  </p:clrMapOvr>
</p:sld>
</file>

<file path=ppt/theme/theme1.xml><?xml version="1.0" encoding="utf-8"?>
<a:theme xmlns:a="http://schemas.openxmlformats.org/drawingml/2006/main" name="实验室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实验室" id="{58E4617E-ED80-4670-AB37-167CB830D7F6}" vid="{B102D6D9-EC6A-43AB-9D54-71FF832CC0E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实验室</Template>
  <TotalTime>996</TotalTime>
  <Words>838</Words>
  <Application>Microsoft Office PowerPoint</Application>
  <PresentationFormat>宽屏</PresentationFormat>
  <Paragraphs>96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实验室</vt:lpstr>
      <vt:lpstr>DQN作业介绍</vt:lpstr>
      <vt:lpstr>作业要求</vt:lpstr>
      <vt:lpstr>实验环境</vt:lpstr>
      <vt:lpstr>示例代码</vt:lpstr>
      <vt:lpstr>示例代码结构</vt:lpstr>
      <vt:lpstr>示例代码结构</vt:lpstr>
      <vt:lpstr>示例代码结构</vt:lpstr>
      <vt:lpstr>示例代码结构</vt:lpstr>
      <vt:lpstr>示例代码结构</vt:lpstr>
      <vt:lpstr>框架通用性</vt:lpstr>
      <vt:lpstr>框架通用性</vt:lpstr>
      <vt:lpstr>框架通用性</vt:lpstr>
      <vt:lpstr>框架通用性</vt:lpstr>
      <vt:lpstr>框架通用性</vt:lpstr>
      <vt:lpstr>框架通用性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云龙 鲁</dc:creator>
  <cp:lastModifiedBy>云龙 鲁</cp:lastModifiedBy>
  <cp:revision>29</cp:revision>
  <dcterms:created xsi:type="dcterms:W3CDTF">2025-11-05T13:49:21Z</dcterms:created>
  <dcterms:modified xsi:type="dcterms:W3CDTF">2025-11-06T11:43:31Z</dcterms:modified>
</cp:coreProperties>
</file>