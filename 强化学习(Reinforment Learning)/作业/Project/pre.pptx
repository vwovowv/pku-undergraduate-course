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25" r:id="rId2"/>
    <p:sldId id="488" r:id="rId3"/>
    <p:sldId id="487" r:id="rId4"/>
    <p:sldId id="489" r:id="rId5"/>
    <p:sldId id="49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0000"/>
    <a:srgbClr val="DFABAB"/>
    <a:srgbClr val="FF7E79"/>
    <a:srgbClr val="D83949"/>
    <a:srgbClr val="0177BC"/>
    <a:srgbClr val="99FFCC"/>
    <a:srgbClr val="032F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94"/>
    <p:restoredTop sz="81258"/>
  </p:normalViewPr>
  <p:slideViewPr>
    <p:cSldViewPr snapToGrid="0" snapToObjects="1">
      <p:cViewPr varScale="1">
        <p:scale>
          <a:sx n="111" d="100"/>
          <a:sy n="111" d="100"/>
        </p:scale>
        <p:origin x="216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07" d="100"/>
          <a:sy n="107" d="100"/>
        </p:scale>
        <p:origin x="373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2AB54-2F1B-7A43-8BC6-259C35E3ABC4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35978-8A1C-3F4A-8613-EA8F83C3C5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2025/12/25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5715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3711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5017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51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46738"/>
            <a:ext cx="12192000" cy="2719754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1001623"/>
            <a:ext cx="10553700" cy="2387600"/>
          </a:xfrm>
        </p:spPr>
        <p:txBody>
          <a:bodyPr>
            <a:noAutofit/>
          </a:bodyPr>
          <a:lstStyle/>
          <a:p>
            <a:r>
              <a:rPr lang="en-US" sz="5400" dirty="0" err="1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强化学习大作业</a:t>
            </a:r>
            <a:r>
              <a:rPr lang="zh-CN" altLang="en-US" sz="54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r>
              <a:rPr lang="en-US" sz="5400" dirty="0" err="1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国标麻将</a:t>
            </a:r>
            <a:endParaRPr lang="en-US" sz="540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67377" y="3458718"/>
            <a:ext cx="3057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2025</a:t>
            </a:r>
            <a:r>
              <a:rPr kumimoji="1" lang="zh-CN" altLang="en-US" sz="32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年</a:t>
            </a:r>
            <a:r>
              <a:rPr kumimoji="1" lang="en-US" altLang="zh-CN" sz="32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12</a:t>
            </a:r>
            <a:r>
              <a:rPr kumimoji="1" lang="zh-CN" altLang="en-US" sz="32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月</a:t>
            </a:r>
            <a:r>
              <a:rPr kumimoji="1" lang="en-US" altLang="zh-CN" sz="32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25</a:t>
            </a:r>
            <a:r>
              <a:rPr kumimoji="1" lang="zh-CN" altLang="en-US" sz="320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011552"/>
            <a:ext cx="533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刘沛雨</a:t>
            </a:r>
            <a:r>
              <a:rPr kumimoji="1" lang="en-US" altLang="zh-CN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	</a:t>
            </a:r>
            <a:r>
              <a:rPr kumimoji="1" lang="zh-CN" altLang="en-US" sz="20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   陈子睿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444" y="1126188"/>
            <a:ext cx="11551112" cy="5313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基于提供的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PPO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代码框架，</a:t>
            </a:r>
            <a:r>
              <a:rPr kumimoji="1" lang="zh-CN" altLang="en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从头开始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训练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尝试的改进方案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Env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引入向听数奖励，在训练早期引导模型学会听牌，随着训练进行奖励强度逐渐衰减</a:t>
            </a:r>
            <a:endParaRPr kumimoji="1" lang="en-US" altLang="zh-CN" sz="16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引入有效听牌检测，当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agent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听的牌达不到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8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番时给予惩罚，如果达到了则给予奖励</a:t>
            </a:r>
            <a:endParaRPr kumimoji="1" lang="en-US" altLang="zh-CN" sz="16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Reward scaling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Feature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&amp;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model</a:t>
            </a:r>
            <a:endParaRPr kumimoji="1" lang="en-US" altLang="zh-CN" sz="1600" b="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引入了新特征：全局可见信息、历史信息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…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改进了模型结构：</a:t>
            </a:r>
            <a:r>
              <a:rPr kumimoji="1" lang="en-US" altLang="zh-CN" sz="1600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CNN backbone (skip link + SE block) + policy &amp; value head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sz="1600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Learner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A</a:t>
            </a:r>
            <a:r>
              <a:rPr kumimoji="1" lang="en-US" altLang="zh-CN" sz="1600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dvantage normalization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sz="1600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Actor</a:t>
            </a:r>
            <a:r>
              <a:rPr kumimoji="1" lang="zh-CN" altLang="en-US" sz="1600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完全</a:t>
            </a:r>
            <a:r>
              <a:rPr kumimoji="1" lang="zh-CN" altLang="en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自对弈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效果不佳，改为每个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episode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有一半的概率随机选择三个历史策略和当前策略对战</a:t>
            </a:r>
            <a:endParaRPr kumimoji="1" lang="en-US" altLang="zh-CN" sz="160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sz="1600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Evaluator</a:t>
            </a:r>
            <a:r>
              <a:rPr kumimoji="1" lang="zh-CN" altLang="en-US" sz="1600" b="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用于评估当前策略，胜率达到阈值则切换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baseline</a:t>
            </a:r>
            <a:endParaRPr kumimoji="1" lang="en-US" altLang="zh-CN" sz="1600" b="0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Replay buffer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：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Learner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每次取完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sample</a:t>
            </a:r>
            <a:r>
              <a:rPr kumimoji="1" lang="zh-CN" altLang="en-US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后清空，确保</a:t>
            </a:r>
            <a:r>
              <a:rPr kumimoji="1" lang="en-US" altLang="zh-CN" sz="16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on-policy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444" y="54141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当前实现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6348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444" y="541413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效果与问题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12A8F2-2E20-0443-AA44-550EDC5F56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923"/>
          <a:stretch/>
        </p:blipFill>
        <p:spPr>
          <a:xfrm>
            <a:off x="320444" y="1137056"/>
            <a:ext cx="5003800" cy="21395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D6AA7E-9098-894E-9C11-03D07C207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706" y="1068756"/>
            <a:ext cx="4991100" cy="218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234DFA-8805-684C-9034-95DF68C95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444" y="3305910"/>
            <a:ext cx="5001348" cy="19929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F40D1A-E0D5-AF43-8E1E-087C15BCB6C0}"/>
              </a:ext>
            </a:extLst>
          </p:cNvPr>
          <p:cNvSpPr txBox="1"/>
          <p:nvPr/>
        </p:nvSpPr>
        <p:spPr>
          <a:xfrm>
            <a:off x="5521122" y="3525307"/>
            <a:ext cx="6101860" cy="2953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Loss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变化趋势总体正常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在</a:t>
            </a:r>
            <a:r>
              <a:rPr kumimoji="1" lang="zh-CN" altLang="en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训练早期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，有向听数奖励引导，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entropy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迅速下降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但是在</a:t>
            </a:r>
            <a:r>
              <a:rPr kumimoji="1" lang="en-US" altLang="zh-CN" dirty="0" err="1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botzone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上测试发现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agent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此时只会不停吃碰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随着向听数奖励引导逐渐撤出，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entropy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上升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在探索新的策略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但是从实际效果来看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agent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更笨了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也可能是训练时间不够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FFBB4-FB53-5A4B-970D-3FD61F0397EA}"/>
              </a:ext>
            </a:extLst>
          </p:cNvPr>
          <p:cNvSpPr txBox="1"/>
          <p:nvPr/>
        </p:nvSpPr>
        <p:spPr>
          <a:xfrm>
            <a:off x="320444" y="5379569"/>
            <a:ext cx="2627835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3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200 Actors, </a:t>
            </a:r>
            <a:r>
              <a:rPr kumimoji="1" lang="zh-CN" altLang="en-US" dirty="0">
                <a:solidFill>
                  <a:schemeClr val="accent3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约</a:t>
            </a:r>
            <a:r>
              <a:rPr kumimoji="1" lang="en-US" altLang="zh-CN" dirty="0">
                <a:solidFill>
                  <a:schemeClr val="accent3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75000</a:t>
            </a:r>
            <a:r>
              <a:rPr kumimoji="1" lang="zh-CN" altLang="en-US" dirty="0">
                <a:solidFill>
                  <a:schemeClr val="accent3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局</a:t>
            </a:r>
            <a:endParaRPr kumimoji="1" lang="en-US" altLang="zh-CN" dirty="0">
              <a:solidFill>
                <a:schemeClr val="accent3"/>
              </a:solidFill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accent3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value_coeff</a:t>
            </a:r>
            <a:r>
              <a:rPr kumimoji="1" lang="en-US" altLang="zh-CN" dirty="0">
                <a:solidFill>
                  <a:schemeClr val="accent3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= 0.1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accent3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entropy_coeff</a:t>
            </a:r>
            <a:r>
              <a:rPr kumimoji="1" lang="en-US" altLang="zh-CN" dirty="0">
                <a:solidFill>
                  <a:schemeClr val="accent3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 = 0.01</a:t>
            </a:r>
            <a:endParaRPr kumimoji="1" lang="zh-CN" altLang="en-US" dirty="0">
              <a:solidFill>
                <a:schemeClr val="accent3"/>
              </a:solidFill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8176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EA42E8-20EC-D74A-B3CF-A16E4929D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50" y="711563"/>
            <a:ext cx="5080000" cy="271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F357D5-173D-F24F-8639-D98111471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580" y="832701"/>
            <a:ext cx="5054600" cy="261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5418CE-B82C-9947-BD45-6F524542FC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50" y="3310036"/>
            <a:ext cx="5067300" cy="264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E9A2C0-EE9F-2445-AAB4-8F4122CE5E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5580" y="3333964"/>
            <a:ext cx="5041900" cy="26543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44B5037-287B-DB47-B210-0BE8802AF820}"/>
              </a:ext>
            </a:extLst>
          </p:cNvPr>
          <p:cNvSpPr/>
          <p:nvPr/>
        </p:nvSpPr>
        <p:spPr>
          <a:xfrm>
            <a:off x="3159471" y="6346401"/>
            <a:ext cx="890954" cy="138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B3773-1291-A84E-A9E5-753F6A36B62C}"/>
              </a:ext>
            </a:extLst>
          </p:cNvPr>
          <p:cNvSpPr txBox="1"/>
          <p:nvPr/>
        </p:nvSpPr>
        <p:spPr>
          <a:xfrm>
            <a:off x="4050425" y="62089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随机策略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A0F332-BF2B-5941-92DC-EF4CB4DE18AF}"/>
              </a:ext>
            </a:extLst>
          </p:cNvPr>
          <p:cNvSpPr/>
          <p:nvPr/>
        </p:nvSpPr>
        <p:spPr>
          <a:xfrm>
            <a:off x="5217276" y="6354832"/>
            <a:ext cx="890954" cy="1389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F4876A-630E-D444-A22B-0D4BA6F70920}"/>
              </a:ext>
            </a:extLst>
          </p:cNvPr>
          <p:cNvSpPr txBox="1"/>
          <p:nvPr/>
        </p:nvSpPr>
        <p:spPr>
          <a:xfrm>
            <a:off x="6108230" y="6217424"/>
            <a:ext cx="404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在随机策略上胜率达到</a:t>
            </a:r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30%</a:t>
            </a: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的首个策略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9FF990-DA66-2646-B23D-E29CE3F1E188}"/>
              </a:ext>
            </a:extLst>
          </p:cNvPr>
          <p:cNvSpPr/>
          <p:nvPr/>
        </p:nvSpPr>
        <p:spPr>
          <a:xfrm>
            <a:off x="6554030" y="701209"/>
            <a:ext cx="890954" cy="138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BAA7F2-2601-0647-BFE1-D470565C259C}"/>
              </a:ext>
            </a:extLst>
          </p:cNvPr>
          <p:cNvSpPr/>
          <p:nvPr/>
        </p:nvSpPr>
        <p:spPr>
          <a:xfrm>
            <a:off x="7444983" y="701209"/>
            <a:ext cx="3865197" cy="1389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D2BCD5-FF41-DE4A-B5CE-6C2162F8992C}"/>
              </a:ext>
            </a:extLst>
          </p:cNvPr>
          <p:cNvSpPr/>
          <p:nvPr/>
        </p:nvSpPr>
        <p:spPr>
          <a:xfrm>
            <a:off x="988501" y="701209"/>
            <a:ext cx="890954" cy="138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9E5D51-85E8-4846-BC26-10AAC762888D}"/>
              </a:ext>
            </a:extLst>
          </p:cNvPr>
          <p:cNvSpPr/>
          <p:nvPr/>
        </p:nvSpPr>
        <p:spPr>
          <a:xfrm>
            <a:off x="1879454" y="701209"/>
            <a:ext cx="3865197" cy="1389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9F9679-B211-CA4B-91CE-75FA79ECE134}"/>
              </a:ext>
            </a:extLst>
          </p:cNvPr>
          <p:cNvSpPr txBox="1"/>
          <p:nvPr/>
        </p:nvSpPr>
        <p:spPr>
          <a:xfrm>
            <a:off x="1884009" y="621742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Baseline: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957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444" y="1126188"/>
            <a:ext cx="11551112" cy="378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PPO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框架没有明显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bug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，但是从头训练效果不佳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问题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没有向听数奖励引导很难有效训练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向听数奖励引导容易造成</a:t>
            </a:r>
            <a:r>
              <a:rPr kumimoji="1" lang="en-US" altLang="zh-CN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reward hacking</a:t>
            </a: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，导致模型只会通过吃碰来快速减少向听数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随着向听数奖励的权重逐渐下降，模型重新开始探索，但是好像什么也没有学到</a:t>
            </a:r>
            <a:endParaRPr kumimoji="1" lang="en-US" altLang="zh-CN" dirty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后续计划</a:t>
            </a:r>
            <a:endParaRPr kumimoji="1" lang="en-US" altLang="zh-CN" dirty="0">
              <a:solidFill>
                <a:prstClr val="black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尝试先进行预训练</a:t>
            </a:r>
            <a:endParaRPr kumimoji="1" lang="en-US" altLang="zh-CN" dirty="0">
              <a:solidFill>
                <a:prstClr val="black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延长训练时间，进一步观察训练过程</a:t>
            </a:r>
            <a:endParaRPr kumimoji="1" lang="en-US" altLang="zh-CN" dirty="0">
              <a:solidFill>
                <a:prstClr val="black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solidFill>
                  <a:prstClr val="black"/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进一步优化</a:t>
            </a:r>
            <a:endParaRPr kumimoji="1" lang="en-US" altLang="zh-CN" dirty="0">
              <a:solidFill>
                <a:prstClr val="black"/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444" y="541413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效果与问题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6734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0.8|2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370</Words>
  <Application>Microsoft Macintosh PowerPoint</Application>
  <PresentationFormat>Widescreen</PresentationFormat>
  <Paragraphs>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SimHei</vt:lpstr>
      <vt:lpstr>Arial</vt:lpstr>
      <vt:lpstr>Calibri</vt:lpstr>
      <vt:lpstr>Calibri Light</vt:lpstr>
      <vt:lpstr>Wingdings</vt:lpstr>
      <vt:lpstr>Office Theme</vt:lpstr>
      <vt:lpstr>强化学习大作业：国标麻将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731</cp:revision>
  <dcterms:created xsi:type="dcterms:W3CDTF">2024-09-08T14:28:00Z</dcterms:created>
  <dcterms:modified xsi:type="dcterms:W3CDTF">2025-12-25T12:20:15Z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EE82814371044B3D98F53E5DEE3922B0_12</vt:lpwstr>
  </property>
</Properties>
</file>