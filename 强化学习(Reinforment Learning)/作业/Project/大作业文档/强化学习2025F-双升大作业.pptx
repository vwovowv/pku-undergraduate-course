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92" r:id="rId3"/>
    <p:sldId id="296" r:id="rId4"/>
    <p:sldId id="307" r:id="rId5"/>
    <p:sldId id="306" r:id="rId6"/>
    <p:sldId id="309" r:id="rId7"/>
    <p:sldId id="30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149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8517"/>
            <a:ext cx="10515600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8068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8068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27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1851" y="6428070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5425" y="6440676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23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0589"/>
            <a:ext cx="10515600" cy="5701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63928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45999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11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38517"/>
            <a:ext cx="10517188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36376"/>
            <a:ext cx="5159375" cy="5686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936375"/>
            <a:ext cx="5183188" cy="5687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93239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11707" y="639324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43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91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419104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1910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19104"/>
            <a:ext cx="2743200" cy="365125"/>
          </a:xfrm>
        </p:spPr>
        <p:txBody>
          <a:bodyPr/>
          <a:lstStyle/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82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29554"/>
            <a:ext cx="3933825" cy="92784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29554"/>
            <a:ext cx="6172200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32212"/>
            <a:ext cx="3932237" cy="402225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29284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29" y="642928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35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084730"/>
            <a:ext cx="3933825" cy="9726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60895" y="1308848"/>
            <a:ext cx="5994495" cy="4552203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371166"/>
            <a:ext cx="3932237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37032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31" y="643703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60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29"/>
            <a:ext cx="12196133" cy="68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1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otzone.org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iki.botzone.org.cn/index.php?title=Bot" TargetMode="External"/><Relationship Id="rId4" Type="http://schemas.openxmlformats.org/officeDocument/2006/relationships/hyperlink" Target="https://wiki.botzone.org.cn/index.php?title=Tractor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a.icml.cc/Conferences/ICML2022/Styles/icml2022.zi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6311FBD-91CC-52AE-D19E-31B9018AC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8190"/>
            <a:ext cx="9144000" cy="184867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秋季强化学习课程大作业</a:t>
            </a:r>
            <a:b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传统棋牌游戏决策方案设计（双升）</a:t>
            </a:r>
            <a:endParaRPr lang="zh-CN" altLang="en-US" sz="5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0FCEC09B-D694-DD1D-7A38-935A606AF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3208"/>
            <a:ext cx="9144000" cy="1034592"/>
          </a:xfrm>
        </p:spPr>
        <p:txBody>
          <a:bodyPr/>
          <a:lstStyle/>
          <a:p>
            <a:r>
              <a:rPr lang="en-US" altLang="zh-CN"/>
              <a:t>2025.11.13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074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840B-4AF1-8894-CBFD-E6228987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D1028-AA6B-6582-9449-819DC67A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双升游戏决策方案设计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E39AC-7C4C-3429-8F58-8DDE76ABD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实验环境</a:t>
            </a:r>
            <a:endParaRPr lang="en-US" altLang="zh-CN" dirty="0"/>
          </a:p>
          <a:p>
            <a:r>
              <a:rPr lang="zh-CN" altLang="en-US" dirty="0"/>
              <a:t>作业要求</a:t>
            </a:r>
            <a:endParaRPr lang="en-US" altLang="zh-CN" dirty="0"/>
          </a:p>
          <a:p>
            <a:r>
              <a:rPr lang="zh-CN" altLang="en-US" dirty="0"/>
              <a:t>提交说明</a:t>
            </a:r>
            <a:endParaRPr lang="en-US" altLang="zh-CN" dirty="0"/>
          </a:p>
          <a:p>
            <a:r>
              <a:rPr lang="zh-CN" altLang="en-US" dirty="0"/>
              <a:t>评分说明</a:t>
            </a:r>
          </a:p>
        </p:txBody>
      </p:sp>
    </p:spTree>
    <p:extLst>
      <p:ext uri="{BB962C8B-B14F-4D97-AF65-F5344CB8AC3E}">
        <p14:creationId xmlns:p14="http://schemas.microsoft.com/office/powerpoint/2010/main" val="273323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CBD24-CE1F-89AD-4B81-2A6BDC32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3D4FBBA-1F9B-F799-6635-58B1DD4D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90" y="2090798"/>
            <a:ext cx="6928755" cy="394567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56E8CCF-5C05-C18A-0665-28519DB1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实验环境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213620-F6CA-70ED-149B-AAF733AB7FD9}"/>
              </a:ext>
            </a:extLst>
          </p:cNvPr>
          <p:cNvSpPr/>
          <p:nvPr/>
        </p:nvSpPr>
        <p:spPr>
          <a:xfrm>
            <a:off x="759376" y="1690688"/>
            <a:ext cx="31465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Tractor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E9805F-2CAF-869B-6CF7-DBF2355AE3DF}"/>
              </a:ext>
            </a:extLst>
          </p:cNvPr>
          <p:cNvSpPr/>
          <p:nvPr/>
        </p:nvSpPr>
        <p:spPr>
          <a:xfrm>
            <a:off x="7736138" y="2050161"/>
            <a:ext cx="4455862" cy="2457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双升支持人类、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对战及对局可视化，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可以上传模型及算法进行在线对战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在线平台：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https://botzone.org.cn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游戏信息：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https://wiki.botzone.org.cn/index.php?title=Tractor</a:t>
            </a:r>
            <a:endParaRPr lang="en-US" altLang="zh-CN" sz="1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交互方法：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https://wiki.botzone.org.cn/index.php?title=Bot</a:t>
            </a:r>
            <a:endParaRPr lang="en-US" altLang="zh-CN" sz="1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课程团队同时提供双升本地交互环境和训练框架</a:t>
            </a:r>
          </a:p>
        </p:txBody>
      </p:sp>
    </p:spTree>
    <p:extLst>
      <p:ext uri="{BB962C8B-B14F-4D97-AF65-F5344CB8AC3E}">
        <p14:creationId xmlns:p14="http://schemas.microsoft.com/office/powerpoint/2010/main" val="3431381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D0E2-0388-F505-6B65-4B41EE72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8FD8F-E65A-B51D-9152-EF125C03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实验环境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3F672C-D4E9-2A25-16A5-7DE6F33569A0}"/>
              </a:ext>
            </a:extLst>
          </p:cNvPr>
          <p:cNvSpPr/>
          <p:nvPr/>
        </p:nvSpPr>
        <p:spPr>
          <a:xfrm>
            <a:off x="775057" y="1690688"/>
            <a:ext cx="31465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Tractor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7D451E-2A10-1B1D-A0C9-5A60DD5171F3}"/>
              </a:ext>
            </a:extLst>
          </p:cNvPr>
          <p:cNvSpPr/>
          <p:nvPr/>
        </p:nvSpPr>
        <p:spPr>
          <a:xfrm>
            <a:off x="804886" y="2038586"/>
            <a:ext cx="8426451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双升是基于双升游戏开发的在线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2v2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游戏平台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双升提供了双升游戏的单局版本，支持通过对局前设置改变当局的等级。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86207F-A3EB-9682-2DB7-7280AE8377CB}"/>
              </a:ext>
            </a:extLst>
          </p:cNvPr>
          <p:cNvSpPr/>
          <p:nvPr/>
        </p:nvSpPr>
        <p:spPr>
          <a:xfrm>
            <a:off x="838200" y="2834307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本地双升交互环境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35B9A93-93E2-D730-ECBB-E1A96A387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744104"/>
              </p:ext>
            </p:extLst>
          </p:nvPr>
        </p:nvGraphicFramePr>
        <p:xfrm>
          <a:off x="1176760" y="3803462"/>
          <a:ext cx="6781172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840720495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044644364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685333526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504808469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838857435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78200706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331454050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3348787976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769263384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2740150737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4143359708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3037996828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3083716972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138960861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2369859052"/>
                    </a:ext>
                  </a:extLst>
                </a:gridCol>
              </a:tblGrid>
              <a:tr h="4311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57827"/>
                  </a:ext>
                </a:extLst>
              </a:tr>
              <a:tr h="431140">
                <a:tc>
                  <a:txBody>
                    <a:bodyPr/>
                    <a:lstStyle/>
                    <a:p>
                      <a:r>
                        <a:rPr lang="en-US" altLang="zh-CN" dirty="0"/>
                        <a:t>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jo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707139"/>
                  </a:ext>
                </a:extLst>
              </a:tr>
              <a:tr h="4311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Jo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732727"/>
                  </a:ext>
                </a:extLst>
              </a:tr>
              <a:tr h="431140"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250930"/>
                  </a:ext>
                </a:extLst>
              </a:tr>
              <a:tr h="4311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4866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6105052-87ED-1480-B87C-A9F15FFCA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439446"/>
              </p:ext>
            </p:extLst>
          </p:nvPr>
        </p:nvGraphicFramePr>
        <p:xfrm>
          <a:off x="915387" y="3676992"/>
          <a:ext cx="6939634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69942">
                  <a:extLst>
                    <a:ext uri="{9D8B030D-6E8A-4147-A177-3AD203B41FA5}">
                      <a16:colId xmlns:a16="http://schemas.microsoft.com/office/drawing/2014/main" val="1840720495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044644364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685333526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504808469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838857435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78200706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331454050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3348787976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769263384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2740150737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4143359708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3037996828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3083716972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1138960861"/>
                    </a:ext>
                  </a:extLst>
                </a:gridCol>
                <a:gridCol w="454978">
                  <a:extLst>
                    <a:ext uri="{9D8B030D-6E8A-4147-A177-3AD203B41FA5}">
                      <a16:colId xmlns:a16="http://schemas.microsoft.com/office/drawing/2014/main" val="2369859052"/>
                    </a:ext>
                  </a:extLst>
                </a:gridCol>
              </a:tblGrid>
              <a:tr h="4311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57827"/>
                  </a:ext>
                </a:extLst>
              </a:tr>
              <a:tr h="431140">
                <a:tc>
                  <a:txBody>
                    <a:bodyPr/>
                    <a:lstStyle/>
                    <a:p>
                      <a:r>
                        <a:rPr lang="en-US" altLang="zh-CN" dirty="0"/>
                        <a:t>S</a:t>
                      </a:r>
                      <a:r>
                        <a:rPr lang="zh-CN" altLang="en-US" dirty="0"/>
                        <a:t>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Jo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707139"/>
                  </a:ext>
                </a:extLst>
              </a:tr>
              <a:tr h="43114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H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Jo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732727"/>
                  </a:ext>
                </a:extLst>
              </a:tr>
              <a:tr h="431140"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r>
                        <a:rPr lang="zh-CN" altLang="en-US" dirty="0"/>
                        <a:t>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250930"/>
                  </a:ext>
                </a:extLst>
              </a:tr>
              <a:tr h="43114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48665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ABF9EE68-D32C-F192-25D2-EF6387E6647C}"/>
              </a:ext>
            </a:extLst>
          </p:cNvPr>
          <p:cNvSpPr/>
          <p:nvPr/>
        </p:nvSpPr>
        <p:spPr>
          <a:xfrm>
            <a:off x="838200" y="3234417"/>
            <a:ext cx="8426451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本地双升交互环境提供了与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双升游戏完全相同的交互流程，并提供特征预处理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DAD481-15F0-A013-9F29-75D26AE2F93D}"/>
              </a:ext>
            </a:extLst>
          </p:cNvPr>
          <p:cNvSpPr txBox="1"/>
          <p:nvPr/>
        </p:nvSpPr>
        <p:spPr>
          <a:xfrm>
            <a:off x="7993500" y="2431764"/>
            <a:ext cx="41570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特征工程</a:t>
            </a:r>
            <a:endParaRPr lang="en-US" altLang="zh-CN" sz="1600" dirty="0"/>
          </a:p>
          <a:p>
            <a:pPr lvl="1"/>
            <a:r>
              <a:rPr lang="zh-CN" altLang="en-US" sz="1600" dirty="0"/>
              <a:t>牌表示</a:t>
            </a:r>
            <a:r>
              <a:rPr lang="en-US" altLang="zh-CN" sz="1600" dirty="0"/>
              <a:t>: (2*4*14)</a:t>
            </a:r>
          </a:p>
          <a:p>
            <a:pPr lvl="1"/>
            <a:r>
              <a:rPr lang="zh-CN" altLang="en-US" sz="1600" dirty="0"/>
              <a:t>任意数量的套牌都可以表示为一个矩阵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State_shape</a:t>
            </a:r>
            <a:r>
              <a:rPr lang="en-US" altLang="zh-CN" sz="1600" dirty="0"/>
              <a:t>: 128*4*14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major_mat</a:t>
            </a:r>
            <a:r>
              <a:rPr lang="en-US" altLang="zh-CN" sz="1600" dirty="0"/>
              <a:t>: (2*4*14) </a:t>
            </a:r>
            <a:r>
              <a:rPr lang="zh-CN" altLang="en-US" sz="1600" dirty="0"/>
              <a:t>本局主牌信息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deck_mat</a:t>
            </a:r>
            <a:r>
              <a:rPr lang="en-US" altLang="zh-CN" sz="1600" dirty="0"/>
              <a:t>: (2*4*14) </a:t>
            </a:r>
            <a:r>
              <a:rPr lang="zh-CN" altLang="en-US" sz="1600" dirty="0"/>
              <a:t>玩家手牌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hist_mat</a:t>
            </a:r>
            <a:r>
              <a:rPr lang="en-US" altLang="zh-CN" sz="1600" dirty="0"/>
              <a:t>: (8*4*14) </a:t>
            </a:r>
            <a:r>
              <a:rPr lang="zh-CN" altLang="en-US" sz="1600" dirty="0"/>
              <a:t>本轮历史出牌信息（依次为</a:t>
            </a:r>
            <a:r>
              <a:rPr lang="en-US" altLang="zh-CN" sz="1600" dirty="0"/>
              <a:t>4</a:t>
            </a:r>
            <a:r>
              <a:rPr lang="zh-CN" altLang="en-US" sz="1600" dirty="0"/>
              <a:t>名玩家）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played_mat</a:t>
            </a:r>
            <a:r>
              <a:rPr lang="en-US" altLang="zh-CN" sz="1600" dirty="0"/>
              <a:t>: (8*4*14) </a:t>
            </a:r>
            <a:r>
              <a:rPr lang="zh-CN" altLang="en-US" sz="1600" dirty="0"/>
              <a:t>全局已出牌信息（</a:t>
            </a:r>
            <a:r>
              <a:rPr lang="en-US" altLang="zh-CN" sz="1600" dirty="0"/>
              <a:t>4</a:t>
            </a:r>
            <a:r>
              <a:rPr lang="zh-CN" altLang="en-US" sz="1600" dirty="0"/>
              <a:t>名玩家）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1600" dirty="0" err="1"/>
              <a:t>option_mat</a:t>
            </a:r>
            <a:r>
              <a:rPr lang="en-US" altLang="zh-CN" sz="1600" dirty="0"/>
              <a:t>: (108*4*14) </a:t>
            </a:r>
            <a:r>
              <a:rPr lang="zh-CN" altLang="en-US" sz="1600" dirty="0"/>
              <a:t>本回合可选牌组信息（</a:t>
            </a:r>
            <a:r>
              <a:rPr lang="en-US" altLang="zh-CN" sz="1600" dirty="0"/>
              <a:t>54</a:t>
            </a:r>
            <a:r>
              <a:rPr lang="zh-CN" altLang="en-US" sz="1600" dirty="0"/>
              <a:t>个可选动作）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在</a:t>
            </a:r>
            <a:r>
              <a:rPr lang="en-US" altLang="zh-CN" sz="1600" dirty="0"/>
              <a:t>0</a:t>
            </a:r>
            <a:r>
              <a:rPr lang="zh-CN" altLang="en-US" sz="1600" dirty="0"/>
              <a:t>维上堆叠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Action_shape</a:t>
            </a:r>
            <a:r>
              <a:rPr lang="en-US" altLang="zh-CN" sz="1600" dirty="0"/>
              <a:t>: 54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输出</a:t>
            </a:r>
            <a:r>
              <a:rPr lang="en-US" altLang="zh-CN" sz="1600" dirty="0"/>
              <a:t>54</a:t>
            </a:r>
            <a:r>
              <a:rPr lang="zh-CN" altLang="en-US" sz="1600" dirty="0"/>
              <a:t>个可选动作的概率</a:t>
            </a:r>
          </a:p>
        </p:txBody>
      </p:sp>
    </p:spTree>
    <p:extLst>
      <p:ext uri="{BB962C8B-B14F-4D97-AF65-F5344CB8AC3E}">
        <p14:creationId xmlns:p14="http://schemas.microsoft.com/office/powerpoint/2010/main" val="2984885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FAE5-0031-489B-71F3-B5EC6DB1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A6637-299C-5C82-09C7-AF893748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作业要求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2B07F-6EF7-4D69-7A07-04CA9E25D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561026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目标：熟悉强化学习的算法框架和训练流程，基于传统棋牌游戏规则自主设计解决方案，综合运用强化学习和启发式搜索、特征工程等多种方法提升智能体的决策能力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作业任务与要求：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（必做）智能体开发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，开发基于强化学习的适用于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双升游戏的智能体。设计算法的过程中可以考虑的角度包括但不限于：</a:t>
            </a:r>
          </a:p>
          <a:p>
            <a:pPr>
              <a:lnSpc>
                <a:spcPct val="11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处理。给定的训练框架中采用最基本的游戏信息来训练策略网络，在训练过程中引入新的特征（例如，其他玩家的手牌等实际对局中可能不可见的特征），或利用人类经验显式地发掘一些潜在特征（例如结合对手决策和规则判断出其他玩家局部的手牌信息）可能对提升智能体决策水平有帮助。同学们可以使用给定的特征输入，也可以自行探索和设计一些特征及特征结构来提高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的表现。除了输入输出特征外，奖励函数也是一个可优化的重点。</a:t>
            </a:r>
          </a:p>
          <a:p>
            <a:pPr>
              <a:lnSpc>
                <a:spcPct val="11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算法设计。提供的代码中实现了一个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PPO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算法，同学们可以使用给定的算法，也可以自主尝试其他的强化学习算法。在时间有余裕的情况下，建议大家多尝试几种算法，比较不同算法在训练和决策时的性能，并写进报告中。</a:t>
            </a:r>
          </a:p>
          <a:p>
            <a:pPr>
              <a:lnSpc>
                <a:spcPct val="11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模型探索。代码包中的模型为三层卷积，结构较为简单。同学们可以使用原有的模型，也可以尝试不同的模型结构并比较不同模型的表现，选择最优的模型进行决策或在决策时参考多个模型输出的行动。由于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用户空间有限，请注意控制模型的参数量。</a:t>
            </a:r>
          </a:p>
          <a:p>
            <a:pPr>
              <a:lnSpc>
                <a:spcPct val="11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参数调优。在训练过程中，可以对各种参数进行调整来最大化训练效率，节省训练时间和提升模型性能。我们鼓励同学们积极探索合适的训练参数，并把探索的过程和结果写入报告中。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（选做）开放式探究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，基于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双升平台、本地环境和智能体，对感兴趣的多智能体博弈问题做探究。研究问题包括但不限于：</a:t>
            </a:r>
          </a:p>
          <a:p>
            <a:pPr>
              <a:lnSpc>
                <a:spcPct val="11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双升是一个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2v2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游戏，在不允许玩家间交流的情况下，如何构建配合更加默契的智能体？可以尝试特征工程、构造奖励函数来激励合作等方法，也可以提出自己的想法。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同学们可以在强化学习的基础上融合其他的基于规则、搜索或学习的方法来提升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的表现，也可以提出自己的新想法。</a:t>
            </a:r>
          </a:p>
        </p:txBody>
      </p:sp>
    </p:spTree>
    <p:extLst>
      <p:ext uri="{BB962C8B-B14F-4D97-AF65-F5344CB8AC3E}">
        <p14:creationId xmlns:p14="http://schemas.microsoft.com/office/powerpoint/2010/main" val="354658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A698-497E-601D-4C87-16001ECA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3674C-15ED-F620-7F79-DB799716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提交说明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5EE1B14-533A-3D13-66E4-C1F9BE74FBC3}"/>
              </a:ext>
            </a:extLst>
          </p:cNvPr>
          <p:cNvSpPr txBox="1">
            <a:spLocks/>
          </p:cNvSpPr>
          <p:nvPr/>
        </p:nvSpPr>
        <p:spPr>
          <a:xfrm>
            <a:off x="409574" y="1734378"/>
            <a:ext cx="11641621" cy="47371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组队形式：可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1 -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人一组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（若</a:t>
            </a:r>
            <a:r>
              <a:rPr kumimoji="1"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人组队需说明每人具体贡献）</a:t>
            </a:r>
            <a:endParaRPr kumimoji="1"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最终提交内容需将以下几部分压缩打包命名为“学号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姓名”（多人组队需列出所有队员学号姓名）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提交双升游戏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并参加对战评测。所有队伍的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评测小组的积分赛，按照最终排名给分。积分赛每一局调用两支队伍提交的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控制同一方的两个玩家（两个玩家在信息上是独立的）。积分赛的对局为单轮模式，不考虑升级。最终的积分赛前，会组织多次练习赛供大家了解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的水平，练习赛成绩不计入总成绩。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研究性报告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形式，中英文皆可，正文（包括图、文等）页数建议不少于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页，不超过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页。内容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包括但不限于算法细节、优化和创新点、开放式问题研究方案、有趣的现象和启发等，必要时可配图说明，同时注意参考文献的引用。格式自定，推荐采用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Latex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编写，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ICML2022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 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https://media.icml.cc/Conferences/ICML2022/Styles/icml2022.zip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完整代码和模型，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Python3.8+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Pytorch1.4+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编写，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说明具体安装流程和脚本执行方法，并保证可在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ubuntu18+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上运行成功，训练好的策略网络模型需保存为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文件一并提交。若工作涉及环境建模和采样训练框架，需要提交对应的环境和训练代码。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课堂展示：随堂进行各小组演讲展示，展示时间待定。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评分角度：综合考虑智能体决策水平、决策算法的创新点、代码性能、写作、演讲和展示。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1699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9D49-DFE4-E0A8-D6C0-F127296E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9D8EC-F35B-49A6-2BF1-4ABB7FB1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评分说明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792AAA5-4A8D-6B36-8973-0372FA622454}"/>
              </a:ext>
            </a:extLst>
          </p:cNvPr>
          <p:cNvSpPr txBox="1">
            <a:spLocks/>
          </p:cNvSpPr>
          <p:nvPr/>
        </p:nvSpPr>
        <p:spPr>
          <a:xfrm>
            <a:off x="838200" y="1913284"/>
            <a:ext cx="9288739" cy="4020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评分原则：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585" lvl="1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一、各组提交的智能体能够正常运行且评测得分超过基线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，代码完整提交、过程符合学术诚信标准可获基础分。</a:t>
            </a:r>
          </a:p>
          <a:p>
            <a:pPr marL="609585" lvl="1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二、鼓励锻炼学术和创新性探索，在模型性能的基础上，有方法或理论创新的可获得额外加分。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评分细则：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，实验报告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1994101703"/>
      </p:ext>
    </p:extLst>
  </p:cSld>
  <p:clrMapOvr>
    <a:masterClrMapping/>
  </p:clrMapOvr>
</p:sld>
</file>

<file path=ppt/theme/theme1.xml><?xml version="1.0" encoding="utf-8"?>
<a:theme xmlns:a="http://schemas.openxmlformats.org/drawingml/2006/main" name="实验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实验室" id="{58E4617E-ED80-4670-AB37-167CB830D7F6}" vid="{B102D6D9-EC6A-43AB-9D54-71FF832CC0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3582</TotalTime>
  <Words>1322</Words>
  <Application>Microsoft Office PowerPoint</Application>
  <PresentationFormat>宽屏</PresentationFormat>
  <Paragraphs>99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黑体</vt:lpstr>
      <vt:lpstr>微软雅黑</vt:lpstr>
      <vt:lpstr>Arial</vt:lpstr>
      <vt:lpstr>Calibri</vt:lpstr>
      <vt:lpstr>Calibri Light</vt:lpstr>
      <vt:lpstr>Wingdings</vt:lpstr>
      <vt:lpstr>实验室</vt:lpstr>
      <vt:lpstr>2025秋季强化学习课程大作业 传统棋牌游戏决策方案设计（双升）</vt:lpstr>
      <vt:lpstr>双升游戏决策方案设计</vt:lpstr>
      <vt:lpstr>实验环境</vt:lpstr>
      <vt:lpstr>实验环境</vt:lpstr>
      <vt:lpstr>作业要求</vt:lpstr>
      <vt:lpstr>提交说明</vt:lpstr>
      <vt:lpstr>评分说明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Botzone使用教程</dc:title>
  <dc:creator>星博 王</dc:creator>
  <cp:lastModifiedBy>启睿 郑</cp:lastModifiedBy>
  <cp:revision>80</cp:revision>
  <dcterms:created xsi:type="dcterms:W3CDTF">2024-03-04T13:28:00Z</dcterms:created>
  <dcterms:modified xsi:type="dcterms:W3CDTF">2025-11-17T09:24:33Z</dcterms:modified>
</cp:coreProperties>
</file>