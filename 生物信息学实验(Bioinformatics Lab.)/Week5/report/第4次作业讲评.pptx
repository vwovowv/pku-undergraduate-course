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4"/>
  </p:normalViewPr>
  <p:slideViewPr>
    <p:cSldViewPr snapToGrid="0">
      <p:cViewPr varScale="1">
        <p:scale>
          <a:sx n="104" d="100"/>
          <a:sy n="104" d="100"/>
        </p:scale>
        <p:origin x="8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8331B5-F8F3-C66D-D0E1-EAA58B7518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F50E18-35D4-3C5C-EDED-AD9E1D6781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FCC0D1-E5B6-F87D-5040-C3FFD2675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7BAAA-77B0-8E40-A342-8A7D8BEDB641}" type="datetimeFigureOut">
              <a:rPr kumimoji="1" lang="zh-CN" altLang="en-US" smtClean="0"/>
              <a:t>2025/3/24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CD60F2-6245-9C91-FB2F-93CBA035C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0C653F-E713-B997-5603-2CEBE2088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7203C-9124-1245-8B60-00B25F40AE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3285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C0EEE-E7DE-213C-B7AB-6ABEEF179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3C28B1-B017-4DCB-418F-D1174D280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B1D591-0DC6-21D5-ACDE-23BE37A56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7BAAA-77B0-8E40-A342-8A7D8BEDB641}" type="datetimeFigureOut">
              <a:rPr kumimoji="1" lang="zh-CN" altLang="en-US" smtClean="0"/>
              <a:t>2025/3/24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A573EF-859C-FC07-86D7-C0F4B0F16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30BAE5-9985-8307-E61B-1FDCE79B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7203C-9124-1245-8B60-00B25F40AE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5337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BB671E-1047-C2C3-0E07-2554959F0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C6484E-8056-C821-43A4-E242612FF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1CE27A-1CC4-BB5C-DDD3-B4CEE0A60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7BAAA-77B0-8E40-A342-8A7D8BEDB641}" type="datetimeFigureOut">
              <a:rPr kumimoji="1" lang="zh-CN" altLang="en-US" smtClean="0"/>
              <a:t>2025/3/24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0DCF1E-F73F-6B82-29DD-297950815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E31206-FA36-D6F7-C24D-37307ABC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7203C-9124-1245-8B60-00B25F40AE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289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D049C2-C9A2-423E-83ED-FC3B7F695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62886E-0CDB-5C07-C41D-D5DA9375D8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C57E54-7FBE-FADB-6F47-60C825D09F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8901FF-07CD-308F-7513-B904BB07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7BAAA-77B0-8E40-A342-8A7D8BEDB641}" type="datetimeFigureOut">
              <a:rPr kumimoji="1" lang="zh-CN" altLang="en-US" smtClean="0"/>
              <a:t>2025/3/24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C30791-C66D-46D3-26FA-BBB554534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FA3C57B-21BE-E229-92D9-24F574696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7203C-9124-1245-8B60-00B25F40AE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6145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423D3-F0A7-4908-B0BA-1D8D87217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2C407B1-2F13-F460-A4F8-D29A0C1CE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712FA61-297E-BD99-4D00-7CC08886F5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95BD115-DADE-D9B8-F2BB-99B5966361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4BDD5-E551-5F9B-A0AA-D3EA1EEE2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0C686E-C7D2-78CF-4ACF-E3C6D7A57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7BAAA-77B0-8E40-A342-8A7D8BEDB641}" type="datetimeFigureOut">
              <a:rPr kumimoji="1" lang="zh-CN" altLang="en-US" smtClean="0"/>
              <a:t>2025/3/24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068D15-1E1A-8971-2698-FFC35ECA0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540DEA4-BD05-638E-C81D-FE8C9581D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7203C-9124-1245-8B60-00B25F40AE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944479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5332E9-4C8B-0B27-C20E-3A9909A97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C12C7C7-D27B-116B-E60F-A38FA4C2E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7BAAA-77B0-8E40-A342-8A7D8BEDB641}" type="datetimeFigureOut">
              <a:rPr kumimoji="1" lang="zh-CN" altLang="en-US" smtClean="0"/>
              <a:t>2025/3/24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359E478-8E6A-DA05-B8C2-5206A472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4FDA532-50F1-7E3C-B4D0-B7F558BA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7203C-9124-1245-8B60-00B25F40AE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95459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B400E3-0AFD-0D32-7A87-D293A2082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7BAAA-77B0-8E40-A342-8A7D8BEDB641}" type="datetimeFigureOut">
              <a:rPr kumimoji="1" lang="zh-CN" altLang="en-US" smtClean="0"/>
              <a:t>2025/3/24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9DF3081-8AFD-69AC-7B95-B097A8389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CAB186-5854-A4AF-7F60-AF763E80E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7203C-9124-1245-8B60-00B25F40AE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9272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095697-FA50-57E5-63E3-25B8C9DEB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EEDBC4-1DDC-2593-6361-A1DD5E147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F44342-8780-A939-827B-196ECE138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193AD7-3051-3935-04F6-17E63868B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7BAAA-77B0-8E40-A342-8A7D8BEDB641}" type="datetimeFigureOut">
              <a:rPr kumimoji="1" lang="zh-CN" altLang="en-US" smtClean="0"/>
              <a:t>2025/3/24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EDBAD8-A985-C433-471E-A4FA0F2D4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9A98C2B-A6D5-C7A4-FB59-639AF9D14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7203C-9124-1245-8B60-00B25F40AE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5482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D02246-ECB8-010E-C2C4-302131522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ABB71F2-5877-3D18-2E77-F9B6806AF8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E3864E-1345-190A-A67B-A38DF942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4A27317-71FE-3017-ED50-8EBF9FD9D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7BAAA-77B0-8E40-A342-8A7D8BEDB641}" type="datetimeFigureOut">
              <a:rPr kumimoji="1" lang="zh-CN" altLang="en-US" smtClean="0"/>
              <a:t>2025/3/24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5D8E847-CC99-0371-A56F-4092D33B7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AADB7DD-B85C-3140-7192-E24345948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7203C-9124-1245-8B60-00B25F40AE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2843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25CAC-EF96-37FE-A983-84E1061C2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45A560B-D794-3634-F46E-115D3021C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096B9D-C5B1-0576-4B16-F14204861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7BAAA-77B0-8E40-A342-8A7D8BEDB641}" type="datetimeFigureOut">
              <a:rPr kumimoji="1" lang="zh-CN" altLang="en-US" smtClean="0"/>
              <a:t>2025/3/24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FA17BC-3056-E3FB-272B-44AEBCA31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4B2229-771F-075C-6F17-8E330F391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7203C-9124-1245-8B60-00B25F40AE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3329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0B7D1F1-AD0A-ADCA-0CB9-90DC6AA4F5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1F2A4B-941F-4C21-0E81-D6EC0CB3B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234226-3A73-8722-42EE-9D52598A3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7BAAA-77B0-8E40-A342-8A7D8BEDB641}" type="datetimeFigureOut">
              <a:rPr kumimoji="1" lang="zh-CN" altLang="en-US" smtClean="0"/>
              <a:t>2025/3/24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D1B1DE-8E61-57E6-92A0-D723E6F4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D1F347-B045-E8B0-4087-697DDB88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97203C-9124-1245-8B60-00B25F40AE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4583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63580C8-3571-58C0-87EB-06B67BF42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BEADBA-E82D-9DCF-28DE-31520270A4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8CFF4CA-781A-1B01-79A4-C927BB9651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D7BAAA-77B0-8E40-A342-8A7D8BEDB641}" type="datetimeFigureOut">
              <a:rPr kumimoji="1" lang="zh-CN" altLang="en-US" smtClean="0"/>
              <a:t>2025/3/24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CA0C4D-4B40-95B5-062F-8E6AB3A5F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5CE0DF-3474-0352-E6F8-C1D78F6A7B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7203C-9124-1245-8B60-00B25F40AE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9053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934DCF-C81B-CE26-11FF-D729973609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zh-CN" altLang="en-US" dirty="0"/>
              <a:t>第</a:t>
            </a:r>
            <a:r>
              <a:rPr kumimoji="1" lang="en-US" altLang="zh-CN" dirty="0"/>
              <a:t>4</a:t>
            </a:r>
            <a:r>
              <a:rPr kumimoji="1" lang="zh-CN" altLang="en-US" dirty="0"/>
              <a:t>次作业讲评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E94800B-5FFE-3DA2-EEDC-DE944FB683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CN" altLang="en-US" dirty="0"/>
              <a:t>刘奕宇 </a:t>
            </a:r>
            <a:r>
              <a:rPr kumimoji="1" lang="en-US" altLang="zh-CN" dirty="0"/>
              <a:t>2025.3.24</a:t>
            </a:r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0704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67189B9-822D-21F3-3CF3-83E31EBCAD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48224"/>
          <a:stretch/>
        </p:blipFill>
        <p:spPr>
          <a:xfrm>
            <a:off x="239927" y="319559"/>
            <a:ext cx="7445976" cy="117722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4D35973-8681-DE10-9D28-E652B617D6D0}"/>
              </a:ext>
            </a:extLst>
          </p:cNvPr>
          <p:cNvSpPr txBox="1"/>
          <p:nvPr/>
        </p:nvSpPr>
        <p:spPr>
          <a:xfrm>
            <a:off x="239927" y="1631092"/>
            <a:ext cx="11519587" cy="5586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易错点：</a:t>
            </a:r>
            <a:endParaRPr kumimoji="1" lang="en-US" altLang="zh-CN" sz="1600" dirty="0"/>
          </a:p>
          <a:p>
            <a:pPr lvl="1">
              <a:lnSpc>
                <a:spcPct val="150000"/>
              </a:lnSpc>
            </a:pPr>
            <a:r>
              <a:rPr kumimoji="1" lang="en-US" altLang="zh-CN" sz="1600" dirty="0"/>
              <a:t>1.</a:t>
            </a:r>
            <a:r>
              <a:rPr kumimoji="1" lang="zh-CN" altLang="en-US" sz="1600" dirty="0"/>
              <a:t> 没有删去第一行；</a:t>
            </a:r>
            <a:r>
              <a:rPr kumimoji="1" lang="en-US" altLang="zh-CN" sz="1600" dirty="0"/>
              <a:t>2.</a:t>
            </a:r>
            <a:r>
              <a:rPr kumimoji="1" lang="zh-CN" altLang="en-US" sz="1600" dirty="0"/>
              <a:t> 将每一行的换行符都计算在内</a:t>
            </a:r>
            <a:endParaRPr kumimoji="1" lang="en-US" altLang="zh-CN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计算方法有很多，这里介绍一些比较简单的方法</a:t>
            </a:r>
            <a:endParaRPr kumimoji="1" lang="en-US" altLang="zh-CN" sz="1600" dirty="0"/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/>
              <a:t>删去第一行，可以使用</a:t>
            </a:r>
            <a:r>
              <a:rPr kumimoji="1" lang="en-US" altLang="zh-CN" sz="1600" dirty="0"/>
              <a:t>sed</a:t>
            </a:r>
            <a:r>
              <a:rPr kumimoji="1" lang="zh-CN" altLang="en-US" sz="1600" dirty="0"/>
              <a:t>，也可以使用</a:t>
            </a:r>
            <a:r>
              <a:rPr kumimoji="1" lang="en-US" altLang="zh-CN" sz="1600" dirty="0"/>
              <a:t>grep</a:t>
            </a:r>
            <a:r>
              <a:rPr kumimoji="1" lang="zh-CN" altLang="en-US" sz="1600" dirty="0"/>
              <a:t>进行反选</a:t>
            </a:r>
            <a:endParaRPr kumimoji="1" lang="en-US" altLang="zh-CN" sz="1600" dirty="0"/>
          </a:p>
          <a:p>
            <a:pPr lvl="1">
              <a:lnSpc>
                <a:spcPct val="150000"/>
              </a:lnSpc>
            </a:pPr>
            <a:r>
              <a:rPr kumimoji="1" lang="en-US" altLang="zh-CN" sz="1600" dirty="0"/>
              <a:t>	-</a:t>
            </a:r>
            <a:r>
              <a:rPr kumimoji="1" lang="zh-CN" altLang="en-US" sz="1600" dirty="0"/>
              <a:t> </a:t>
            </a:r>
            <a:r>
              <a:rPr kumimoji="1" lang="en-US" altLang="zh-CN" sz="1600" dirty="0">
                <a:highlight>
                  <a:srgbClr val="FFFF00"/>
                </a:highlight>
              </a:rPr>
              <a:t>sed</a:t>
            </a:r>
            <a:r>
              <a:rPr kumimoji="1" lang="zh-CN" altLang="en-US" sz="1600" dirty="0">
                <a:highlight>
                  <a:srgbClr val="FFFF00"/>
                </a:highlight>
              </a:rPr>
              <a:t> </a:t>
            </a:r>
            <a:r>
              <a:rPr kumimoji="1" lang="en-US" altLang="zh-CN" sz="1600" dirty="0">
                <a:highlight>
                  <a:srgbClr val="FFFF00"/>
                </a:highlight>
              </a:rPr>
              <a:t>1d chr21.fa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1600" dirty="0"/>
              <a:t>	-</a:t>
            </a:r>
            <a:r>
              <a:rPr kumimoji="1" lang="zh-CN" altLang="en-US" sz="1600" dirty="0"/>
              <a:t> </a:t>
            </a:r>
            <a:r>
              <a:rPr kumimoji="1" lang="en-US" altLang="zh-CN" sz="1600" dirty="0">
                <a:highlight>
                  <a:srgbClr val="FFFF00"/>
                </a:highlight>
              </a:rPr>
              <a:t>grep –v ‘&gt;’ chr21.fa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1600" dirty="0"/>
              <a:t>2. </a:t>
            </a:r>
            <a:r>
              <a:rPr kumimoji="1" lang="zh-CN" altLang="en-US" sz="1600" dirty="0"/>
              <a:t>去除换行符</a:t>
            </a:r>
            <a:endParaRPr kumimoji="1" lang="en-US" altLang="zh-CN" sz="1600" dirty="0"/>
          </a:p>
          <a:p>
            <a:pPr lvl="1">
              <a:lnSpc>
                <a:spcPct val="150000"/>
              </a:lnSpc>
            </a:pPr>
            <a:r>
              <a:rPr kumimoji="1" lang="en-US" altLang="zh-CN" sz="1600" dirty="0"/>
              <a:t>	-</a:t>
            </a:r>
            <a:r>
              <a:rPr kumimoji="1" lang="zh-CN" altLang="en-US" sz="1600" dirty="0"/>
              <a:t> 使用</a:t>
            </a:r>
            <a:r>
              <a:rPr kumimoji="1" lang="en-US" altLang="zh-CN" sz="1600" dirty="0" err="1"/>
              <a:t>wc</a:t>
            </a:r>
            <a:r>
              <a:rPr kumimoji="1" lang="zh-CN" altLang="en-US" sz="1600" dirty="0"/>
              <a:t>分别计算行数和字符数，用行数减去字符数得到染色体长度：</a:t>
            </a:r>
            <a:r>
              <a:rPr kumimoji="1" lang="en-US" altLang="zh-CN" sz="1600" dirty="0">
                <a:highlight>
                  <a:srgbClr val="FFFF00"/>
                </a:highlight>
              </a:rPr>
              <a:t>[</a:t>
            </a:r>
            <a:r>
              <a:rPr kumimoji="1" lang="zh-CN" altLang="en-US" sz="1600" dirty="0">
                <a:highlight>
                  <a:srgbClr val="FFFF00"/>
                </a:highlight>
              </a:rPr>
              <a:t>用于删去第一行的代码</a:t>
            </a:r>
            <a:r>
              <a:rPr kumimoji="1" lang="en-US" altLang="zh-CN" sz="1600" dirty="0">
                <a:highlight>
                  <a:srgbClr val="FFFF00"/>
                </a:highlight>
              </a:rPr>
              <a:t>] chr21.fa | </a:t>
            </a:r>
            <a:r>
              <a:rPr kumimoji="1" lang="en-US" altLang="zh-CN" sz="1600" dirty="0" err="1">
                <a:highlight>
                  <a:srgbClr val="FFFF00"/>
                </a:highlight>
              </a:rPr>
              <a:t>wc</a:t>
            </a:r>
            <a:endParaRPr kumimoji="1" lang="en-US" altLang="zh-CN" sz="1600" dirty="0">
              <a:highlight>
                <a:srgbClr val="FFFF00"/>
              </a:highlight>
            </a:endParaRPr>
          </a:p>
          <a:p>
            <a:pPr lvl="1">
              <a:lnSpc>
                <a:spcPct val="150000"/>
              </a:lnSpc>
            </a:pPr>
            <a:r>
              <a:rPr kumimoji="1" lang="en-US" altLang="zh-CN" sz="1600" dirty="0"/>
              <a:t>	-</a:t>
            </a:r>
            <a:r>
              <a:rPr kumimoji="1" lang="zh-CN" altLang="en-US" sz="1600" dirty="0"/>
              <a:t> 使用</a:t>
            </a:r>
            <a:r>
              <a:rPr kumimoji="1" lang="en-US" altLang="zh-CN" sz="1600" dirty="0"/>
              <a:t>sed</a:t>
            </a:r>
            <a:r>
              <a:rPr kumimoji="1" lang="zh-CN" altLang="en-US" sz="1600" dirty="0"/>
              <a:t>删去换行符，但需要添加</a:t>
            </a:r>
            <a:r>
              <a:rPr kumimoji="1" lang="en-US" altLang="zh-CN" sz="1600" dirty="0"/>
              <a:t>-z</a:t>
            </a:r>
            <a:r>
              <a:rPr kumimoji="1" lang="zh-CN" altLang="en-US" sz="1600" dirty="0"/>
              <a:t>参数，使</a:t>
            </a:r>
            <a:r>
              <a:rPr kumimoji="1" lang="en-US" altLang="zh-CN" sz="1600" dirty="0"/>
              <a:t>sed</a:t>
            </a:r>
            <a:r>
              <a:rPr kumimoji="1" lang="zh-CN" altLang="en-US" sz="1600" dirty="0"/>
              <a:t>用</a:t>
            </a:r>
            <a:r>
              <a:rPr kumimoji="1" lang="en-US" altLang="zh-CN" sz="1600" dirty="0"/>
              <a:t>NULL</a:t>
            </a:r>
            <a:r>
              <a:rPr kumimoji="1" lang="zh-CN" altLang="en-US" sz="1600" dirty="0"/>
              <a:t>来分割行，否则，</a:t>
            </a:r>
            <a:r>
              <a:rPr kumimoji="1" lang="en-US" altLang="zh-CN" sz="1600" dirty="0"/>
              <a:t>sed</a:t>
            </a:r>
            <a:r>
              <a:rPr kumimoji="1" lang="zh-CN" altLang="en-US" sz="1600" dirty="0"/>
              <a:t>在输出时会使用换行符对行进行划分，删去换行符的操作无法在实质上产生效果</a:t>
            </a:r>
            <a:endParaRPr kumimoji="1" lang="en-US" altLang="zh-CN" sz="1600" dirty="0"/>
          </a:p>
          <a:p>
            <a:pPr lvl="1">
              <a:lnSpc>
                <a:spcPct val="150000"/>
              </a:lnSpc>
            </a:pPr>
            <a:endParaRPr kumimoji="1" lang="en-US" altLang="zh-CN" sz="1600" dirty="0"/>
          </a:p>
          <a:p>
            <a:pPr lvl="1">
              <a:lnSpc>
                <a:spcPct val="150000"/>
              </a:lnSpc>
            </a:pPr>
            <a:r>
              <a:rPr kumimoji="1" lang="en-US" altLang="zh-CN" sz="1600" dirty="0"/>
              <a:t>	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1600" dirty="0"/>
              <a:t>	</a:t>
            </a:r>
          </a:p>
          <a:p>
            <a:pPr lvl="1">
              <a:lnSpc>
                <a:spcPct val="150000"/>
              </a:lnSpc>
            </a:pPr>
            <a:r>
              <a:rPr kumimoji="1" lang="en-US" altLang="zh-CN" sz="1600" dirty="0"/>
              <a:t>	-</a:t>
            </a:r>
            <a:r>
              <a:rPr kumimoji="1" lang="zh-CN" altLang="en-US" sz="1600" dirty="0"/>
              <a:t> 也有同学使用了</a:t>
            </a:r>
            <a:r>
              <a:rPr kumimoji="1" lang="en-US" altLang="zh-CN" sz="1600" dirty="0"/>
              <a:t>tr</a:t>
            </a:r>
            <a:r>
              <a:rPr kumimoji="1" lang="zh-CN" altLang="en-US" sz="1600" dirty="0"/>
              <a:t>命令，这个命令不是课内的内容，感兴趣的同学可以自行学习</a:t>
            </a:r>
            <a:endParaRPr kumimoji="1" lang="en-US" altLang="zh-CN" sz="1600" dirty="0"/>
          </a:p>
          <a:p>
            <a:pPr lvl="1">
              <a:lnSpc>
                <a:spcPct val="150000"/>
              </a:lnSpc>
            </a:pPr>
            <a:endParaRPr kumimoji="1" lang="en-US" altLang="zh-CN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65BEC433-58A3-FF1A-08F3-C88C77CCFB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10291" b="9375"/>
          <a:stretch/>
        </p:blipFill>
        <p:spPr>
          <a:xfrm>
            <a:off x="1186249" y="5462364"/>
            <a:ext cx="6123803" cy="32559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614B760-1910-DC2D-7782-434BAD2F3F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6249" y="5922263"/>
            <a:ext cx="5961749" cy="325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046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A67189B9-822D-21F3-3CF3-83E31EBCAD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177" b="33286"/>
          <a:stretch/>
        </p:blipFill>
        <p:spPr>
          <a:xfrm>
            <a:off x="0" y="420129"/>
            <a:ext cx="7772400" cy="32127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90800434-8D74-5A22-19B1-D3A5745EB769}"/>
              </a:ext>
            </a:extLst>
          </p:cNvPr>
          <p:cNvSpPr txBox="1"/>
          <p:nvPr/>
        </p:nvSpPr>
        <p:spPr>
          <a:xfrm>
            <a:off x="336206" y="939114"/>
            <a:ext cx="11519587" cy="6694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易错点：</a:t>
            </a:r>
            <a:endParaRPr kumimoji="1" lang="en-US" altLang="zh-CN" sz="1600" dirty="0"/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kumimoji="1" lang="zh-CN" altLang="en-US" sz="1600" dirty="0"/>
              <a:t>没有计算小写</a:t>
            </a:r>
            <a:r>
              <a:rPr kumimoji="1" lang="en-US" altLang="zh-CN" sz="1600" dirty="0"/>
              <a:t>a</a:t>
            </a:r>
            <a:r>
              <a:rPr kumimoji="1" lang="zh-CN" altLang="en-US" sz="1600" dirty="0"/>
              <a:t>；</a:t>
            </a:r>
            <a:endParaRPr kumimoji="1" lang="en-US" altLang="zh-CN" sz="1600" dirty="0"/>
          </a:p>
          <a:p>
            <a:pPr marL="800100" lvl="1" indent="-342900">
              <a:lnSpc>
                <a:spcPct val="150000"/>
              </a:lnSpc>
              <a:buAutoNum type="arabicPeriod"/>
            </a:pPr>
            <a:r>
              <a:rPr kumimoji="1" lang="zh-CN" altLang="en-US" sz="1600" dirty="0"/>
              <a:t>使用</a:t>
            </a:r>
            <a:r>
              <a:rPr kumimoji="1" lang="en-US" altLang="zh-CN" sz="1600" dirty="0"/>
              <a:t>grep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–o</a:t>
            </a:r>
            <a:r>
              <a:rPr kumimoji="1" lang="zh-CN" altLang="en-US" sz="1600" dirty="0"/>
              <a:t>将匹配字符串单列成行后，使用</a:t>
            </a:r>
            <a:r>
              <a:rPr kumimoji="1" lang="en-US" altLang="zh-CN" sz="1600" dirty="0" err="1"/>
              <a:t>wc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–c</a:t>
            </a:r>
            <a:r>
              <a:rPr kumimoji="1" lang="zh-CN" altLang="en-US" sz="1600" dirty="0"/>
              <a:t>而不是</a:t>
            </a:r>
            <a:r>
              <a:rPr kumimoji="1" lang="en-US" altLang="zh-CN" sz="1600" dirty="0" err="1"/>
              <a:t>wc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–l</a:t>
            </a:r>
            <a:r>
              <a:rPr kumimoji="1" lang="zh-CN" altLang="en-US" sz="1600" dirty="0"/>
              <a:t>进行计数，</a:t>
            </a:r>
            <a:r>
              <a:rPr kumimoji="1" lang="en-US" altLang="zh-CN" sz="1600" dirty="0" err="1"/>
              <a:t>wc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–c</a:t>
            </a:r>
            <a:r>
              <a:rPr kumimoji="1" lang="zh-CN" altLang="en-US" sz="1600" dirty="0"/>
              <a:t>会将换行符也计算在内</a:t>
            </a:r>
            <a:endParaRPr kumimoji="1" lang="en-US" altLang="zh-CN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这里提供一种简单的计算方法</a:t>
            </a:r>
            <a:endParaRPr kumimoji="1" lang="en-US" altLang="zh-CN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grep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–o</a:t>
            </a:r>
            <a:r>
              <a:rPr kumimoji="1" lang="zh-CN" altLang="en-US" sz="1600" dirty="0"/>
              <a:t>：将匹配的字符串单列成一行输出</a:t>
            </a:r>
            <a:endParaRPr kumimoji="1" lang="en-US" altLang="zh-CN" sz="16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grep –</a:t>
            </a:r>
            <a:r>
              <a:rPr kumimoji="1" lang="en-US" altLang="zh-CN" sz="1600" dirty="0" err="1"/>
              <a:t>i</a:t>
            </a:r>
            <a:r>
              <a:rPr kumimoji="1" lang="zh-CN" altLang="en-US" sz="1600" dirty="0"/>
              <a:t>：不区分大小写</a:t>
            </a:r>
            <a:endParaRPr kumimoji="1" lang="en-US" altLang="zh-CN" sz="16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 err="1"/>
              <a:t>wc</a:t>
            </a:r>
            <a:r>
              <a:rPr kumimoji="1" lang="en-US" altLang="zh-CN" sz="1600" dirty="0"/>
              <a:t> –l</a:t>
            </a:r>
            <a:r>
              <a:rPr kumimoji="1" lang="zh-CN" altLang="en-US" sz="1600" dirty="0"/>
              <a:t>：统计行数</a:t>
            </a:r>
            <a:endParaRPr kumimoji="1" lang="en-US" altLang="zh-CN" sz="16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/>
          </a:p>
          <a:p>
            <a:pPr lvl="1">
              <a:lnSpc>
                <a:spcPct val="150000"/>
              </a:lnSpc>
            </a:pPr>
            <a:endParaRPr kumimoji="1" lang="en-US" altLang="zh-CN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8488C21-B36F-5FBE-FA0B-291E73B44A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819" y="2539851"/>
            <a:ext cx="9279581" cy="53331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90D87D6-8048-6B53-9A58-C863DBF01B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8949" y="4051494"/>
            <a:ext cx="6680200" cy="199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55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B69A2AA-FFA5-DA67-46B0-15B2FA6D5C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747" b="1015"/>
          <a:stretch/>
        </p:blipFill>
        <p:spPr>
          <a:xfrm>
            <a:off x="104003" y="407772"/>
            <a:ext cx="7445976" cy="7784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B1E3964-BC60-83FD-8F34-00DD62DE96BD}"/>
              </a:ext>
            </a:extLst>
          </p:cNvPr>
          <p:cNvSpPr txBox="1"/>
          <p:nvPr/>
        </p:nvSpPr>
        <p:spPr>
          <a:xfrm>
            <a:off x="496844" y="1271342"/>
            <a:ext cx="11519587" cy="5955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老师上课已经讲过，不多作赘述</a:t>
            </a:r>
            <a:endParaRPr kumimoji="1" lang="en-US" altLang="zh-CN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补充与提醒：</a:t>
            </a:r>
            <a:endParaRPr kumimoji="1" lang="en-US" altLang="zh-CN" sz="16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1600" dirty="0"/>
              <a:t>awk</a:t>
            </a:r>
            <a:r>
              <a:rPr kumimoji="1" lang="zh-CN" altLang="en-US" sz="1600" dirty="0"/>
              <a:t>命令默认的分隔符是空格</a:t>
            </a:r>
            <a:r>
              <a:rPr kumimoji="1" lang="zh-CN" altLang="en-US" sz="1600" b="1" dirty="0">
                <a:solidFill>
                  <a:schemeClr val="accent1"/>
                </a:solidFill>
              </a:rPr>
              <a:t>和</a:t>
            </a:r>
            <a:r>
              <a:rPr kumimoji="1" lang="zh-CN" altLang="en-US" sz="1600" dirty="0"/>
              <a:t>制表符（</a:t>
            </a:r>
            <a:r>
              <a:rPr kumimoji="1" lang="en-US" altLang="zh-CN" sz="1600" dirty="0"/>
              <a:t>\t</a:t>
            </a:r>
            <a:r>
              <a:rPr kumimoji="1" lang="zh-CN" altLang="en-US" sz="1600" dirty="0"/>
              <a:t>），如果只想使用一种，或使用其他分隔符，需要用</a:t>
            </a:r>
            <a:r>
              <a:rPr kumimoji="1" lang="en-US" altLang="zh-CN" sz="1600" dirty="0"/>
              <a:t>-F</a:t>
            </a:r>
            <a:r>
              <a:rPr kumimoji="1" lang="zh-CN" altLang="en-US" sz="1600" dirty="0"/>
              <a:t>参数进行指定</a:t>
            </a:r>
            <a:endParaRPr kumimoji="1" lang="en-US" altLang="zh-CN" sz="16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判断文件分隔符，有几种方法：</a:t>
            </a:r>
            <a:endParaRPr kumimoji="1" lang="en-US" altLang="zh-CN" sz="1600" dirty="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/>
              <a:t>文件后缀名，一般</a:t>
            </a:r>
            <a:r>
              <a:rPr kumimoji="1" lang="en-US" altLang="zh-CN" sz="1600" dirty="0" err="1"/>
              <a:t>tsv</a:t>
            </a:r>
            <a:r>
              <a:rPr kumimoji="1" lang="zh-CN" altLang="en-US" sz="1600" dirty="0"/>
              <a:t>文件以制表符 </a:t>
            </a:r>
            <a:r>
              <a:rPr kumimoji="1" lang="en-US" altLang="zh-CN" sz="1600" dirty="0"/>
              <a:t>\t</a:t>
            </a:r>
            <a:r>
              <a:rPr kumimoji="1" lang="zh-CN" altLang="en-US" sz="1600" dirty="0"/>
              <a:t> 分隔，</a:t>
            </a:r>
            <a:r>
              <a:rPr kumimoji="1" lang="en-US" altLang="zh-CN" sz="1600" dirty="0"/>
              <a:t>csv</a:t>
            </a:r>
            <a:r>
              <a:rPr kumimoji="1" lang="zh-CN" altLang="en-US" sz="1600" dirty="0"/>
              <a:t>文件以逗号分隔</a:t>
            </a:r>
            <a:endParaRPr kumimoji="1" lang="en-US" altLang="zh-CN" sz="1600" dirty="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r>
              <a:rPr kumimoji="1" lang="zh-CN" altLang="en-US" sz="1600" dirty="0"/>
              <a:t>使用</a:t>
            </a:r>
            <a:r>
              <a:rPr kumimoji="1" lang="en-US" altLang="zh-CN" sz="1600" dirty="0"/>
              <a:t>cat</a:t>
            </a:r>
            <a:r>
              <a:rPr kumimoji="1" lang="zh-CN" altLang="en-US" sz="1600" dirty="0"/>
              <a:t> </a:t>
            </a:r>
            <a:r>
              <a:rPr kumimoji="1" lang="en-US" altLang="zh-CN" sz="1600" dirty="0"/>
              <a:t>–T</a:t>
            </a:r>
            <a:r>
              <a:rPr kumimoji="1" lang="zh-CN" altLang="en-US" sz="1600" dirty="0"/>
              <a:t>将制表符以 </a:t>
            </a:r>
            <a:r>
              <a:rPr kumimoji="1" lang="en-US" altLang="zh-CN" sz="1600" dirty="0"/>
              <a:t>^I</a:t>
            </a:r>
            <a:r>
              <a:rPr kumimoji="1" lang="zh-CN" altLang="en-US" sz="1600" dirty="0"/>
              <a:t> 显示</a:t>
            </a:r>
            <a:endParaRPr kumimoji="1" lang="en-US" altLang="zh-CN" sz="1600" dirty="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endParaRPr kumimoji="1" lang="en-US" altLang="zh-CN" sz="1600" dirty="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endParaRPr kumimoji="1" lang="en-US" altLang="zh-CN" sz="1600" dirty="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endParaRPr kumimoji="1" lang="en-US" altLang="zh-CN" sz="1600" dirty="0"/>
          </a:p>
          <a:p>
            <a:pPr marL="1257300" lvl="2" indent="-342900">
              <a:lnSpc>
                <a:spcPct val="150000"/>
              </a:lnSpc>
              <a:buFont typeface="+mj-lt"/>
              <a:buAutoNum type="arabicPeriod"/>
            </a:pPr>
            <a:endParaRPr kumimoji="1" lang="en-US" altLang="zh-CN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sz="1600" dirty="0"/>
              <a:t>一种简单的方法：</a:t>
            </a:r>
            <a:endParaRPr kumimoji="1" lang="en-US" altLang="zh-CN" sz="1600" dirty="0"/>
          </a:p>
          <a:p>
            <a:pPr>
              <a:lnSpc>
                <a:spcPct val="150000"/>
              </a:lnSpc>
            </a:pPr>
            <a:r>
              <a:rPr kumimoji="1" lang="en-US" altLang="zh-CN" sz="1600" dirty="0"/>
              <a:t>	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CN" sz="1600" dirty="0"/>
          </a:p>
          <a:p>
            <a:pPr lvl="1">
              <a:lnSpc>
                <a:spcPct val="150000"/>
              </a:lnSpc>
            </a:pPr>
            <a:endParaRPr kumimoji="1" lang="en-US" altLang="zh-CN" sz="1600" dirty="0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D53E005B-9281-C7ED-4043-97FFD166E7E1}"/>
              </a:ext>
            </a:extLst>
          </p:cNvPr>
          <p:cNvGrpSpPr/>
          <p:nvPr/>
        </p:nvGrpSpPr>
        <p:grpSpPr>
          <a:xfrm>
            <a:off x="1054754" y="3478113"/>
            <a:ext cx="10853041" cy="1282714"/>
            <a:chOff x="1338959" y="4076020"/>
            <a:chExt cx="10853041" cy="1282714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FBC30905-2490-F21E-7C4D-8D87A2742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8959" y="4076020"/>
              <a:ext cx="10853041" cy="1282714"/>
            </a:xfrm>
            <a:prstGeom prst="rect">
              <a:avLst/>
            </a:prstGeom>
          </p:spPr>
        </p:pic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58A4FF2-3BEF-9DC6-6D75-6FDD46CF65EF}"/>
                </a:ext>
              </a:extLst>
            </p:cNvPr>
            <p:cNvSpPr/>
            <p:nvPr/>
          </p:nvSpPr>
          <p:spPr>
            <a:xfrm>
              <a:off x="2298357" y="4411362"/>
              <a:ext cx="148281" cy="21006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2FF5EB0B-0BF4-7413-E728-27F2B8BD0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4069" y="5001754"/>
            <a:ext cx="5220574" cy="176360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A812F6B7-99D8-2F55-67C1-D272F1290C8E}"/>
              </a:ext>
            </a:extLst>
          </p:cNvPr>
          <p:cNvSpPr txBox="1"/>
          <p:nvPr/>
        </p:nvSpPr>
        <p:spPr>
          <a:xfrm>
            <a:off x="844690" y="5409303"/>
            <a:ext cx="4654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600" dirty="0"/>
              <a:t>这里利用了</a:t>
            </a:r>
            <a:r>
              <a:rPr kumimoji="1" lang="en-US" altLang="zh-CN" sz="1600" dirty="0"/>
              <a:t>awk</a:t>
            </a:r>
            <a:r>
              <a:rPr kumimoji="1" lang="zh-CN" altLang="en-US" sz="1600" dirty="0"/>
              <a:t>默认分隔符是空格和制表符的特性，当然，也可以通过调整分隔符进行多次分割达到相同的效果</a:t>
            </a:r>
          </a:p>
        </p:txBody>
      </p:sp>
    </p:spTree>
    <p:extLst>
      <p:ext uri="{BB962C8B-B14F-4D97-AF65-F5344CB8AC3E}">
        <p14:creationId xmlns:p14="http://schemas.microsoft.com/office/powerpoint/2010/main" val="3402070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403</Words>
  <Application>Microsoft Macintosh PowerPoint</Application>
  <PresentationFormat>宽屏</PresentationFormat>
  <Paragraphs>46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6" baseType="lpstr">
      <vt:lpstr>Arial</vt:lpstr>
      <vt:lpstr>Office 主题​​</vt:lpstr>
      <vt:lpstr>第4次作业讲评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奕宇 刘</dc:creator>
  <cp:lastModifiedBy>奕宇 刘</cp:lastModifiedBy>
  <cp:revision>9</cp:revision>
  <dcterms:created xsi:type="dcterms:W3CDTF">2025-03-24T01:30:25Z</dcterms:created>
  <dcterms:modified xsi:type="dcterms:W3CDTF">2025-03-24T03:11:31Z</dcterms:modified>
</cp:coreProperties>
</file>