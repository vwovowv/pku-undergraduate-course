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59" autoAdjust="0"/>
    <p:restoredTop sz="94703"/>
  </p:normalViewPr>
  <p:slideViewPr>
    <p:cSldViewPr snapToGrid="0">
      <p:cViewPr varScale="1">
        <p:scale>
          <a:sx n="127" d="100"/>
          <a:sy n="127" d="100"/>
        </p:scale>
        <p:origin x="2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BEA466-D13C-E345-7A76-B22FF9EB3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70CC0CA-DC0D-E869-E616-9841DDBFF6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E85031-6CB5-3C3E-9FAE-059EF4C75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33B54-C431-4B4F-A0C7-FF4C959E993C}" type="datetimeFigureOut">
              <a:rPr lang="zh-CN" altLang="en-US" smtClean="0"/>
              <a:t>2025/4/6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062AF6-B08B-1D0B-B34B-571432181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68305F-92AE-743A-DB36-BFBE6833B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43AB1-27B9-44EE-A222-F9081E1D6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36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56139D-5DDD-3C77-E038-0B9928E5D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794497-8FE5-42C6-B1E8-58A4DA36A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AEF271-5B13-6521-351B-D4002CE75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33B54-C431-4B4F-A0C7-FF4C959E993C}" type="datetimeFigureOut">
              <a:rPr lang="zh-CN" altLang="en-US" smtClean="0"/>
              <a:t>2025/4/6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D3FBA2-A455-8650-ABB7-094DB1DAC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E1B2A1-E328-1B43-8577-B8A43CE0F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43AB1-27B9-44EE-A222-F9081E1D6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246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5D1A91-4E5F-29C6-D5F7-88ABFE680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C87BD0-5312-7027-1712-D8B2565AC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E0092E-F65D-AEF1-6CF3-A2FFC2774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33B54-C431-4B4F-A0C7-FF4C959E993C}" type="datetimeFigureOut">
              <a:rPr lang="zh-CN" altLang="en-US" smtClean="0"/>
              <a:t>2025/4/6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14696E-CEDB-9ECD-AA0D-7B7A7DC9C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31D9F3-EDDE-0A5C-A6B8-74CFA3F6D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43AB1-27B9-44EE-A222-F9081E1D6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416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828AE9-7258-CCD3-963E-4CCBA47CD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69A517-263A-69C1-BBF8-11FADE977A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FD72537-B656-35AC-E79E-046F48006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C208E2-E992-B2A1-51BC-2DE58313F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33B54-C431-4B4F-A0C7-FF4C959E993C}" type="datetimeFigureOut">
              <a:rPr lang="zh-CN" altLang="en-US" smtClean="0"/>
              <a:t>2025/4/6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205DC5-C22B-0A23-522D-F76CA828C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AF6D94-1E49-B8B8-5C5F-C2B1735E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43AB1-27B9-44EE-A222-F9081E1D6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293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121FBF-98EE-A63D-9BEC-F623B3ACC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7D5720-6251-6CA1-CD11-0291750FB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010E8D-9E29-ADDC-A5C4-FD1A434E1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3962983-A29B-8C3A-0C26-C66D9427F5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CAB2AF2-3580-58C0-4488-CD857292C1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0D0FD1A-C3FA-59C3-91F3-50E23046D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33B54-C431-4B4F-A0C7-FF4C959E993C}" type="datetimeFigureOut">
              <a:rPr lang="zh-CN" altLang="en-US" smtClean="0"/>
              <a:t>2025/4/6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D92FEF-7C03-9DD8-7406-2A22CA397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42EB7A7-2911-0832-81EE-D7B43040E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43AB1-27B9-44EE-A222-F9081E1D6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207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C624A-EDF2-470B-C340-9B934294C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F5BF50C-A861-15CC-442D-05A15DB1A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33B54-C431-4B4F-A0C7-FF4C959E993C}" type="datetimeFigureOut">
              <a:rPr lang="zh-CN" altLang="en-US" smtClean="0"/>
              <a:t>2025/4/6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8AF074E-720A-E667-B45B-E17DCA542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0A0FE00-BEF2-611C-03A3-081E60D51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43AB1-27B9-44EE-A222-F9081E1D6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796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481C2D-7988-677A-B532-97F015279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33B54-C431-4B4F-A0C7-FF4C959E993C}" type="datetimeFigureOut">
              <a:rPr lang="zh-CN" altLang="en-US" smtClean="0"/>
              <a:t>2025/4/6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6470DD9-AC53-E6D0-3A34-89318035B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0014E1-1775-90AF-3C91-59908077D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43AB1-27B9-44EE-A222-F9081E1D6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029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CDBCAE-2D45-23EC-0065-B5AB385D4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822195-315B-9B37-4379-7E3D05AB5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238D5A-8D4A-10FF-5404-152D878127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68C359-D349-A733-5DD1-2CC0F4665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33B54-C431-4B4F-A0C7-FF4C959E993C}" type="datetimeFigureOut">
              <a:rPr lang="zh-CN" altLang="en-US" smtClean="0"/>
              <a:t>2025/4/6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EAFFF6-8E66-F26E-1DFD-806EF9506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1BA796-D928-C5C7-838D-0912C4036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43AB1-27B9-44EE-A222-F9081E1D6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266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0187E6-121F-957B-2B9B-021AC1246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D0A157E-F25C-D439-6C27-651BD9110C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43FBC6-0C82-07FA-1BA2-915900080C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803DD2-D17E-68E2-7D1A-6E562522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33B54-C431-4B4F-A0C7-FF4C959E993C}" type="datetimeFigureOut">
              <a:rPr lang="zh-CN" altLang="en-US" smtClean="0"/>
              <a:t>2025/4/6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CA5ABF-0AF6-E13A-BAE9-91E396121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4BF66D-58C5-13C8-0ACF-7000546AD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43AB1-27B9-44EE-A222-F9081E1D6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962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95CAF2-26D6-DF8D-56DD-1D55C3553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E1E874-FA91-9F7B-122D-75410C9D72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FABF6A-3921-E670-8730-9DB081E5E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33B54-C431-4B4F-A0C7-FF4C959E993C}" type="datetimeFigureOut">
              <a:rPr lang="zh-CN" altLang="en-US" smtClean="0"/>
              <a:t>2025/4/6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458079-EDA6-4F2D-2F45-F8CA447CC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56626F-D8A9-DEEC-A7C8-35BACA1C8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43AB1-27B9-44EE-A222-F9081E1D6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944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2910CC-8E60-CD29-CEAD-6B502DE96D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EAF1B5-BE3B-C67F-7E87-9DE92BA95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5DF673-5791-4F43-F742-6711F6B67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33B54-C431-4B4F-A0C7-FF4C959E993C}" type="datetimeFigureOut">
              <a:rPr lang="zh-CN" altLang="en-US" smtClean="0"/>
              <a:t>2025/4/6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97B88A-CA8B-D2B1-1EC4-A16644AB5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FC182E-6807-9EB8-9D5A-F3525F044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43AB1-27B9-44EE-A222-F9081E1D6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933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694A771-7746-D582-A119-B8F838CD2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2F362C-B1C5-A871-04CB-9A60226DB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1102DB-8DD4-6275-8C96-BE60B96169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33B54-C431-4B4F-A0C7-FF4C959E993C}" type="datetimeFigureOut">
              <a:rPr lang="zh-CN" altLang="en-US" smtClean="0"/>
              <a:t>2025/4/6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1E9AC2-3D70-093E-C62D-69F0DB9715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326A15-DFA7-B275-677D-ABB616908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43AB1-27B9-44EE-A222-F9081E1D6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750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5A092-2112-83D2-6768-2C8F2269A4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800" b="0" i="0" dirty="0">
                <a:effectLst/>
                <a:latin typeface="Roboto" panose="020F0502020204030204" pitchFamily="2" charset="0"/>
              </a:rPr>
              <a:t>乳腺癌患者转录组分析</a:t>
            </a:r>
            <a:endParaRPr lang="en-US" altLang="zh-CN" sz="4800" b="0" i="0" dirty="0">
              <a:effectLst/>
              <a:latin typeface="Roboto" panose="020F0502020204030204" pitchFamily="2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8F4F638-233B-1CB7-E3EF-0B4B014BE0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刘沛雨 </a:t>
            </a:r>
            <a:r>
              <a:rPr lang="en-US" altLang="zh-CN" dirty="0"/>
              <a:t>2100012289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0892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372201-E203-424B-A7A3-1804A8B62861}"/>
              </a:ext>
            </a:extLst>
          </p:cNvPr>
          <p:cNvSpPr txBox="1"/>
          <p:nvPr/>
        </p:nvSpPr>
        <p:spPr>
          <a:xfrm>
            <a:off x="411982" y="57275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分析流程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0F165F-D40E-8447-896C-CC3A0149932C}"/>
              </a:ext>
            </a:extLst>
          </p:cNvPr>
          <p:cNvSpPr txBox="1"/>
          <p:nvPr/>
        </p:nvSpPr>
        <p:spPr>
          <a:xfrm>
            <a:off x="643095" y="272310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数据预处理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667230-74C7-C84A-BED6-FCC1769B4AFE}"/>
              </a:ext>
            </a:extLst>
          </p:cNvPr>
          <p:cNvSpPr txBox="1"/>
          <p:nvPr/>
        </p:nvSpPr>
        <p:spPr>
          <a:xfrm>
            <a:off x="2833635" y="272310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差异表达分析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068105-10C2-5242-8332-DC5215582E8B}"/>
              </a:ext>
            </a:extLst>
          </p:cNvPr>
          <p:cNvSpPr txBox="1"/>
          <p:nvPr/>
        </p:nvSpPr>
        <p:spPr>
          <a:xfrm>
            <a:off x="5938576" y="1758462"/>
            <a:ext cx="143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GO</a:t>
            </a:r>
            <a:r>
              <a:rPr kumimoji="1" lang="zh-CN" altLang="en-US" dirty="0"/>
              <a:t>富集分析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D7D5E0-1CC3-B941-97BC-F897F7E54475}"/>
              </a:ext>
            </a:extLst>
          </p:cNvPr>
          <p:cNvSpPr txBox="1"/>
          <p:nvPr/>
        </p:nvSpPr>
        <p:spPr>
          <a:xfrm>
            <a:off x="5938576" y="3526971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KEGG</a:t>
            </a:r>
            <a:r>
              <a:rPr kumimoji="1" lang="zh-CN" altLang="en-US" dirty="0"/>
              <a:t>分析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675A09F-F5DB-7F43-89C6-2896AEFBD48B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1981923" y="2907769"/>
            <a:ext cx="8517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728090D-394E-5644-9F6D-E0036801499E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4403295" y="1943128"/>
            <a:ext cx="1535281" cy="9646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E197B00-46B3-0A4A-840E-2B172377B2EE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4403295" y="2907769"/>
            <a:ext cx="1535281" cy="803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793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DF6A7-144A-9CD9-FA2F-01DD16669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6390495-597A-AD36-7EA4-5D2C1F0CA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9305"/>
            <a:ext cx="3805084" cy="745766"/>
          </a:xfrm>
        </p:spPr>
        <p:txBody>
          <a:bodyPr>
            <a:normAutofit fontScale="90000"/>
          </a:bodyPr>
          <a:lstStyle/>
          <a:p>
            <a:r>
              <a:rPr lang="zh-CN" altLang="en-US" sz="4800" dirty="0"/>
              <a:t>一、实验方法</a:t>
            </a:r>
          </a:p>
        </p:txBody>
      </p:sp>
      <p:sp>
        <p:nvSpPr>
          <p:cNvPr id="7" name="副标题 6">
            <a:extLst>
              <a:ext uri="{FF2B5EF4-FFF2-40B4-BE49-F238E27FC236}">
                <a16:creationId xmlns:a16="http://schemas.microsoft.com/office/drawing/2014/main" id="{015A2E5E-486F-156F-78B9-52DFDA0E33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218" y="1075146"/>
            <a:ext cx="10451691" cy="5404311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zh-CN" altLang="zh-CN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数据集</a:t>
            </a:r>
            <a:r>
              <a:rPr lang="zh-CN" altLang="en-US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TCGA-</a:t>
            </a:r>
            <a:r>
              <a:rPr lang="en-US" altLang="zh-CN" sz="2800" kern="10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BRCA.star_counts.tsv</a:t>
            </a:r>
            <a:r>
              <a:rPr lang="zh-CN" altLang="en-US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基因表达矩阵</a:t>
            </a:r>
            <a:endParaRPr lang="en-US" altLang="zh-CN" sz="2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zh-CN" altLang="en-US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使用到的</a:t>
            </a:r>
            <a:r>
              <a:rPr lang="en-US" altLang="zh-CN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包</a:t>
            </a:r>
            <a:r>
              <a:rPr lang="en-US" altLang="zh-CN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/R</a:t>
            </a:r>
            <a:r>
              <a:rPr lang="zh-CN" altLang="en-US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内置数据库：</a:t>
            </a:r>
            <a:endParaRPr lang="en-US" altLang="zh-CN" sz="2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DESeq2 v1.46.0; </a:t>
            </a:r>
          </a:p>
          <a:p>
            <a:pPr algn="l"/>
            <a:r>
              <a:rPr lang="en-US" altLang="zh-CN" sz="2800" kern="10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tidyverse</a:t>
            </a:r>
            <a:r>
              <a:rPr lang="en-US" altLang="zh-CN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v2.0.0; </a:t>
            </a:r>
          </a:p>
          <a:p>
            <a:pPr algn="l"/>
            <a:r>
              <a:rPr lang="en-US" altLang="zh-CN" sz="2800" kern="10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dplyr</a:t>
            </a:r>
            <a:r>
              <a:rPr lang="en-US" altLang="zh-CN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v1.1.4;</a:t>
            </a:r>
          </a:p>
          <a:p>
            <a:pPr algn="l"/>
            <a:r>
              <a:rPr lang="en-US" altLang="zh-CN" sz="2800" kern="10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org.Hs.eg.db</a:t>
            </a:r>
            <a:r>
              <a:rPr lang="en-US" altLang="zh-CN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v3.20.0;</a:t>
            </a:r>
          </a:p>
          <a:p>
            <a:pPr algn="l"/>
            <a:r>
              <a:rPr lang="en-US" altLang="zh-CN" sz="2800" kern="10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clusterProfiler</a:t>
            </a:r>
            <a:r>
              <a:rPr lang="en-US" altLang="zh-CN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v4.14.6;</a:t>
            </a:r>
          </a:p>
          <a:p>
            <a:pPr algn="l"/>
            <a:r>
              <a:rPr lang="en-US" altLang="zh-CN" sz="2800" kern="10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stringr</a:t>
            </a:r>
            <a:r>
              <a:rPr lang="en-US" altLang="zh-CN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v1.5.1;</a:t>
            </a:r>
          </a:p>
          <a:p>
            <a:pPr algn="l"/>
            <a:r>
              <a:rPr lang="en-US" altLang="zh-CN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ggplot2 v3.5.1;</a:t>
            </a:r>
          </a:p>
          <a:p>
            <a:pPr algn="l"/>
            <a:r>
              <a:rPr lang="en-US" altLang="zh-CN" sz="2800" kern="10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ggrepel</a:t>
            </a:r>
            <a:r>
              <a:rPr lang="en-US" altLang="zh-CN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v0.9.6;</a:t>
            </a:r>
          </a:p>
          <a:p>
            <a:pPr algn="l"/>
            <a:r>
              <a:rPr lang="en-US" altLang="zh-CN" sz="2800" kern="10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pheatmap</a:t>
            </a:r>
            <a:r>
              <a:rPr lang="en-US" altLang="zh-CN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v1.0.12</a:t>
            </a:r>
          </a:p>
          <a:p>
            <a:pPr algn="l"/>
            <a:endParaRPr lang="en-US" altLang="zh-CN" sz="2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endParaRPr lang="en-US" altLang="zh-CN" sz="2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endParaRPr lang="en-US" altLang="zh-CN" sz="2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endParaRPr lang="en-US" altLang="zh-CN" sz="2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endParaRPr lang="zh-CN" altLang="en-US" sz="2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874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E64B1-8FE9-95BE-0E71-0EA4D7C2A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93F9816-C4FF-467B-37AB-F26EAB8AD4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9305"/>
            <a:ext cx="3805084" cy="745766"/>
          </a:xfrm>
        </p:spPr>
        <p:txBody>
          <a:bodyPr>
            <a:normAutofit fontScale="90000"/>
          </a:bodyPr>
          <a:lstStyle/>
          <a:p>
            <a:r>
              <a:rPr lang="zh-CN" altLang="en-US" sz="4800" dirty="0"/>
              <a:t>二、实验结果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34C77A-112B-C44F-8B37-F5FCE078E0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01" y="1105318"/>
            <a:ext cx="5340699" cy="53406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9FD793-0764-F947-8302-30208D704A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0154" y="1105318"/>
            <a:ext cx="6358932" cy="529911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F1BFA0F-044D-D246-9055-B7D96955E96B}"/>
              </a:ext>
            </a:extLst>
          </p:cNvPr>
          <p:cNvSpPr txBox="1"/>
          <p:nvPr/>
        </p:nvSpPr>
        <p:spPr>
          <a:xfrm>
            <a:off x="4998008" y="411983"/>
            <a:ext cx="50449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选择上调和下调最显著的前</a:t>
            </a:r>
            <a:r>
              <a:rPr kumimoji="1" lang="en-US" altLang="zh-CN" dirty="0"/>
              <a:t>20</a:t>
            </a:r>
            <a:r>
              <a:rPr kumimoji="1" lang="zh-CN" altLang="en-US" dirty="0"/>
              <a:t>个基因进行可视化</a:t>
            </a:r>
            <a:endParaRPr kumimoji="1" lang="en-US" altLang="zh-CN" dirty="0"/>
          </a:p>
          <a:p>
            <a:r>
              <a:rPr kumimoji="1" lang="zh-CN" altLang="en-US" dirty="0"/>
              <a:t>可以在</a:t>
            </a:r>
            <a:r>
              <a:rPr kumimoji="1" lang="en-US" altLang="zh-CN" dirty="0"/>
              <a:t>GEPIA</a:t>
            </a:r>
            <a:r>
              <a:rPr kumimoji="1" lang="zh-CN" altLang="en-US" dirty="0"/>
              <a:t>上查一下基因的功能</a:t>
            </a:r>
          </a:p>
        </p:txBody>
      </p:sp>
    </p:spTree>
    <p:extLst>
      <p:ext uri="{BB962C8B-B14F-4D97-AF65-F5344CB8AC3E}">
        <p14:creationId xmlns:p14="http://schemas.microsoft.com/office/powerpoint/2010/main" val="657115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E64B1-8FE9-95BE-0E71-0EA4D7C2A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93F9816-C4FF-467B-37AB-F26EAB8AD4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9305"/>
            <a:ext cx="3805084" cy="745766"/>
          </a:xfrm>
        </p:spPr>
        <p:txBody>
          <a:bodyPr>
            <a:normAutofit fontScale="90000"/>
          </a:bodyPr>
          <a:lstStyle/>
          <a:p>
            <a:r>
              <a:rPr lang="zh-CN" altLang="en-US" sz="4800" dirty="0"/>
              <a:t>二、实验结果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1BFA0F-044D-D246-9055-B7D96955E96B}"/>
              </a:ext>
            </a:extLst>
          </p:cNvPr>
          <p:cNvSpPr txBox="1"/>
          <p:nvPr/>
        </p:nvSpPr>
        <p:spPr>
          <a:xfrm>
            <a:off x="5060366" y="579977"/>
            <a:ext cx="3326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利用</a:t>
            </a:r>
            <a:r>
              <a:rPr kumimoji="1" lang="en-US" altLang="zh-CN" dirty="0"/>
              <a:t>GEPIA</a:t>
            </a:r>
            <a:r>
              <a:rPr kumimoji="1" lang="zh-CN" altLang="en-US" dirty="0"/>
              <a:t>进行验证，结果无误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A2C6FB-56E4-8044-8B68-B7CC91692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559" y="1569907"/>
            <a:ext cx="6108979" cy="35296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AB39CF-1D7E-6B4E-809D-27F5B8973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2879"/>
            <a:ext cx="5898754" cy="388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644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E64B1-8FE9-95BE-0E71-0EA4D7C2A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93F9816-C4FF-467B-37AB-F26EAB8AD4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9305"/>
            <a:ext cx="3805084" cy="745766"/>
          </a:xfrm>
        </p:spPr>
        <p:txBody>
          <a:bodyPr>
            <a:normAutofit fontScale="90000"/>
          </a:bodyPr>
          <a:lstStyle/>
          <a:p>
            <a:r>
              <a:rPr lang="zh-CN" altLang="en-US" sz="4800" dirty="0"/>
              <a:t>二、实验结果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44E7E5-A145-B647-AD66-9322693EA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605" y="875071"/>
            <a:ext cx="5772778" cy="57727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0701DE-1F1F-4847-8B07-292A1601AC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9383" y="875071"/>
            <a:ext cx="5772779" cy="57727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0D0BADB-0E95-AB47-B27D-E78E4AA13A0E}"/>
              </a:ext>
            </a:extLst>
          </p:cNvPr>
          <p:cNvSpPr txBox="1"/>
          <p:nvPr/>
        </p:nvSpPr>
        <p:spPr>
          <a:xfrm>
            <a:off x="4300694" y="179022"/>
            <a:ext cx="7084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左图为</a:t>
            </a:r>
            <a:r>
              <a:rPr kumimoji="1" lang="en-US" altLang="zh-CN" dirty="0"/>
              <a:t>GO</a:t>
            </a:r>
            <a:r>
              <a:rPr kumimoji="1" lang="zh-CN" altLang="en-US" dirty="0"/>
              <a:t>富集分析得到的基因生物学功能注释，右图为</a:t>
            </a:r>
            <a:r>
              <a:rPr kumimoji="1" lang="en-US" altLang="zh-CN" dirty="0"/>
              <a:t>KEGG</a:t>
            </a:r>
            <a:r>
              <a:rPr kumimoji="1" lang="zh-CN" altLang="en-US" dirty="0"/>
              <a:t>分析得到的信号通路（可以挑几个解释一下）</a:t>
            </a:r>
          </a:p>
        </p:txBody>
      </p:sp>
    </p:spTree>
    <p:extLst>
      <p:ext uri="{BB962C8B-B14F-4D97-AF65-F5344CB8AC3E}">
        <p14:creationId xmlns:p14="http://schemas.microsoft.com/office/powerpoint/2010/main" val="2460788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152</Words>
  <Application>Microsoft Macintosh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Arial</vt:lpstr>
      <vt:lpstr>Calibri</vt:lpstr>
      <vt:lpstr>Roboto</vt:lpstr>
      <vt:lpstr>Office 主题​​</vt:lpstr>
      <vt:lpstr>乳腺癌患者转录组分析</vt:lpstr>
      <vt:lpstr>PowerPoint Presentation</vt:lpstr>
      <vt:lpstr>一、实验方法</vt:lpstr>
      <vt:lpstr>二、实验结果</vt:lpstr>
      <vt:lpstr>二、实验结果</vt:lpstr>
      <vt:lpstr>二、实验结果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乳腺癌患者基因组甲基化分析</dc:title>
  <dc:creator>思延 吴</dc:creator>
  <cp:lastModifiedBy>刘 沛雨</cp:lastModifiedBy>
  <cp:revision>4</cp:revision>
  <dcterms:created xsi:type="dcterms:W3CDTF">2025-04-05T15:26:01Z</dcterms:created>
  <dcterms:modified xsi:type="dcterms:W3CDTF">2025-04-06T04:04:29Z</dcterms:modified>
</cp:coreProperties>
</file>