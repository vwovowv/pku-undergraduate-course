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425" r:id="rId2"/>
    <p:sldId id="427" r:id="rId3"/>
    <p:sldId id="430" r:id="rId4"/>
    <p:sldId id="433" r:id="rId5"/>
    <p:sldId id="434" r:id="rId6"/>
    <p:sldId id="446" r:id="rId7"/>
    <p:sldId id="438" r:id="rId8"/>
    <p:sldId id="435" r:id="rId9"/>
    <p:sldId id="440" r:id="rId10"/>
    <p:sldId id="441" r:id="rId11"/>
    <p:sldId id="442" r:id="rId12"/>
    <p:sldId id="439" r:id="rId13"/>
    <p:sldId id="447" r:id="rId14"/>
    <p:sldId id="448" r:id="rId15"/>
    <p:sldId id="436" r:id="rId16"/>
    <p:sldId id="437" r:id="rId17"/>
    <p:sldId id="443" r:id="rId18"/>
    <p:sldId id="444" r:id="rId19"/>
    <p:sldId id="277" r:id="rId2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05"/>
    <p:restoredTop sz="91563"/>
  </p:normalViewPr>
  <p:slideViewPr>
    <p:cSldViewPr snapToGrid="0" snapToObjects="1">
      <p:cViewPr varScale="1">
        <p:scale>
          <a:sx n="115" d="100"/>
          <a:sy n="115" d="100"/>
        </p:scale>
        <p:origin x="1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8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实验目的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5308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/>
              <a:t>胆固醇在体内大多与长链脂肪酸结合形成</a:t>
            </a:r>
            <a:r>
              <a:rPr lang="zh-CN" altLang="en-US">
                <a:solidFill>
                  <a:srgbClr val="FF0000"/>
                </a:solidFill>
              </a:rPr>
              <a:t>胆固醇酯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9314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4540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6109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9937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4773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5875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8354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2318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8047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733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7806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8571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9265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5640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0218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088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454-CBC5-0844-8E76-C6E28BA84909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6404-DCAA-A44D-9657-B605F185714F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B659-EDE0-AD4D-9A19-F97575D3A86B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7E15-EF90-A04C-9E8D-7D87F5B3144A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5F99-32E8-AE48-9E4E-C28EA4F528EC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6F4D-5BFF-3547-AC37-787533AFDFEE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F076-A352-7F4B-AE9D-7D5DD7B99B48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F480-957E-A74F-87D5-CE10A0880AFC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01469-409E-374F-A2C0-11933171BF7B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FEA7-8E1E-3748-B5F1-ACBF6673B8E4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FD00C-90CD-4E48-A64B-1F5FC61CCF5A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A9B15-69A7-A145-AC80-8CA66F579BF2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06C44D-EF52-3E45-B5A7-9F0C333C3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8117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CN" dirty="0"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第三</a:t>
            </a:r>
            <a:r>
              <a:rPr lang="zh-CN" altLang="en-CN"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大组</a:t>
            </a:r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E7A7E-4A6E-0B4F-8DBE-2FA73700C383}"/>
              </a:ext>
            </a:extLst>
          </p:cNvPr>
          <p:cNvSpPr txBox="1"/>
          <p:nvPr/>
        </p:nvSpPr>
        <p:spPr>
          <a:xfrm>
            <a:off x="2002571" y="2468886"/>
            <a:ext cx="81868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800" dirty="0">
                <a:latin typeface="SimHei" panose="02010609060101010101" pitchFamily="49" charset="-122"/>
                <a:ea typeface="SimHei" panose="02010609060101010101" pitchFamily="49" charset="-122"/>
              </a:rPr>
              <a:t>开放实验：胆固醇的定量测定</a:t>
            </a:r>
          </a:p>
        </p:txBody>
      </p:sp>
    </p:spTree>
    <p:extLst>
      <p:ext uri="{BB962C8B-B14F-4D97-AF65-F5344CB8AC3E}">
        <p14:creationId xmlns:p14="http://schemas.microsoft.com/office/powerpoint/2010/main" val="270624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B9688C-B9FC-1640-8AAE-EFF505E536B8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实验背景</a:t>
            </a:r>
          </a:p>
        </p:txBody>
      </p:sp>
      <p:sp>
        <p:nvSpPr>
          <p:cNvPr id="12" name="文本框 1">
            <a:extLst>
              <a:ext uri="{FF2B5EF4-FFF2-40B4-BE49-F238E27FC236}">
                <a16:creationId xmlns:a16="http://schemas.microsoft.com/office/drawing/2014/main" id="{9D18453B-1CC6-844B-8723-86A158610AA0}"/>
              </a:ext>
            </a:extLst>
          </p:cNvPr>
          <p:cNvSpPr txBox="1"/>
          <p:nvPr/>
        </p:nvSpPr>
        <p:spPr>
          <a:xfrm>
            <a:off x="298732" y="1093477"/>
            <a:ext cx="6320230" cy="522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胆固醇（</a:t>
            </a:r>
            <a:r>
              <a:rPr kumimoji="1" lang="en-US" altLang="zh-CN" sz="2000" dirty="0"/>
              <a:t>cholesterol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脂质，化学式：</a:t>
            </a:r>
            <a:r>
              <a:rPr lang="en-US" dirty="0"/>
              <a:t>C</a:t>
            </a:r>
            <a:r>
              <a:rPr lang="en-US" baseline="-25000" dirty="0"/>
              <a:t>27</a:t>
            </a:r>
            <a:r>
              <a:rPr lang="en-US" dirty="0"/>
              <a:t>H</a:t>
            </a:r>
            <a:r>
              <a:rPr lang="en-US" baseline="-25000" dirty="0"/>
              <a:t>46</a:t>
            </a:r>
            <a:r>
              <a:rPr lang="en-US" dirty="0"/>
              <a:t>O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结构与性质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极性头部基团（</a:t>
            </a:r>
            <a:r>
              <a:rPr lang="en-US" altLang="zh-CN" dirty="0"/>
              <a:t>polar head group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类固醇核（</a:t>
            </a:r>
            <a:r>
              <a:rPr kumimoji="1" lang="en-US" altLang="zh-CN" dirty="0">
                <a:solidFill>
                  <a:prstClr val="black"/>
                </a:solidFill>
              </a:rPr>
              <a:t>steroid nucleus</a:t>
            </a:r>
            <a:r>
              <a:rPr kumimoji="1" lang="zh-CN" altLang="en-US" dirty="0">
                <a:solidFill>
                  <a:prstClr val="black"/>
                </a:solidFill>
              </a:rPr>
              <a:t>）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烷基侧链（</a:t>
            </a:r>
            <a:r>
              <a:rPr kumimoji="1" lang="en-US" altLang="zh-CN" dirty="0">
                <a:solidFill>
                  <a:prstClr val="black"/>
                </a:solidFill>
              </a:rPr>
              <a:t>alkyl side chain</a:t>
            </a:r>
            <a:r>
              <a:rPr kumimoji="1" lang="zh-CN" altLang="en-US" dirty="0">
                <a:solidFill>
                  <a:prstClr val="black"/>
                </a:solidFill>
              </a:rPr>
              <a:t>）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CN" dirty="0">
                <a:solidFill>
                  <a:schemeClr val="accent5"/>
                </a:solidFill>
              </a:rPr>
              <a:t>两亲性</a:t>
            </a:r>
            <a:endParaRPr kumimoji="1" lang="en-US" altLang="zh-CN" dirty="0">
              <a:solidFill>
                <a:schemeClr val="accent5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功能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绝大多数真核生物的细胞质膜组分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多种化合物的合成前体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胆汁酸：胆固醇的极性衍生物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类固醇激素：性激素、肾上腺素等</a:t>
            </a:r>
            <a:endParaRPr kumimoji="1" lang="en-US" altLang="zh-CN" dirty="0">
              <a:solidFill>
                <a:prstClr val="black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97451B-9DB5-F545-85CB-B825F2715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745" y="847670"/>
            <a:ext cx="4343400" cy="2311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8DA3CF-0BD7-A643-984A-C6CE7EC68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744" y="3415638"/>
            <a:ext cx="4343400" cy="2057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DB57EA-3482-224E-8834-191E068DF14A}"/>
              </a:ext>
            </a:extLst>
          </p:cNvPr>
          <p:cNvSpPr txBox="1"/>
          <p:nvPr/>
        </p:nvSpPr>
        <p:spPr>
          <a:xfrm>
            <a:off x="6318248" y="5631284"/>
            <a:ext cx="5344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Nelson, D. L., &amp; Cox, M. M. (2017). </a:t>
            </a:r>
            <a:r>
              <a:rPr lang="en-US" sz="1600" b="0" i="1" u="none" strike="noStrike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Lehninger</a:t>
            </a:r>
            <a:r>
              <a:rPr lang="en-US" sz="1600" b="0" i="1" u="none" strike="noStrike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 principles of biochemistry</a:t>
            </a:r>
            <a:r>
              <a:rPr lang="en-US" sz="1600" b="0" i="0" u="none" strike="noStrike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 (7th ed.). W.H. Freeman.</a:t>
            </a:r>
            <a:endParaRPr lang="zh-CN" alt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A4418B-C3D9-6440-B6D1-D2E674480377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实验背景与原理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2C863-69F6-9A46-8485-6E1E1BA0DB0B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6307F9-1DD2-8D4A-9F3C-4F33D8BC19CF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83FDD8-E9B9-5647-9114-3CEE2C224C08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</p:spTree>
    <p:extLst>
      <p:ext uri="{BB962C8B-B14F-4D97-AF65-F5344CB8AC3E}">
        <p14:creationId xmlns:p14="http://schemas.microsoft.com/office/powerpoint/2010/main" val="1058546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实验原理：以酶法为例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1CE6C9-21CA-0241-8C62-5E1ADF68DE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1" r="2229" b="68636"/>
          <a:stretch/>
        </p:blipFill>
        <p:spPr>
          <a:xfrm>
            <a:off x="270427" y="1293625"/>
            <a:ext cx="11651146" cy="2345205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1E95BF-A65F-4B46-8829-B0941FA82681}"/>
              </a:ext>
            </a:extLst>
          </p:cNvPr>
          <p:cNvSpPr/>
          <p:nvPr/>
        </p:nvSpPr>
        <p:spPr>
          <a:xfrm>
            <a:off x="2837516" y="3763759"/>
            <a:ext cx="2989115" cy="2426229"/>
          </a:xfrm>
          <a:prstGeom prst="roundRect">
            <a:avLst>
              <a:gd name="adj" fmla="val 13554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﻿简单、快速、方便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易实现自动化（试剂盒）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反应条件温和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E7F02D-8097-474D-8CDE-E6A939165447}"/>
              </a:ext>
            </a:extLst>
          </p:cNvPr>
          <p:cNvSpPr/>
          <p:nvPr/>
        </p:nvSpPr>
        <p:spPr>
          <a:xfrm>
            <a:off x="6725675" y="4518951"/>
            <a:ext cx="2989116" cy="915844"/>
          </a:xfrm>
          <a:prstGeom prst="roundRect">
            <a:avLst>
              <a:gd name="adj" fmla="val 28975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酶的成本相对较高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C0745E-3ECD-8347-BC39-97F2AC58E348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实验背景与原理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71132B-54A7-6E4C-9379-C125450B9FF3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69C4C4-E280-6B42-AE9B-5F1C81C47C9A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CF0744-7EAA-C245-B844-878AE555BC7F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71570E-5A3A-E945-9819-A4782A8DD514}"/>
              </a:ext>
            </a:extLst>
          </p:cNvPr>
          <p:cNvSpPr txBox="1"/>
          <p:nvPr/>
        </p:nvSpPr>
        <p:spPr>
          <a:xfrm>
            <a:off x="270427" y="3132742"/>
            <a:ext cx="68288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Li LH, </a:t>
            </a:r>
            <a:r>
              <a:rPr lang="en-US" sz="1600" b="0" i="0" u="none" strike="noStrike" dirty="0" err="1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Dutkiewicz</a:t>
            </a:r>
            <a:r>
              <a:rPr lang="en-US" sz="1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 EP, Huang YC, Zhou HB, Hsu CC.</a:t>
            </a:r>
            <a:r>
              <a:rPr lang="en-US" sz="1600" b="0" i="1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 Analytical methods for cholesterol quantification.</a:t>
            </a:r>
            <a:r>
              <a:rPr lang="en-US" sz="1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 J Food Drug Anal. 2019 Apr;27(2):375-386.</a:t>
            </a:r>
            <a:endParaRPr lang="zh-CN" altLang="en-US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56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各种方法的比较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6D6975-7382-6343-8D53-989F872BB9CA}"/>
              </a:ext>
            </a:extLst>
          </p:cNvPr>
          <p:cNvSpPr/>
          <p:nvPr/>
        </p:nvSpPr>
        <p:spPr>
          <a:xfrm>
            <a:off x="8310319" y="1663009"/>
            <a:ext cx="2705758" cy="1600201"/>
          </a:xfrm>
          <a:prstGeom prst="roundRect">
            <a:avLst>
              <a:gd name="adj" fmla="val 20192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灵敏度最高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</a:t>
            </a:r>
            <a:r>
              <a:rPr kumimoji="1" lang="zh-CN" altLang="en-CN" dirty="0">
                <a:solidFill>
                  <a:schemeClr val="tx1"/>
                </a:solidFill>
              </a:rPr>
              <a:t>确</a:t>
            </a:r>
            <a:r>
              <a:rPr kumimoji="1" lang="zh-CN" altLang="en-US" dirty="0">
                <a:solidFill>
                  <a:schemeClr val="tx1"/>
                </a:solidFill>
              </a:rPr>
              <a:t>度最高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﻿测量范围广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A62442-BA88-F64D-B01D-FE8F980AB7F5}"/>
              </a:ext>
            </a:extLst>
          </p:cNvPr>
          <p:cNvSpPr/>
          <p:nvPr/>
        </p:nvSpPr>
        <p:spPr>
          <a:xfrm>
            <a:off x="8310319" y="3263210"/>
            <a:ext cx="2705757" cy="1757507"/>
          </a:xfrm>
          <a:prstGeom prst="roundRect">
            <a:avLst>
              <a:gd name="adj" fmla="val 17964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设备复杂，价格昂贵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需要对样品较多预处理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A13FAF-B4C3-6645-9013-5554968585C8}"/>
              </a:ext>
            </a:extLst>
          </p:cNvPr>
          <p:cNvSpPr/>
          <p:nvPr/>
        </p:nvSpPr>
        <p:spPr>
          <a:xfrm>
            <a:off x="1175923" y="1661562"/>
            <a:ext cx="2441818" cy="1059873"/>
          </a:xfrm>
          <a:prstGeom prst="roundRect">
            <a:avLst>
              <a:gd name="adj" fmla="val 25171"/>
            </a:avLst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反应原理简单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测定成本低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D3978D-FDF6-2F4C-8D70-3022CBE6024C}"/>
              </a:ext>
            </a:extLst>
          </p:cNvPr>
          <p:cNvSpPr/>
          <p:nvPr/>
        </p:nvSpPr>
        <p:spPr>
          <a:xfrm>
            <a:off x="1175923" y="2721435"/>
            <a:ext cx="2441818" cy="2297835"/>
          </a:xfrm>
          <a:prstGeom prst="roundRect">
            <a:avLst>
              <a:gd name="adj" fmla="val 8504"/>
            </a:avLst>
          </a:prstGeom>
          <a:solidFill>
            <a:srgbClr val="FF7E7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灵敏度较低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准确率较低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难以实现自动化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使用有毒有害试剂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反应产生有毒气体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5EC370-772F-7043-A1A8-AC13F266BA3B}"/>
              </a:ext>
            </a:extLst>
          </p:cNvPr>
          <p:cNvSpPr/>
          <p:nvPr/>
        </p:nvSpPr>
        <p:spPr>
          <a:xfrm>
            <a:off x="4469473" y="1661562"/>
            <a:ext cx="2989115" cy="2426229"/>
          </a:xfrm>
          <a:prstGeom prst="roundRect">
            <a:avLst>
              <a:gd name="adj" fmla="val 13554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﻿简单、快速、方便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易实现自动化（试剂盒）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反应条件温和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3F0E6B8-D39E-C44E-B77A-EAEB4554D771}"/>
              </a:ext>
            </a:extLst>
          </p:cNvPr>
          <p:cNvSpPr/>
          <p:nvPr/>
        </p:nvSpPr>
        <p:spPr>
          <a:xfrm>
            <a:off x="4469472" y="4093036"/>
            <a:ext cx="2989116" cy="915844"/>
          </a:xfrm>
          <a:prstGeom prst="roundRect">
            <a:avLst>
              <a:gd name="adj" fmla="val 28975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酶的成本相对较高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243FE-DC55-3640-985C-D8320CF4BA0B}"/>
              </a:ext>
            </a:extLst>
          </p:cNvPr>
          <p:cNvSpPr txBox="1"/>
          <p:nvPr/>
        </p:nvSpPr>
        <p:spPr>
          <a:xfrm>
            <a:off x="1919778" y="1194365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化学法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D6E86B-1EAF-E54E-8DF7-157AFCEF05BE}"/>
              </a:ext>
            </a:extLst>
          </p:cNvPr>
          <p:cNvSpPr txBox="1"/>
          <p:nvPr/>
        </p:nvSpPr>
        <p:spPr>
          <a:xfrm>
            <a:off x="5615216" y="119291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酶法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C10A64-6031-2C49-8AD0-7F3AD7FF77D8}"/>
              </a:ext>
            </a:extLst>
          </p:cNvPr>
          <p:cNvSpPr txBox="1"/>
          <p:nvPr/>
        </p:nvSpPr>
        <p:spPr>
          <a:xfrm>
            <a:off x="9186143" y="119291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质谱法</a:t>
            </a:r>
          </a:p>
        </p:txBody>
      </p:sp>
      <p:sp>
        <p:nvSpPr>
          <p:cNvPr id="18" name="文本框 1">
            <a:extLst>
              <a:ext uri="{FF2B5EF4-FFF2-40B4-BE49-F238E27FC236}">
                <a16:creationId xmlns:a16="http://schemas.microsoft.com/office/drawing/2014/main" id="{1D432BEC-E277-8B41-BA7F-05DDEDC6F9D5}"/>
              </a:ext>
            </a:extLst>
          </p:cNvPr>
          <p:cNvSpPr txBox="1"/>
          <p:nvPr/>
        </p:nvSpPr>
        <p:spPr>
          <a:xfrm>
            <a:off x="288757" y="5244919"/>
            <a:ext cx="5186067" cy="968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酶法是目前实验室最常用的检测方法</a:t>
            </a:r>
            <a:endParaRPr kumimoji="1" lang="en-US" altLang="zh-CN" sz="20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本次实验计划</a:t>
            </a:r>
            <a:r>
              <a:rPr kumimoji="1" lang="zh-CN" altLang="en-CN" sz="2000" dirty="0"/>
              <a:t>使用</a:t>
            </a:r>
            <a:r>
              <a:rPr kumimoji="1" lang="zh-CN" altLang="en-US" sz="2000" dirty="0">
                <a:solidFill>
                  <a:srgbClr val="FF0000"/>
                </a:solidFill>
              </a:rPr>
              <a:t>化学法</a:t>
            </a:r>
            <a:r>
              <a:rPr kumimoji="1" lang="zh-CN" altLang="en-US" sz="2000" dirty="0"/>
              <a:t>和</a:t>
            </a:r>
            <a:r>
              <a:rPr kumimoji="1" lang="zh-CN" altLang="en-US" sz="2000" dirty="0">
                <a:solidFill>
                  <a:srgbClr val="FF0000"/>
                </a:solidFill>
              </a:rPr>
              <a:t>酶法</a:t>
            </a:r>
            <a:endParaRPr kumimoji="1"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</p:spTree>
    <p:extLst>
      <p:ext uri="{BB962C8B-B14F-4D97-AF65-F5344CB8AC3E}">
        <p14:creationId xmlns:p14="http://schemas.microsoft.com/office/powerpoint/2010/main" val="142880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实验试剂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8BF83C-CB1F-5343-AA7B-8C7871BE8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580991"/>
              </p:ext>
            </p:extLst>
          </p:nvPr>
        </p:nvGraphicFramePr>
        <p:xfrm>
          <a:off x="1086464" y="968716"/>
          <a:ext cx="10019072" cy="540537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431296">
                  <a:extLst>
                    <a:ext uri="{9D8B030D-6E8A-4147-A177-3AD203B41FA5}">
                      <a16:colId xmlns:a16="http://schemas.microsoft.com/office/drawing/2014/main" val="988093082"/>
                    </a:ext>
                  </a:extLst>
                </a:gridCol>
                <a:gridCol w="1823184">
                  <a:extLst>
                    <a:ext uri="{9D8B030D-6E8A-4147-A177-3AD203B41FA5}">
                      <a16:colId xmlns:a16="http://schemas.microsoft.com/office/drawing/2014/main" val="2706476413"/>
                    </a:ext>
                  </a:extLst>
                </a:gridCol>
                <a:gridCol w="1039408">
                  <a:extLst>
                    <a:ext uri="{9D8B030D-6E8A-4147-A177-3AD203B41FA5}">
                      <a16:colId xmlns:a16="http://schemas.microsoft.com/office/drawing/2014/main" val="1633304992"/>
                    </a:ext>
                  </a:extLst>
                </a:gridCol>
                <a:gridCol w="1431296">
                  <a:extLst>
                    <a:ext uri="{9D8B030D-6E8A-4147-A177-3AD203B41FA5}">
                      <a16:colId xmlns:a16="http://schemas.microsoft.com/office/drawing/2014/main" val="1550304177"/>
                    </a:ext>
                  </a:extLst>
                </a:gridCol>
                <a:gridCol w="1431296">
                  <a:extLst>
                    <a:ext uri="{9D8B030D-6E8A-4147-A177-3AD203B41FA5}">
                      <a16:colId xmlns:a16="http://schemas.microsoft.com/office/drawing/2014/main" val="705877629"/>
                    </a:ext>
                  </a:extLst>
                </a:gridCol>
                <a:gridCol w="1431296">
                  <a:extLst>
                    <a:ext uri="{9D8B030D-6E8A-4147-A177-3AD203B41FA5}">
                      <a16:colId xmlns:a16="http://schemas.microsoft.com/office/drawing/2014/main" val="4115059667"/>
                    </a:ext>
                  </a:extLst>
                </a:gridCol>
                <a:gridCol w="1431296">
                  <a:extLst>
                    <a:ext uri="{9D8B030D-6E8A-4147-A177-3AD203B41FA5}">
                      <a16:colId xmlns:a16="http://schemas.microsoft.com/office/drawing/2014/main" val="3714093240"/>
                    </a:ext>
                  </a:extLst>
                </a:gridCol>
              </a:tblGrid>
              <a:tr h="347927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方法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试剂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厂家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货号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状态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储存温度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库存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178440886"/>
                  </a:ext>
                </a:extLst>
              </a:tr>
              <a:tr h="3307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通用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胆固醇标准品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源叶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S23182-25g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-20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45311624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无水乙醇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液态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2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340420292"/>
                  </a:ext>
                </a:extLst>
              </a:tr>
              <a:tr h="330766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磷硫铁法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三氯化铁（</a:t>
                      </a:r>
                      <a:r>
                        <a:rPr lang="en-US" sz="1400" kern="0" dirty="0">
                          <a:effectLst/>
                        </a:rPr>
                        <a:t>FeCl3</a:t>
                      </a:r>
                      <a:r>
                        <a:rPr lang="zh-CN" sz="1400" kern="0" dirty="0">
                          <a:effectLst/>
                        </a:rPr>
                        <a:t>·</a:t>
                      </a:r>
                      <a:r>
                        <a:rPr lang="en-US" sz="1400" kern="0" dirty="0">
                          <a:effectLst/>
                        </a:rPr>
                        <a:t>6H2O</a:t>
                      </a:r>
                      <a:r>
                        <a:rPr lang="zh-CN" sz="1400" kern="0" dirty="0">
                          <a:effectLst/>
                        </a:rPr>
                        <a:t>）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2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696028481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浓磷酸（</a:t>
                      </a:r>
                      <a:r>
                        <a:rPr lang="en-US" sz="1400" kern="0">
                          <a:effectLst/>
                        </a:rPr>
                        <a:t>85%</a:t>
                      </a:r>
                      <a:r>
                        <a:rPr lang="zh-CN" sz="1400" kern="0">
                          <a:effectLst/>
                        </a:rPr>
                        <a:t>～</a:t>
                      </a:r>
                      <a:r>
                        <a:rPr lang="en-US" sz="1400" kern="0">
                          <a:effectLst/>
                        </a:rPr>
                        <a:t>87%</a:t>
                      </a:r>
                      <a:r>
                        <a:rPr lang="zh-CN" sz="1400" kern="0">
                          <a:effectLst/>
                        </a:rPr>
                        <a:t>）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液态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998780009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浓硫酸（</a:t>
                      </a:r>
                      <a:r>
                        <a:rPr lang="en-US" sz="1400" kern="0">
                          <a:effectLst/>
                        </a:rPr>
                        <a:t>AR</a:t>
                      </a:r>
                      <a:r>
                        <a:rPr lang="zh-CN" sz="1400" kern="0">
                          <a:effectLst/>
                        </a:rPr>
                        <a:t>）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液态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332894198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Na2HPO4</a:t>
                      </a:r>
                      <a:r>
                        <a:rPr lang="zh-CN" sz="1400" kern="0">
                          <a:effectLst/>
                        </a:rPr>
                        <a:t>·</a:t>
                      </a:r>
                      <a:r>
                        <a:rPr lang="en-US" sz="1400" kern="0">
                          <a:effectLst/>
                        </a:rPr>
                        <a:t>12H2O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固态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4279365913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NaH2PO4</a:t>
                      </a:r>
                      <a:r>
                        <a:rPr lang="zh-CN" sz="1400" kern="0">
                          <a:effectLst/>
                        </a:rPr>
                        <a:t>·</a:t>
                      </a:r>
                      <a:r>
                        <a:rPr lang="en-US" sz="1400" kern="0">
                          <a:effectLst/>
                        </a:rPr>
                        <a:t>2H2O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固态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RT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237910894"/>
                  </a:ext>
                </a:extLst>
              </a:tr>
              <a:tr h="330766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酶法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4-</a:t>
                      </a:r>
                      <a:r>
                        <a:rPr lang="zh-CN" sz="1400" kern="0">
                          <a:effectLst/>
                        </a:rPr>
                        <a:t>氨基安替比林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RT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843284193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苯酚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RT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419578208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胆酸钠 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RT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074782027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Triton X-100 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液态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2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323760976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胆固醇酯酶</a:t>
                      </a:r>
                      <a:r>
                        <a:rPr lang="en-US" sz="1400" kern="0">
                          <a:effectLst/>
                        </a:rPr>
                        <a:t>CE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索莱宝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C9790-1KU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储液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-20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12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6766649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胆固醇氧化酶</a:t>
                      </a:r>
                      <a:r>
                        <a:rPr lang="en-US" sz="1400" kern="0">
                          <a:effectLst/>
                        </a:rPr>
                        <a:t>CHOX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源叶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S31003-1KU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储液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-20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12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425536396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过氧化物酶</a:t>
                      </a:r>
                      <a:r>
                        <a:rPr lang="en-US" sz="1400" kern="0">
                          <a:effectLst/>
                        </a:rPr>
                        <a:t>POD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索莱宝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P8020-10mg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储液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-20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12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668814106"/>
                  </a:ext>
                </a:extLst>
              </a:tr>
              <a:tr h="330766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试剂盒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胆固醇检测试剂盒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4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3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1412038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82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磷硫铁法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23" name="文本框 1">
            <a:extLst>
              <a:ext uri="{FF2B5EF4-FFF2-40B4-BE49-F238E27FC236}">
                <a16:creationId xmlns:a16="http://schemas.microsoft.com/office/drawing/2014/main" id="{5D158A2A-2ED9-E34A-BE8B-C2B54A3D33ED}"/>
              </a:ext>
            </a:extLst>
          </p:cNvPr>
          <p:cNvSpPr txBox="1"/>
          <p:nvPr/>
        </p:nvSpPr>
        <p:spPr>
          <a:xfrm>
            <a:off x="288758" y="930297"/>
            <a:ext cx="10799789" cy="5543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配置磷硫铁试剂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配置</a:t>
            </a:r>
            <a:r>
              <a:rPr lang="en-US" dirty="0"/>
              <a:t>10%</a:t>
            </a:r>
            <a:r>
              <a:rPr lang="zh-CN" altLang="en-US" dirty="0"/>
              <a:t>三氯化铁的磷酸溶液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10gFeCl</a:t>
            </a:r>
            <a:r>
              <a:rPr lang="en-US" baseline="-25000" dirty="0"/>
              <a:t>3</a:t>
            </a:r>
            <a:r>
              <a:rPr lang="en-US" altLang="zh-CN" dirty="0"/>
              <a:t>·</a:t>
            </a:r>
            <a:r>
              <a:rPr lang="en-US" dirty="0"/>
              <a:t>6H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zh-CN" altLang="en-US" dirty="0"/>
              <a:t>溶于浓磷酸，定容至</a:t>
            </a:r>
            <a:r>
              <a:rPr lang="en-US" dirty="0"/>
              <a:t>100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，储于棕色瓶，冷藏</a:t>
            </a:r>
            <a:r>
              <a:rPr lang="en-CN" dirty="0"/>
              <a:t> 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配置磷硫铁试剂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取</a:t>
            </a:r>
            <a:r>
              <a:rPr lang="en-US" dirty="0"/>
              <a:t>10%</a:t>
            </a:r>
            <a:r>
              <a:rPr lang="zh-CN" altLang="en-US" dirty="0"/>
              <a:t>三氯化铁的磷酸溶液</a:t>
            </a:r>
            <a:r>
              <a:rPr lang="en-US" dirty="0"/>
              <a:t>1.5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于</a:t>
            </a:r>
            <a:r>
              <a:rPr lang="en-US" dirty="0"/>
              <a:t>100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棕色容量瓶内，加浓硫酸定容至</a:t>
            </a:r>
            <a:r>
              <a:rPr lang="en-US" dirty="0"/>
              <a:t>100</a:t>
            </a:r>
            <a:r>
              <a:rPr lang="zh-CN" altLang="en-US" dirty="0"/>
              <a:t> </a:t>
            </a:r>
            <a:r>
              <a:rPr lang="en-US" dirty="0"/>
              <a:t>mL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样品处理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配置标准胆固醇样品溶液（</a:t>
            </a:r>
            <a:r>
              <a:rPr lang="en-US" dirty="0"/>
              <a:t>0.8</a:t>
            </a:r>
            <a:r>
              <a:rPr lang="zh-CN" altLang="en-US" dirty="0"/>
              <a:t> </a:t>
            </a:r>
            <a:r>
              <a:rPr lang="en-US" dirty="0"/>
              <a:t>mg/mL</a:t>
            </a:r>
            <a:r>
              <a:rPr lang="zh-CN" altLang="en-US" dirty="0"/>
              <a:t>）</a:t>
            </a:r>
            <a:r>
              <a:rPr lang="en-CN" dirty="0"/>
              <a:t> </a:t>
            </a:r>
            <a:endParaRPr kumimoji="1" lang="en-US" dirty="0">
              <a:solidFill>
                <a:prstClr val="black"/>
              </a:solidFill>
            </a:endParaRP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称取</a:t>
            </a:r>
            <a:r>
              <a:rPr lang="en-US" altLang="zh-CN" dirty="0"/>
              <a:t> </a:t>
            </a:r>
            <a:r>
              <a:rPr lang="en-US" dirty="0"/>
              <a:t>80</a:t>
            </a:r>
            <a:r>
              <a:rPr lang="zh-CN" altLang="en-US" dirty="0"/>
              <a:t> </a:t>
            </a:r>
            <a:r>
              <a:rPr lang="en-US" dirty="0"/>
              <a:t>mg </a:t>
            </a:r>
            <a:r>
              <a:rPr lang="zh-CN" altLang="en-US" dirty="0"/>
              <a:t>标准胆固醇样品溶于无水乙醇，定容至</a:t>
            </a:r>
            <a:r>
              <a:rPr lang="en-US" dirty="0"/>
              <a:t>100</a:t>
            </a:r>
            <a:r>
              <a:rPr lang="zh-CN" altLang="en-US" dirty="0"/>
              <a:t> </a:t>
            </a:r>
            <a:r>
              <a:rPr lang="en-US" dirty="0"/>
              <a:t>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血浆</a:t>
            </a:r>
            <a:r>
              <a:rPr lang="en-US" dirty="0"/>
              <a:t>/</a:t>
            </a:r>
            <a:r>
              <a:rPr lang="zh-CN" altLang="en-US" dirty="0"/>
              <a:t>肝脏样品</a:t>
            </a:r>
            <a:r>
              <a:rPr lang="en-CN" dirty="0"/>
              <a:t> </a:t>
            </a:r>
            <a:endParaRPr kumimoji="1" lang="en-US" dirty="0">
              <a:solidFill>
                <a:prstClr val="black"/>
              </a:solidFill>
            </a:endParaRP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u="sng" dirty="0"/>
              <a:t>血浆</a:t>
            </a:r>
            <a:r>
              <a:rPr lang="zh-CN" altLang="en-US" dirty="0"/>
              <a:t>：在</a:t>
            </a:r>
            <a:r>
              <a:rPr lang="en-US" dirty="0"/>
              <a:t>1.5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离心管中加入</a:t>
            </a:r>
            <a:r>
              <a:rPr lang="en-US" dirty="0"/>
              <a:t>10</a:t>
            </a:r>
            <a:r>
              <a:rPr lang="zh-CN" altLang="en-US" dirty="0"/>
              <a:t> </a:t>
            </a:r>
            <a:r>
              <a:rPr lang="en-US" altLang="zh-CN" dirty="0" err="1"/>
              <a:t>μ</a:t>
            </a:r>
            <a:r>
              <a:rPr lang="en-US" dirty="0" err="1"/>
              <a:t>L</a:t>
            </a:r>
            <a:r>
              <a:rPr lang="zh-CN" altLang="en-US" dirty="0"/>
              <a:t>血浆样品，加</a:t>
            </a:r>
            <a:r>
              <a:rPr lang="en-US" dirty="0"/>
              <a:t>40</a:t>
            </a:r>
            <a:r>
              <a:rPr lang="zh-CN" altLang="en-US" dirty="0"/>
              <a:t> </a:t>
            </a:r>
            <a:r>
              <a:rPr lang="en-US" altLang="zh-CN" dirty="0" err="1"/>
              <a:t>μ</a:t>
            </a:r>
            <a:r>
              <a:rPr lang="en-US" dirty="0" err="1"/>
              <a:t>L</a:t>
            </a:r>
            <a:r>
              <a:rPr lang="zh-CN" altLang="en-US" dirty="0"/>
              <a:t>无水乙醇，摇匀，离心（</a:t>
            </a:r>
            <a:r>
              <a:rPr lang="en-US" dirty="0"/>
              <a:t>3000</a:t>
            </a:r>
            <a:r>
              <a:rPr lang="zh-CN" altLang="en-US" dirty="0"/>
              <a:t> </a:t>
            </a:r>
            <a:r>
              <a:rPr lang="en-US" altLang="zh-CN" dirty="0"/>
              <a:t>rpm</a:t>
            </a:r>
            <a:r>
              <a:rPr lang="zh-CN" altLang="en-US" dirty="0"/>
              <a:t>，</a:t>
            </a:r>
            <a:r>
              <a:rPr lang="en-US" dirty="0"/>
              <a:t>5</a:t>
            </a:r>
            <a:r>
              <a:rPr lang="zh-CN" altLang="en-US" dirty="0"/>
              <a:t> </a:t>
            </a:r>
            <a:r>
              <a:rPr lang="en-US" dirty="0"/>
              <a:t>min</a:t>
            </a:r>
            <a:r>
              <a:rPr lang="zh-CN" altLang="en-US" dirty="0"/>
              <a:t>，室温），取上清备用</a:t>
            </a:r>
            <a:endParaRPr lang="en-CN" altLang="zh-CN" dirty="0"/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u="sng" dirty="0"/>
              <a:t>肝脏</a:t>
            </a:r>
            <a:r>
              <a:rPr lang="zh-CN" altLang="en-US" dirty="0"/>
              <a:t>：选择适当方法匀浆，取匀浆液</a:t>
            </a:r>
            <a:r>
              <a:rPr lang="en-US" dirty="0"/>
              <a:t>10</a:t>
            </a:r>
            <a:r>
              <a:rPr lang="zh-CN" altLang="en-US" dirty="0"/>
              <a:t> </a:t>
            </a:r>
            <a:r>
              <a:rPr lang="en-US" altLang="zh-CN" dirty="0" err="1"/>
              <a:t>μ</a:t>
            </a:r>
            <a:r>
              <a:rPr lang="en-US" dirty="0" err="1"/>
              <a:t>L</a:t>
            </a:r>
            <a:r>
              <a:rPr lang="zh-CN" altLang="en-US" dirty="0"/>
              <a:t>于</a:t>
            </a:r>
            <a:r>
              <a:rPr lang="en-US" dirty="0"/>
              <a:t>1.5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离心管中，加入</a:t>
            </a:r>
            <a:r>
              <a:rPr lang="en-US" dirty="0"/>
              <a:t>40</a:t>
            </a:r>
            <a:r>
              <a:rPr lang="zh-CN" altLang="en-US" dirty="0"/>
              <a:t> </a:t>
            </a:r>
            <a:r>
              <a:rPr lang="en-US" altLang="zh-CN" dirty="0" err="1"/>
              <a:t>μ</a:t>
            </a:r>
            <a:r>
              <a:rPr lang="en-US" dirty="0" err="1"/>
              <a:t>L</a:t>
            </a:r>
            <a:r>
              <a:rPr lang="zh-CN" altLang="en-US" dirty="0"/>
              <a:t>无水乙醇，摇匀，离心（</a:t>
            </a:r>
            <a:r>
              <a:rPr lang="en-US" dirty="0"/>
              <a:t>3000</a:t>
            </a:r>
            <a:r>
              <a:rPr lang="zh-CN" altLang="en-US" dirty="0"/>
              <a:t> </a:t>
            </a:r>
            <a:r>
              <a:rPr lang="en-US" dirty="0"/>
              <a:t>rpm</a:t>
            </a:r>
            <a:r>
              <a:rPr lang="zh-CN" altLang="en-US" dirty="0"/>
              <a:t>，</a:t>
            </a:r>
            <a:r>
              <a:rPr lang="en-US" dirty="0"/>
              <a:t>5min</a:t>
            </a:r>
            <a:r>
              <a:rPr lang="zh-CN" altLang="en-US" dirty="0"/>
              <a:t>，室温），取上清备用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12578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磷硫铁法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70EF24A3-1523-9146-8C4B-7CD1424F4B6D}"/>
              </a:ext>
            </a:extLst>
          </p:cNvPr>
          <p:cNvSpPr txBox="1"/>
          <p:nvPr/>
        </p:nvSpPr>
        <p:spPr>
          <a:xfrm>
            <a:off x="288758" y="979457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加样</a:t>
            </a:r>
          </a:p>
        </p:txBody>
      </p:sp>
      <p:sp>
        <p:nvSpPr>
          <p:cNvPr id="22" name="文本框 1">
            <a:extLst>
              <a:ext uri="{FF2B5EF4-FFF2-40B4-BE49-F238E27FC236}">
                <a16:creationId xmlns:a16="http://schemas.microsoft.com/office/drawing/2014/main" id="{2C77C179-4C7F-B54C-92F9-1EC765BB4074}"/>
              </a:ext>
            </a:extLst>
          </p:cNvPr>
          <p:cNvSpPr txBox="1"/>
          <p:nvPr/>
        </p:nvSpPr>
        <p:spPr>
          <a:xfrm>
            <a:off x="288757" y="5230296"/>
            <a:ext cx="10799789" cy="926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测定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加样、混匀后静置</a:t>
            </a:r>
            <a:r>
              <a:rPr lang="en-US" dirty="0"/>
              <a:t>10min</a:t>
            </a:r>
            <a:r>
              <a:rPr lang="zh-CN" altLang="en-US" dirty="0"/>
              <a:t>，设置酶标仪波长为</a:t>
            </a:r>
            <a:r>
              <a:rPr lang="en-US" dirty="0"/>
              <a:t>560nm</a:t>
            </a:r>
            <a:r>
              <a:rPr lang="zh-CN" altLang="en-US" dirty="0"/>
              <a:t>，测定吸光值，利用标准曲线法计算样品浓度</a:t>
            </a:r>
            <a:r>
              <a:rPr lang="en-CN" dirty="0"/>
              <a:t> </a:t>
            </a:r>
            <a:endParaRPr lang="zh-CN" alt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CD6B07E-4105-6C45-8654-9B4D0EBBA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268072"/>
              </p:ext>
            </p:extLst>
          </p:nvPr>
        </p:nvGraphicFramePr>
        <p:xfrm>
          <a:off x="483330" y="1747456"/>
          <a:ext cx="5612670" cy="3363088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198748">
                  <a:extLst>
                    <a:ext uri="{9D8B030D-6E8A-4147-A177-3AD203B41FA5}">
                      <a16:colId xmlns:a16="http://schemas.microsoft.com/office/drawing/2014/main" val="2226684042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3864687902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3211613424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1232836922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1589665055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2636814987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703020883"/>
                    </a:ext>
                  </a:extLst>
                </a:gridCol>
              </a:tblGrid>
              <a:tr h="530942">
                <a:tc gridSpan="7"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标准曲线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800623"/>
                  </a:ext>
                </a:extLst>
              </a:tr>
              <a:tr h="56520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序号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3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4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...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3022017"/>
                  </a:ext>
                </a:extLst>
              </a:tr>
              <a:tr h="57134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标准胆固醇溶液</a:t>
                      </a:r>
                      <a:r>
                        <a:rPr lang="en-US" altLang="zh-CN" sz="1800" kern="100" dirty="0">
                          <a:effectLst/>
                        </a:rPr>
                        <a:t>(</a:t>
                      </a:r>
                      <a:r>
                        <a:rPr lang="en-US" sz="1800" kern="100" dirty="0">
                          <a:effectLst/>
                        </a:rPr>
                        <a:t>0.8mg/mL)/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60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80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7517187"/>
                  </a:ext>
                </a:extLst>
              </a:tr>
              <a:tr h="56520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样品溶液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8747"/>
                  </a:ext>
                </a:extLst>
              </a:tr>
              <a:tr h="56520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磷硫铁溶液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700641"/>
                  </a:ext>
                </a:extLst>
              </a:tr>
              <a:tr h="56520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无水乙醇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100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80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60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651158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FD6A71E-E765-7041-8357-EC9301246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10368"/>
              </p:ext>
            </p:extLst>
          </p:nvPr>
        </p:nvGraphicFramePr>
        <p:xfrm>
          <a:off x="6096000" y="1747456"/>
          <a:ext cx="5583978" cy="3363087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966452">
                  <a:extLst>
                    <a:ext uri="{9D8B030D-6E8A-4147-A177-3AD203B41FA5}">
                      <a16:colId xmlns:a16="http://schemas.microsoft.com/office/drawing/2014/main" val="3069057720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2929731957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858290882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3886872827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1722760364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2558792592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212474682"/>
                    </a:ext>
                  </a:extLst>
                </a:gridCol>
              </a:tblGrid>
              <a:tr h="525817">
                <a:tc gridSpan="7"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未知样</a:t>
                      </a:r>
                      <a:r>
                        <a:rPr lang="zh-CN" altLang="en-US" sz="1800" kern="100" dirty="0">
                          <a:effectLst/>
                        </a:rPr>
                        <a:t>品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71417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序号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kern="100" dirty="0">
                          <a:effectLst/>
                        </a:rPr>
                        <a:t>ob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稀释</a:t>
                      </a:r>
                      <a:r>
                        <a:rPr lang="en-US" altLang="zh-CN" sz="1100" kern="100" dirty="0">
                          <a:effectLst/>
                        </a:rPr>
                        <a:t>a</a:t>
                      </a:r>
                      <a:r>
                        <a:rPr lang="en-US" altLang="zh-CN" sz="1100" kern="100" baseline="-250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倍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kern="100" dirty="0">
                          <a:effectLst/>
                        </a:rPr>
                        <a:t>ob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稀释</a:t>
                      </a:r>
                      <a:r>
                        <a:rPr lang="en-US" altLang="zh-CN" sz="1100" kern="100" dirty="0">
                          <a:effectLst/>
                        </a:rPr>
                        <a:t>a</a:t>
                      </a:r>
                      <a:r>
                        <a:rPr lang="en-US" altLang="zh-CN" sz="1100" kern="100" baseline="-25000" dirty="0">
                          <a:effectLst/>
                        </a:rPr>
                        <a:t>2</a:t>
                      </a:r>
                      <a:r>
                        <a:rPr lang="zh-CN" sz="1100" kern="100" dirty="0">
                          <a:effectLst/>
                        </a:rPr>
                        <a:t>倍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kern="100" dirty="0">
                          <a:effectLst/>
                        </a:rPr>
                        <a:t>……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i="1" kern="100" dirty="0">
                          <a:effectLst/>
                        </a:rPr>
                        <a:t>wt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稀释</a:t>
                      </a:r>
                      <a:r>
                        <a:rPr lang="en-US" altLang="zh-CN" sz="1100" kern="100" dirty="0">
                          <a:effectLst/>
                        </a:rPr>
                        <a:t>a</a:t>
                      </a:r>
                      <a:r>
                        <a:rPr lang="en-US" altLang="zh-CN" sz="1100" kern="100" baseline="-250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倍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i="1" kern="100" dirty="0">
                          <a:effectLst/>
                        </a:rPr>
                        <a:t>wt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稀释</a:t>
                      </a:r>
                      <a:r>
                        <a:rPr lang="en-US" altLang="zh-CN" sz="1100" kern="100" dirty="0">
                          <a:effectLst/>
                        </a:rPr>
                        <a:t>a</a:t>
                      </a:r>
                      <a:r>
                        <a:rPr lang="en-US" altLang="zh-CN" sz="1100" kern="100" baseline="-25000" dirty="0">
                          <a:effectLst/>
                        </a:rPr>
                        <a:t>2</a:t>
                      </a:r>
                      <a:r>
                        <a:rPr lang="zh-CN" sz="1100" kern="100" dirty="0">
                          <a:effectLst/>
                        </a:rPr>
                        <a:t>倍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kern="100" dirty="0">
                          <a:effectLst/>
                        </a:rPr>
                        <a:t>……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8564502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标准胆固醇溶液</a:t>
                      </a:r>
                      <a:r>
                        <a:rPr lang="en-US" altLang="zh-CN" sz="1800" kern="100" dirty="0">
                          <a:effectLst/>
                        </a:rPr>
                        <a:t>(</a:t>
                      </a:r>
                      <a:r>
                        <a:rPr lang="en-US" sz="1800" kern="100" dirty="0">
                          <a:effectLst/>
                        </a:rPr>
                        <a:t>0.8mg/mL)/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4147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样品溶液</a:t>
                      </a:r>
                      <a:r>
                        <a:rPr lang="en-US" sz="1800" kern="100" dirty="0">
                          <a:effectLst/>
                        </a:rPr>
                        <a:t>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1591341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磷硫铁溶液</a:t>
                      </a:r>
                      <a:r>
                        <a:rPr lang="en-US" sz="1800" kern="100" dirty="0">
                          <a:effectLst/>
                        </a:rPr>
                        <a:t>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563193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无水乙醇</a:t>
                      </a:r>
                      <a:r>
                        <a:rPr lang="en-US" sz="1800" kern="100" dirty="0">
                          <a:effectLst/>
                        </a:rPr>
                        <a:t>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1776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815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酶法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0C6D5A0B-3619-3044-94AF-303E39362A05}"/>
              </a:ext>
            </a:extLst>
          </p:cNvPr>
          <p:cNvSpPr txBox="1"/>
          <p:nvPr/>
        </p:nvSpPr>
        <p:spPr>
          <a:xfrm>
            <a:off x="288758" y="930297"/>
            <a:ext cx="10799789" cy="2815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配置胆固醇缓冲液（</a:t>
            </a:r>
            <a:r>
              <a:rPr kumimoji="1" lang="en-US" altLang="zh-CN" sz="2000" dirty="0">
                <a:solidFill>
                  <a:prstClr val="black"/>
                </a:solidFill>
              </a:rPr>
              <a:t>100mL</a:t>
            </a:r>
            <a:r>
              <a:rPr kumimoji="1" lang="zh-CN" altLang="en-US" sz="2000" dirty="0">
                <a:solidFill>
                  <a:prstClr val="black"/>
                </a:solidFill>
              </a:rPr>
              <a:t>）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kumimoji="1" lang="en-US" altLang="zh-CN" sz="20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配置酶溶液（</a:t>
            </a:r>
            <a:r>
              <a:rPr kumimoji="1" lang="en-US" altLang="zh-CN" sz="2000" dirty="0">
                <a:solidFill>
                  <a:prstClr val="black"/>
                </a:solidFill>
              </a:rPr>
              <a:t>100mL</a:t>
            </a:r>
            <a:r>
              <a:rPr kumimoji="1" lang="zh-CN" altLang="en-US" sz="2000" dirty="0">
                <a:solidFill>
                  <a:prstClr val="black"/>
                </a:solidFill>
              </a:rPr>
              <a:t>）</a:t>
            </a:r>
          </a:p>
        </p:txBody>
      </p:sp>
      <p:graphicFrame>
        <p:nvGraphicFramePr>
          <p:cNvPr id="18" name="Table 21">
            <a:extLst>
              <a:ext uri="{FF2B5EF4-FFF2-40B4-BE49-F238E27FC236}">
                <a16:creationId xmlns:a16="http://schemas.microsoft.com/office/drawing/2014/main" id="{91266042-8548-3646-BCCB-722EB3F0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742557"/>
              </p:ext>
            </p:extLst>
          </p:nvPr>
        </p:nvGraphicFramePr>
        <p:xfrm>
          <a:off x="2032000" y="1515072"/>
          <a:ext cx="8128000" cy="170007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834116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26303031"/>
                    </a:ext>
                  </a:extLst>
                </a:gridCol>
              </a:tblGrid>
              <a:tr h="4206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试剂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994788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苯酚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132 mg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271720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磷酸二氢钠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0.78 g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35873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磷酸一氢钠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0.71 g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677451"/>
                  </a:ext>
                </a:extLst>
              </a:tr>
            </a:tbl>
          </a:graphicData>
        </a:graphic>
      </p:graphicFrame>
      <p:graphicFrame>
        <p:nvGraphicFramePr>
          <p:cNvPr id="24" name="Table 21">
            <a:extLst>
              <a:ext uri="{FF2B5EF4-FFF2-40B4-BE49-F238E27FC236}">
                <a16:creationId xmlns:a16="http://schemas.microsoft.com/office/drawing/2014/main" id="{64E45407-9B45-6846-AF01-B20056D58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913677"/>
              </p:ext>
            </p:extLst>
          </p:nvPr>
        </p:nvGraphicFramePr>
        <p:xfrm>
          <a:off x="2032000" y="3889562"/>
          <a:ext cx="8128000" cy="212655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834116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26303031"/>
                    </a:ext>
                  </a:extLst>
                </a:gridCol>
              </a:tblGrid>
              <a:tr h="4206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试剂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994788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胆固醇氧化酶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r>
                        <a:rPr lang="zh-CN" altLang="en-US" dirty="0"/>
                        <a:t> 单位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271720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胆固醇酯酶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3.5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单位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2005941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过氧化氢酶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6700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单位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35873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4-</a:t>
                      </a:r>
                      <a:r>
                        <a:rPr lang="zh-CN" altLang="en-US" dirty="0"/>
                        <a:t>氨基安替比林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17mg/dl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677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289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酶法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C1A9D4DC-D807-FD4D-947E-029F27A7287D}"/>
              </a:ext>
            </a:extLst>
          </p:cNvPr>
          <p:cNvSpPr txBox="1"/>
          <p:nvPr/>
        </p:nvSpPr>
        <p:spPr>
          <a:xfrm>
            <a:off x="288758" y="930297"/>
            <a:ext cx="10799789" cy="22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样品处理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血浆样品：离心（</a:t>
            </a:r>
            <a:r>
              <a:rPr lang="en-US" dirty="0"/>
              <a:t>20000</a:t>
            </a:r>
            <a:r>
              <a:rPr lang="zh-CN" altLang="en-US" dirty="0"/>
              <a:t> </a:t>
            </a:r>
            <a:r>
              <a:rPr lang="en-US" dirty="0"/>
              <a:t>g</a:t>
            </a:r>
            <a:r>
              <a:rPr lang="zh-CN" altLang="en-US" dirty="0"/>
              <a:t>，</a:t>
            </a:r>
            <a:r>
              <a:rPr lang="en-US" dirty="0"/>
              <a:t>4</a:t>
            </a:r>
            <a:r>
              <a:rPr lang="zh-CN" altLang="en-US" dirty="0"/>
              <a:t> ℃，</a:t>
            </a:r>
            <a:r>
              <a:rPr lang="en-US" dirty="0"/>
              <a:t>5</a:t>
            </a:r>
            <a:r>
              <a:rPr lang="zh-CN" altLang="en-US" dirty="0"/>
              <a:t> </a:t>
            </a:r>
            <a:r>
              <a:rPr lang="en-US" dirty="0"/>
              <a:t>min</a:t>
            </a:r>
            <a:r>
              <a:rPr lang="zh-CN" altLang="en-US" dirty="0"/>
              <a:t>），取上清液待用</a:t>
            </a:r>
            <a:endParaRPr lang="en-CN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肝脏样品：电动匀浆</a:t>
            </a:r>
            <a:r>
              <a:rPr lang="en-US" dirty="0"/>
              <a:t>/</a:t>
            </a:r>
            <a:r>
              <a:rPr lang="zh-CN" altLang="en-US" dirty="0"/>
              <a:t>手动匀浆</a:t>
            </a:r>
            <a:r>
              <a:rPr lang="en-US" dirty="0"/>
              <a:t>/</a:t>
            </a:r>
            <a:r>
              <a:rPr lang="zh-CN" altLang="en-US" dirty="0"/>
              <a:t>生物均质器匀浆，离心（</a:t>
            </a:r>
            <a:r>
              <a:rPr lang="en-US" dirty="0"/>
              <a:t>20000</a:t>
            </a:r>
            <a:r>
              <a:rPr lang="zh-CN" altLang="en-US" dirty="0"/>
              <a:t> </a:t>
            </a:r>
            <a:r>
              <a:rPr lang="en-US" dirty="0"/>
              <a:t>g</a:t>
            </a:r>
            <a:r>
              <a:rPr lang="zh-CN" altLang="en-US" dirty="0"/>
              <a:t>，</a:t>
            </a:r>
            <a:r>
              <a:rPr lang="en-US" dirty="0"/>
              <a:t>4</a:t>
            </a:r>
            <a:r>
              <a:rPr lang="zh-CN" altLang="en-US" dirty="0"/>
              <a:t>℃，</a:t>
            </a:r>
            <a:r>
              <a:rPr lang="en-US" dirty="0"/>
              <a:t>5</a:t>
            </a:r>
            <a:r>
              <a:rPr lang="zh-CN" altLang="en-US" dirty="0"/>
              <a:t> </a:t>
            </a:r>
            <a:r>
              <a:rPr lang="en-US" dirty="0"/>
              <a:t>min</a:t>
            </a:r>
            <a:r>
              <a:rPr lang="zh-CN" altLang="en-US" dirty="0"/>
              <a:t>）取上清液待用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样品</a:t>
            </a:r>
            <a:r>
              <a:rPr lang="en-US" dirty="0"/>
              <a:t>37</a:t>
            </a:r>
            <a:r>
              <a:rPr lang="zh-CN" altLang="en-US" dirty="0"/>
              <a:t>℃水浴加热</a:t>
            </a:r>
            <a:r>
              <a:rPr lang="en-US" dirty="0"/>
              <a:t>5min</a:t>
            </a:r>
            <a:r>
              <a:rPr lang="en-CN" dirty="0"/>
              <a:t>  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加样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63492A-B43B-D947-A1B3-FFDAD5CED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456202"/>
              </p:ext>
            </p:extLst>
          </p:nvPr>
        </p:nvGraphicFramePr>
        <p:xfrm>
          <a:off x="2177846" y="2910347"/>
          <a:ext cx="7836307" cy="329184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153263">
                  <a:extLst>
                    <a:ext uri="{9D8B030D-6E8A-4147-A177-3AD203B41FA5}">
                      <a16:colId xmlns:a16="http://schemas.microsoft.com/office/drawing/2014/main" val="3721467574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2837248548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2296595196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2412199428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42428966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2598162954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4226502575"/>
                    </a:ext>
                  </a:extLst>
                </a:gridCol>
              </a:tblGrid>
              <a:tr h="548640">
                <a:tc gridSpan="7"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标准曲线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564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序号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3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6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901726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标准胆固醇溶液</a:t>
                      </a:r>
                      <a:r>
                        <a:rPr lang="en-US" altLang="zh-CN" sz="1800" kern="100" dirty="0">
                          <a:effectLst/>
                        </a:rPr>
                        <a:t>(</a:t>
                      </a:r>
                      <a:r>
                        <a:rPr lang="en-US" sz="1800" kern="100" dirty="0">
                          <a:effectLst/>
                        </a:rPr>
                        <a:t>50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mol/mL)/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8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12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16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20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53590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样品溶液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03318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酶溶液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70146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胆固醇缓冲液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20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16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12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8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727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460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酶法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C1A9D4DC-D807-FD4D-947E-029F27A7287D}"/>
              </a:ext>
            </a:extLst>
          </p:cNvPr>
          <p:cNvSpPr txBox="1"/>
          <p:nvPr/>
        </p:nvSpPr>
        <p:spPr>
          <a:xfrm>
            <a:off x="288758" y="930297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加样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1D6761-7ED1-0B44-A311-A5E7293F4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889244"/>
              </p:ext>
            </p:extLst>
          </p:nvPr>
        </p:nvGraphicFramePr>
        <p:xfrm>
          <a:off x="444260" y="1681749"/>
          <a:ext cx="11303472" cy="4237705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769004">
                  <a:extLst>
                    <a:ext uri="{9D8B030D-6E8A-4147-A177-3AD203B41FA5}">
                      <a16:colId xmlns:a16="http://schemas.microsoft.com/office/drawing/2014/main" val="2144552049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76618258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153329322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3292756137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4246977446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863703704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3193272368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850844788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604110894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2145878825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2448022931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534862276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488491238"/>
                    </a:ext>
                  </a:extLst>
                </a:gridCol>
              </a:tblGrid>
              <a:tr h="739622">
                <a:tc gridSpan="13">
                  <a:txBody>
                    <a:bodyPr/>
                    <a:lstStyle/>
                    <a:p>
                      <a:pPr algn="ctr"/>
                      <a:r>
                        <a:rPr lang="zh-CN" altLang="en-US" sz="1800" kern="100" dirty="0">
                          <a:effectLst/>
                        </a:rPr>
                        <a:t>未知</a:t>
                      </a:r>
                      <a:r>
                        <a:rPr lang="zh-CN" sz="1800" kern="100" dirty="0">
                          <a:effectLst/>
                        </a:rPr>
                        <a:t>样品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638513"/>
                  </a:ext>
                </a:extLst>
              </a:tr>
              <a:tr h="81471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名称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1624846"/>
                  </a:ext>
                </a:extLst>
              </a:tr>
              <a:tr h="670843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标准胆固醇溶液</a:t>
                      </a:r>
                      <a:r>
                        <a:rPr lang="en-US" altLang="zh-CN" sz="1800" kern="100" dirty="0">
                          <a:effectLst/>
                        </a:rPr>
                        <a:t>(</a:t>
                      </a:r>
                      <a:r>
                        <a:rPr lang="en-US" sz="1800" kern="100" dirty="0">
                          <a:effectLst/>
                        </a:rPr>
                        <a:t>50</a:t>
                      </a:r>
                      <a:r>
                        <a:rPr lang="en-US" alt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mol/mL)/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99663"/>
                  </a:ext>
                </a:extLst>
              </a:tr>
              <a:tr h="670843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样品溶液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5155032"/>
                  </a:ext>
                </a:extLst>
              </a:tr>
              <a:tr h="670843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酶溶液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958639"/>
                  </a:ext>
                </a:extLst>
              </a:tr>
              <a:tr h="670843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胆固醇缓冲液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496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864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酶法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A5DC136C-D43B-F746-B1EE-E883A6EB72EF}"/>
              </a:ext>
            </a:extLst>
          </p:cNvPr>
          <p:cNvSpPr txBox="1"/>
          <p:nvPr/>
        </p:nvSpPr>
        <p:spPr>
          <a:xfrm>
            <a:off x="288758" y="930297"/>
            <a:ext cx="10799789" cy="134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测定和计算</a:t>
            </a:r>
            <a:endParaRPr lang="en-CN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酶标仪预热</a:t>
            </a:r>
            <a:r>
              <a:rPr lang="en-US" dirty="0"/>
              <a:t>30</a:t>
            </a:r>
            <a:r>
              <a:rPr lang="zh-CN" altLang="en-US" dirty="0"/>
              <a:t> </a:t>
            </a:r>
            <a:r>
              <a:rPr lang="en-US" dirty="0"/>
              <a:t>min</a:t>
            </a:r>
            <a:r>
              <a:rPr lang="zh-CN" altLang="en-US" dirty="0"/>
              <a:t>，调节波长至</a:t>
            </a:r>
            <a:r>
              <a:rPr lang="en-US" dirty="0"/>
              <a:t>500</a:t>
            </a:r>
            <a:r>
              <a:rPr lang="zh-CN" altLang="en-US" dirty="0"/>
              <a:t> </a:t>
            </a:r>
            <a:r>
              <a:rPr lang="en-US" dirty="0"/>
              <a:t>nm</a:t>
            </a:r>
            <a:r>
              <a:rPr lang="zh-CN" altLang="en-US" dirty="0"/>
              <a:t>，测定吸光值</a:t>
            </a:r>
            <a:endParaRPr lang="en-CN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作出标准曲线，计算对应样品的胆固醇含量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52018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实验设计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92886BBA-7878-CE4E-AB82-B72E397D44E9}"/>
              </a:ext>
            </a:extLst>
          </p:cNvPr>
          <p:cNvSpPr txBox="1"/>
          <p:nvPr/>
        </p:nvSpPr>
        <p:spPr>
          <a:xfrm>
            <a:off x="288758" y="930297"/>
            <a:ext cx="10799789" cy="2589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预实验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探索两种方法下测定</a:t>
            </a:r>
            <a:r>
              <a:rPr lang="zh-CN" altLang="en-US" dirty="0">
                <a:solidFill>
                  <a:srgbClr val="FF0000"/>
                </a:solidFill>
              </a:rPr>
              <a:t>胆固醇的线性范围和检测限</a:t>
            </a:r>
            <a:r>
              <a:rPr lang="zh-CN" altLang="en-US" dirty="0"/>
              <a:t>，制作两种方法下标准胆固醇样品标准浓度曲线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分别对两种小鼠各</a:t>
            </a:r>
            <a:r>
              <a:rPr lang="en-US" dirty="0"/>
              <a:t>3</a:t>
            </a:r>
            <a:r>
              <a:rPr lang="zh-CN" altLang="en-US" dirty="0"/>
              <a:t>份小鼠血液和各</a:t>
            </a:r>
            <a:r>
              <a:rPr lang="en-US" dirty="0"/>
              <a:t>3</a:t>
            </a:r>
            <a:r>
              <a:rPr lang="zh-CN" altLang="en-US" dirty="0"/>
              <a:t>份肝脏进行样品处理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分别测定不稀释以及用胆固醇缓冲液稀释</a:t>
            </a:r>
            <a:r>
              <a:rPr lang="en-US" dirty="0"/>
              <a:t>2</a:t>
            </a:r>
            <a:r>
              <a:rPr lang="zh-CN" altLang="en-US" dirty="0"/>
              <a:t>倍、</a:t>
            </a:r>
            <a:r>
              <a:rPr lang="en-US" dirty="0"/>
              <a:t>4</a:t>
            </a:r>
            <a:r>
              <a:rPr lang="zh-CN" altLang="en-US" dirty="0"/>
              <a:t>倍、</a:t>
            </a:r>
            <a:r>
              <a:rPr lang="en-US" dirty="0"/>
              <a:t>8</a:t>
            </a:r>
            <a:r>
              <a:rPr lang="zh-CN" altLang="en-US" dirty="0"/>
              <a:t>倍、</a:t>
            </a:r>
            <a:r>
              <a:rPr lang="en-US" dirty="0"/>
              <a:t>16</a:t>
            </a:r>
            <a:r>
              <a:rPr lang="zh-CN" altLang="en-US" dirty="0"/>
              <a:t>倍、</a:t>
            </a:r>
            <a:r>
              <a:rPr lang="en-US" dirty="0"/>
              <a:t>32</a:t>
            </a:r>
            <a:r>
              <a:rPr lang="zh-CN" altLang="en-US" dirty="0"/>
              <a:t>倍两个方法下的浓度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制作相对曲线（吸光值</a:t>
            </a:r>
            <a:r>
              <a:rPr lang="en-US" dirty="0"/>
              <a:t>-</a:t>
            </a:r>
            <a:r>
              <a:rPr lang="zh-CN" altLang="en-US" dirty="0"/>
              <a:t>稀释倍数曲线）判定线性部分，同时对比仪器线性检测范围，作为未来检测的基础</a:t>
            </a:r>
          </a:p>
        </p:txBody>
      </p:sp>
    </p:spTree>
    <p:extLst>
      <p:ext uri="{BB962C8B-B14F-4D97-AF65-F5344CB8AC3E}">
        <p14:creationId xmlns:p14="http://schemas.microsoft.com/office/powerpoint/2010/main" val="1584296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实验设计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D4143DB-003D-1443-9D9A-C08D916C6BCC}"/>
              </a:ext>
            </a:extLst>
          </p:cNvPr>
          <p:cNvSpPr txBox="1"/>
          <p:nvPr/>
        </p:nvSpPr>
        <p:spPr>
          <a:xfrm>
            <a:off x="288757" y="930297"/>
            <a:ext cx="11748913" cy="466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正式实验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标准曲线法</a:t>
            </a:r>
            <a:endParaRPr lang="en-US" altLang="zh-CN" dirty="0">
              <a:solidFill>
                <a:srgbClr val="FF0000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根据预实验检测结果，对</a:t>
            </a:r>
            <a:r>
              <a:rPr lang="en-US" i="1" dirty="0" err="1"/>
              <a:t>ob</a:t>
            </a:r>
            <a:r>
              <a:rPr lang="en-US" dirty="0"/>
              <a:t>/</a:t>
            </a:r>
            <a:r>
              <a:rPr lang="en-US" i="1" dirty="0" err="1"/>
              <a:t>ob</a:t>
            </a:r>
            <a:r>
              <a:rPr lang="zh-CN" altLang="en-US" dirty="0"/>
              <a:t>和</a:t>
            </a:r>
            <a:r>
              <a:rPr lang="en-US" i="1" dirty="0" err="1"/>
              <a:t>wt</a:t>
            </a:r>
            <a:r>
              <a:rPr lang="zh-CN" altLang="en-US" dirty="0"/>
              <a:t>小鼠的血液样本和肝脏样本分别进行处理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测定预实验线性部分</a:t>
            </a:r>
            <a:r>
              <a:rPr lang="en-US" dirty="0"/>
              <a:t>3-5</a:t>
            </a:r>
            <a:r>
              <a:rPr lang="zh-CN" altLang="en-US" dirty="0"/>
              <a:t>种样品稀释浓度下测定样品浓度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每个样本测定浓度测定进行一次平行实验。</a:t>
            </a:r>
            <a:endParaRPr lang="en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标准加入法</a:t>
            </a:r>
            <a:endParaRPr lang="en-US" altLang="zh-CN" dirty="0">
              <a:solidFill>
                <a:srgbClr val="FF0000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选取预实验中处于线性区间中下部的稀释浓度，对</a:t>
            </a:r>
            <a:r>
              <a:rPr lang="en-US" i="1" dirty="0" err="1"/>
              <a:t>ob</a:t>
            </a:r>
            <a:r>
              <a:rPr lang="en-US" i="1" dirty="0"/>
              <a:t>/</a:t>
            </a:r>
            <a:r>
              <a:rPr lang="en-US" i="1" dirty="0" err="1"/>
              <a:t>ob</a:t>
            </a:r>
            <a:r>
              <a:rPr lang="zh-CN" altLang="en-US" dirty="0"/>
              <a:t>和</a:t>
            </a:r>
            <a:r>
              <a:rPr lang="en-US" i="1" dirty="0" err="1"/>
              <a:t>wt</a:t>
            </a:r>
            <a:r>
              <a:rPr lang="zh-CN" altLang="en-US" dirty="0"/>
              <a:t>小鼠的血液样本和肝脏样本分别进行处理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测定该浓度下标准添加五种不同体积胆固醇浓度测定浓度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每个样本添加量测定进行一次平行实验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胆固醇检测试剂盒法</a:t>
            </a:r>
            <a:endParaRPr lang="en-US" altLang="zh-CN" dirty="0">
              <a:solidFill>
                <a:srgbClr val="FF0000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根据试剂盒说明书，对</a:t>
            </a:r>
            <a:r>
              <a:rPr lang="en-US" i="1" dirty="0" err="1"/>
              <a:t>ob</a:t>
            </a:r>
            <a:r>
              <a:rPr lang="en-US" i="1" dirty="0"/>
              <a:t>/</a:t>
            </a:r>
            <a:r>
              <a:rPr lang="en-US" i="1" dirty="0" err="1"/>
              <a:t>ob</a:t>
            </a:r>
            <a:r>
              <a:rPr lang="zh-CN" altLang="en-US" dirty="0"/>
              <a:t>和</a:t>
            </a:r>
            <a:r>
              <a:rPr lang="en-US" i="1" dirty="0" err="1"/>
              <a:t>wt</a:t>
            </a:r>
            <a:r>
              <a:rPr lang="zh-CN" altLang="en-US" dirty="0"/>
              <a:t>小鼠的血液样本和肝脏样本分别测定胆固醇含量</a:t>
            </a:r>
            <a:endParaRPr kumimoji="1"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440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实验设计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D4143DB-003D-1443-9D9A-C08D916C6BCC}"/>
              </a:ext>
            </a:extLst>
          </p:cNvPr>
          <p:cNvSpPr txBox="1"/>
          <p:nvPr/>
        </p:nvSpPr>
        <p:spPr>
          <a:xfrm>
            <a:off x="288758" y="930297"/>
            <a:ext cx="10733204" cy="466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数据处理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血液样品</a:t>
            </a:r>
            <a:r>
              <a:rPr lang="zh-CN" altLang="en-US" dirty="0"/>
              <a:t>根据血液体积直接计算血液中胆固醇样品的浓度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肝脏样品</a:t>
            </a:r>
            <a:r>
              <a:rPr lang="zh-CN" altLang="en-US" dirty="0"/>
              <a:t>计算质量体积分数或质量分数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通过标准曲线或标准加入曲线计算待测样品浓度，重复实验取平均后不同稀释浓度之间处理后取平均（</a:t>
            </a:r>
            <a:r>
              <a:rPr lang="zh-CN" altLang="en-US" u="sng" dirty="0"/>
              <a:t>同一方法内</a:t>
            </a:r>
            <a:r>
              <a:rPr lang="zh-CN" altLang="en-US" dirty="0"/>
              <a:t>），计算每一样本的平均值、标准差和结果不确定度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</a:t>
            </a:r>
            <a:r>
              <a:rPr lang="zh-CN" altLang="en-US" u="sng" dirty="0"/>
              <a:t>同一方法下</a:t>
            </a:r>
            <a:r>
              <a:rPr lang="zh-CN" altLang="en-US" dirty="0"/>
              <a:t>正常小鼠和</a:t>
            </a:r>
            <a:r>
              <a:rPr lang="en-US" dirty="0" err="1"/>
              <a:t>ob</a:t>
            </a:r>
            <a:r>
              <a:rPr lang="en-US" dirty="0"/>
              <a:t>/</a:t>
            </a:r>
            <a:r>
              <a:rPr lang="en-US" dirty="0" err="1"/>
              <a:t>ob</a:t>
            </a:r>
            <a:r>
              <a:rPr lang="zh-CN" altLang="en-US" dirty="0"/>
              <a:t>小鼠测得的血液和肝脏胆固醇浓度进行</a:t>
            </a:r>
            <a:r>
              <a:rPr lang="zh-CN" altLang="en-US" dirty="0">
                <a:solidFill>
                  <a:srgbClr val="FF0000"/>
                </a:solidFill>
              </a:rPr>
              <a:t>显著性检验（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zh-CN" altLang="en-US" dirty="0">
                <a:solidFill>
                  <a:srgbClr val="FF0000"/>
                </a:solidFill>
              </a:rPr>
              <a:t>检验）</a:t>
            </a:r>
            <a:r>
              <a:rPr lang="zh-CN" altLang="en-US" dirty="0"/>
              <a:t>，判断二者之间的显著性差异</a:t>
            </a:r>
            <a:endParaRPr lang="en-CN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</a:t>
            </a:r>
            <a:r>
              <a:rPr lang="zh-CN" altLang="en-US" u="sng" dirty="0"/>
              <a:t>同一方法下同一类型</a:t>
            </a:r>
            <a:r>
              <a:rPr lang="zh-CN" altLang="en-US" dirty="0"/>
              <a:t>小鼠测得的血液和肝脏胆固醇含量分别进行</a:t>
            </a:r>
            <a:r>
              <a:rPr lang="en-US" dirty="0">
                <a:solidFill>
                  <a:srgbClr val="FF0000"/>
                </a:solidFill>
              </a:rPr>
              <a:t>ANOVA</a:t>
            </a:r>
            <a:r>
              <a:rPr lang="zh-CN" altLang="en-US" dirty="0">
                <a:solidFill>
                  <a:srgbClr val="FF0000"/>
                </a:solidFill>
              </a:rPr>
              <a:t>检验</a:t>
            </a:r>
            <a:r>
              <a:rPr lang="zh-CN" altLang="en-US" dirty="0"/>
              <a:t>，判断是否具有显著性差异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</a:t>
            </a:r>
            <a:r>
              <a:rPr lang="zh-CN" altLang="en-US" u="sng" dirty="0"/>
              <a:t>不同方法下</a:t>
            </a:r>
            <a:r>
              <a:rPr lang="zh-CN" altLang="en-US" dirty="0"/>
              <a:t>血液胆固醇浓度和肝脏胆固醇浓度分别进行</a:t>
            </a:r>
            <a:r>
              <a:rPr lang="en-US" dirty="0">
                <a:solidFill>
                  <a:srgbClr val="FF0000"/>
                </a:solidFill>
              </a:rPr>
              <a:t>ANOVA</a:t>
            </a:r>
            <a:r>
              <a:rPr lang="zh-CN" altLang="en-US" dirty="0">
                <a:solidFill>
                  <a:srgbClr val="FF0000"/>
                </a:solidFill>
              </a:rPr>
              <a:t>检验</a:t>
            </a:r>
            <a:r>
              <a:rPr lang="zh-CN" altLang="en-US" dirty="0"/>
              <a:t>，判断是否具有显著性差异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对于没有显著性差异的方法进行所有未见异常测定样本的平均，并计算</a:t>
            </a:r>
            <a:r>
              <a:rPr lang="zh-CN" altLang="en-US" dirty="0">
                <a:solidFill>
                  <a:srgbClr val="FF0000"/>
                </a:solidFill>
              </a:rPr>
              <a:t>结果不确定度</a:t>
            </a:r>
            <a:r>
              <a:rPr lang="en-CN" dirty="0">
                <a:solidFill>
                  <a:srgbClr val="FF0000"/>
                </a:solidFill>
              </a:rPr>
              <a:t> 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647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讨论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5F7ACC1A-8162-9B41-BB55-5AD9F9BF2FC2}"/>
              </a:ext>
            </a:extLst>
          </p:cNvPr>
          <p:cNvSpPr txBox="1"/>
          <p:nvPr/>
        </p:nvSpPr>
        <p:spPr>
          <a:xfrm>
            <a:off x="288758" y="930297"/>
            <a:ext cx="10799789" cy="512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实验的意义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理解</a:t>
            </a:r>
            <a:r>
              <a:rPr lang="en-US" altLang="zh-CN" dirty="0">
                <a:solidFill>
                  <a:schemeClr val="accent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zh-CN" sz="1800" dirty="0">
                <a:solidFill>
                  <a:schemeClr val="accent5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蛋白</a:t>
            </a:r>
            <a:r>
              <a:rPr lang="zh-CN" altLang="en-US" dirty="0">
                <a:solidFill>
                  <a:schemeClr val="accent5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（瘦素）</a:t>
            </a: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在动物体内的生物学意义</a:t>
            </a:r>
            <a:r>
              <a:rPr lang="en-CN" dirty="0">
                <a:effectLst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胆固醇能够维持细胞膜的流动性，转换为其他类固醇激素的重要作用，但是胆固醇过高会诱发许多心血管疾病</a:t>
            </a:r>
            <a:endParaRPr lang="en-CN" dirty="0"/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实验的难点与可能的误差来源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难点在于保持不同测量方法之间的</a:t>
            </a:r>
            <a:r>
              <a:rPr lang="zh-CN" sz="1800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平行性</a:t>
            </a:r>
            <a:r>
              <a:rPr lang="en-CN" dirty="0">
                <a:solidFill>
                  <a:srgbClr val="FF0000"/>
                </a:solidFill>
                <a:effectLst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不同组员完成实验的平行性不够好</a:t>
            </a:r>
            <a:endParaRPr lang="en-CN" altLang="zh-CN" sz="18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其他固醇以及还原性物质（比如抗坏血酸）可能会影响测定</a:t>
            </a:r>
            <a:endParaRPr lang="en-CN" altLang="zh-CN" sz="18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其他操作误差</a:t>
            </a:r>
            <a:r>
              <a:rPr lang="en-CN" dirty="0">
                <a:effectLst/>
              </a:rPr>
              <a:t> </a:t>
            </a:r>
            <a:endParaRPr lang="en-CN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样品制备时损失了较多胆固醇</a:t>
            </a:r>
            <a:r>
              <a:rPr lang="en-CN" dirty="0">
                <a:effectLst/>
              </a:rPr>
              <a:t> </a:t>
            </a:r>
            <a:endParaRPr lang="en-CN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反应时没有控制好每个孔的反应条件</a:t>
            </a:r>
            <a:endParaRPr lang="en-US" altLang="zh-CN" sz="18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...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28492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小组成员分工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78DB39FD-B3B0-6943-A87A-D9D3718902BE}"/>
              </a:ext>
            </a:extLst>
          </p:cNvPr>
          <p:cNvSpPr txBox="1"/>
          <p:nvPr/>
        </p:nvSpPr>
        <p:spPr>
          <a:xfrm>
            <a:off x="288758" y="1022302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第一周：酶法</a:t>
            </a:r>
            <a:endParaRPr lang="en-CN" altLang="zh-CN" sz="2000" dirty="0"/>
          </a:p>
        </p:txBody>
      </p:sp>
      <p:graphicFrame>
        <p:nvGraphicFramePr>
          <p:cNvPr id="12" name="表格 4">
            <a:extLst>
              <a:ext uri="{FF2B5EF4-FFF2-40B4-BE49-F238E27FC236}">
                <a16:creationId xmlns:a16="http://schemas.microsoft.com/office/drawing/2014/main" id="{34CCE516-7E0C-1041-82FB-FD6A30D6E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69097"/>
              </p:ext>
            </p:extLst>
          </p:nvPr>
        </p:nvGraphicFramePr>
        <p:xfrm>
          <a:off x="668594" y="1956619"/>
          <a:ext cx="10992469" cy="31069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59741">
                  <a:extLst>
                    <a:ext uri="{9D8B030D-6E8A-4147-A177-3AD203B41FA5}">
                      <a16:colId xmlns:a16="http://schemas.microsoft.com/office/drawing/2014/main" val="383300599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816089285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2989044491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14202058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1796284977"/>
                    </a:ext>
                  </a:extLst>
                </a:gridCol>
              </a:tblGrid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790551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酶溶液配制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dirty="0"/>
                        <a:t>酶</a:t>
                      </a:r>
                      <a:r>
                        <a:rPr lang="zh-CN" altLang="en-US" dirty="0"/>
                        <a:t>溶液配制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血液样品制备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肝脏样品制备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肝脏样品制备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992637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测定胆固醇检测限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89076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制作胆固醇标准曲线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34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75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小组成员分工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78DB39FD-B3B0-6943-A87A-D9D3718902BE}"/>
              </a:ext>
            </a:extLst>
          </p:cNvPr>
          <p:cNvSpPr txBox="1"/>
          <p:nvPr/>
        </p:nvSpPr>
        <p:spPr>
          <a:xfrm>
            <a:off x="288758" y="1022302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第二周：磷硫铁法</a:t>
            </a:r>
            <a:endParaRPr lang="en-CN" altLang="zh-CN" sz="2000" dirty="0"/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A735B657-B9BF-2849-84B6-C29AAAADF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478188"/>
              </p:ext>
            </p:extLst>
          </p:nvPr>
        </p:nvGraphicFramePr>
        <p:xfrm>
          <a:off x="668594" y="1956619"/>
          <a:ext cx="10992469" cy="31069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59741">
                  <a:extLst>
                    <a:ext uri="{9D8B030D-6E8A-4147-A177-3AD203B41FA5}">
                      <a16:colId xmlns:a16="http://schemas.microsoft.com/office/drawing/2014/main" val="383300599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816089285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2989044491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14202058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1796284977"/>
                    </a:ext>
                  </a:extLst>
                </a:gridCol>
              </a:tblGrid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790551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磷硫铁溶液配制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标准胆固醇样品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溶液配制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血液样品制备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肝脏样品制备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肝脏样品制备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992637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测定胆固醇检测限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89076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制作胆固醇标准曲线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34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493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小组成员分工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78DB39FD-B3B0-6943-A87A-D9D3718902BE}"/>
              </a:ext>
            </a:extLst>
          </p:cNvPr>
          <p:cNvSpPr txBox="1"/>
          <p:nvPr/>
        </p:nvSpPr>
        <p:spPr>
          <a:xfrm>
            <a:off x="288758" y="1022302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第三周：试剂盒方法（酶法）</a:t>
            </a:r>
            <a:endParaRPr lang="en-CN" altLang="zh-CN" sz="2000" dirty="0"/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A735B657-B9BF-2849-84B6-C29AAAADF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037119"/>
              </p:ext>
            </p:extLst>
          </p:nvPr>
        </p:nvGraphicFramePr>
        <p:xfrm>
          <a:off x="668594" y="1956619"/>
          <a:ext cx="10992469" cy="233024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59741">
                  <a:extLst>
                    <a:ext uri="{9D8B030D-6E8A-4147-A177-3AD203B41FA5}">
                      <a16:colId xmlns:a16="http://schemas.microsoft.com/office/drawing/2014/main" val="383300599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816089285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2989044491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14202058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1796284977"/>
                    </a:ext>
                  </a:extLst>
                </a:gridCol>
              </a:tblGrid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790551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测定胆固醇检测限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89076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制作胆固醇标准曲线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34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032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944AC3-E599-2349-876F-2BD18851E21E}"/>
              </a:ext>
            </a:extLst>
          </p:cNvPr>
          <p:cNvGrpSpPr/>
          <p:nvPr/>
        </p:nvGrpSpPr>
        <p:grpSpPr>
          <a:xfrm>
            <a:off x="2399176" y="2585468"/>
            <a:ext cx="7393647" cy="1687064"/>
            <a:chOff x="1641575" y="2677801"/>
            <a:chExt cx="7393647" cy="16870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9B2C29-6C36-CC44-A825-1EB7BA0CADF3}"/>
                </a:ext>
              </a:extLst>
            </p:cNvPr>
            <p:cNvSpPr txBox="1"/>
            <p:nvPr/>
          </p:nvSpPr>
          <p:spPr>
            <a:xfrm>
              <a:off x="1641575" y="2967335"/>
              <a:ext cx="581005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600" dirty="0"/>
                <a:t>Thank</a:t>
              </a:r>
              <a:r>
                <a:rPr kumimoji="1" lang="zh-CN" altLang="en-US" sz="6600" dirty="0"/>
                <a:t> </a:t>
              </a:r>
              <a:r>
                <a:rPr kumimoji="1" lang="en-US" altLang="zh-CN" sz="6600" dirty="0"/>
                <a:t>you!</a:t>
              </a:r>
              <a:endParaRPr kumimoji="1" lang="zh-CN" altLang="en-US" sz="6600" dirty="0"/>
            </a:p>
          </p:txBody>
        </p:sp>
        <p:pic>
          <p:nvPicPr>
            <p:cNvPr id="3" name="图片 3">
              <a:extLst>
                <a:ext uri="{FF2B5EF4-FFF2-40B4-BE49-F238E27FC236}">
                  <a16:creationId xmlns:a16="http://schemas.microsoft.com/office/drawing/2014/main" id="{A2F7A61C-D60C-8F44-8D57-D33E1FE70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80335" y="2677801"/>
              <a:ext cx="1854887" cy="1687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7296</TotalTime>
  <Words>2016</Words>
  <Application>Microsoft Macintosh PowerPoint</Application>
  <PresentationFormat>Widescreen</PresentationFormat>
  <Paragraphs>515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Circular</vt:lpstr>
      <vt:lpstr>DengXian</vt:lpstr>
      <vt:lpstr>KaiTi</vt:lpstr>
      <vt:lpstr>SimHei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235</cp:revision>
  <dcterms:created xsi:type="dcterms:W3CDTF">2024-09-08T14:28:50Z</dcterms:created>
  <dcterms:modified xsi:type="dcterms:W3CDTF">2024-11-01T01:47:48Z</dcterms:modified>
</cp:coreProperties>
</file>