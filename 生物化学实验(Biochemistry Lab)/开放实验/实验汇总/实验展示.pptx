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1.xml" ContentType="application/vnd.openxmlformats-officedocument.presentationml.tags+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2.xml" ContentType="application/vnd.openxmlformats-officedocument.presentationml.tags+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2.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3.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5.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7"/>
  </p:notesMasterIdLst>
  <p:sldIdLst>
    <p:sldId id="425" r:id="rId2"/>
    <p:sldId id="259" r:id="rId3"/>
    <p:sldId id="453" r:id="rId4"/>
    <p:sldId id="428" r:id="rId5"/>
    <p:sldId id="427" r:id="rId6"/>
    <p:sldId id="432" r:id="rId7"/>
    <p:sldId id="431" r:id="rId8"/>
    <p:sldId id="433" r:id="rId9"/>
    <p:sldId id="434" r:id="rId10"/>
    <p:sldId id="457" r:id="rId11"/>
    <p:sldId id="429" r:id="rId12"/>
    <p:sldId id="436" r:id="rId13"/>
    <p:sldId id="449" r:id="rId14"/>
    <p:sldId id="448" r:id="rId15"/>
    <p:sldId id="450" r:id="rId16"/>
    <p:sldId id="451" r:id="rId17"/>
    <p:sldId id="458" r:id="rId18"/>
    <p:sldId id="459" r:id="rId19"/>
    <p:sldId id="430" r:id="rId20"/>
    <p:sldId id="435" r:id="rId21"/>
    <p:sldId id="437" r:id="rId22"/>
    <p:sldId id="438" r:id="rId23"/>
    <p:sldId id="439" r:id="rId24"/>
    <p:sldId id="440" r:id="rId25"/>
    <p:sldId id="441" r:id="rId26"/>
    <p:sldId id="442" r:id="rId27"/>
    <p:sldId id="443" r:id="rId28"/>
    <p:sldId id="444" r:id="rId29"/>
    <p:sldId id="445" r:id="rId30"/>
    <p:sldId id="446" r:id="rId31"/>
    <p:sldId id="447" r:id="rId32"/>
    <p:sldId id="454" r:id="rId33"/>
    <p:sldId id="455" r:id="rId34"/>
    <p:sldId id="456" r:id="rId35"/>
    <p:sldId id="277" r:id="rId36"/>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0000"/>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6"/>
    <p:restoredTop sz="91677"/>
  </p:normalViewPr>
  <p:slideViewPr>
    <p:cSldViewPr snapToGrid="0" snapToObjects="1">
      <p:cViewPr varScale="1">
        <p:scale>
          <a:sx n="130" d="100"/>
          <a:sy n="130" d="100"/>
        </p:scale>
        <p:origin x="504"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13810\AppData\Local\Temp\4d69fba9-d0e8-4e89-8934-93e03de8bd4d_&#24320;&#25918;&#23454;&#39564;&#37238;&#26631;&#20202;&#25968;&#25454;%20(2).zip.&#24320;&#25918;&#23454;&#39564;&#37238;&#26631;&#20202;&#25968;&#25454;%20(2).zip\&#24320;&#25918;&#23454;&#39564;&#37238;&#26631;&#20202;&#25968;&#25454;\&#37238;&#27861;\&#21608;&#20116;&#19977;&#32452;&#32966;&#22266;&#37255;&#37238;&#27861;&#39044;&#23454;&#39564;.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13810\Desktop\&#21608;&#20116;&#19977;&#32452;&#32966;&#22266;&#37255;&#37238;&#27861;&#27491;&#24335;&#23454;&#39564;1130--nac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13810\Desktop\&#21608;&#20116;&#19977;&#32452;&#37238;&#27861;&#32966;&#22266;&#37255;&#27491;&#24335;&#23454;&#39564;1130-2-+nacl-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24037;&#20316;&#31807;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C:\Users\13810\AppData\Local\Temp\ea0e8492-2f5d-4a19-b169-7776998fd4b4_&#24320;&#25918;&#23454;&#39564;&#37238;&#26631;&#20202;&#25968;&#25454;%20(2).zip.&#24320;&#25918;&#23454;&#39564;&#37238;&#26631;&#20202;&#25968;&#25454;%20(2).zip\&#24320;&#25918;&#23454;&#39564;&#37238;&#26631;&#20202;&#25968;&#25454;\&#37238;&#27861;\&#21608;&#20116;&#19977;&#32452;&#32966;&#22266;&#37255;&#37238;&#27861;&#27491;&#24335;&#23454;&#39564;-2.xlsx"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C:\Users\13810\AppData\Local\Temp\6c189ddc-d4ad-46ac-9ae4-4808cff48a7c_&#24320;&#25918;&#23454;&#39564;&#37238;&#26631;&#20202;&#25968;&#25454;%20(2).zip.&#24320;&#25918;&#23454;&#39564;&#37238;&#26631;&#20202;&#25968;&#25454;%20(2).zip\&#24320;&#25918;&#23454;&#39564;&#37238;&#26631;&#20202;&#25968;&#25454;\&#37238;&#27861;\&#21608;&#20116;&#19977;&#32452;&#32966;&#22266;&#37255;&#37238;&#27861;&#27491;&#24335;&#23454;&#39564;.xlsx"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file:////Users/peiyuliu/Desktop/PKU-Undergraduate-Course-Public/&#29983;&#29289;&#21270;&#23398;&#23454;&#39564;(Biochemistry%20Lab)/&#24320;&#25918;&#23454;&#39564;/&#24320;&#25918;&#23454;&#39564;&#37238;&#26631;&#20202;&#25968;&#25454;/&#30967;&#30827;&#38081;&#27861;/&#32966;&#22266;&#37255;&#30967;&#30827;&#38081;&#27861;&#39044;&#23454;&#39564;.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peiyuliu/Desktop/PKU-Undergraduate-Course-Public/&#29983;&#29289;&#21270;&#23398;&#23454;&#39564;(Biochemistry%20Lab)/&#24320;&#25918;&#23454;&#39564;/&#24320;&#25918;&#23454;&#39564;&#37238;&#26631;&#20202;&#25968;&#25454;/&#30967;&#30827;&#38081;&#27861;/3&#32452;&#30967;&#30827;&#38081;&#27861;&#27491;&#24335;&#23454;&#39564;-7.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Users/peiyuliu/Desktop/PKU-Undergraduate-Course-Public/&#29983;&#29289;&#21270;&#23398;&#23454;&#39564;(Biochemistry%20Lab)/&#24320;&#25918;&#23454;&#39564;/&#24320;&#25918;&#23454;&#39564;&#37238;&#26631;&#20202;&#25968;&#25454;/&#30967;&#30827;&#38081;&#27861;/3&#32452;&#30967;&#30827;&#38081;&#27861;&#39044;&#23454;&#39564;-2.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Users/peiyuliu/Desktop/PKU-Undergraduate-Course-Public/&#29983;&#29289;&#21270;&#23398;&#23454;&#39564;(Biochemistry%20Lab)/&#24320;&#25918;&#23454;&#39564;/&#24320;&#25918;&#23454;&#39564;&#37238;&#26631;&#20202;&#25968;&#25454;/&#30967;&#30827;&#38081;&#27861;/3&#32452;&#30967;&#30827;&#38081;&#27861;&#39044;&#23454;&#39564;-3.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Users/peiyuliu/Desktop/PKU-Undergraduate-Course-Public/&#29983;&#29289;&#21270;&#23398;&#23454;&#39564;(Biochemistry%20Lab)/&#24320;&#25918;&#23454;&#39564;/&#24320;&#25918;&#23454;&#39564;&#37238;&#26631;&#20202;&#25968;&#25454;/&#30967;&#30827;&#38081;&#27861;/3&#32452;&#30967;&#30827;&#38081;&#27861;&#39044;&#23454;&#39564;-3.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Users/zhangdaijian/Desktop/&#21271;&#20140;&#22823;&#23398;/&#29983;&#29289;&#21270;&#23398;&#23454;&#39564;/&#24320;&#25918;&#23454;&#39564;/&#24320;&#25918;&#23454;&#39564;&#37238;&#26631;&#20202;&#25968;&#25454;/&#35797;&#21058;&#30418;&#27861;/&#32966;&#22266;&#37255;&#35797;&#21058;&#30418;&#39044;&#23454;&#39564;.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lineMarker"/>
        <c:varyColors val="0"/>
        <c:ser>
          <c:idx val="2"/>
          <c:order val="0"/>
          <c:tx>
            <c:strRef>
              <c:f>"胆固醇净含量（umol）-吸光值标准曲线"</c:f>
              <c:strCache>
                <c:ptCount val="1"/>
                <c:pt idx="0">
                  <c:v>胆固醇净含量（umol）-吸光值标准曲线</c:v>
                </c:pt>
              </c:strCache>
            </c:strRef>
          </c:tx>
          <c:spPr>
            <a:ln w="19050" cap="rnd">
              <a:noFill/>
              <a:round/>
            </a:ln>
            <a:effectLst/>
          </c:spPr>
          <c:marker>
            <c:symbol val="circle"/>
            <c:size val="5"/>
            <c:spPr>
              <a:solidFill>
                <a:schemeClr val="accent4"/>
              </a:solidFill>
              <a:ln w="9525">
                <a:solidFill>
                  <a:schemeClr val="accent4"/>
                </a:solidFill>
              </a:ln>
              <a:effectLst/>
            </c:spPr>
          </c:marker>
          <c:trendline>
            <c:spPr>
              <a:ln w="19050" cap="rnd">
                <a:solidFill>
                  <a:schemeClr val="accent4"/>
                </a:solidFill>
                <a:prstDash val="sysDot"/>
              </a:ln>
              <a:effectLst/>
            </c:spPr>
            <c:trendlineType val="linear"/>
            <c:dispRSqr val="1"/>
            <c:dispEq val="1"/>
            <c:trendlineLbl>
              <c:numFmt formatCode="General" sourceLinked="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rendlineLbl>
          </c:trendline>
          <c:xVal>
            <c:numRef>
              <c:f>'[周五三组胆固醇酶法预实验.xlsx]板 1 - Sheet1'!$A$51:$A$66</c:f>
              <c:numCache>
                <c:formatCode>General</c:formatCode>
                <c:ptCount val="16"/>
                <c:pt idx="0">
                  <c:v>0</c:v>
                </c:pt>
                <c:pt idx="1">
                  <c:v>6.2500000000000001E-4</c:v>
                </c:pt>
                <c:pt idx="2">
                  <c:v>1.25E-3</c:v>
                </c:pt>
                <c:pt idx="3">
                  <c:v>2.5000000000000001E-3</c:v>
                </c:pt>
                <c:pt idx="4">
                  <c:v>5.0000000000000001E-3</c:v>
                </c:pt>
                <c:pt idx="5">
                  <c:v>0.01</c:v>
                </c:pt>
                <c:pt idx="6">
                  <c:v>0.02</c:v>
                </c:pt>
                <c:pt idx="7">
                  <c:v>0.04</c:v>
                </c:pt>
                <c:pt idx="8">
                  <c:v>0.06</c:v>
                </c:pt>
                <c:pt idx="9">
                  <c:v>0.08</c:v>
                </c:pt>
                <c:pt idx="10">
                  <c:v>0.1</c:v>
                </c:pt>
                <c:pt idx="11">
                  <c:v>0.12</c:v>
                </c:pt>
                <c:pt idx="12">
                  <c:v>0.14000000000000001</c:v>
                </c:pt>
                <c:pt idx="13">
                  <c:v>0.16</c:v>
                </c:pt>
                <c:pt idx="14">
                  <c:v>0.18</c:v>
                </c:pt>
                <c:pt idx="15">
                  <c:v>0.2</c:v>
                </c:pt>
              </c:numCache>
            </c:numRef>
          </c:xVal>
          <c:yVal>
            <c:numRef>
              <c:f>'[周五三组胆固醇酶法预实验.xlsx]板 1 - Sheet1'!$D$51:$D$66</c:f>
              <c:numCache>
                <c:formatCode>General</c:formatCode>
                <c:ptCount val="16"/>
                <c:pt idx="0">
                  <c:v>6.7500000000000004E-2</c:v>
                </c:pt>
                <c:pt idx="1">
                  <c:v>6.6000000000000003E-2</c:v>
                </c:pt>
                <c:pt idx="2">
                  <c:v>7.2999999999999995E-2</c:v>
                </c:pt>
                <c:pt idx="3">
                  <c:v>7.85E-2</c:v>
                </c:pt>
                <c:pt idx="4">
                  <c:v>0.08</c:v>
                </c:pt>
                <c:pt idx="5">
                  <c:v>0.19950000000000001</c:v>
                </c:pt>
                <c:pt idx="6">
                  <c:v>0.39100000000000001</c:v>
                </c:pt>
                <c:pt idx="7">
                  <c:v>0.79100000000000004</c:v>
                </c:pt>
                <c:pt idx="8">
                  <c:v>0.95850000000000002</c:v>
                </c:pt>
                <c:pt idx="9">
                  <c:v>1.387</c:v>
                </c:pt>
                <c:pt idx="10">
                  <c:v>1.512</c:v>
                </c:pt>
                <c:pt idx="11">
                  <c:v>1.8979999999999999</c:v>
                </c:pt>
                <c:pt idx="12">
                  <c:v>2.2839999999999998</c:v>
                </c:pt>
                <c:pt idx="13">
                  <c:v>2.6074999999999999</c:v>
                </c:pt>
                <c:pt idx="14">
                  <c:v>2.8025000000000002</c:v>
                </c:pt>
                <c:pt idx="15">
                  <c:v>3.21</c:v>
                </c:pt>
              </c:numCache>
            </c:numRef>
          </c:yVal>
          <c:smooth val="0"/>
          <c:extLst>
            <c:ext xmlns:c16="http://schemas.microsoft.com/office/drawing/2014/chart" uri="{C3380CC4-5D6E-409C-BE32-E72D297353CC}">
              <c16:uniqueId val="{00000001-DF89-EF4A-B782-8EF69535D4C8}"/>
            </c:ext>
          </c:extLst>
        </c:ser>
        <c:dLbls>
          <c:showLegendKey val="0"/>
          <c:showVal val="0"/>
          <c:showCatName val="0"/>
          <c:showSerName val="0"/>
          <c:showPercent val="0"/>
          <c:showBubbleSize val="0"/>
        </c:dLbls>
        <c:axId val="675545781"/>
        <c:axId val="514559648"/>
      </c:scatterChart>
      <c:valAx>
        <c:axId val="675545781"/>
        <c:scaling>
          <c:orientation val="minMax"/>
        </c:scaling>
        <c:delete val="0"/>
        <c:axPos val="b"/>
        <c:title>
          <c:tx>
            <c:rich>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r>
                  <a:rPr lang="zh-CN"/>
                  <a:t>胆固醇净含量</a:t>
                </a:r>
                <a:r>
                  <a:rPr lang="el-GR"/>
                  <a:t>(μ</a:t>
                </a:r>
                <a:r>
                  <a:rPr lang="en-US"/>
                  <a:t>mol) </a:t>
                </a:r>
                <a:endParaRPr lang="es-ES"/>
              </a:p>
            </c:rich>
          </c:tx>
          <c:overlay val="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crossAx val="514559648"/>
        <c:crosses val="autoZero"/>
        <c:crossBetween val="midCat"/>
      </c:valAx>
      <c:valAx>
        <c:axId val="514559648"/>
        <c:scaling>
          <c:orientation val="minMax"/>
        </c:scaling>
        <c:delete val="0"/>
        <c:axPos val="l"/>
        <c:title>
          <c:tx>
            <c:rich>
              <a:bodyPr rot="-54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r>
                  <a:rPr lang="en-US" dirty="0"/>
                  <a:t>A</a:t>
                </a:r>
                <a:r>
                  <a:rPr lang="en-US" baseline="-25000" dirty="0"/>
                  <a:t>500nm</a:t>
                </a:r>
                <a:endParaRPr lang="zh-CN" baseline="-25000" dirty="0"/>
              </a:p>
            </c:rich>
          </c:tx>
          <c:overlay val="0"/>
          <c:spPr>
            <a:noFill/>
            <a:ln>
              <a:noFill/>
            </a:ln>
            <a:effectLst/>
          </c:spPr>
          <c:txPr>
            <a:bodyPr rot="-54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crossAx val="675545781"/>
        <c:crosses val="autoZero"/>
        <c:crossBetween val="midCat"/>
      </c:valAx>
      <c:spPr>
        <a:noFill/>
        <a:ln w="25400" cap="flat" cmpd="sng" algn="ctr">
          <a:noFill/>
          <a:round/>
        </a:ln>
        <a:effectLst/>
      </c:spPr>
    </c:plotArea>
    <c:plotVisOnly val="1"/>
    <c:dispBlanksAs val="gap"/>
    <c:showDLblsOverMax val="0"/>
    <c:extLst>
      <c:ext uri="{0b15fc19-7d7d-44ad-8c2d-2c3a37ce22c3}">
        <chartProps xmlns="https://web.wps.cn/et/2018/main" chartId="{826b3cab-0393-4812-9a43-ce513cd6cf3a}"/>
      </c:ext>
    </c:extLst>
  </c:chart>
  <c:spPr>
    <a:solidFill>
      <a:schemeClr val="bg1"/>
    </a:solidFill>
    <a:ln w="9525" cap="flat" cmpd="sng" algn="ctr">
      <a:noFill/>
      <a:round/>
    </a:ln>
    <a:effectLst/>
  </c:spPr>
  <c:txPr>
    <a:bodyPr/>
    <a:lstStyle/>
    <a:p>
      <a:pPr>
        <a:defRPr lang="zh-CN" sz="1600"/>
      </a:pPr>
      <a:endParaRPr lang="en-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"胆固醇浓度-吸光值标准曲线"</c:f>
              <c:strCache>
                <c:ptCount val="1"/>
                <c:pt idx="0">
                  <c:v>胆固醇浓度-吸光值标准曲线</c:v>
                </c:pt>
              </c:strCache>
            </c:strRef>
          </c:tx>
          <c:spPr>
            <a:ln w="19050" cap="rnd">
              <a:noFill/>
              <a:round/>
            </a:ln>
            <a:effectLst/>
          </c:spPr>
          <c:marker>
            <c:symbol val="circle"/>
            <c:size val="5"/>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dispRSqr val="1"/>
            <c:dispEq val="1"/>
            <c:trendlineLbl>
              <c:layout>
                <c:manualLayout>
                  <c:x val="9.3822010620765423E-2"/>
                  <c:y val="0.30592043099875671"/>
                </c:manualLayout>
              </c:layout>
              <c:numFmt formatCode="General" sourceLinked="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rendlineLbl>
          </c:trendline>
          <c:xVal>
            <c:numRef>
              <c:f>'[周五三组胆固醇酶法正式实验1130--nacl.xlsx]板 1 - Sheet1'!$E$36:$E$42</c:f>
              <c:numCache>
                <c:formatCode>General</c:formatCode>
                <c:ptCount val="7"/>
                <c:pt idx="0">
                  <c:v>0</c:v>
                </c:pt>
                <c:pt idx="1">
                  <c:v>0.01</c:v>
                </c:pt>
                <c:pt idx="2">
                  <c:v>0.02</c:v>
                </c:pt>
                <c:pt idx="3">
                  <c:v>0.04</c:v>
                </c:pt>
                <c:pt idx="4">
                  <c:v>0.06</c:v>
                </c:pt>
                <c:pt idx="5">
                  <c:v>0.08</c:v>
                </c:pt>
                <c:pt idx="6" formatCode="0.00_ ">
                  <c:v>0.1</c:v>
                </c:pt>
              </c:numCache>
            </c:numRef>
          </c:xVal>
          <c:yVal>
            <c:numRef>
              <c:f>'[周五三组胆固醇酶法正式实验1130--nacl.xlsx]板 1 - Sheet1'!$F$36:$F$42</c:f>
              <c:numCache>
                <c:formatCode>General</c:formatCode>
                <c:ptCount val="7"/>
                <c:pt idx="0">
                  <c:v>6.25E-2</c:v>
                </c:pt>
                <c:pt idx="1">
                  <c:v>0.23300000000000001</c:v>
                </c:pt>
                <c:pt idx="2">
                  <c:v>0.38400000000000001</c:v>
                </c:pt>
                <c:pt idx="3">
                  <c:v>0.64200000000000002</c:v>
                </c:pt>
                <c:pt idx="4">
                  <c:v>0.85050000000000003</c:v>
                </c:pt>
                <c:pt idx="5">
                  <c:v>1.044</c:v>
                </c:pt>
                <c:pt idx="6">
                  <c:v>1.3865000000000001</c:v>
                </c:pt>
              </c:numCache>
            </c:numRef>
          </c:yVal>
          <c:smooth val="0"/>
          <c:extLst>
            <c:ext xmlns:c16="http://schemas.microsoft.com/office/drawing/2014/chart" uri="{C3380CC4-5D6E-409C-BE32-E72D297353CC}">
              <c16:uniqueId val="{00000001-D406-324E-AE88-DB46AA31B815}"/>
            </c:ext>
          </c:extLst>
        </c:ser>
        <c:ser>
          <c:idx val="1"/>
          <c:order val="1"/>
          <c:tx>
            <c:strRef>
              <c:f>"wt小鼠血浆样品"</c:f>
              <c:strCache>
                <c:ptCount val="1"/>
                <c:pt idx="0">
                  <c:v>wt小鼠血浆样品</c:v>
                </c:pt>
              </c:strCache>
            </c:strRef>
          </c:tx>
          <c:spPr>
            <a:ln w="19050" cap="rnd">
              <a:noFill/>
              <a:round/>
            </a:ln>
            <a:effectLst/>
          </c:spPr>
          <c:marker>
            <c:symbol val="circle"/>
            <c:size val="5"/>
            <c:spPr>
              <a:solidFill>
                <a:schemeClr val="accent5"/>
              </a:solidFill>
              <a:ln w="9525">
                <a:solidFill>
                  <a:schemeClr val="accent5"/>
                </a:solidFill>
              </a:ln>
              <a:effectLst/>
            </c:spPr>
          </c:marker>
          <c:xVal>
            <c:numRef>
              <c:f>'[周五三组胆固醇酶法正式实验1130--nacl.xlsx]板 1 - Sheet1'!$E$65:$E$67</c:f>
              <c:numCache>
                <c:formatCode>General</c:formatCode>
                <c:ptCount val="3"/>
                <c:pt idx="0">
                  <c:v>2.3450199203187201E-2</c:v>
                </c:pt>
                <c:pt idx="1">
                  <c:v>2.1856573705179301E-2</c:v>
                </c:pt>
                <c:pt idx="2">
                  <c:v>2.1697211155378499E-2</c:v>
                </c:pt>
              </c:numCache>
            </c:numRef>
          </c:xVal>
          <c:yVal>
            <c:numRef>
              <c:f>'[周五三组胆固醇酶法正式实验1130--nacl.xlsx]板 1 - Sheet1'!$B$65:$B$67</c:f>
              <c:numCache>
                <c:formatCode>General</c:formatCode>
                <c:ptCount val="3"/>
                <c:pt idx="0">
                  <c:v>0.39600000000000002</c:v>
                </c:pt>
                <c:pt idx="1">
                  <c:v>0.376</c:v>
                </c:pt>
                <c:pt idx="2">
                  <c:v>0.374</c:v>
                </c:pt>
              </c:numCache>
            </c:numRef>
          </c:yVal>
          <c:smooth val="0"/>
          <c:extLst>
            <c:ext xmlns:c16="http://schemas.microsoft.com/office/drawing/2014/chart" uri="{C3380CC4-5D6E-409C-BE32-E72D297353CC}">
              <c16:uniqueId val="{00000002-D406-324E-AE88-DB46AA31B815}"/>
            </c:ext>
          </c:extLst>
        </c:ser>
        <c:ser>
          <c:idx val="2"/>
          <c:order val="2"/>
          <c:tx>
            <c:strRef>
              <c:f>"ob小鼠血浆样品"</c:f>
              <c:strCache>
                <c:ptCount val="1"/>
                <c:pt idx="0">
                  <c:v>ob小鼠血浆样品</c:v>
                </c:pt>
              </c:strCache>
            </c:strRef>
          </c:tx>
          <c:spPr>
            <a:ln w="19050" cap="rnd">
              <a:noFill/>
              <a:round/>
            </a:ln>
            <a:effectLst/>
          </c:spPr>
          <c:marker>
            <c:symbol val="circle"/>
            <c:size val="5"/>
            <c:spPr>
              <a:solidFill>
                <a:schemeClr val="accent4"/>
              </a:solidFill>
              <a:ln w="9525">
                <a:solidFill>
                  <a:schemeClr val="accent4"/>
                </a:solidFill>
              </a:ln>
              <a:effectLst/>
            </c:spPr>
          </c:marker>
          <c:xVal>
            <c:numRef>
              <c:f>'[周五三组胆固醇酶法正式实验1130--nacl.xlsx]板 1 - Sheet1'!$E$68:$E$70</c:f>
              <c:numCache>
                <c:formatCode>General</c:formatCode>
                <c:ptCount val="3"/>
                <c:pt idx="0">
                  <c:v>2.7992031872509999E-2</c:v>
                </c:pt>
                <c:pt idx="1">
                  <c:v>1.83505976095618E-2</c:v>
                </c:pt>
                <c:pt idx="2">
                  <c:v>2.8071713147410401E-2</c:v>
                </c:pt>
              </c:numCache>
            </c:numRef>
          </c:xVal>
          <c:yVal>
            <c:numRef>
              <c:f>'[周五三组胆固醇酶法正式实验1130--nacl.xlsx]板 1 - Sheet1'!$B$68:$B$70</c:f>
              <c:numCache>
                <c:formatCode>General</c:formatCode>
                <c:ptCount val="3"/>
                <c:pt idx="0">
                  <c:v>0.45300000000000001</c:v>
                </c:pt>
                <c:pt idx="1">
                  <c:v>0.33200000000000002</c:v>
                </c:pt>
                <c:pt idx="2">
                  <c:v>0.45400000000000001</c:v>
                </c:pt>
              </c:numCache>
            </c:numRef>
          </c:yVal>
          <c:smooth val="0"/>
          <c:extLst>
            <c:ext xmlns:c16="http://schemas.microsoft.com/office/drawing/2014/chart" uri="{C3380CC4-5D6E-409C-BE32-E72D297353CC}">
              <c16:uniqueId val="{00000003-D406-324E-AE88-DB46AA31B815}"/>
            </c:ext>
          </c:extLst>
        </c:ser>
        <c:dLbls>
          <c:showLegendKey val="0"/>
          <c:showVal val="0"/>
          <c:showCatName val="0"/>
          <c:showSerName val="0"/>
          <c:showPercent val="0"/>
          <c:showBubbleSize val="0"/>
        </c:dLbls>
        <c:axId val="860255024"/>
        <c:axId val="671643168"/>
      </c:scatterChart>
      <c:valAx>
        <c:axId val="860255024"/>
        <c:scaling>
          <c:orientation val="minMax"/>
          <c:max val="0.12000000000000001"/>
          <c:min val="0"/>
        </c:scaling>
        <c:delete val="0"/>
        <c:axPos val="b"/>
        <c:title>
          <c:tx>
            <c:rich>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r>
                  <a:rPr lang="zh-CN"/>
                  <a:t>胆固醇净含量</a:t>
                </a:r>
                <a:r>
                  <a:rPr lang="en-US"/>
                  <a:t>(</a:t>
                </a:r>
                <a:r>
                  <a:rPr lang="el-GR"/>
                  <a:t>μ</a:t>
                </a:r>
                <a:r>
                  <a:rPr lang="es-ES"/>
                  <a:t>mol</a:t>
                </a:r>
                <a:r>
                  <a:rPr lang="en-US"/>
                  <a:t>)</a:t>
                </a:r>
                <a:endParaRPr lang="es-ES"/>
              </a:p>
            </c:rich>
          </c:tx>
          <c:overlay val="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crossAx val="671643168"/>
        <c:crosses val="autoZero"/>
        <c:crossBetween val="midCat"/>
      </c:valAx>
      <c:valAx>
        <c:axId val="671643168"/>
        <c:scaling>
          <c:orientation val="minMax"/>
        </c:scaling>
        <c:delete val="0"/>
        <c:axPos val="l"/>
        <c:title>
          <c:tx>
            <c:rich>
              <a:bodyPr rot="-54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r>
                  <a:rPr lang="en-US" dirty="0"/>
                  <a:t>A</a:t>
                </a:r>
                <a:r>
                  <a:rPr lang="en-US" baseline="-25000" dirty="0"/>
                  <a:t>500nm</a:t>
                </a:r>
                <a:endParaRPr lang="zh-CN" baseline="-25000" dirty="0"/>
              </a:p>
            </c:rich>
          </c:tx>
          <c:overlay val="0"/>
          <c:spPr>
            <a:noFill/>
            <a:ln>
              <a:noFill/>
            </a:ln>
            <a:effectLst/>
          </c:spPr>
          <c:txPr>
            <a:bodyPr rot="-54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crossAx val="860255024"/>
        <c:crosses val="autoZero"/>
        <c:crossBetween val="midCat"/>
      </c:valAx>
      <c:spPr>
        <a:noFill/>
        <a:ln w="9525" cap="flat" cmpd="sng" algn="ctr">
          <a:noFill/>
          <a:round/>
        </a:ln>
        <a:effectLst/>
      </c:spPr>
    </c:plotArea>
    <c:legend>
      <c:legendPos val="t"/>
      <c:legendEntry>
        <c:idx val="0"/>
        <c:delete val="1"/>
      </c:legendEntry>
      <c:legendEntry>
        <c:idx val="3"/>
        <c:delete val="1"/>
      </c:legendEntry>
      <c:layout>
        <c:manualLayout>
          <c:xMode val="edge"/>
          <c:yMode val="edge"/>
          <c:x val="0.16497555739935857"/>
          <c:y val="2.9644268774703556E-2"/>
          <c:w val="0.81892034954109449"/>
          <c:h val="9.8173103856089142E-2"/>
        </c:manualLayout>
      </c:layout>
      <c:overlay val="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legend>
    <c:plotVisOnly val="1"/>
    <c:dispBlanksAs val="gap"/>
    <c:showDLblsOverMax val="0"/>
    <c:extLst>
      <c:ext uri="{0b15fc19-7d7d-44ad-8c2d-2c3a37ce22c3}">
        <chartProps xmlns="https://web.wps.cn/et/2018/main" chartId="{a58271eb-cc02-437e-a629-08f5893dd4f7}"/>
      </c:ext>
    </c:extLst>
  </c:chart>
  <c:spPr>
    <a:noFill/>
    <a:ln w="9525" cap="flat" cmpd="sng" algn="ctr">
      <a:noFill/>
      <a:round/>
    </a:ln>
    <a:effectLst/>
  </c:spPr>
  <c:txPr>
    <a:bodyPr/>
    <a:lstStyle/>
    <a:p>
      <a:pPr>
        <a:defRPr lang="zh-CN" sz="1600"/>
      </a:pPr>
      <a:endParaRPr lang="en-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673548269152927"/>
          <c:y val="0.11661913404200158"/>
          <c:w val="0.6910932063724593"/>
          <c:h val="0.61014159948207458"/>
        </c:manualLayout>
      </c:layout>
      <c:scatterChart>
        <c:scatterStyle val="lineMarker"/>
        <c:varyColors val="0"/>
        <c:ser>
          <c:idx val="0"/>
          <c:order val="0"/>
          <c:tx>
            <c:strRef>
              <c:f>"添加NaCl后样品胆固醇浓度-吸光值标准曲线"</c:f>
              <c:strCache>
                <c:ptCount val="1"/>
                <c:pt idx="0">
                  <c:v>添加NaCl后样品胆固醇浓度-吸光值标准曲线</c:v>
                </c:pt>
              </c:strCache>
            </c:strRef>
          </c:tx>
          <c:spPr>
            <a:ln w="19050" cap="rnd">
              <a:noFill/>
              <a:round/>
            </a:ln>
            <a:effectLst/>
          </c:spPr>
          <c:marker>
            <c:symbol val="circle"/>
            <c:size val="5"/>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dispRSqr val="1"/>
            <c:dispEq val="1"/>
            <c:trendlineLbl>
              <c:layout>
                <c:manualLayout>
                  <c:x val="0.12390734297747666"/>
                  <c:y val="0.35195540824438409"/>
                </c:manualLayout>
              </c:layout>
              <c:numFmt formatCode="General" sourceLinked="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rendlineLbl>
          </c:trendline>
          <c:xVal>
            <c:numRef>
              <c:f>'[周五三组酶法胆固醇正式实验1130-2-+nacl-2.xlsx]板 1 - Sheet1'!$D$37:$D$44</c:f>
              <c:numCache>
                <c:formatCode>General</c:formatCode>
                <c:ptCount val="8"/>
                <c:pt idx="0">
                  <c:v>0</c:v>
                </c:pt>
                <c:pt idx="1">
                  <c:v>0.01</c:v>
                </c:pt>
                <c:pt idx="2">
                  <c:v>0.02</c:v>
                </c:pt>
                <c:pt idx="3">
                  <c:v>0.04</c:v>
                </c:pt>
                <c:pt idx="4">
                  <c:v>0.06</c:v>
                </c:pt>
                <c:pt idx="5">
                  <c:v>0.08</c:v>
                </c:pt>
                <c:pt idx="6" formatCode="0.00_ ">
                  <c:v>0.1</c:v>
                </c:pt>
                <c:pt idx="7">
                  <c:v>0.12</c:v>
                </c:pt>
              </c:numCache>
            </c:numRef>
          </c:xVal>
          <c:yVal>
            <c:numRef>
              <c:f>'[周五三组酶法胆固醇正式实验1130-2-+nacl-2.xlsx]板 1 - Sheet1'!$E$37:$E$44</c:f>
              <c:numCache>
                <c:formatCode>General</c:formatCode>
                <c:ptCount val="8"/>
                <c:pt idx="0">
                  <c:v>6.6500000000000004E-2</c:v>
                </c:pt>
                <c:pt idx="1">
                  <c:v>0.1915</c:v>
                </c:pt>
                <c:pt idx="2">
                  <c:v>0.3</c:v>
                </c:pt>
                <c:pt idx="3">
                  <c:v>0.45850000000000002</c:v>
                </c:pt>
                <c:pt idx="4">
                  <c:v>0.67049999999999998</c:v>
                </c:pt>
                <c:pt idx="5">
                  <c:v>0.96399999999999997</c:v>
                </c:pt>
                <c:pt idx="6">
                  <c:v>1.204</c:v>
                </c:pt>
                <c:pt idx="7">
                  <c:v>1.3759999999999999</c:v>
                </c:pt>
              </c:numCache>
            </c:numRef>
          </c:yVal>
          <c:smooth val="0"/>
          <c:extLst>
            <c:ext xmlns:c16="http://schemas.microsoft.com/office/drawing/2014/chart" uri="{C3380CC4-5D6E-409C-BE32-E72D297353CC}">
              <c16:uniqueId val="{00000001-4966-E34A-9D75-CAFC42FC651D}"/>
            </c:ext>
          </c:extLst>
        </c:ser>
        <c:ser>
          <c:idx val="1"/>
          <c:order val="1"/>
          <c:tx>
            <c:strRef>
              <c:f>"wt小鼠肝脏样本"</c:f>
              <c:strCache>
                <c:ptCount val="1"/>
                <c:pt idx="0">
                  <c:v>wt小鼠肝脏样本</c:v>
                </c:pt>
              </c:strCache>
            </c:strRef>
          </c:tx>
          <c:spPr>
            <a:ln w="19050" cap="rnd">
              <a:noFill/>
              <a:round/>
            </a:ln>
            <a:effectLst/>
          </c:spPr>
          <c:marker>
            <c:symbol val="circle"/>
            <c:size val="5"/>
            <c:spPr>
              <a:solidFill>
                <a:schemeClr val="accent5"/>
              </a:solidFill>
              <a:ln w="9525">
                <a:solidFill>
                  <a:schemeClr val="accent5"/>
                </a:solidFill>
              </a:ln>
              <a:effectLst/>
            </c:spPr>
          </c:marker>
          <c:xVal>
            <c:numRef>
              <c:f>'[周五三组酶法胆固醇正式实验1130-2-+nacl-2.xlsx]板 1 - Sheet1'!$E$47:$E$49</c:f>
              <c:numCache>
                <c:formatCode>General</c:formatCode>
                <c:ptCount val="3"/>
                <c:pt idx="0">
                  <c:v>4.7828447339848E-2</c:v>
                </c:pt>
                <c:pt idx="1">
                  <c:v>1.8195801664857E-2</c:v>
                </c:pt>
                <c:pt idx="2">
                  <c:v>1.0097719869706799E-2</c:v>
                </c:pt>
              </c:numCache>
            </c:numRef>
          </c:xVal>
          <c:yVal>
            <c:numRef>
              <c:f>'[周五三组酶法胆固醇正式实验1130-2-+nacl-2.xlsx]板 1 - Sheet1'!$D$47:$D$49</c:f>
              <c:numCache>
                <c:formatCode>General</c:formatCode>
                <c:ptCount val="3"/>
                <c:pt idx="0">
                  <c:v>0.58750000000000002</c:v>
                </c:pt>
                <c:pt idx="1">
                  <c:v>0.26</c:v>
                </c:pt>
                <c:pt idx="2">
                  <c:v>0.17050000000000001</c:v>
                </c:pt>
              </c:numCache>
            </c:numRef>
          </c:yVal>
          <c:smooth val="0"/>
          <c:extLst>
            <c:ext xmlns:c16="http://schemas.microsoft.com/office/drawing/2014/chart" uri="{C3380CC4-5D6E-409C-BE32-E72D297353CC}">
              <c16:uniqueId val="{00000002-4966-E34A-9D75-CAFC42FC651D}"/>
            </c:ext>
          </c:extLst>
        </c:ser>
        <c:ser>
          <c:idx val="2"/>
          <c:order val="2"/>
          <c:tx>
            <c:strRef>
              <c:f>"ob小鼠肝脏样本"</c:f>
              <c:strCache>
                <c:ptCount val="1"/>
                <c:pt idx="0">
                  <c:v>ob小鼠肝脏样本</c:v>
                </c:pt>
              </c:strCache>
            </c:strRef>
          </c:tx>
          <c:spPr>
            <a:ln w="19050" cap="rnd">
              <a:noFill/>
              <a:round/>
            </a:ln>
            <a:effectLst/>
          </c:spPr>
          <c:marker>
            <c:symbol val="circle"/>
            <c:size val="5"/>
            <c:spPr>
              <a:solidFill>
                <a:schemeClr val="accent4"/>
              </a:solidFill>
              <a:ln w="9525">
                <a:solidFill>
                  <a:schemeClr val="accent4"/>
                </a:solidFill>
              </a:ln>
              <a:effectLst/>
            </c:spPr>
          </c:marker>
          <c:xVal>
            <c:numRef>
              <c:f>'[周五三组酶法胆固醇正式实验1130-2-+nacl-2.xlsx]板 1 - Sheet1'!$E$53:$E$55</c:f>
              <c:numCache>
                <c:formatCode>General</c:formatCode>
                <c:ptCount val="3"/>
                <c:pt idx="0">
                  <c:v>3.5432500904813598E-2</c:v>
                </c:pt>
                <c:pt idx="1">
                  <c:v>7.7904451682953299E-3</c:v>
                </c:pt>
                <c:pt idx="2">
                  <c:v>3.8282663771263097E-2</c:v>
                </c:pt>
              </c:numCache>
            </c:numRef>
          </c:xVal>
          <c:yVal>
            <c:numRef>
              <c:f>'[周五三组酶法胆固醇正式实验1130-2-+nacl-2.xlsx]板 1 - Sheet1'!$D$53:$D$55</c:f>
              <c:numCache>
                <c:formatCode>General</c:formatCode>
                <c:ptCount val="3"/>
                <c:pt idx="0">
                  <c:v>0.45050000000000001</c:v>
                </c:pt>
                <c:pt idx="1">
                  <c:v>0.14499999999999999</c:v>
                </c:pt>
                <c:pt idx="2">
                  <c:v>0.48199999999999998</c:v>
                </c:pt>
              </c:numCache>
            </c:numRef>
          </c:yVal>
          <c:smooth val="0"/>
          <c:extLst>
            <c:ext xmlns:c16="http://schemas.microsoft.com/office/drawing/2014/chart" uri="{C3380CC4-5D6E-409C-BE32-E72D297353CC}">
              <c16:uniqueId val="{00000003-4966-E34A-9D75-CAFC42FC651D}"/>
            </c:ext>
          </c:extLst>
        </c:ser>
        <c:dLbls>
          <c:showLegendKey val="0"/>
          <c:showVal val="0"/>
          <c:showCatName val="0"/>
          <c:showSerName val="0"/>
          <c:showPercent val="0"/>
          <c:showBubbleSize val="0"/>
        </c:dLbls>
        <c:axId val="96242896"/>
        <c:axId val="42653211"/>
      </c:scatterChart>
      <c:valAx>
        <c:axId val="96242896"/>
        <c:scaling>
          <c:orientation val="minMax"/>
        </c:scaling>
        <c:delete val="0"/>
        <c:axPos val="b"/>
        <c:title>
          <c:tx>
            <c:rich>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r>
                  <a:rPr lang="zh-CN"/>
                  <a:t>胆固醇净含量</a:t>
                </a:r>
                <a:r>
                  <a:rPr lang="en-US"/>
                  <a:t>(</a:t>
                </a:r>
                <a:r>
                  <a:rPr lang="el-GR"/>
                  <a:t>μ</a:t>
                </a:r>
                <a:r>
                  <a:rPr lang="es-ES"/>
                  <a:t>mol)</a:t>
                </a:r>
              </a:p>
            </c:rich>
          </c:tx>
          <c:overlay val="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crossAx val="42653211"/>
        <c:crosses val="autoZero"/>
        <c:crossBetween val="midCat"/>
      </c:valAx>
      <c:valAx>
        <c:axId val="42653211"/>
        <c:scaling>
          <c:orientation val="minMax"/>
        </c:scaling>
        <c:delete val="0"/>
        <c:axPos val="l"/>
        <c:title>
          <c:tx>
            <c:rich>
              <a:bodyPr rot="-54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r>
                  <a:rPr lang="en-US" dirty="0"/>
                  <a:t>A</a:t>
                </a:r>
                <a:r>
                  <a:rPr lang="en-US" baseline="-25000" dirty="0"/>
                  <a:t>500nm</a:t>
                </a:r>
                <a:endParaRPr lang="zh-CN" baseline="-25000" dirty="0"/>
              </a:p>
            </c:rich>
          </c:tx>
          <c:overlay val="0"/>
          <c:spPr>
            <a:noFill/>
            <a:ln>
              <a:noFill/>
            </a:ln>
            <a:effectLst/>
          </c:spPr>
          <c:txPr>
            <a:bodyPr rot="-54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crossAx val="96242896"/>
        <c:crosses val="autoZero"/>
        <c:crossBetween val="midCat"/>
      </c:valAx>
      <c:spPr>
        <a:noFill/>
        <a:ln w="9525" cap="flat" cmpd="sng" algn="ctr">
          <a:noFill/>
          <a:round/>
        </a:ln>
        <a:effectLst/>
      </c:spPr>
    </c:plotArea>
    <c:legend>
      <c:legendPos val="t"/>
      <c:legendEntry>
        <c:idx val="0"/>
        <c:delete val="1"/>
      </c:legendEntry>
      <c:legendEntry>
        <c:idx val="3"/>
        <c:delete val="1"/>
      </c:legendEntry>
      <c:layout>
        <c:manualLayout>
          <c:xMode val="edge"/>
          <c:yMode val="edge"/>
          <c:x val="0.14838437306360291"/>
          <c:y val="9.5808776570225684E-2"/>
          <c:w val="0.81872990294817793"/>
          <c:h val="7.9036009465787968E-2"/>
        </c:manualLayout>
      </c:layout>
      <c:overlay val="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legend>
    <c:plotVisOnly val="1"/>
    <c:dispBlanksAs val="gap"/>
    <c:showDLblsOverMax val="0"/>
    <c:extLst>
      <c:ext uri="{0b15fc19-7d7d-44ad-8c2d-2c3a37ce22c3}">
        <chartProps xmlns="https://web.wps.cn/et/2018/main" chartId="{4ee71c8e-3a15-44c1-858f-34690058368e}"/>
      </c:ext>
    </c:extLst>
  </c:chart>
  <c:spPr>
    <a:noFill/>
    <a:ln w="9525" cap="flat" cmpd="sng" algn="ctr">
      <a:noFill/>
      <a:round/>
    </a:ln>
    <a:effectLst/>
  </c:spPr>
  <c:txPr>
    <a:bodyPr/>
    <a:lstStyle/>
    <a:p>
      <a:pPr>
        <a:defRPr lang="zh-CN" sz="1600"/>
      </a:pPr>
      <a:endParaRPr lang="en-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560483427943601"/>
          <c:y val="5.5025087592666139E-2"/>
          <c:w val="0.78272074711591288"/>
          <c:h val="0.71101769843550833"/>
        </c:manualLayout>
      </c:layout>
      <c:scatterChart>
        <c:scatterStyle val="lineMarker"/>
        <c:varyColors val="0"/>
        <c:ser>
          <c:idx val="0"/>
          <c:order val="0"/>
          <c:spPr>
            <a:ln w="25400" cap="rnd">
              <a:noFill/>
              <a:round/>
            </a:ln>
            <a:effectLst/>
          </c:spPr>
          <c:marker>
            <c:symbol val="circle"/>
            <c:size val="5"/>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forward val="0.4"/>
            <c:backward val="0.5"/>
            <c:dispRSqr val="1"/>
            <c:dispEq val="1"/>
            <c:trendlineLbl>
              <c:layout>
                <c:manualLayout>
                  <c:x val="5.770568010562193E-2"/>
                  <c:y val="0.28161643897076966"/>
                </c:manualLayout>
              </c:layout>
              <c:numFmt formatCode="General"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trendlineLbl>
          </c:trendline>
          <c:xVal>
            <c:numRef>
              <c:f>[工作簿1]Sheet1!$C$89:$G$89</c:f>
              <c:numCache>
                <c:formatCode>General</c:formatCode>
                <c:ptCount val="5"/>
                <c:pt idx="0">
                  <c:v>-1.65</c:v>
                </c:pt>
                <c:pt idx="1">
                  <c:v>1.7</c:v>
                </c:pt>
                <c:pt idx="2">
                  <c:v>1.86</c:v>
                </c:pt>
                <c:pt idx="3">
                  <c:v>7.99</c:v>
                </c:pt>
                <c:pt idx="4">
                  <c:v>8.07</c:v>
                </c:pt>
              </c:numCache>
            </c:numRef>
          </c:xVal>
          <c:yVal>
            <c:numRef>
              <c:f>[工作簿1]Sheet1!$C$90:$G$90</c:f>
              <c:numCache>
                <c:formatCode>General</c:formatCode>
                <c:ptCount val="5"/>
                <c:pt idx="0">
                  <c:v>7.79</c:v>
                </c:pt>
                <c:pt idx="1">
                  <c:v>10.1</c:v>
                </c:pt>
                <c:pt idx="2">
                  <c:v>18.2</c:v>
                </c:pt>
                <c:pt idx="3">
                  <c:v>35.43</c:v>
                </c:pt>
                <c:pt idx="4">
                  <c:v>38.28</c:v>
                </c:pt>
              </c:numCache>
            </c:numRef>
          </c:yVal>
          <c:smooth val="0"/>
          <c:extLst>
            <c:ext xmlns:c16="http://schemas.microsoft.com/office/drawing/2014/chart" uri="{C3380CC4-5D6E-409C-BE32-E72D297353CC}">
              <c16:uniqueId val="{00000001-397C-6F40-87CF-81C5E5D9A7F6}"/>
            </c:ext>
          </c:extLst>
        </c:ser>
        <c:dLbls>
          <c:showLegendKey val="0"/>
          <c:showVal val="0"/>
          <c:showCatName val="0"/>
          <c:showSerName val="0"/>
          <c:showPercent val="0"/>
          <c:showBubbleSize val="0"/>
        </c:dLbls>
        <c:axId val="868851429"/>
        <c:axId val="882993871"/>
      </c:scatterChart>
      <c:valAx>
        <c:axId val="868851429"/>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l-GR"/>
                  <a:t>18μ</a:t>
                </a:r>
                <a:r>
                  <a:rPr lang="en-US"/>
                  <a:t>L</a:t>
                </a:r>
                <a:r>
                  <a:rPr lang="zh-CN"/>
                  <a:t>血浆提取液胆固醇含量</a:t>
                </a:r>
                <a:r>
                  <a:rPr lang="en-US"/>
                  <a:t>(nmol)</a:t>
                </a:r>
              </a:p>
            </c:rich>
          </c:tx>
          <c:layout>
            <c:manualLayout>
              <c:xMode val="edge"/>
              <c:yMode val="edge"/>
              <c:x val="0.26152024202761259"/>
              <c:y val="0.84182497700607939"/>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crossAx val="882993871"/>
        <c:crosses val="autoZero"/>
        <c:crossBetween val="midCat"/>
      </c:valAx>
      <c:valAx>
        <c:axId val="882993871"/>
        <c:scaling>
          <c:orientation val="minMax"/>
        </c:scaling>
        <c:delete val="0"/>
        <c:axPos val="l"/>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l-GR"/>
                  <a:t>20μ</a:t>
                </a:r>
                <a:r>
                  <a:rPr lang="en-US"/>
                  <a:t>L</a:t>
                </a:r>
                <a:r>
                  <a:rPr lang="zh-CN"/>
                  <a:t>肝脏提取液胆固醇含量</a:t>
                </a:r>
                <a:r>
                  <a:rPr lang="en-US"/>
                  <a:t>(nmol)</a:t>
                </a:r>
              </a:p>
            </c:rich>
          </c:tx>
          <c:layout>
            <c:manualLayout>
              <c:xMode val="edge"/>
              <c:yMode val="edge"/>
              <c:x val="0.17544681090708258"/>
              <c:y val="0.1088415999282141"/>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crossAx val="868851429"/>
        <c:crosses val="autoZero"/>
        <c:crossBetween val="midCat"/>
      </c:valAx>
      <c:spPr>
        <a:noFill/>
        <a:ln>
          <a:noFill/>
        </a:ln>
        <a:effectLst/>
      </c:spPr>
    </c:plotArea>
    <c:plotVisOnly val="1"/>
    <c:dispBlanksAs val="gap"/>
    <c:showDLblsOverMax val="0"/>
    <c:extLst>
      <c:ext uri="{0b15fc19-7d7d-44ad-8c2d-2c3a37ce22c3}">
        <chartProps xmlns="https://web.wps.cn/et/2018/main" chartId="{19d99ea1-ed73-405b-bd51-4c346ad2314a}"/>
      </c:ext>
    </c:extLst>
  </c:chart>
  <c:spPr>
    <a:noFill/>
    <a:ln w="9525" cap="flat" cmpd="sng" algn="ctr">
      <a:noFill/>
      <a:round/>
    </a:ln>
    <a:effectLst/>
  </c:spPr>
  <c:txPr>
    <a:bodyPr/>
    <a:lstStyle/>
    <a:p>
      <a:pPr>
        <a:defRPr sz="1600"/>
      </a:pPr>
      <a:endParaRPr lang="en-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a:defRPr lang="zh-CN" sz="14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TW" altLang="en-US"/>
              <a:t>肝脏胆固醇浓度测定</a:t>
            </a:r>
          </a:p>
        </c:rich>
      </c:tx>
      <c:overlay val="0"/>
      <c:spPr>
        <a:noFill/>
        <a:ln>
          <a:noFill/>
        </a:ln>
        <a:effectLst/>
      </c:spPr>
      <c:txPr>
        <a:bodyPr rot="0" spcFirstLastPara="0" vertOverflow="ellipsis" vert="horz" wrap="square" anchor="ctr" anchorCtr="1" forceAA="0"/>
        <a:lstStyle/>
        <a:p>
          <a:pPr>
            <a:defRPr lang="zh-CN" sz="14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title>
    <c:autoTitleDeleted val="0"/>
    <c:plotArea>
      <c:layout/>
      <c:barChart>
        <c:barDir val="col"/>
        <c:grouping val="clustered"/>
        <c:varyColors val="0"/>
        <c:ser>
          <c:idx val="0"/>
          <c:order val="0"/>
          <c:tx>
            <c:strRef>
              <c:f>"wt小鼠"</c:f>
              <c:strCache>
                <c:ptCount val="1"/>
                <c:pt idx="0">
                  <c:v>wt小鼠</c:v>
                </c:pt>
              </c:strCache>
            </c:strRef>
          </c:tx>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a:outerShdw blurRad="76200" dist="25400" dir="2700000" algn="tl" rotWithShape="0">
                <a:schemeClr val="accent1">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'[周五三组胆固醇酶法正式实验-2.xlsx]Sheet1'!$A$12</c:f>
              <c:numCache>
                <c:formatCode>General</c:formatCode>
                <c:ptCount val="1"/>
                <c:pt idx="0">
                  <c:v>0.2225</c:v>
                </c:pt>
              </c:numCache>
            </c:numRef>
          </c:val>
          <c:extLst>
            <c:ext xmlns:c16="http://schemas.microsoft.com/office/drawing/2014/chart" uri="{C3380CC4-5D6E-409C-BE32-E72D297353CC}">
              <c16:uniqueId val="{00000000-3C55-2345-B5C3-25859F44DDD4}"/>
            </c:ext>
          </c:extLst>
        </c:ser>
        <c:ser>
          <c:idx val="1"/>
          <c:order val="1"/>
          <c:tx>
            <c:strRef>
              <c:f>"ob/ob小鼠"</c:f>
              <c:strCache>
                <c:ptCount val="1"/>
                <c:pt idx="0">
                  <c:v>ob/ob小鼠</c:v>
                </c:pt>
              </c:strCache>
            </c:strRef>
          </c:tx>
          <c:spPr>
            <a:gradFill>
              <a:gsLst>
                <a:gs pos="0">
                  <a:schemeClr val="accent2">
                    <a:lumMod val="40000"/>
                    <a:lumOff val="60000"/>
                  </a:schemeClr>
                </a:gs>
                <a:gs pos="90000">
                  <a:schemeClr val="accent2"/>
                </a:gs>
              </a:gsLst>
              <a:lin ang="5400000" scaled="0"/>
            </a:gradFill>
            <a:ln>
              <a:gradFill>
                <a:gsLst>
                  <a:gs pos="0">
                    <a:schemeClr val="accent2"/>
                  </a:gs>
                  <a:gs pos="100000">
                    <a:schemeClr val="accent2">
                      <a:lumMod val="75000"/>
                    </a:schemeClr>
                  </a:gs>
                </a:gsLst>
                <a:lin ang="5400000" scaled="1"/>
              </a:gradFill>
            </a:ln>
            <a:effectLst>
              <a:outerShdw blurRad="76200" dist="25400" dir="2700000" algn="tl" rotWithShape="0">
                <a:schemeClr val="accent2">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'[周五三组胆固醇酶法正式实验-2.xlsx]Sheet1'!$A$13</c:f>
              <c:numCache>
                <c:formatCode>General</c:formatCode>
                <c:ptCount val="1"/>
                <c:pt idx="0">
                  <c:v>0.19366666666666699</c:v>
                </c:pt>
              </c:numCache>
            </c:numRef>
          </c:val>
          <c:extLst>
            <c:ext xmlns:c16="http://schemas.microsoft.com/office/drawing/2014/chart" uri="{C3380CC4-5D6E-409C-BE32-E72D297353CC}">
              <c16:uniqueId val="{00000001-3C55-2345-B5C3-25859F44DDD4}"/>
            </c:ext>
          </c:extLst>
        </c:ser>
        <c:dLbls>
          <c:showLegendKey val="0"/>
          <c:showVal val="1"/>
          <c:showCatName val="0"/>
          <c:showSerName val="0"/>
          <c:showPercent val="0"/>
          <c:showBubbleSize val="0"/>
        </c:dLbls>
        <c:gapWidth val="246"/>
        <c:overlap val="-28"/>
        <c:axId val="31602941"/>
        <c:axId val="697616740"/>
      </c:barChart>
      <c:catAx>
        <c:axId val="31602941"/>
        <c:scaling>
          <c:orientation val="minMax"/>
        </c:scaling>
        <c:delete val="1"/>
        <c:axPos val="b"/>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TW" altLang="en-US"/>
                  <a:t>小鼠种类</a:t>
                </a:r>
              </a:p>
            </c:rich>
          </c:tx>
          <c:overlay val="0"/>
          <c:spPr>
            <a:noFill/>
            <a:ln>
              <a:noFill/>
            </a:ln>
            <a:effectLst/>
          </c:spPr>
          <c:txPr>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title>
        <c:numFmt formatCode="General" sourceLinked="1"/>
        <c:majorTickMark val="none"/>
        <c:minorTickMark val="none"/>
        <c:tickLblPos val="nextTo"/>
        <c:crossAx val="697616740"/>
        <c:crosses val="autoZero"/>
        <c:auto val="1"/>
        <c:lblAlgn val="ctr"/>
        <c:lblOffset val="100"/>
        <c:noMultiLvlLbl val="0"/>
      </c:catAx>
      <c:valAx>
        <c:axId val="697616740"/>
        <c:scaling>
          <c:orientation val="minMax"/>
        </c:scaling>
        <c:delete val="0"/>
        <c:axPos val="l"/>
        <c:majorGridlines>
          <c:spPr>
            <a:ln w="6350" cap="flat" cmpd="sng" algn="ctr">
              <a:solidFill>
                <a:schemeClr val="tx1">
                  <a:lumMod val="50000"/>
                  <a:lumOff val="50000"/>
                  <a:alpha val="250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TW" altLang="en-US"/>
                  <a:t>吸光值</a:t>
                </a:r>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crossAx val="31602941"/>
        <c:crosses val="autoZero"/>
        <c:crossBetween val="between"/>
      </c:valAx>
      <c:spPr>
        <a:noFill/>
        <a:ln>
          <a:noFill/>
        </a:ln>
        <a:effectLst/>
      </c:spPr>
    </c:plotArea>
    <c:legend>
      <c:legendPos val="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legend>
    <c:plotVisOnly val="1"/>
    <c:dispBlanksAs val="gap"/>
    <c:showDLblsOverMax val="0"/>
    <c:extLst>
      <c:ext uri="{0b15fc19-7d7d-44ad-8c2d-2c3a37ce22c3}">
        <chartProps xmlns="https://web.wps.cn/et/2018/main" chartId="{cd55a8e9-9331-4e13-b501-ee8a811a7334}"/>
      </c:ext>
    </c:extLst>
  </c:chart>
  <c:spPr>
    <a:solidFill>
      <a:schemeClr val="bg1"/>
    </a:solidFill>
    <a:ln w="6350" cap="flat" cmpd="sng" algn="ctr">
      <a:solidFill>
        <a:schemeClr val="tx1">
          <a:lumMod val="50000"/>
          <a:lumOff val="50000"/>
          <a:alpha val="25000"/>
        </a:schemeClr>
      </a:solidFill>
      <a:round/>
    </a:ln>
    <a:effectLst>
      <a:outerShdw blurRad="63500" dist="37357" dir="2700000" sx="0" sy="0" rotWithShape="0">
        <a:scrgbClr r="0" g="0" b="0"/>
      </a:outerShdw>
    </a:effectLst>
  </c:spPr>
  <c:txPr>
    <a:bodyPr/>
    <a:lstStyle/>
    <a:p>
      <a:pPr>
        <a:defRPr lang="zh-CN">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a:defRPr lang="zh-CN" sz="14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TW" altLang="en-US"/>
              <a:t>血浆胆固醇浓度测定</a:t>
            </a:r>
          </a:p>
        </c:rich>
      </c:tx>
      <c:overlay val="0"/>
      <c:spPr>
        <a:noFill/>
        <a:ln>
          <a:noFill/>
        </a:ln>
        <a:effectLst/>
      </c:spPr>
      <c:txPr>
        <a:bodyPr rot="0" spcFirstLastPara="0" vertOverflow="ellipsis" vert="horz" wrap="square" anchor="ctr" anchorCtr="1" forceAA="0"/>
        <a:lstStyle/>
        <a:p>
          <a:pPr>
            <a:defRPr lang="zh-CN" sz="14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title>
    <c:autoTitleDeleted val="0"/>
    <c:plotArea>
      <c:layout/>
      <c:barChart>
        <c:barDir val="col"/>
        <c:grouping val="clustered"/>
        <c:varyColors val="0"/>
        <c:ser>
          <c:idx val="0"/>
          <c:order val="0"/>
          <c:tx>
            <c:strRef>
              <c:f>"wt小鼠"</c:f>
              <c:strCache>
                <c:ptCount val="1"/>
                <c:pt idx="0">
                  <c:v>wt小鼠</c:v>
                </c:pt>
              </c:strCache>
            </c:strRef>
          </c:tx>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a:outerShdw blurRad="76200" dist="25400" dir="2700000" algn="tl" rotWithShape="0">
                <a:schemeClr val="accent1">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'[周五三组胆固醇酶法正式实验.xlsx]板 1 - Sheet1'!$C$36</c:f>
              <c:numCache>
                <c:formatCode>General</c:formatCode>
                <c:ptCount val="1"/>
                <c:pt idx="0">
                  <c:v>0.65249999999999997</c:v>
                </c:pt>
              </c:numCache>
            </c:numRef>
          </c:val>
          <c:extLst>
            <c:ext xmlns:c16="http://schemas.microsoft.com/office/drawing/2014/chart" uri="{C3380CC4-5D6E-409C-BE32-E72D297353CC}">
              <c16:uniqueId val="{00000000-7D71-4C49-ADF3-04F338E91B5B}"/>
            </c:ext>
          </c:extLst>
        </c:ser>
        <c:ser>
          <c:idx val="1"/>
          <c:order val="1"/>
          <c:tx>
            <c:strRef>
              <c:f>"ob/ob小鼠"</c:f>
              <c:strCache>
                <c:ptCount val="1"/>
                <c:pt idx="0">
                  <c:v>ob/ob小鼠</c:v>
                </c:pt>
              </c:strCache>
            </c:strRef>
          </c:tx>
          <c:spPr>
            <a:gradFill>
              <a:gsLst>
                <a:gs pos="0">
                  <a:schemeClr val="accent2">
                    <a:lumMod val="40000"/>
                    <a:lumOff val="60000"/>
                  </a:schemeClr>
                </a:gs>
                <a:gs pos="90000">
                  <a:schemeClr val="accent2"/>
                </a:gs>
              </a:gsLst>
              <a:lin ang="5400000" scaled="0"/>
            </a:gradFill>
            <a:ln>
              <a:gradFill>
                <a:gsLst>
                  <a:gs pos="0">
                    <a:schemeClr val="accent2"/>
                  </a:gs>
                  <a:gs pos="100000">
                    <a:schemeClr val="accent2">
                      <a:lumMod val="75000"/>
                    </a:schemeClr>
                  </a:gs>
                </a:gsLst>
                <a:lin ang="5400000" scaled="1"/>
              </a:gradFill>
            </a:ln>
            <a:effectLst>
              <a:outerShdw blurRad="76200" dist="25400" dir="2700000" algn="tl" rotWithShape="0">
                <a:schemeClr val="accent2">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'[周五三组胆固醇酶法正式实验.xlsx]板 1 - Sheet1'!$C$39</c:f>
              <c:numCache>
                <c:formatCode>General</c:formatCode>
                <c:ptCount val="1"/>
                <c:pt idx="0">
                  <c:v>0.62966666666666704</c:v>
                </c:pt>
              </c:numCache>
            </c:numRef>
          </c:val>
          <c:extLst>
            <c:ext xmlns:c16="http://schemas.microsoft.com/office/drawing/2014/chart" uri="{C3380CC4-5D6E-409C-BE32-E72D297353CC}">
              <c16:uniqueId val="{00000001-7D71-4C49-ADF3-04F338E91B5B}"/>
            </c:ext>
          </c:extLst>
        </c:ser>
        <c:dLbls>
          <c:showLegendKey val="0"/>
          <c:showVal val="1"/>
          <c:showCatName val="0"/>
          <c:showSerName val="0"/>
          <c:showPercent val="0"/>
          <c:showBubbleSize val="0"/>
        </c:dLbls>
        <c:gapWidth val="246"/>
        <c:overlap val="-28"/>
        <c:axId val="31602941"/>
        <c:axId val="697616740"/>
      </c:barChart>
      <c:catAx>
        <c:axId val="31602941"/>
        <c:scaling>
          <c:orientation val="minMax"/>
        </c:scaling>
        <c:delete val="1"/>
        <c:axPos val="b"/>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TW" altLang="en-US"/>
                  <a:t>小鼠种类</a:t>
                </a:r>
              </a:p>
            </c:rich>
          </c:tx>
          <c:overlay val="0"/>
          <c:spPr>
            <a:noFill/>
            <a:ln>
              <a:noFill/>
            </a:ln>
            <a:effectLst/>
          </c:spPr>
          <c:txPr>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title>
        <c:numFmt formatCode="General" sourceLinked="1"/>
        <c:majorTickMark val="none"/>
        <c:minorTickMark val="none"/>
        <c:tickLblPos val="nextTo"/>
        <c:crossAx val="697616740"/>
        <c:crosses val="autoZero"/>
        <c:auto val="1"/>
        <c:lblAlgn val="ctr"/>
        <c:lblOffset val="100"/>
        <c:noMultiLvlLbl val="0"/>
      </c:catAx>
      <c:valAx>
        <c:axId val="697616740"/>
        <c:scaling>
          <c:orientation val="minMax"/>
        </c:scaling>
        <c:delete val="0"/>
        <c:axPos val="l"/>
        <c:majorGridlines>
          <c:spPr>
            <a:ln w="6350" cap="flat" cmpd="sng" algn="ctr">
              <a:solidFill>
                <a:schemeClr val="tx1">
                  <a:lumMod val="50000"/>
                  <a:lumOff val="50000"/>
                  <a:alpha val="250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TW" altLang="en-US"/>
                  <a:t>吸光值</a:t>
                </a:r>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crossAx val="31602941"/>
        <c:crosses val="autoZero"/>
        <c:crossBetween val="between"/>
      </c:valAx>
      <c:spPr>
        <a:noFill/>
        <a:ln>
          <a:noFill/>
        </a:ln>
        <a:effectLst/>
      </c:spPr>
    </c:plotArea>
    <c:legend>
      <c:legendPos val="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legend>
    <c:plotVisOnly val="1"/>
    <c:dispBlanksAs val="gap"/>
    <c:showDLblsOverMax val="0"/>
    <c:extLst>
      <c:ext uri="{0b15fc19-7d7d-44ad-8c2d-2c3a37ce22c3}">
        <chartProps xmlns="https://web.wps.cn/et/2018/main" chartId="{7710cffb-1b26-43dd-aadf-fd080fc385ad}"/>
      </c:ext>
    </c:extLst>
  </c:chart>
  <c:spPr>
    <a:solidFill>
      <a:schemeClr val="bg1"/>
    </a:solidFill>
    <a:ln w="6350" cap="flat" cmpd="sng" algn="ctr">
      <a:solidFill>
        <a:schemeClr val="tx1">
          <a:lumMod val="50000"/>
          <a:lumOff val="50000"/>
          <a:alpha val="25000"/>
        </a:schemeClr>
      </a:solidFill>
      <a:round/>
    </a:ln>
    <a:effectLst>
      <a:outerShdw blurRad="63500" dist="37357" dir="2700000" sx="0" sy="0" rotWithShape="0">
        <a:scrgbClr r="0" g="0" b="0"/>
      </a:outerShdw>
    </a:effectLst>
  </c:spPr>
  <c:txPr>
    <a:bodyPr/>
    <a:lstStyle/>
    <a:p>
      <a:pPr>
        <a:defRPr lang="zh-CN">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CN"/>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5400" cap="rnd">
              <a:noFill/>
              <a:round/>
            </a:ln>
            <a:effectLst/>
          </c:spPr>
          <c:marker>
            <c:symbol val="circle"/>
            <c:size val="5"/>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dispRSqr val="1"/>
            <c:dispEq val="1"/>
            <c:trendlineLbl>
              <c:layout>
                <c:manualLayout>
                  <c:x val="9.9184977144006412E-2"/>
                  <c:y val="0.40511374257786842"/>
                </c:manualLayout>
              </c:layout>
              <c:numFmt formatCode="General"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trendlineLbl>
          </c:trendline>
          <c:xVal>
            <c:numRef>
              <c:f>'板 1 - Sheet1'!$P$34:$P$37</c:f>
              <c:numCache>
                <c:formatCode>General</c:formatCode>
                <c:ptCount val="4"/>
                <c:pt idx="0">
                  <c:v>0.04</c:v>
                </c:pt>
                <c:pt idx="1">
                  <c:v>0.02</c:v>
                </c:pt>
                <c:pt idx="2">
                  <c:v>0.01</c:v>
                </c:pt>
                <c:pt idx="3">
                  <c:v>1E-3</c:v>
                </c:pt>
              </c:numCache>
            </c:numRef>
          </c:xVal>
          <c:yVal>
            <c:numRef>
              <c:f>'板 1 - Sheet1'!$Q$34:$Q$37</c:f>
              <c:numCache>
                <c:formatCode>General</c:formatCode>
                <c:ptCount val="4"/>
                <c:pt idx="0">
                  <c:v>5.5000000000000007E-2</c:v>
                </c:pt>
                <c:pt idx="1">
                  <c:v>3.4999999999999989E-2</c:v>
                </c:pt>
                <c:pt idx="2">
                  <c:v>2.1000000000000005E-2</c:v>
                </c:pt>
                <c:pt idx="3">
                  <c:v>6.9999999999999923E-3</c:v>
                </c:pt>
              </c:numCache>
            </c:numRef>
          </c:yVal>
          <c:smooth val="0"/>
          <c:extLst>
            <c:ext xmlns:c16="http://schemas.microsoft.com/office/drawing/2014/chart" uri="{C3380CC4-5D6E-409C-BE32-E72D297353CC}">
              <c16:uniqueId val="{00000001-EF63-E04E-9824-2ABCA906E1CD}"/>
            </c:ext>
          </c:extLst>
        </c:ser>
        <c:dLbls>
          <c:showLegendKey val="0"/>
          <c:showVal val="0"/>
          <c:showCatName val="0"/>
          <c:showSerName val="0"/>
          <c:showPercent val="0"/>
          <c:showBubbleSize val="0"/>
        </c:dLbls>
        <c:axId val="525478512"/>
        <c:axId val="525500656"/>
      </c:scatterChart>
      <c:valAx>
        <c:axId val="525478512"/>
        <c:scaling>
          <c:orientation val="minMax"/>
        </c:scaling>
        <c:delete val="0"/>
        <c:axPos val="b"/>
        <c:title>
          <c:tx>
            <c:rich>
              <a:bodyPr rot="0" spcFirstLastPara="1" vertOverflow="ellipsis" vert="horz" wrap="square" anchor="ctr" anchorCtr="1"/>
              <a:lstStyle/>
              <a:p>
                <a:pPr algn="ctr" rtl="0">
                  <a:defRPr sz="1600" b="0" i="0" u="none" strike="noStrike" kern="1200" baseline="0">
                    <a:solidFill>
                      <a:schemeClr val="tx1">
                        <a:lumMod val="65000"/>
                        <a:lumOff val="35000"/>
                      </a:schemeClr>
                    </a:solidFill>
                    <a:latin typeface="+mn-lt"/>
                    <a:ea typeface="+mn-ea"/>
                    <a:cs typeface="+mn-cs"/>
                  </a:defRPr>
                </a:pPr>
                <a:r>
                  <a:rPr lang="zh-CN"/>
                  <a:t>胆固醇含量</a:t>
                </a:r>
                <a:r>
                  <a:rPr lang="en-US"/>
                  <a:t>(</a:t>
                </a:r>
                <a:r>
                  <a:rPr lang="el-GR"/>
                  <a:t>μ</a:t>
                </a:r>
                <a:r>
                  <a:rPr lang="en-US"/>
                  <a:t>mol)</a:t>
                </a:r>
                <a:endParaRPr lang="es-ES"/>
              </a:p>
            </c:rich>
          </c:tx>
          <c:overlay val="0"/>
          <c:spPr>
            <a:noFill/>
            <a:ln>
              <a:noFill/>
            </a:ln>
            <a:effectLst/>
          </c:spPr>
          <c:txPr>
            <a:bodyPr rot="0" spcFirstLastPara="1" vertOverflow="ellipsis" vert="horz" wrap="square" anchor="ctr" anchorCtr="1"/>
            <a:lstStyle/>
            <a:p>
              <a:pPr algn="ctr" rtl="0">
                <a:defRPr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crossAx val="525500656"/>
        <c:crosses val="autoZero"/>
        <c:crossBetween val="midCat"/>
      </c:valAx>
      <c:valAx>
        <c:axId val="525500656"/>
        <c:scaling>
          <c:orientation val="minMax"/>
        </c:scaling>
        <c:delete val="0"/>
        <c:axPos val="l"/>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s-ES" dirty="0"/>
                  <a:t>A</a:t>
                </a:r>
                <a:r>
                  <a:rPr lang="es-ES" baseline="-25000" dirty="0"/>
                  <a:t>560nm</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crossAx val="52547851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600"/>
      </a:pPr>
      <a:endParaRPr lang="en-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346499724425615"/>
          <c:y val="2.2446339717108448E-2"/>
          <c:w val="0.72804909097855219"/>
          <c:h val="0.74189553920139073"/>
        </c:manualLayout>
      </c:layout>
      <c:scatterChart>
        <c:scatterStyle val="lineMarker"/>
        <c:varyColors val="0"/>
        <c:ser>
          <c:idx val="0"/>
          <c:order val="0"/>
          <c:spPr>
            <a:ln w="25400" cap="rnd">
              <a:noFill/>
              <a:round/>
            </a:ln>
            <a:effectLst/>
          </c:spPr>
          <c:marker>
            <c:symbol val="circle"/>
            <c:size val="5"/>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dispRSqr val="1"/>
            <c:dispEq val="1"/>
            <c:trendlineLbl>
              <c:layout>
                <c:manualLayout>
                  <c:x val="0.11133499025270825"/>
                  <c:y val="0.54520811532545355"/>
                </c:manualLayout>
              </c:layout>
              <c:numFmt formatCode="General"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trendlineLbl>
          </c:trendline>
          <c:xVal>
            <c:numRef>
              <c:f>'板 1 - Sheet1'!$T$20:$T$28</c:f>
              <c:numCache>
                <c:formatCode>General</c:formatCode>
                <c:ptCount val="9"/>
                <c:pt idx="0">
                  <c:v>0.13</c:v>
                </c:pt>
                <c:pt idx="1">
                  <c:v>0.11</c:v>
                </c:pt>
                <c:pt idx="2">
                  <c:v>0.09</c:v>
                </c:pt>
                <c:pt idx="3">
                  <c:v>0.08</c:v>
                </c:pt>
                <c:pt idx="4">
                  <c:v>7.0000000000000007E-2</c:v>
                </c:pt>
                <c:pt idx="5">
                  <c:v>0.06</c:v>
                </c:pt>
                <c:pt idx="6">
                  <c:v>0.04</c:v>
                </c:pt>
                <c:pt idx="7">
                  <c:v>0.02</c:v>
                </c:pt>
                <c:pt idx="8">
                  <c:v>0.01</c:v>
                </c:pt>
              </c:numCache>
            </c:numRef>
          </c:xVal>
          <c:yVal>
            <c:numRef>
              <c:f>'板 1 - Sheet1'!$V$20:$V$28</c:f>
              <c:numCache>
                <c:formatCode>General</c:formatCode>
                <c:ptCount val="9"/>
                <c:pt idx="0">
                  <c:v>1.7620000000000002</c:v>
                </c:pt>
                <c:pt idx="1">
                  <c:v>1.4920000000000002</c:v>
                </c:pt>
                <c:pt idx="2">
                  <c:v>1.2489999999999999</c:v>
                </c:pt>
                <c:pt idx="4">
                  <c:v>1.0269999999999999</c:v>
                </c:pt>
                <c:pt idx="5">
                  <c:v>0.86199999999999999</c:v>
                </c:pt>
                <c:pt idx="6">
                  <c:v>0.65749999999999986</c:v>
                </c:pt>
                <c:pt idx="7">
                  <c:v>0.3785</c:v>
                </c:pt>
                <c:pt idx="8">
                  <c:v>0.23249999999999998</c:v>
                </c:pt>
              </c:numCache>
            </c:numRef>
          </c:yVal>
          <c:smooth val="0"/>
          <c:extLst>
            <c:ext xmlns:c16="http://schemas.microsoft.com/office/drawing/2014/chart" uri="{C3380CC4-5D6E-409C-BE32-E72D297353CC}">
              <c16:uniqueId val="{00000001-4E6B-3449-A3EC-56511D009024}"/>
            </c:ext>
          </c:extLst>
        </c:ser>
        <c:dLbls>
          <c:showLegendKey val="0"/>
          <c:showVal val="0"/>
          <c:showCatName val="0"/>
          <c:showSerName val="0"/>
          <c:showPercent val="0"/>
          <c:showBubbleSize val="0"/>
        </c:dLbls>
        <c:axId val="56875264"/>
        <c:axId val="56873728"/>
      </c:scatterChart>
      <c:valAx>
        <c:axId val="56875264"/>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DengXian" panose="02010600030101010101" pitchFamily="2" charset="-122"/>
                    <a:cs typeface="Arial" panose="020B0604020202020204" pitchFamily="34" charset="0"/>
                  </a:defRPr>
                </a:pPr>
                <a:r>
                  <a:rPr lang="en-US">
                    <a:latin typeface="+mn-lt"/>
                    <a:ea typeface="DengXian" panose="02010600030101010101" pitchFamily="2" charset="-122"/>
                    <a:cs typeface="Arial" panose="020B0604020202020204" pitchFamily="34" charset="0"/>
                  </a:rPr>
                  <a:t>胆固醇净含量(</a:t>
                </a:r>
                <a:r>
                  <a:rPr lang="el-GR">
                    <a:latin typeface="+mn-lt"/>
                    <a:ea typeface="DengXian" panose="02010600030101010101" pitchFamily="2" charset="-122"/>
                    <a:cs typeface="Arial" panose="020B0604020202020204" pitchFamily="34" charset="0"/>
                  </a:rPr>
                  <a:t>μ</a:t>
                </a:r>
                <a:r>
                  <a:rPr lang="en-US">
                    <a:latin typeface="+mn-lt"/>
                    <a:ea typeface="DengXian" panose="02010600030101010101" pitchFamily="2" charset="-122"/>
                    <a:cs typeface="Arial" panose="020B0604020202020204" pitchFamily="34" charset="0"/>
                  </a:rPr>
                  <a:t>mol)</a:t>
                </a:r>
              </a:p>
            </c:rich>
          </c:tx>
          <c:layout>
            <c:manualLayout>
              <c:xMode val="edge"/>
              <c:yMode val="edge"/>
              <c:x val="0.36363279918053154"/>
              <c:y val="0.86373881513321948"/>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DengXian" panose="02010600030101010101" pitchFamily="2" charset="-122"/>
                  <a:cs typeface="Arial" panose="020B0604020202020204" pitchFamily="34" charset="0"/>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crossAx val="56873728"/>
        <c:crosses val="autoZero"/>
        <c:crossBetween val="midCat"/>
      </c:valAx>
      <c:valAx>
        <c:axId val="56873728"/>
        <c:scaling>
          <c:orientation val="minMax"/>
        </c:scaling>
        <c:delete val="0"/>
        <c:axPos val="l"/>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l-GR" dirty="0"/>
                  <a:t>Α</a:t>
                </a:r>
                <a:r>
                  <a:rPr lang="el-GR" baseline="-25000" dirty="0"/>
                  <a:t>5</a:t>
                </a:r>
                <a:r>
                  <a:rPr lang="en-US" baseline="-25000" dirty="0"/>
                  <a:t>60nm</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crossAx val="56875264"/>
        <c:crosses val="autoZero"/>
        <c:crossBetween val="midCat"/>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pPr>
      <a:endParaRPr lang="en-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068611807613404"/>
          <c:y val="2.6703592535724859E-2"/>
          <c:w val="0.74280847672705141"/>
          <c:h val="0.70712121797620209"/>
        </c:manualLayout>
      </c:layout>
      <c:scatterChart>
        <c:scatterStyle val="lineMarker"/>
        <c:varyColors val="0"/>
        <c:ser>
          <c:idx val="0"/>
          <c:order val="0"/>
          <c:spPr>
            <a:ln w="25400" cap="rnd">
              <a:noFill/>
              <a:round/>
            </a:ln>
            <a:effectLst/>
          </c:spPr>
          <c:marker>
            <c:symbol val="circle"/>
            <c:size val="5"/>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dispRSqr val="1"/>
            <c:dispEq val="1"/>
            <c:trendlineLbl>
              <c:layout>
                <c:manualLayout>
                  <c:x val="0.12999523896722212"/>
                  <c:y val="0.30232558139534882"/>
                </c:manualLayout>
              </c:layout>
              <c:numFmt formatCode="General"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trendlineLbl>
          </c:trendline>
          <c:xVal>
            <c:numRef>
              <c:f>'板 1 - Sheet1'!$T$35:$T$42</c:f>
              <c:numCache>
                <c:formatCode>General</c:formatCode>
                <c:ptCount val="8"/>
                <c:pt idx="0">
                  <c:v>0.13999999999999999</c:v>
                </c:pt>
                <c:pt idx="1">
                  <c:v>0.12</c:v>
                </c:pt>
                <c:pt idx="2">
                  <c:v>0.1</c:v>
                </c:pt>
                <c:pt idx="3">
                  <c:v>8.0000000000000016E-2</c:v>
                </c:pt>
                <c:pt idx="4">
                  <c:v>0.06</c:v>
                </c:pt>
                <c:pt idx="5">
                  <c:v>4.0000000000000008E-2</c:v>
                </c:pt>
                <c:pt idx="6">
                  <c:v>2.0000000000000004E-2</c:v>
                </c:pt>
                <c:pt idx="7">
                  <c:v>1.0000000000000002E-2</c:v>
                </c:pt>
              </c:numCache>
            </c:numRef>
          </c:xVal>
          <c:yVal>
            <c:numRef>
              <c:f>'板 1 - Sheet1'!$V$35:$V$42</c:f>
              <c:numCache>
                <c:formatCode>General</c:formatCode>
                <c:ptCount val="8"/>
                <c:pt idx="0">
                  <c:v>2.3094999999999999</c:v>
                </c:pt>
                <c:pt idx="1">
                  <c:v>1.9724999999999999</c:v>
                </c:pt>
                <c:pt idx="2">
                  <c:v>1.8055000000000001</c:v>
                </c:pt>
                <c:pt idx="3">
                  <c:v>1.3265</c:v>
                </c:pt>
                <c:pt idx="4">
                  <c:v>1.1254999999999999</c:v>
                </c:pt>
                <c:pt idx="5">
                  <c:v>0.82350000000000012</c:v>
                </c:pt>
                <c:pt idx="6">
                  <c:v>0.40099999999999997</c:v>
                </c:pt>
                <c:pt idx="7">
                  <c:v>0.22649999999999998</c:v>
                </c:pt>
              </c:numCache>
            </c:numRef>
          </c:yVal>
          <c:smooth val="0"/>
          <c:extLst>
            <c:ext xmlns:c16="http://schemas.microsoft.com/office/drawing/2014/chart" uri="{C3380CC4-5D6E-409C-BE32-E72D297353CC}">
              <c16:uniqueId val="{00000001-4CE0-2C4A-AD01-CD06C1249680}"/>
            </c:ext>
          </c:extLst>
        </c:ser>
        <c:dLbls>
          <c:showLegendKey val="0"/>
          <c:showVal val="0"/>
          <c:showCatName val="0"/>
          <c:showSerName val="0"/>
          <c:showPercent val="0"/>
          <c:showBubbleSize val="0"/>
        </c:dLbls>
        <c:axId val="1097757808"/>
        <c:axId val="1297226768"/>
      </c:scatterChart>
      <c:valAx>
        <c:axId val="1097757808"/>
        <c:scaling>
          <c:orientation val="minMax"/>
        </c:scaling>
        <c:delete val="0"/>
        <c:axPos val="b"/>
        <c:title>
          <c:tx>
            <c:rich>
              <a:bodyPr rot="0" spcFirstLastPara="1" vertOverflow="ellipsis" vert="horz" wrap="square" anchor="ctr" anchorCtr="1"/>
              <a:lstStyle/>
              <a:p>
                <a:pPr algn="ctr" rtl="0">
                  <a:defRPr sz="1600" b="0" i="0" u="none" strike="noStrike" kern="1200" baseline="0">
                    <a:solidFill>
                      <a:schemeClr val="tx1">
                        <a:lumMod val="65000"/>
                        <a:lumOff val="35000"/>
                      </a:schemeClr>
                    </a:solidFill>
                    <a:latin typeface="+mn-lt"/>
                    <a:ea typeface="+mn-ea"/>
                    <a:cs typeface="+mn-cs"/>
                  </a:defRPr>
                </a:pPr>
                <a:r>
                  <a:rPr lang="zh-CN"/>
                  <a:t>胆固醇含量</a:t>
                </a:r>
                <a:r>
                  <a:rPr lang="en-US"/>
                  <a:t>(</a:t>
                </a:r>
                <a:r>
                  <a:rPr lang="el-GR"/>
                  <a:t>μ</a:t>
                </a:r>
                <a:r>
                  <a:rPr lang="es-ES"/>
                  <a:t>mol)</a:t>
                </a:r>
              </a:p>
            </c:rich>
          </c:tx>
          <c:overlay val="0"/>
          <c:spPr>
            <a:noFill/>
            <a:ln>
              <a:noFill/>
            </a:ln>
            <a:effectLst/>
          </c:spPr>
          <c:txPr>
            <a:bodyPr rot="0" spcFirstLastPara="1" vertOverflow="ellipsis" vert="horz" wrap="square" anchor="ctr" anchorCtr="1"/>
            <a:lstStyle/>
            <a:p>
              <a:pPr algn="ctr" rtl="0">
                <a:defRPr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crossAx val="1297226768"/>
        <c:crosses val="autoZero"/>
        <c:crossBetween val="midCat"/>
      </c:valAx>
      <c:valAx>
        <c:axId val="1297226768"/>
        <c:scaling>
          <c:orientation val="minMax"/>
        </c:scaling>
        <c:delete val="0"/>
        <c:axPos val="l"/>
        <c:title>
          <c:tx>
            <c:rich>
              <a:bodyPr rot="-5400000" spcFirstLastPara="1" vertOverflow="ellipsis" vert="horz" wrap="square" anchor="ctr" anchorCtr="1"/>
              <a:lstStyle/>
              <a:p>
                <a:pPr algn="ctr" rtl="0">
                  <a:defRPr sz="1600" b="0" i="0" u="none" strike="noStrike" kern="1200" baseline="0">
                    <a:solidFill>
                      <a:schemeClr val="tx1">
                        <a:lumMod val="65000"/>
                        <a:lumOff val="35000"/>
                      </a:schemeClr>
                    </a:solidFill>
                    <a:latin typeface="+mn-lt"/>
                    <a:ea typeface="+mn-ea"/>
                    <a:cs typeface="+mn-cs"/>
                  </a:defRPr>
                </a:pPr>
                <a:r>
                  <a:rPr lang="es-ES" dirty="0"/>
                  <a:t>A</a:t>
                </a:r>
                <a:r>
                  <a:rPr lang="es-ES" baseline="-25000" dirty="0"/>
                  <a:t>560nm</a:t>
                </a:r>
              </a:p>
            </c:rich>
          </c:tx>
          <c:overlay val="0"/>
          <c:spPr>
            <a:noFill/>
            <a:ln>
              <a:noFill/>
            </a:ln>
            <a:effectLst/>
          </c:spPr>
          <c:txPr>
            <a:bodyPr rot="-5400000" spcFirstLastPara="1" vertOverflow="ellipsis" vert="horz" wrap="square" anchor="ctr" anchorCtr="1"/>
            <a:lstStyle/>
            <a:p>
              <a:pPr algn="ctr" rtl="0">
                <a:defRPr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CN"/>
          </a:p>
        </c:txPr>
        <c:crossAx val="1097757808"/>
        <c:crosses val="autoZero"/>
        <c:crossBetween val="midCat"/>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600"/>
      </a:pPr>
      <a:endParaRPr lang="en-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反应10分钟</c:v>
          </c:tx>
          <c:spPr>
            <a:ln w="25400" cap="rnd">
              <a:noFill/>
              <a:round/>
            </a:ln>
            <a:effectLst/>
          </c:spPr>
          <c:marker>
            <c:symbol val="circle"/>
            <c:size val="5"/>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dispRSqr val="1"/>
            <c:dispEq val="1"/>
            <c:trendlineLbl>
              <c:layout>
                <c:manualLayout>
                  <c:x val="6.3258743819813223E-2"/>
                  <c:y val="0.34915397982855101"/>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accent6"/>
                      </a:solidFill>
                      <a:latin typeface="+mn-lt"/>
                      <a:ea typeface="+mn-ea"/>
                      <a:cs typeface="+mn-cs"/>
                    </a:defRPr>
                  </a:pPr>
                  <a:endParaRPr lang="en-CN"/>
                </a:p>
              </c:txPr>
            </c:trendlineLbl>
          </c:trendline>
          <c:xVal>
            <c:numRef>
              <c:f>'板 1 - Sheet1'!$T$27:$T$39</c:f>
              <c:numCache>
                <c:formatCode>General</c:formatCode>
                <c:ptCount val="13"/>
                <c:pt idx="0">
                  <c:v>0.13999999999999999</c:v>
                </c:pt>
                <c:pt idx="1">
                  <c:v>0.12</c:v>
                </c:pt>
                <c:pt idx="2">
                  <c:v>0.1</c:v>
                </c:pt>
                <c:pt idx="3">
                  <c:v>8.0000000000000016E-2</c:v>
                </c:pt>
                <c:pt idx="4">
                  <c:v>0.06</c:v>
                </c:pt>
                <c:pt idx="5">
                  <c:v>4.0000000000000008E-2</c:v>
                </c:pt>
                <c:pt idx="6">
                  <c:v>2.0000000000000004E-2</c:v>
                </c:pt>
                <c:pt idx="7">
                  <c:v>1.0000000000000002E-2</c:v>
                </c:pt>
                <c:pt idx="8">
                  <c:v>8.0000000000000002E-3</c:v>
                </c:pt>
                <c:pt idx="9">
                  <c:v>4.0000000000000001E-3</c:v>
                </c:pt>
                <c:pt idx="10">
                  <c:v>2E-3</c:v>
                </c:pt>
                <c:pt idx="11">
                  <c:v>1E-3</c:v>
                </c:pt>
                <c:pt idx="12">
                  <c:v>0</c:v>
                </c:pt>
              </c:numCache>
            </c:numRef>
          </c:xVal>
          <c:yVal>
            <c:numRef>
              <c:f>'板 1 - Sheet1'!$V$27:$V$39</c:f>
              <c:numCache>
                <c:formatCode>General</c:formatCode>
                <c:ptCount val="13"/>
                <c:pt idx="0">
                  <c:v>2.339</c:v>
                </c:pt>
                <c:pt idx="1">
                  <c:v>1.9460000000000002</c:v>
                </c:pt>
                <c:pt idx="2">
                  <c:v>1.5640000000000001</c:v>
                </c:pt>
                <c:pt idx="3">
                  <c:v>1.2370000000000001</c:v>
                </c:pt>
                <c:pt idx="4">
                  <c:v>0.78749999999999998</c:v>
                </c:pt>
                <c:pt idx="5">
                  <c:v>0.69650000000000001</c:v>
                </c:pt>
                <c:pt idx="6">
                  <c:v>0.27749999999999997</c:v>
                </c:pt>
                <c:pt idx="7">
                  <c:v>0.16299999999999998</c:v>
                </c:pt>
                <c:pt idx="8">
                  <c:v>0.10349999999999999</c:v>
                </c:pt>
                <c:pt idx="9">
                  <c:v>6.7999999999999991E-2</c:v>
                </c:pt>
                <c:pt idx="10">
                  <c:v>4.3999999999999997E-2</c:v>
                </c:pt>
                <c:pt idx="11">
                  <c:v>6.0000000000000053E-3</c:v>
                </c:pt>
                <c:pt idx="12">
                  <c:v>0</c:v>
                </c:pt>
              </c:numCache>
            </c:numRef>
          </c:yVal>
          <c:smooth val="0"/>
          <c:extLst>
            <c:ext xmlns:c16="http://schemas.microsoft.com/office/drawing/2014/chart" uri="{C3380CC4-5D6E-409C-BE32-E72D297353CC}">
              <c16:uniqueId val="{00000001-48F7-304B-9568-8C5F01678883}"/>
            </c:ext>
          </c:extLst>
        </c:ser>
        <c:ser>
          <c:idx val="1"/>
          <c:order val="1"/>
          <c:tx>
            <c:v>反应20分钟</c:v>
          </c:tx>
          <c:spPr>
            <a:ln w="25400" cap="rnd">
              <a:noFill/>
              <a:round/>
            </a:ln>
            <a:effectLst/>
          </c:spPr>
          <c:marker>
            <c:symbol val="circle"/>
            <c:size val="5"/>
            <c:spPr>
              <a:solidFill>
                <a:schemeClr val="accent5"/>
              </a:solidFill>
              <a:ln w="9525">
                <a:solidFill>
                  <a:schemeClr val="accent5"/>
                </a:solidFill>
              </a:ln>
              <a:effectLst/>
            </c:spPr>
          </c:marker>
          <c:trendline>
            <c:spPr>
              <a:ln w="19050" cap="rnd">
                <a:solidFill>
                  <a:schemeClr val="accent5"/>
                </a:solidFill>
                <a:prstDash val="sysDot"/>
              </a:ln>
              <a:effectLst/>
            </c:spPr>
            <c:trendlineType val="linear"/>
            <c:dispRSqr val="1"/>
            <c:dispEq val="1"/>
            <c:trendlineLbl>
              <c:layout>
                <c:manualLayout>
                  <c:x val="-0.19255520966855888"/>
                  <c:y val="7.91974656810982E-2"/>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accent1"/>
                      </a:solidFill>
                      <a:latin typeface="+mn-lt"/>
                      <a:ea typeface="+mn-ea"/>
                      <a:cs typeface="+mn-cs"/>
                    </a:defRPr>
                  </a:pPr>
                  <a:endParaRPr lang="en-CN"/>
                </a:p>
              </c:txPr>
            </c:trendlineLbl>
          </c:trendline>
          <c:xVal>
            <c:numRef>
              <c:f>'板 1 - Sheet1'!$T$27:$T$39</c:f>
              <c:numCache>
                <c:formatCode>General</c:formatCode>
                <c:ptCount val="13"/>
                <c:pt idx="0">
                  <c:v>0.13999999999999999</c:v>
                </c:pt>
                <c:pt idx="1">
                  <c:v>0.12</c:v>
                </c:pt>
                <c:pt idx="2">
                  <c:v>0.1</c:v>
                </c:pt>
                <c:pt idx="3">
                  <c:v>8.0000000000000016E-2</c:v>
                </c:pt>
                <c:pt idx="4">
                  <c:v>0.06</c:v>
                </c:pt>
                <c:pt idx="5">
                  <c:v>4.0000000000000008E-2</c:v>
                </c:pt>
                <c:pt idx="6">
                  <c:v>2.0000000000000004E-2</c:v>
                </c:pt>
                <c:pt idx="7">
                  <c:v>1.0000000000000002E-2</c:v>
                </c:pt>
                <c:pt idx="8">
                  <c:v>8.0000000000000002E-3</c:v>
                </c:pt>
                <c:pt idx="9">
                  <c:v>4.0000000000000001E-3</c:v>
                </c:pt>
                <c:pt idx="10">
                  <c:v>2E-3</c:v>
                </c:pt>
                <c:pt idx="11">
                  <c:v>1E-3</c:v>
                </c:pt>
                <c:pt idx="12">
                  <c:v>0</c:v>
                </c:pt>
              </c:numCache>
            </c:numRef>
          </c:xVal>
          <c:yVal>
            <c:numRef>
              <c:f>'板 1 - Sheet1'!$W$27:$W$39</c:f>
              <c:numCache>
                <c:formatCode>General</c:formatCode>
                <c:ptCount val="13"/>
                <c:pt idx="0">
                  <c:v>2.3479999999999999</c:v>
                </c:pt>
                <c:pt idx="1">
                  <c:v>2.0249999999999999</c:v>
                </c:pt>
                <c:pt idx="2">
                  <c:v>1.637</c:v>
                </c:pt>
                <c:pt idx="3">
                  <c:v>1.3499999999999999</c:v>
                </c:pt>
                <c:pt idx="4">
                  <c:v>0.88500000000000001</c:v>
                </c:pt>
                <c:pt idx="5">
                  <c:v>0.749</c:v>
                </c:pt>
                <c:pt idx="6">
                  <c:v>0.315</c:v>
                </c:pt>
                <c:pt idx="7">
                  <c:v>0.18049999999999999</c:v>
                </c:pt>
                <c:pt idx="8">
                  <c:v>0.11600000000000001</c:v>
                </c:pt>
                <c:pt idx="9">
                  <c:v>7.2499999999999995E-2</c:v>
                </c:pt>
                <c:pt idx="10">
                  <c:v>4.7E-2</c:v>
                </c:pt>
                <c:pt idx="11">
                  <c:v>6.5000000000000058E-3</c:v>
                </c:pt>
                <c:pt idx="12">
                  <c:v>0</c:v>
                </c:pt>
              </c:numCache>
            </c:numRef>
          </c:yVal>
          <c:smooth val="0"/>
          <c:extLst>
            <c:ext xmlns:c16="http://schemas.microsoft.com/office/drawing/2014/chart" uri="{C3380CC4-5D6E-409C-BE32-E72D297353CC}">
              <c16:uniqueId val="{00000003-48F7-304B-9568-8C5F01678883}"/>
            </c:ext>
          </c:extLst>
        </c:ser>
        <c:dLbls>
          <c:showLegendKey val="0"/>
          <c:showVal val="0"/>
          <c:showCatName val="0"/>
          <c:showSerName val="0"/>
          <c:showPercent val="0"/>
          <c:showBubbleSize val="0"/>
        </c:dLbls>
        <c:axId val="1695308016"/>
        <c:axId val="1695461712"/>
      </c:scatterChart>
      <c:valAx>
        <c:axId val="169530801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zh-CN" altLang="es-ES"/>
                  <a:t>胆固醇</a:t>
                </a:r>
                <a:r>
                  <a:rPr lang="zh-CN" altLang="en-US"/>
                  <a:t>含量</a:t>
                </a:r>
                <a:r>
                  <a:rPr lang="en-US" altLang="zh-CN"/>
                  <a:t>(</a:t>
                </a:r>
                <a:r>
                  <a:rPr lang="el-GR" altLang="zh-CN"/>
                  <a:t>μ</a:t>
                </a:r>
                <a:r>
                  <a:rPr lang="en-US" altLang="zh-CN"/>
                  <a:t>mol)</a:t>
                </a:r>
                <a:endParaRPr lang="es-ES" altLang="zh-C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N"/>
          </a:p>
        </c:txPr>
        <c:crossAx val="1695461712"/>
        <c:crosses val="autoZero"/>
        <c:crossBetween val="midCat"/>
      </c:valAx>
      <c:valAx>
        <c:axId val="169546171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ES" altLang="zh-CN"/>
                  <a:t>A</a:t>
                </a:r>
                <a:r>
                  <a:rPr lang="es-ES" altLang="zh-CN" baseline="-25000"/>
                  <a:t>560nm</a:t>
                </a:r>
                <a:endParaRPr lang="es-ES" altLang="zh-C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N"/>
          </a:p>
        </c:txPr>
        <c:crossAx val="1695308016"/>
        <c:crosses val="autoZero"/>
        <c:crossBetween val="midCat"/>
      </c:valAx>
      <c:spPr>
        <a:noFill/>
        <a:ln>
          <a:noFill/>
        </a:ln>
        <a:effectLst/>
      </c:spPr>
    </c:plotArea>
    <c:legend>
      <c:legendPos val="t"/>
      <c:legendEntry>
        <c:idx val="2"/>
        <c:delete val="1"/>
      </c:legendEntry>
      <c:legendEntry>
        <c:idx val="3"/>
        <c:delete val="1"/>
      </c:legendEntry>
      <c:layout>
        <c:manualLayout>
          <c:xMode val="edge"/>
          <c:yMode val="edge"/>
          <c:x val="0.26557965084085849"/>
          <c:y val="2.9168692270296549E-2"/>
          <c:w val="0.58383406408564253"/>
          <c:h val="8.2013788140361893E-2"/>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v>反应10分钟</c:v>
          </c:tx>
          <c:spPr>
            <a:solidFill>
              <a:schemeClr val="accent6"/>
            </a:solidFill>
            <a:ln>
              <a:noFill/>
            </a:ln>
            <a:effectLst/>
          </c:spPr>
          <c:invertIfNegative val="0"/>
          <c:cat>
            <c:numRef>
              <c:f>'板 1 - Sheet1'!$T$27:$T$39</c:f>
              <c:numCache>
                <c:formatCode>General</c:formatCode>
                <c:ptCount val="13"/>
                <c:pt idx="0">
                  <c:v>0.13999999999999999</c:v>
                </c:pt>
                <c:pt idx="1">
                  <c:v>0.12</c:v>
                </c:pt>
                <c:pt idx="2">
                  <c:v>0.1</c:v>
                </c:pt>
                <c:pt idx="3">
                  <c:v>8.0000000000000016E-2</c:v>
                </c:pt>
                <c:pt idx="4">
                  <c:v>0.06</c:v>
                </c:pt>
                <c:pt idx="5">
                  <c:v>4.0000000000000008E-2</c:v>
                </c:pt>
                <c:pt idx="6">
                  <c:v>2.0000000000000004E-2</c:v>
                </c:pt>
                <c:pt idx="7">
                  <c:v>1.0000000000000002E-2</c:v>
                </c:pt>
                <c:pt idx="8">
                  <c:v>8.0000000000000002E-3</c:v>
                </c:pt>
                <c:pt idx="9">
                  <c:v>4.0000000000000001E-3</c:v>
                </c:pt>
                <c:pt idx="10">
                  <c:v>2E-3</c:v>
                </c:pt>
                <c:pt idx="11">
                  <c:v>1E-3</c:v>
                </c:pt>
                <c:pt idx="12">
                  <c:v>0</c:v>
                </c:pt>
              </c:numCache>
            </c:numRef>
          </c:cat>
          <c:val>
            <c:numRef>
              <c:f>'板 1 - Sheet1'!$V$27:$V$39</c:f>
              <c:numCache>
                <c:formatCode>General</c:formatCode>
                <c:ptCount val="13"/>
                <c:pt idx="0">
                  <c:v>2.339</c:v>
                </c:pt>
                <c:pt idx="1">
                  <c:v>1.9460000000000002</c:v>
                </c:pt>
                <c:pt idx="2">
                  <c:v>1.5640000000000001</c:v>
                </c:pt>
                <c:pt idx="3">
                  <c:v>1.2370000000000001</c:v>
                </c:pt>
                <c:pt idx="4">
                  <c:v>0.78749999999999998</c:v>
                </c:pt>
                <c:pt idx="5">
                  <c:v>0.69650000000000001</c:v>
                </c:pt>
                <c:pt idx="6">
                  <c:v>0.27749999999999997</c:v>
                </c:pt>
                <c:pt idx="7">
                  <c:v>0.16299999999999998</c:v>
                </c:pt>
                <c:pt idx="8">
                  <c:v>0.10349999999999999</c:v>
                </c:pt>
                <c:pt idx="9">
                  <c:v>6.7999999999999991E-2</c:v>
                </c:pt>
                <c:pt idx="10">
                  <c:v>4.3999999999999997E-2</c:v>
                </c:pt>
                <c:pt idx="11">
                  <c:v>6.0000000000000053E-3</c:v>
                </c:pt>
                <c:pt idx="12">
                  <c:v>0</c:v>
                </c:pt>
              </c:numCache>
            </c:numRef>
          </c:val>
          <c:extLst>
            <c:ext xmlns:c16="http://schemas.microsoft.com/office/drawing/2014/chart" uri="{C3380CC4-5D6E-409C-BE32-E72D297353CC}">
              <c16:uniqueId val="{00000000-5D95-104C-8CF7-CF28043B7A96}"/>
            </c:ext>
          </c:extLst>
        </c:ser>
        <c:ser>
          <c:idx val="1"/>
          <c:order val="1"/>
          <c:tx>
            <c:v>反应20分钟</c:v>
          </c:tx>
          <c:spPr>
            <a:solidFill>
              <a:schemeClr val="accent5"/>
            </a:solidFill>
            <a:ln>
              <a:noFill/>
            </a:ln>
            <a:effectLst/>
          </c:spPr>
          <c:invertIfNegative val="0"/>
          <c:cat>
            <c:numRef>
              <c:f>'板 1 - Sheet1'!$T$27:$T$39</c:f>
              <c:numCache>
                <c:formatCode>General</c:formatCode>
                <c:ptCount val="13"/>
                <c:pt idx="0">
                  <c:v>0.13999999999999999</c:v>
                </c:pt>
                <c:pt idx="1">
                  <c:v>0.12</c:v>
                </c:pt>
                <c:pt idx="2">
                  <c:v>0.1</c:v>
                </c:pt>
                <c:pt idx="3">
                  <c:v>8.0000000000000016E-2</c:v>
                </c:pt>
                <c:pt idx="4">
                  <c:v>0.06</c:v>
                </c:pt>
                <c:pt idx="5">
                  <c:v>4.0000000000000008E-2</c:v>
                </c:pt>
                <c:pt idx="6">
                  <c:v>2.0000000000000004E-2</c:v>
                </c:pt>
                <c:pt idx="7">
                  <c:v>1.0000000000000002E-2</c:v>
                </c:pt>
                <c:pt idx="8">
                  <c:v>8.0000000000000002E-3</c:v>
                </c:pt>
                <c:pt idx="9">
                  <c:v>4.0000000000000001E-3</c:v>
                </c:pt>
                <c:pt idx="10">
                  <c:v>2E-3</c:v>
                </c:pt>
                <c:pt idx="11">
                  <c:v>1E-3</c:v>
                </c:pt>
                <c:pt idx="12">
                  <c:v>0</c:v>
                </c:pt>
              </c:numCache>
            </c:numRef>
          </c:cat>
          <c:val>
            <c:numRef>
              <c:f>'板 1 - Sheet1'!$W$27:$W$39</c:f>
              <c:numCache>
                <c:formatCode>General</c:formatCode>
                <c:ptCount val="13"/>
                <c:pt idx="0">
                  <c:v>2.3479999999999999</c:v>
                </c:pt>
                <c:pt idx="1">
                  <c:v>2.0249999999999999</c:v>
                </c:pt>
                <c:pt idx="2">
                  <c:v>1.637</c:v>
                </c:pt>
                <c:pt idx="3">
                  <c:v>1.3499999999999999</c:v>
                </c:pt>
                <c:pt idx="4">
                  <c:v>0.88500000000000001</c:v>
                </c:pt>
                <c:pt idx="5">
                  <c:v>0.749</c:v>
                </c:pt>
                <c:pt idx="6">
                  <c:v>0.315</c:v>
                </c:pt>
                <c:pt idx="7">
                  <c:v>0.18049999999999999</c:v>
                </c:pt>
                <c:pt idx="8">
                  <c:v>0.11600000000000001</c:v>
                </c:pt>
                <c:pt idx="9">
                  <c:v>7.2499999999999995E-2</c:v>
                </c:pt>
                <c:pt idx="10">
                  <c:v>4.7E-2</c:v>
                </c:pt>
                <c:pt idx="11">
                  <c:v>6.5000000000000058E-3</c:v>
                </c:pt>
                <c:pt idx="12">
                  <c:v>0</c:v>
                </c:pt>
              </c:numCache>
            </c:numRef>
          </c:val>
          <c:extLst>
            <c:ext xmlns:c16="http://schemas.microsoft.com/office/drawing/2014/chart" uri="{C3380CC4-5D6E-409C-BE32-E72D297353CC}">
              <c16:uniqueId val="{00000001-5D95-104C-8CF7-CF28043B7A96}"/>
            </c:ext>
          </c:extLst>
        </c:ser>
        <c:dLbls>
          <c:showLegendKey val="0"/>
          <c:showVal val="0"/>
          <c:showCatName val="0"/>
          <c:showSerName val="0"/>
          <c:showPercent val="0"/>
          <c:showBubbleSize val="0"/>
        </c:dLbls>
        <c:gapWidth val="219"/>
        <c:overlap val="-27"/>
        <c:axId val="143281536"/>
        <c:axId val="143303808"/>
      </c:barChart>
      <c:catAx>
        <c:axId val="143281536"/>
        <c:scaling>
          <c:orientation val="maxMin"/>
        </c:scaling>
        <c:delete val="0"/>
        <c:axPos val="b"/>
        <c:title>
          <c:tx>
            <c:rich>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lang="zh-CN" altLang="en-US"/>
                  <a:t>胆固醇含量</a:t>
                </a:r>
                <a:r>
                  <a:rPr lang="en-US" altLang="zh-CN"/>
                  <a:t>(</a:t>
                </a:r>
                <a:r>
                  <a:rPr lang="el-GR" altLang="zh-CN"/>
                  <a:t>μ</a:t>
                </a:r>
                <a:r>
                  <a:rPr lang="es-ES" altLang="zh-CN"/>
                  <a:t>mol)</a:t>
                </a:r>
              </a:p>
            </c:rich>
          </c:tx>
          <c:overlay val="0"/>
          <c:spPr>
            <a:noFill/>
            <a:ln>
              <a:noFill/>
            </a:ln>
            <a:effectLst/>
          </c:spPr>
          <c:txPr>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N"/>
          </a:p>
        </c:txPr>
        <c:crossAx val="143303808"/>
        <c:crosses val="autoZero"/>
        <c:auto val="1"/>
        <c:lblAlgn val="ctr"/>
        <c:lblOffset val="100"/>
        <c:noMultiLvlLbl val="1"/>
      </c:catAx>
      <c:valAx>
        <c:axId val="143303808"/>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ES" altLang="zh-CN"/>
                  <a:t>A</a:t>
                </a:r>
                <a:r>
                  <a:rPr lang="es-ES" altLang="zh-CN" baseline="-25000"/>
                  <a:t>560nm</a:t>
                </a:r>
                <a:endParaRPr lang="es-ES" altLang="zh-CN"/>
              </a:p>
            </c:rich>
          </c:tx>
          <c:layout>
            <c:manualLayout>
              <c:xMode val="edge"/>
              <c:yMode val="edge"/>
              <c:x val="0"/>
              <c:y val="0.30637227201434925"/>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N"/>
          </a:p>
        </c:txPr>
        <c:crossAx val="143281536"/>
        <c:crosses val="autoZero"/>
        <c:crossBetween val="midCat"/>
      </c:valAx>
      <c:spPr>
        <a:noFill/>
        <a:ln>
          <a:noFill/>
        </a:ln>
        <a:effectLst/>
      </c:spPr>
    </c:plotArea>
    <c:legend>
      <c:legendPos val="t"/>
      <c:layout>
        <c:manualLayout>
          <c:xMode val="edge"/>
          <c:yMode val="edge"/>
          <c:x val="9.0759943644397545E-2"/>
          <c:y val="3.888888888888889E-2"/>
          <c:w val="0.57468385672513622"/>
          <c:h val="8.7094662986434909E-2"/>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N"/>
        </a:p>
      </c:txPr>
    </c:legend>
    <c:plotVisOnly val="1"/>
    <c:dispBlanksAs val="gap"/>
    <c:showDLblsOverMax val="0"/>
  </c:chart>
  <c:spPr>
    <a:solidFill>
      <a:schemeClr val="bg1"/>
    </a:solidFill>
    <a:ln w="9525" cap="flat" cmpd="sng" algn="ctr">
      <a:noFill/>
      <a:round/>
    </a:ln>
    <a:effectLst/>
  </c:spPr>
  <c:txPr>
    <a:bodyPr/>
    <a:lstStyle/>
    <a:p>
      <a:pPr>
        <a:defRPr/>
      </a:pPr>
      <a:endParaRPr lang="en-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dispRSqr val="1"/>
            <c:dispEq val="1"/>
            <c:trendlineLbl>
              <c:layout>
                <c:manualLayout>
                  <c:x val="3.0213607633559694E-2"/>
                  <c:y val="0.30782940528338398"/>
                </c:manualLayout>
              </c:layout>
              <c:numFmt formatCode="General" sourceLinked="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rendlineLbl>
          </c:trendline>
          <c:xVal>
            <c:numRef>
              <c:f>'板 1 - Sheet1'!$F$37:$F$43</c:f>
              <c:numCache>
                <c:formatCode>General</c:formatCode>
                <c:ptCount val="7"/>
                <c:pt idx="0">
                  <c:v>0.78</c:v>
                </c:pt>
                <c:pt idx="1">
                  <c:v>1.56</c:v>
                </c:pt>
                <c:pt idx="2">
                  <c:v>3.125</c:v>
                </c:pt>
                <c:pt idx="3">
                  <c:v>6.25</c:v>
                </c:pt>
              </c:numCache>
            </c:numRef>
          </c:xVal>
          <c:yVal>
            <c:numRef>
              <c:f>'板 1 - Sheet1'!$G$37:$G$43</c:f>
              <c:numCache>
                <c:formatCode>General</c:formatCode>
                <c:ptCount val="7"/>
                <c:pt idx="0">
                  <c:v>0.218</c:v>
                </c:pt>
                <c:pt idx="1">
                  <c:v>0.27200000000000002</c:v>
                </c:pt>
                <c:pt idx="2">
                  <c:v>0.42899999999999999</c:v>
                </c:pt>
                <c:pt idx="3">
                  <c:v>0.625</c:v>
                </c:pt>
                <c:pt idx="4">
                  <c:v>0.70399999999999996</c:v>
                </c:pt>
                <c:pt idx="5">
                  <c:v>0.75900000000000001</c:v>
                </c:pt>
                <c:pt idx="6">
                  <c:v>0.74399999999999999</c:v>
                </c:pt>
              </c:numCache>
            </c:numRef>
          </c:yVal>
          <c:smooth val="0"/>
          <c:extLst>
            <c:ext xmlns:c16="http://schemas.microsoft.com/office/drawing/2014/chart" uri="{C3380CC4-5D6E-409C-BE32-E72D297353CC}">
              <c16:uniqueId val="{00000001-426E-EA43-86DC-8FB63B2C15BE}"/>
            </c:ext>
          </c:extLst>
        </c:ser>
        <c:dLbls>
          <c:showLegendKey val="0"/>
          <c:showVal val="0"/>
          <c:showCatName val="0"/>
          <c:showSerName val="0"/>
          <c:showPercent val="0"/>
          <c:showBubbleSize val="0"/>
        </c:dLbls>
        <c:axId val="47955521"/>
        <c:axId val="606124335"/>
      </c:scatterChart>
      <c:valAx>
        <c:axId val="47955521"/>
        <c:scaling>
          <c:orientation val="minMax"/>
        </c:scaling>
        <c:delete val="0"/>
        <c:axPos val="b"/>
        <c:title>
          <c:tx>
            <c:rich>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r>
                  <a:rPr lang="zh-CN"/>
                  <a:t>胆固醇净含量（</a:t>
                </a:r>
                <a:r>
                  <a:rPr lang="en-US"/>
                  <a:t>nmol</a:t>
                </a:r>
                <a:r>
                  <a:rPr lang="zh-CN"/>
                  <a:t>）</a:t>
                </a:r>
              </a:p>
            </c:rich>
          </c:tx>
          <c:layout>
            <c:manualLayout>
              <c:xMode val="edge"/>
              <c:yMode val="edge"/>
              <c:x val="0.36872314327543232"/>
              <c:y val="0.9238372026702798"/>
            </c:manualLayout>
          </c:layout>
          <c:overlay val="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crossAx val="606124335"/>
        <c:crosses val="autoZero"/>
        <c:crossBetween val="midCat"/>
      </c:valAx>
      <c:valAx>
        <c:axId val="606124335"/>
        <c:scaling>
          <c:orientation val="minMax"/>
        </c:scaling>
        <c:delete val="0"/>
        <c:axPos val="l"/>
        <c:title>
          <c:tx>
            <c:rich>
              <a:bodyPr rot="-54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r>
                  <a:rPr lang="en-US" dirty="0"/>
                  <a:t>A</a:t>
                </a:r>
                <a:r>
                  <a:rPr lang="en-US" baseline="-25000" dirty="0"/>
                  <a:t>570nm</a:t>
                </a:r>
                <a:endParaRPr lang="zh-CN" baseline="-25000" dirty="0"/>
              </a:p>
            </c:rich>
          </c:tx>
          <c:overlay val="0"/>
          <c:spPr>
            <a:noFill/>
            <a:ln>
              <a:noFill/>
            </a:ln>
            <a:effectLst/>
          </c:spPr>
          <c:txPr>
            <a:bodyPr rot="-54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endParaRPr lang="en-CN"/>
          </a:p>
        </c:txPr>
        <c:crossAx val="47955521"/>
        <c:crosses val="autoZero"/>
        <c:crossBetween val="midCat"/>
      </c:valAx>
      <c:spPr>
        <a:noFill/>
        <a:ln w="9525" cap="flat" cmpd="sng" algn="ctr">
          <a:noFill/>
          <a:round/>
        </a:ln>
        <a:effectLst/>
      </c:spPr>
    </c:plotArea>
    <c:plotVisOnly val="1"/>
    <c:dispBlanksAs val="gap"/>
    <c:showDLblsOverMax val="0"/>
  </c:chart>
  <c:spPr>
    <a:solidFill>
      <a:schemeClr val="bg1"/>
    </a:solidFill>
    <a:ln w="9525" cap="flat" cmpd="sng" algn="ctr">
      <a:noFill/>
      <a:round/>
    </a:ln>
    <a:effectLst/>
  </c:spPr>
  <c:txPr>
    <a:bodyPr/>
    <a:lstStyle/>
    <a:p>
      <a:pPr>
        <a:defRPr lang="zh-CN" sz="1600"/>
      </a:pPr>
      <a:endParaRPr lang="en-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19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solidFill>
          <a:schemeClr val="phClr"/>
        </a:solid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19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solidFill>
          <a:schemeClr val="phClr"/>
        </a:solid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19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solidFill>
          <a:schemeClr val="phClr"/>
        </a:solid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4">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004">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1017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6D7121-F3D1-7F44-B365-80E67D71FC67}" type="datetimeFigureOut">
              <a:rPr kumimoji="1" lang="zh-CN" altLang="en-US" smtClean="0"/>
              <a:t>2024/12/6</a:t>
            </a:fld>
            <a:endParaRPr kumimoji="1"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CN"/>
              <a:t>Click to edit Master text styles</a:t>
            </a:r>
          </a:p>
          <a:p>
            <a:pPr lvl="1"/>
            <a:r>
              <a:rPr kumimoji="1" lang="en-US" altLang="zh-CN"/>
              <a:t>Second level</a:t>
            </a:r>
          </a:p>
          <a:p>
            <a:pPr lvl="2"/>
            <a:r>
              <a:rPr kumimoji="1" lang="en-US" altLang="zh-CN"/>
              <a:t>Third level</a:t>
            </a:r>
          </a:p>
          <a:p>
            <a:pPr lvl="3"/>
            <a:r>
              <a:rPr kumimoji="1" lang="en-US" altLang="zh-CN"/>
              <a:t>Fourth level</a:t>
            </a:r>
          </a:p>
          <a:p>
            <a:pPr lvl="4"/>
            <a:r>
              <a:rPr kumimoji="1" lang="en-US" altLang="zh-CN"/>
              <a:t>Fifth level</a:t>
            </a:r>
            <a:endParaRPr kumimoji="1"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BB1C4C-66EF-0F4C-B7A3-FECCA39F5AC9}" type="slidenum">
              <a:rPr kumimoji="1" lang="zh-CN" altLang="en-US" smtClean="0"/>
              <a:t>‹#›</a:t>
            </a:fld>
            <a:endParaRPr kumimoji="1" lang="zh-CN" altLang="en-US"/>
          </a:p>
        </p:txBody>
      </p:sp>
    </p:spTree>
    <p:extLst>
      <p:ext uri="{BB962C8B-B14F-4D97-AF65-F5344CB8AC3E}">
        <p14:creationId xmlns:p14="http://schemas.microsoft.com/office/powerpoint/2010/main" val="3126903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a:t>
            </a:fld>
            <a:endParaRPr kumimoji="1" lang="zh-CN" altLang="en-US"/>
          </a:p>
        </p:txBody>
      </p:sp>
    </p:spTree>
    <p:extLst>
      <p:ext uri="{BB962C8B-B14F-4D97-AF65-F5344CB8AC3E}">
        <p14:creationId xmlns:p14="http://schemas.microsoft.com/office/powerpoint/2010/main" val="3856384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3</a:t>
            </a:fld>
            <a:endParaRPr kumimoji="1" lang="zh-CN" altLang="en-US"/>
          </a:p>
        </p:txBody>
      </p:sp>
    </p:spTree>
    <p:extLst>
      <p:ext uri="{BB962C8B-B14F-4D97-AF65-F5344CB8AC3E}">
        <p14:creationId xmlns:p14="http://schemas.microsoft.com/office/powerpoint/2010/main" val="3591851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4</a:t>
            </a:fld>
            <a:endParaRPr kumimoji="1" lang="zh-CN" altLang="en-US"/>
          </a:p>
        </p:txBody>
      </p:sp>
    </p:spTree>
    <p:extLst>
      <p:ext uri="{BB962C8B-B14F-4D97-AF65-F5344CB8AC3E}">
        <p14:creationId xmlns:p14="http://schemas.microsoft.com/office/powerpoint/2010/main" val="1842444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5</a:t>
            </a:fld>
            <a:endParaRPr kumimoji="1" lang="zh-CN" altLang="en-US"/>
          </a:p>
        </p:txBody>
      </p:sp>
    </p:spTree>
    <p:extLst>
      <p:ext uri="{BB962C8B-B14F-4D97-AF65-F5344CB8AC3E}">
        <p14:creationId xmlns:p14="http://schemas.microsoft.com/office/powerpoint/2010/main" val="3708247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6</a:t>
            </a:fld>
            <a:endParaRPr kumimoji="1" lang="zh-CN" altLang="en-US"/>
          </a:p>
        </p:txBody>
      </p:sp>
    </p:spTree>
    <p:extLst>
      <p:ext uri="{BB962C8B-B14F-4D97-AF65-F5344CB8AC3E}">
        <p14:creationId xmlns:p14="http://schemas.microsoft.com/office/powerpoint/2010/main" val="4284985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7</a:t>
            </a:fld>
            <a:endParaRPr kumimoji="1" lang="zh-CN" altLang="en-US"/>
          </a:p>
        </p:txBody>
      </p:sp>
    </p:spTree>
    <p:extLst>
      <p:ext uri="{BB962C8B-B14F-4D97-AF65-F5344CB8AC3E}">
        <p14:creationId xmlns:p14="http://schemas.microsoft.com/office/powerpoint/2010/main" val="915689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8</a:t>
            </a:fld>
            <a:endParaRPr kumimoji="1" lang="zh-CN" altLang="en-US"/>
          </a:p>
        </p:txBody>
      </p:sp>
    </p:spTree>
    <p:extLst>
      <p:ext uri="{BB962C8B-B14F-4D97-AF65-F5344CB8AC3E}">
        <p14:creationId xmlns:p14="http://schemas.microsoft.com/office/powerpoint/2010/main" val="2038646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9</a:t>
            </a:fld>
            <a:endParaRPr kumimoji="1" lang="zh-CN" altLang="en-US"/>
          </a:p>
        </p:txBody>
      </p:sp>
    </p:spTree>
    <p:extLst>
      <p:ext uri="{BB962C8B-B14F-4D97-AF65-F5344CB8AC3E}">
        <p14:creationId xmlns:p14="http://schemas.microsoft.com/office/powerpoint/2010/main" val="370561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10</a:t>
            </a:fld>
            <a:endParaRPr kumimoji="1" lang="zh-CN" altLang="en-US"/>
          </a:p>
        </p:txBody>
      </p:sp>
    </p:spTree>
    <p:extLst>
      <p:ext uri="{BB962C8B-B14F-4D97-AF65-F5344CB8AC3E}">
        <p14:creationId xmlns:p14="http://schemas.microsoft.com/office/powerpoint/2010/main" val="202740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11</a:t>
            </a:fld>
            <a:endParaRPr kumimoji="1" lang="zh-CN" altLang="en-US"/>
          </a:p>
        </p:txBody>
      </p:sp>
    </p:spTree>
    <p:extLst>
      <p:ext uri="{BB962C8B-B14F-4D97-AF65-F5344CB8AC3E}">
        <p14:creationId xmlns:p14="http://schemas.microsoft.com/office/powerpoint/2010/main" val="3630888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12</a:t>
            </a:fld>
            <a:endParaRPr kumimoji="1" lang="zh-CN" altLang="en-US"/>
          </a:p>
        </p:txBody>
      </p:sp>
    </p:spTree>
    <p:extLst>
      <p:ext uri="{BB962C8B-B14F-4D97-AF65-F5344CB8AC3E}">
        <p14:creationId xmlns:p14="http://schemas.microsoft.com/office/powerpoint/2010/main" val="1192405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13</a:t>
            </a:fld>
            <a:endParaRPr kumimoji="1" lang="zh-CN" altLang="en-US"/>
          </a:p>
        </p:txBody>
      </p:sp>
    </p:spTree>
    <p:extLst>
      <p:ext uri="{BB962C8B-B14F-4D97-AF65-F5344CB8AC3E}">
        <p14:creationId xmlns:p14="http://schemas.microsoft.com/office/powerpoint/2010/main" val="3440362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14</a:t>
            </a:fld>
            <a:endParaRPr kumimoji="1" lang="zh-CN" altLang="en-US"/>
          </a:p>
        </p:txBody>
      </p:sp>
    </p:spTree>
    <p:extLst>
      <p:ext uri="{BB962C8B-B14F-4D97-AF65-F5344CB8AC3E}">
        <p14:creationId xmlns:p14="http://schemas.microsoft.com/office/powerpoint/2010/main" val="846812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15</a:t>
            </a:fld>
            <a:endParaRPr kumimoji="1" lang="zh-CN" altLang="en-US"/>
          </a:p>
        </p:txBody>
      </p:sp>
    </p:spTree>
    <p:extLst>
      <p:ext uri="{BB962C8B-B14F-4D97-AF65-F5344CB8AC3E}">
        <p14:creationId xmlns:p14="http://schemas.microsoft.com/office/powerpoint/2010/main" val="1103795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16</a:t>
            </a:fld>
            <a:endParaRPr kumimoji="1" lang="zh-CN" altLang="en-US"/>
          </a:p>
        </p:txBody>
      </p:sp>
    </p:spTree>
    <p:extLst>
      <p:ext uri="{BB962C8B-B14F-4D97-AF65-F5344CB8AC3E}">
        <p14:creationId xmlns:p14="http://schemas.microsoft.com/office/powerpoint/2010/main" val="2019079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17</a:t>
            </a:fld>
            <a:endParaRPr kumimoji="1" lang="zh-CN" altLang="en-US"/>
          </a:p>
        </p:txBody>
      </p:sp>
    </p:spTree>
    <p:extLst>
      <p:ext uri="{BB962C8B-B14F-4D97-AF65-F5344CB8AC3E}">
        <p14:creationId xmlns:p14="http://schemas.microsoft.com/office/powerpoint/2010/main" val="1475337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18</a:t>
            </a:fld>
            <a:endParaRPr kumimoji="1" lang="zh-CN" altLang="en-US"/>
          </a:p>
        </p:txBody>
      </p:sp>
    </p:spTree>
    <p:extLst>
      <p:ext uri="{BB962C8B-B14F-4D97-AF65-F5344CB8AC3E}">
        <p14:creationId xmlns:p14="http://schemas.microsoft.com/office/powerpoint/2010/main" val="520023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19</a:t>
            </a:fld>
            <a:endParaRPr kumimoji="1" lang="zh-CN" altLang="en-US"/>
          </a:p>
        </p:txBody>
      </p:sp>
    </p:spTree>
    <p:extLst>
      <p:ext uri="{BB962C8B-B14F-4D97-AF65-F5344CB8AC3E}">
        <p14:creationId xmlns:p14="http://schemas.microsoft.com/office/powerpoint/2010/main" val="1310384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20</a:t>
            </a:fld>
            <a:endParaRPr kumimoji="1" lang="zh-CN" altLang="en-US"/>
          </a:p>
        </p:txBody>
      </p:sp>
    </p:spTree>
    <p:extLst>
      <p:ext uri="{BB962C8B-B14F-4D97-AF65-F5344CB8AC3E}">
        <p14:creationId xmlns:p14="http://schemas.microsoft.com/office/powerpoint/2010/main" val="423578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21</a:t>
            </a:fld>
            <a:endParaRPr kumimoji="1" lang="zh-CN" altLang="en-US"/>
          </a:p>
        </p:txBody>
      </p:sp>
    </p:spTree>
    <p:extLst>
      <p:ext uri="{BB962C8B-B14F-4D97-AF65-F5344CB8AC3E}">
        <p14:creationId xmlns:p14="http://schemas.microsoft.com/office/powerpoint/2010/main" val="1429974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22</a:t>
            </a:fld>
            <a:endParaRPr kumimoji="1" lang="zh-CN" altLang="en-US"/>
          </a:p>
        </p:txBody>
      </p:sp>
    </p:spTree>
    <p:extLst>
      <p:ext uri="{BB962C8B-B14F-4D97-AF65-F5344CB8AC3E}">
        <p14:creationId xmlns:p14="http://schemas.microsoft.com/office/powerpoint/2010/main" val="31202737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23</a:t>
            </a:fld>
            <a:endParaRPr kumimoji="1" lang="zh-CN" altLang="en-US"/>
          </a:p>
        </p:txBody>
      </p:sp>
    </p:spTree>
    <p:extLst>
      <p:ext uri="{BB962C8B-B14F-4D97-AF65-F5344CB8AC3E}">
        <p14:creationId xmlns:p14="http://schemas.microsoft.com/office/powerpoint/2010/main" val="4545397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24</a:t>
            </a:fld>
            <a:endParaRPr kumimoji="1" lang="zh-CN" altLang="en-US"/>
          </a:p>
        </p:txBody>
      </p:sp>
    </p:spTree>
    <p:extLst>
      <p:ext uri="{BB962C8B-B14F-4D97-AF65-F5344CB8AC3E}">
        <p14:creationId xmlns:p14="http://schemas.microsoft.com/office/powerpoint/2010/main" val="35045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25</a:t>
            </a:fld>
            <a:endParaRPr kumimoji="1" lang="zh-CN" altLang="en-US"/>
          </a:p>
        </p:txBody>
      </p:sp>
    </p:spTree>
    <p:extLst>
      <p:ext uri="{BB962C8B-B14F-4D97-AF65-F5344CB8AC3E}">
        <p14:creationId xmlns:p14="http://schemas.microsoft.com/office/powerpoint/2010/main" val="12756328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26</a:t>
            </a:fld>
            <a:endParaRPr kumimoji="1" lang="zh-CN" altLang="en-US"/>
          </a:p>
        </p:txBody>
      </p:sp>
    </p:spTree>
    <p:extLst>
      <p:ext uri="{BB962C8B-B14F-4D97-AF65-F5344CB8AC3E}">
        <p14:creationId xmlns:p14="http://schemas.microsoft.com/office/powerpoint/2010/main" val="13967414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27</a:t>
            </a:fld>
            <a:endParaRPr kumimoji="1" lang="zh-CN" altLang="en-US"/>
          </a:p>
        </p:txBody>
      </p:sp>
    </p:spTree>
    <p:extLst>
      <p:ext uri="{BB962C8B-B14F-4D97-AF65-F5344CB8AC3E}">
        <p14:creationId xmlns:p14="http://schemas.microsoft.com/office/powerpoint/2010/main" val="18740034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28</a:t>
            </a:fld>
            <a:endParaRPr kumimoji="1" lang="zh-CN" altLang="en-US"/>
          </a:p>
        </p:txBody>
      </p:sp>
    </p:spTree>
    <p:extLst>
      <p:ext uri="{BB962C8B-B14F-4D97-AF65-F5344CB8AC3E}">
        <p14:creationId xmlns:p14="http://schemas.microsoft.com/office/powerpoint/2010/main" val="31473214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29</a:t>
            </a:fld>
            <a:endParaRPr kumimoji="1" lang="zh-CN" altLang="en-US"/>
          </a:p>
        </p:txBody>
      </p:sp>
    </p:spTree>
    <p:extLst>
      <p:ext uri="{BB962C8B-B14F-4D97-AF65-F5344CB8AC3E}">
        <p14:creationId xmlns:p14="http://schemas.microsoft.com/office/powerpoint/2010/main" val="40710748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30</a:t>
            </a:fld>
            <a:endParaRPr kumimoji="1" lang="zh-CN" altLang="en-US"/>
          </a:p>
        </p:txBody>
      </p:sp>
    </p:spTree>
    <p:extLst>
      <p:ext uri="{BB962C8B-B14F-4D97-AF65-F5344CB8AC3E}">
        <p14:creationId xmlns:p14="http://schemas.microsoft.com/office/powerpoint/2010/main" val="16434692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31</a:t>
            </a:fld>
            <a:endParaRPr kumimoji="1" lang="zh-CN" altLang="en-US"/>
          </a:p>
        </p:txBody>
      </p:sp>
    </p:spTree>
    <p:extLst>
      <p:ext uri="{BB962C8B-B14F-4D97-AF65-F5344CB8AC3E}">
        <p14:creationId xmlns:p14="http://schemas.microsoft.com/office/powerpoint/2010/main" val="4343865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32</a:t>
            </a:fld>
            <a:endParaRPr kumimoji="1" lang="zh-CN" altLang="en-US"/>
          </a:p>
        </p:txBody>
      </p:sp>
    </p:spTree>
    <p:extLst>
      <p:ext uri="{BB962C8B-B14F-4D97-AF65-F5344CB8AC3E}">
        <p14:creationId xmlns:p14="http://schemas.microsoft.com/office/powerpoint/2010/main" val="39193587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33</a:t>
            </a:fld>
            <a:endParaRPr kumimoji="1" lang="zh-CN" altLang="en-US"/>
          </a:p>
        </p:txBody>
      </p:sp>
    </p:spTree>
    <p:extLst>
      <p:ext uri="{BB962C8B-B14F-4D97-AF65-F5344CB8AC3E}">
        <p14:creationId xmlns:p14="http://schemas.microsoft.com/office/powerpoint/2010/main" val="9065096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45BB1C4C-66EF-0F4C-B7A3-FECCA39F5AC9}" type="slidenum">
              <a:rPr kumimoji="1" lang="zh-CN" altLang="en-US" smtClean="0"/>
              <a:t>34</a:t>
            </a:fld>
            <a:endParaRPr kumimoji="1" lang="zh-CN" altLang="en-US"/>
          </a:p>
        </p:txBody>
      </p:sp>
    </p:spTree>
    <p:extLst>
      <p:ext uri="{BB962C8B-B14F-4D97-AF65-F5344CB8AC3E}">
        <p14:creationId xmlns:p14="http://schemas.microsoft.com/office/powerpoint/2010/main" val="1048564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33CB2-1833-6446-A58B-BEBE6542E5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AFFF91-2EF8-A14C-8D6E-2B415D670A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0FBB7F-1F1F-3041-8F34-551E53C2320F}"/>
              </a:ext>
            </a:extLst>
          </p:cNvPr>
          <p:cNvSpPr>
            <a:spLocks noGrp="1"/>
          </p:cNvSpPr>
          <p:nvPr>
            <p:ph type="dt" sz="half" idx="10"/>
          </p:nvPr>
        </p:nvSpPr>
        <p:spPr/>
        <p:txBody>
          <a:bodyPr/>
          <a:lstStyle/>
          <a:p>
            <a:fld id="{A0E03BCB-BE19-A746-A65B-1505044BC1D9}" type="datetime1">
              <a:rPr lang="en-US" altLang="zh-CN" smtClean="0"/>
              <a:t>12/6/24</a:t>
            </a:fld>
            <a:endParaRPr lang="en-US"/>
          </a:p>
        </p:txBody>
      </p:sp>
      <p:sp>
        <p:nvSpPr>
          <p:cNvPr id="5" name="Footer Placeholder 4">
            <a:extLst>
              <a:ext uri="{FF2B5EF4-FFF2-40B4-BE49-F238E27FC236}">
                <a16:creationId xmlns:a16="http://schemas.microsoft.com/office/drawing/2014/main" id="{68ECDE26-F415-E744-8334-737A7B9DDF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480306-4003-1944-95E0-41599C6BB395}"/>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304648131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94003-1CF9-4C49-A837-08724456D2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FB51C4-2549-FC4F-BDA5-F5A602F3FA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2E324-444F-9548-B027-17ACC2FC5705}"/>
              </a:ext>
            </a:extLst>
          </p:cNvPr>
          <p:cNvSpPr>
            <a:spLocks noGrp="1"/>
          </p:cNvSpPr>
          <p:nvPr>
            <p:ph type="dt" sz="half" idx="10"/>
          </p:nvPr>
        </p:nvSpPr>
        <p:spPr/>
        <p:txBody>
          <a:bodyPr/>
          <a:lstStyle/>
          <a:p>
            <a:fld id="{B370DA67-4424-5C43-8974-39562E9FA98B}" type="datetime1">
              <a:rPr lang="en-US" altLang="zh-CN" smtClean="0"/>
              <a:t>12/6/24</a:t>
            </a:fld>
            <a:endParaRPr lang="en-US"/>
          </a:p>
        </p:txBody>
      </p:sp>
      <p:sp>
        <p:nvSpPr>
          <p:cNvPr id="5" name="Footer Placeholder 4">
            <a:extLst>
              <a:ext uri="{FF2B5EF4-FFF2-40B4-BE49-F238E27FC236}">
                <a16:creationId xmlns:a16="http://schemas.microsoft.com/office/drawing/2014/main" id="{682DBAA2-8C85-9745-85A2-B41016CB6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0870CA-67CB-D947-B79B-24FC521BB891}"/>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20925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ED370-A91D-7A4D-ADC1-8DB123A082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E5780B-CE87-3A4B-A7D2-4A7F24DF55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33DD42-A223-9545-ADF3-BC52370E0DD4}"/>
              </a:ext>
            </a:extLst>
          </p:cNvPr>
          <p:cNvSpPr>
            <a:spLocks noGrp="1"/>
          </p:cNvSpPr>
          <p:nvPr>
            <p:ph type="dt" sz="half" idx="10"/>
          </p:nvPr>
        </p:nvSpPr>
        <p:spPr/>
        <p:txBody>
          <a:bodyPr/>
          <a:lstStyle/>
          <a:p>
            <a:fld id="{A44CE24E-4432-964F-AE26-36A09C401FFD}" type="datetime1">
              <a:rPr lang="en-US" altLang="zh-CN" smtClean="0"/>
              <a:t>12/6/24</a:t>
            </a:fld>
            <a:endParaRPr lang="en-US"/>
          </a:p>
        </p:txBody>
      </p:sp>
      <p:sp>
        <p:nvSpPr>
          <p:cNvPr id="5" name="Footer Placeholder 4">
            <a:extLst>
              <a:ext uri="{FF2B5EF4-FFF2-40B4-BE49-F238E27FC236}">
                <a16:creationId xmlns:a16="http://schemas.microsoft.com/office/drawing/2014/main" id="{B7AD4323-9031-DC47-8A94-A29335B176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50D6BC-9512-A841-B1C3-7903D18E8BDD}"/>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337579366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50F54-9BA1-B247-9E3B-D4E932B447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7711D2-B35F-3F47-A8AB-22CE38A25C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08E9B7-C6E3-AC4A-803D-9E61265A92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AAC729-0C67-9342-95AD-9C732DB49859}"/>
              </a:ext>
            </a:extLst>
          </p:cNvPr>
          <p:cNvSpPr>
            <a:spLocks noGrp="1"/>
          </p:cNvSpPr>
          <p:nvPr>
            <p:ph type="dt" sz="half" idx="10"/>
          </p:nvPr>
        </p:nvSpPr>
        <p:spPr/>
        <p:txBody>
          <a:bodyPr/>
          <a:lstStyle/>
          <a:p>
            <a:fld id="{64A3DF61-A00B-B548-AF01-5E616E148A7D}" type="datetime1">
              <a:rPr lang="en-US" altLang="zh-CN" smtClean="0"/>
              <a:t>12/6/24</a:t>
            </a:fld>
            <a:endParaRPr lang="en-US"/>
          </a:p>
        </p:txBody>
      </p:sp>
      <p:sp>
        <p:nvSpPr>
          <p:cNvPr id="6" name="Footer Placeholder 5">
            <a:extLst>
              <a:ext uri="{FF2B5EF4-FFF2-40B4-BE49-F238E27FC236}">
                <a16:creationId xmlns:a16="http://schemas.microsoft.com/office/drawing/2014/main" id="{775E346A-9DE9-E145-BECE-596797C09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56A837-D9D0-6146-AEC5-C35121FB6EC1}"/>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37422564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F5876-C723-9744-BF58-EFB872D561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335E38-1170-5149-A855-7CBDCBFD20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B2E9E2-0892-F446-8EC6-B8B00DE8A9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D4CB34-5AEB-F54E-AFF0-B66A8CD4F7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2C53D7-FBC1-1747-9350-41EBBB255E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6BB04-91F7-B241-B009-701C0A5376EE}"/>
              </a:ext>
            </a:extLst>
          </p:cNvPr>
          <p:cNvSpPr>
            <a:spLocks noGrp="1"/>
          </p:cNvSpPr>
          <p:nvPr>
            <p:ph type="dt" sz="half" idx="10"/>
          </p:nvPr>
        </p:nvSpPr>
        <p:spPr/>
        <p:txBody>
          <a:bodyPr/>
          <a:lstStyle/>
          <a:p>
            <a:fld id="{288106A9-8D40-0B43-935E-679BDCBE54E3}" type="datetime1">
              <a:rPr lang="en-US" altLang="zh-CN" smtClean="0"/>
              <a:t>12/6/24</a:t>
            </a:fld>
            <a:endParaRPr lang="en-US"/>
          </a:p>
        </p:txBody>
      </p:sp>
      <p:sp>
        <p:nvSpPr>
          <p:cNvPr id="8" name="Footer Placeholder 7">
            <a:extLst>
              <a:ext uri="{FF2B5EF4-FFF2-40B4-BE49-F238E27FC236}">
                <a16:creationId xmlns:a16="http://schemas.microsoft.com/office/drawing/2014/main" id="{F2127985-26B7-5741-8D93-99E60FE603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363637-43DC-C54C-984F-098B7918A8CF}"/>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31664386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D1EDF-179A-0C49-895A-2CEEB3A8C4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567691-EB33-0242-A864-323F5DEF0006}"/>
              </a:ext>
            </a:extLst>
          </p:cNvPr>
          <p:cNvSpPr>
            <a:spLocks noGrp="1"/>
          </p:cNvSpPr>
          <p:nvPr>
            <p:ph type="dt" sz="half" idx="10"/>
          </p:nvPr>
        </p:nvSpPr>
        <p:spPr/>
        <p:txBody>
          <a:bodyPr/>
          <a:lstStyle/>
          <a:p>
            <a:fld id="{7AEBEE44-89DD-C64D-BAF3-0D818459479E}" type="datetime1">
              <a:rPr lang="en-US" altLang="zh-CN" smtClean="0"/>
              <a:t>12/6/24</a:t>
            </a:fld>
            <a:endParaRPr lang="en-US"/>
          </a:p>
        </p:txBody>
      </p:sp>
      <p:sp>
        <p:nvSpPr>
          <p:cNvPr id="4" name="Footer Placeholder 3">
            <a:extLst>
              <a:ext uri="{FF2B5EF4-FFF2-40B4-BE49-F238E27FC236}">
                <a16:creationId xmlns:a16="http://schemas.microsoft.com/office/drawing/2014/main" id="{5C541A9A-DE87-6E45-9DE0-DABFF5C094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1888DC-681B-1341-9420-5B959877472B}"/>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310274679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17ED2C-2CF1-ED42-BEDB-CF3138B19E3E}"/>
              </a:ext>
            </a:extLst>
          </p:cNvPr>
          <p:cNvSpPr>
            <a:spLocks noGrp="1"/>
          </p:cNvSpPr>
          <p:nvPr>
            <p:ph type="dt" sz="half" idx="10"/>
          </p:nvPr>
        </p:nvSpPr>
        <p:spPr/>
        <p:txBody>
          <a:bodyPr/>
          <a:lstStyle/>
          <a:p>
            <a:fld id="{1A56ED81-8F19-EE40-A202-93DD34A7C88F}" type="datetime1">
              <a:rPr lang="en-US" altLang="zh-CN" smtClean="0"/>
              <a:t>12/6/24</a:t>
            </a:fld>
            <a:endParaRPr lang="en-US"/>
          </a:p>
        </p:txBody>
      </p:sp>
      <p:sp>
        <p:nvSpPr>
          <p:cNvPr id="3" name="Footer Placeholder 2">
            <a:extLst>
              <a:ext uri="{FF2B5EF4-FFF2-40B4-BE49-F238E27FC236}">
                <a16:creationId xmlns:a16="http://schemas.microsoft.com/office/drawing/2014/main" id="{1FF62B63-CB01-1C43-8129-3486B49006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3F36FC-3BEE-8C41-81C3-F2D77D532316}"/>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182447348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70CC0-08A9-9843-8945-D77059896B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9B4A4E-73BF-9944-9344-6B1CF5C143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A32A37-9369-7448-9ABE-B54AD56AFD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F141C0-2267-0244-BE62-A04B3A4DE7AF}"/>
              </a:ext>
            </a:extLst>
          </p:cNvPr>
          <p:cNvSpPr>
            <a:spLocks noGrp="1"/>
          </p:cNvSpPr>
          <p:nvPr>
            <p:ph type="dt" sz="half" idx="10"/>
          </p:nvPr>
        </p:nvSpPr>
        <p:spPr/>
        <p:txBody>
          <a:bodyPr/>
          <a:lstStyle/>
          <a:p>
            <a:fld id="{70921EA2-6646-C342-87D1-D0F0948F1E9C}" type="datetime1">
              <a:rPr lang="en-US" altLang="zh-CN" smtClean="0"/>
              <a:t>12/6/24</a:t>
            </a:fld>
            <a:endParaRPr lang="en-US"/>
          </a:p>
        </p:txBody>
      </p:sp>
      <p:sp>
        <p:nvSpPr>
          <p:cNvPr id="6" name="Footer Placeholder 5">
            <a:extLst>
              <a:ext uri="{FF2B5EF4-FFF2-40B4-BE49-F238E27FC236}">
                <a16:creationId xmlns:a16="http://schemas.microsoft.com/office/drawing/2014/main" id="{4DA8F276-CF22-8A4E-9CB9-B2EF60F43C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7D4CAB-D56F-454F-9F7A-5354596D1887}"/>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81270535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90B6A-D032-8D48-AD3C-703F016DEB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F44685-8048-A147-9613-C2895F7AB4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D4F0BB-CBF4-D849-8CEE-9C459734D1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C86F97-06C9-F340-9B2C-E83F51504B2D}"/>
              </a:ext>
            </a:extLst>
          </p:cNvPr>
          <p:cNvSpPr>
            <a:spLocks noGrp="1"/>
          </p:cNvSpPr>
          <p:nvPr>
            <p:ph type="dt" sz="half" idx="10"/>
          </p:nvPr>
        </p:nvSpPr>
        <p:spPr/>
        <p:txBody>
          <a:bodyPr/>
          <a:lstStyle/>
          <a:p>
            <a:fld id="{DED56886-93FA-294B-B64F-03EAD5C3BC6D}" type="datetime1">
              <a:rPr lang="en-US" altLang="zh-CN" smtClean="0"/>
              <a:t>12/6/24</a:t>
            </a:fld>
            <a:endParaRPr lang="en-US"/>
          </a:p>
        </p:txBody>
      </p:sp>
      <p:sp>
        <p:nvSpPr>
          <p:cNvPr id="6" name="Footer Placeholder 5">
            <a:extLst>
              <a:ext uri="{FF2B5EF4-FFF2-40B4-BE49-F238E27FC236}">
                <a16:creationId xmlns:a16="http://schemas.microsoft.com/office/drawing/2014/main" id="{BEDB4FC2-462A-8847-B71A-17754A9C1B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1E4660-7CD5-BF45-A535-740346E82401}"/>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25834909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AEC2-52BA-024C-8C6C-BED550CB01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EE96FE-CB14-1B4A-85E1-5E8513611B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1F4636-F688-CE46-B139-313977579050}"/>
              </a:ext>
            </a:extLst>
          </p:cNvPr>
          <p:cNvSpPr>
            <a:spLocks noGrp="1"/>
          </p:cNvSpPr>
          <p:nvPr>
            <p:ph type="dt" sz="half" idx="10"/>
          </p:nvPr>
        </p:nvSpPr>
        <p:spPr/>
        <p:txBody>
          <a:bodyPr/>
          <a:lstStyle/>
          <a:p>
            <a:fld id="{3CCC50A2-4EE0-204D-8CB8-53BC9C0F32F0}" type="datetime1">
              <a:rPr lang="en-US" altLang="zh-CN" smtClean="0"/>
              <a:t>12/6/24</a:t>
            </a:fld>
            <a:endParaRPr lang="en-US"/>
          </a:p>
        </p:txBody>
      </p:sp>
      <p:sp>
        <p:nvSpPr>
          <p:cNvPr id="5" name="Footer Placeholder 4">
            <a:extLst>
              <a:ext uri="{FF2B5EF4-FFF2-40B4-BE49-F238E27FC236}">
                <a16:creationId xmlns:a16="http://schemas.microsoft.com/office/drawing/2014/main" id="{CFDA7477-485C-4A4E-A893-61CFDB41F9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0933B9-FD9F-1C40-89F4-1C7EAA8D0DC9}"/>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20904158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975246-F61B-A441-9874-62E1854824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BF60BD-3BDF-7945-A4E7-1F5DF859A8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A51581-7D0A-CE4B-AA9F-4C887158AD25}"/>
              </a:ext>
            </a:extLst>
          </p:cNvPr>
          <p:cNvSpPr>
            <a:spLocks noGrp="1"/>
          </p:cNvSpPr>
          <p:nvPr>
            <p:ph type="dt" sz="half" idx="10"/>
          </p:nvPr>
        </p:nvSpPr>
        <p:spPr/>
        <p:txBody>
          <a:bodyPr/>
          <a:lstStyle/>
          <a:p>
            <a:fld id="{99CE4647-35A9-4440-A6DB-84D8A20B5E28}" type="datetime1">
              <a:rPr lang="en-US" altLang="zh-CN" smtClean="0"/>
              <a:t>12/6/24</a:t>
            </a:fld>
            <a:endParaRPr lang="en-US"/>
          </a:p>
        </p:txBody>
      </p:sp>
      <p:sp>
        <p:nvSpPr>
          <p:cNvPr id="5" name="Footer Placeholder 4">
            <a:extLst>
              <a:ext uri="{FF2B5EF4-FFF2-40B4-BE49-F238E27FC236}">
                <a16:creationId xmlns:a16="http://schemas.microsoft.com/office/drawing/2014/main" id="{81AE9E29-8E4E-C14A-8B17-5566A0F0C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5DB503-7F83-9649-BA45-24F26623E13A}"/>
              </a:ext>
            </a:extLst>
          </p:cNvPr>
          <p:cNvSpPr>
            <a:spLocks noGrp="1"/>
          </p:cNvSpPr>
          <p:nvPr>
            <p:ph type="sldNum" sz="quarter" idx="12"/>
          </p:nvPr>
        </p:nvSpPr>
        <p:spPr/>
        <p:txBody>
          <a:bodyPr/>
          <a:lstStyle/>
          <a:p>
            <a:fld id="{234E10DA-A4B5-3C41-BB56-C5CB7549EC2B}" type="slidenum">
              <a:rPr lang="en-US" smtClean="0"/>
              <a:t>‹#›</a:t>
            </a:fld>
            <a:endParaRPr lang="en-US"/>
          </a:p>
        </p:txBody>
      </p:sp>
    </p:spTree>
    <p:extLst>
      <p:ext uri="{BB962C8B-B14F-4D97-AF65-F5344CB8AC3E}">
        <p14:creationId xmlns:p14="http://schemas.microsoft.com/office/powerpoint/2010/main" val="75415869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6C6EE-F9D2-6148-A0B0-FA9944B3B9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5F61F9-840F-D740-95CA-FD5EE46D3C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B176A-AC6F-F140-B22E-3EF286D94E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41AC8B-B17A-1D49-B4F4-4886F9269BE2}" type="datetime1">
              <a:rPr lang="en-US" altLang="zh-CN" smtClean="0"/>
              <a:t>12/6/24</a:t>
            </a:fld>
            <a:endParaRPr lang="en-US"/>
          </a:p>
        </p:txBody>
      </p:sp>
      <p:sp>
        <p:nvSpPr>
          <p:cNvPr id="5" name="Footer Placeholder 4">
            <a:extLst>
              <a:ext uri="{FF2B5EF4-FFF2-40B4-BE49-F238E27FC236}">
                <a16:creationId xmlns:a16="http://schemas.microsoft.com/office/drawing/2014/main" id="{E098B022-53E5-1F49-B0C5-55161277A5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2DB7C76-189B-1F4E-96DB-3B5B83733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4E10DA-A4B5-3C41-BB56-C5CB7549EC2B}" type="slidenum">
              <a:rPr lang="en-US" smtClean="0"/>
              <a:t>‹#›</a:t>
            </a:fld>
            <a:endParaRPr lang="en-US"/>
          </a:p>
        </p:txBody>
      </p:sp>
    </p:spTree>
    <p:extLst>
      <p:ext uri="{BB962C8B-B14F-4D97-AF65-F5344CB8AC3E}">
        <p14:creationId xmlns:p14="http://schemas.microsoft.com/office/powerpoint/2010/main" val="1722797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jpe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chart" Target="../charts/char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9.png"/><Relationship Id="rId5" Type="http://schemas.openxmlformats.org/officeDocument/2006/relationships/chart" Target="../charts/char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chart" Target="../charts/chart6.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chart" Target="../charts/chart8.xml"/><Relationship Id="rId4" Type="http://schemas.openxmlformats.org/officeDocument/2006/relationships/chart" Target="../charts/char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chart" Target="../charts/chart9.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chart" Target="../charts/chart11.xml"/><Relationship Id="rId4" Type="http://schemas.openxmlformats.org/officeDocument/2006/relationships/chart" Target="../charts/char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2.wdp"/><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chart" Target="../charts/char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06C44D-EF52-3E45-B5A7-9F0C333C385C}"/>
              </a:ext>
            </a:extLst>
          </p:cNvPr>
          <p:cNvSpPr>
            <a:spLocks noGrp="1"/>
          </p:cNvSpPr>
          <p:nvPr>
            <p:ph type="subTitle" idx="1"/>
          </p:nvPr>
        </p:nvSpPr>
        <p:spPr>
          <a:xfrm>
            <a:off x="1524000" y="3558117"/>
            <a:ext cx="9144000" cy="1655762"/>
          </a:xfrm>
        </p:spPr>
        <p:txBody>
          <a:bodyPr>
            <a:normAutofit/>
          </a:bodyPr>
          <a:lstStyle/>
          <a:p>
            <a:pPr>
              <a:lnSpc>
                <a:spcPct val="150000"/>
              </a:lnSpc>
            </a:pPr>
            <a:r>
              <a:rPr lang="zh-CN" altLang="en-CN" dirty="0">
                <a:latin typeface="KaiTi" panose="02010609060101010101" pitchFamily="49" charset="-122"/>
                <a:ea typeface="KaiTi" panose="02010609060101010101" pitchFamily="49" charset="-122"/>
                <a:cs typeface="Arial" panose="020B0604020202020204" pitchFamily="34" charset="0"/>
              </a:rPr>
              <a:t>第三大组</a:t>
            </a:r>
            <a:endParaRPr lang="en-US" altLang="zh-CN" dirty="0">
              <a:latin typeface="KaiTi" panose="02010609060101010101" pitchFamily="49" charset="-122"/>
              <a:ea typeface="KaiTi" panose="02010609060101010101" pitchFamily="49" charset="-122"/>
              <a:cs typeface="Arial" panose="020B0604020202020204" pitchFamily="34" charset="0"/>
            </a:endParaRPr>
          </a:p>
          <a:p>
            <a:pPr>
              <a:lnSpc>
                <a:spcPct val="150000"/>
              </a:lnSpc>
            </a:pPr>
            <a:r>
              <a:rPr lang="zh-CN" altLang="en-CN" dirty="0">
                <a:latin typeface="KaiTi" panose="02010609060101010101" pitchFamily="49" charset="-122"/>
                <a:ea typeface="KaiTi" panose="02010609060101010101" pitchFamily="49" charset="-122"/>
                <a:cs typeface="Arial" panose="020B0604020202020204" pitchFamily="34" charset="0"/>
              </a:rPr>
              <a:t>张代</a:t>
            </a:r>
            <a:r>
              <a:rPr lang="zh-CN" altLang="en-US" dirty="0">
                <a:latin typeface="KaiTi" panose="02010609060101010101" pitchFamily="49" charset="-122"/>
                <a:ea typeface="KaiTi" panose="02010609060101010101" pitchFamily="49" charset="-122"/>
                <a:cs typeface="Arial" panose="020B0604020202020204" pitchFamily="34" charset="0"/>
              </a:rPr>
              <a:t>健 刘沛雨 吴过 王天行 徐思睿</a:t>
            </a:r>
          </a:p>
        </p:txBody>
      </p:sp>
      <p:sp>
        <p:nvSpPr>
          <p:cNvPr id="7" name="TextBox 6">
            <a:extLst>
              <a:ext uri="{FF2B5EF4-FFF2-40B4-BE49-F238E27FC236}">
                <a16:creationId xmlns:a16="http://schemas.microsoft.com/office/drawing/2014/main" id="{A6AE7A7E-4A6E-0B4F-8DBE-2FA73700C383}"/>
              </a:ext>
            </a:extLst>
          </p:cNvPr>
          <p:cNvSpPr txBox="1"/>
          <p:nvPr/>
        </p:nvSpPr>
        <p:spPr>
          <a:xfrm>
            <a:off x="2002571" y="2468886"/>
            <a:ext cx="8186858" cy="830997"/>
          </a:xfrm>
          <a:prstGeom prst="rect">
            <a:avLst/>
          </a:prstGeom>
          <a:noFill/>
        </p:spPr>
        <p:txBody>
          <a:bodyPr wrap="none" rtlCol="0">
            <a:spAutoFit/>
          </a:bodyPr>
          <a:lstStyle/>
          <a:p>
            <a:pPr algn="ctr"/>
            <a:r>
              <a:rPr kumimoji="1" lang="zh-CN" altLang="en-US" sz="4800" dirty="0">
                <a:latin typeface="SimHei" panose="02010609060101010101" pitchFamily="49" charset="-122"/>
                <a:ea typeface="SimHei" panose="02010609060101010101" pitchFamily="49" charset="-122"/>
              </a:rPr>
              <a:t>开放实验：胆固醇的定量测定</a:t>
            </a:r>
          </a:p>
        </p:txBody>
      </p:sp>
      <p:pic>
        <p:nvPicPr>
          <p:cNvPr id="1028" name="Picture 4" descr="Chemistry Lab Vector Illustration 224380 Vector Art at Vecteezy">
            <a:extLst>
              <a:ext uri="{FF2B5EF4-FFF2-40B4-BE49-F238E27FC236}">
                <a16:creationId xmlns:a16="http://schemas.microsoft.com/office/drawing/2014/main" id="{BD4CAFB1-ACAE-BB4E-BE81-0CE8D247E309}"/>
              </a:ext>
            </a:extLst>
          </p:cNvPr>
          <p:cNvPicPr>
            <a:picLocks noChangeAspect="1" noChangeArrowheads="1"/>
          </p:cNvPicPr>
          <p:nvPr/>
        </p:nvPicPr>
        <p:blipFill>
          <a:blip r:embed="rId3">
            <a:alphaModFix amt="15000"/>
            <a:extLst>
              <a:ext uri="{28A0092B-C50C-407E-A947-70E740481C1C}">
                <a14:useLocalDpi xmlns:a14="http://schemas.microsoft.com/office/drawing/2010/main" val="0"/>
              </a:ext>
            </a:extLst>
          </a:blip>
          <a:srcRect/>
          <a:stretch>
            <a:fillRect/>
          </a:stretch>
        </p:blipFill>
        <p:spPr bwMode="auto">
          <a:xfrm>
            <a:off x="1196975" y="0"/>
            <a:ext cx="97964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2496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4533499" cy="584775"/>
          </a:xfrm>
          <a:prstGeom prst="rect">
            <a:avLst/>
          </a:prstGeom>
          <a:noFill/>
        </p:spPr>
        <p:txBody>
          <a:bodyPr wrap="square" rtlCol="0">
            <a:spAutoFit/>
          </a:bodyPr>
          <a:lstStyle/>
          <a:p>
            <a:r>
              <a:rPr kumimoji="1" lang="en-US" altLang="zh-CN" sz="3200" dirty="0"/>
              <a:t>Outline</a:t>
            </a:r>
            <a:endParaRPr kumimoji="1" lang="zh-CN" altLang="en-US"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6" name="TextBox 5">
            <a:extLst>
              <a:ext uri="{FF2B5EF4-FFF2-40B4-BE49-F238E27FC236}">
                <a16:creationId xmlns:a16="http://schemas.microsoft.com/office/drawing/2014/main" id="{B45BC46A-BFEB-C240-81CF-6D8364C15713}"/>
              </a:ext>
            </a:extLst>
          </p:cNvPr>
          <p:cNvSpPr txBox="1"/>
          <p:nvPr/>
        </p:nvSpPr>
        <p:spPr>
          <a:xfrm>
            <a:off x="370388" y="989036"/>
            <a:ext cx="3183039" cy="3600024"/>
          </a:xfrm>
          <a:prstGeom prst="rect">
            <a:avLst/>
          </a:prstGeom>
          <a:noFill/>
        </p:spPr>
        <p:txBody>
          <a:bodyPr wrap="square" rtlCol="0">
            <a:spAutoFit/>
          </a:bodyPr>
          <a:lstStyle/>
          <a:p>
            <a:pPr marL="342900" indent="-342900">
              <a:lnSpc>
                <a:spcPct val="150000"/>
              </a:lnSpc>
              <a:buFont typeface="Wingdings" pitchFamily="2" charset="2"/>
              <a:buChar char="Ø"/>
            </a:pPr>
            <a:r>
              <a:rPr kumimoji="1" lang="zh-CN" altLang="en-US" sz="2000" dirty="0"/>
              <a:t>实验目的</a:t>
            </a:r>
            <a:endParaRPr kumimoji="1" lang="en-US" altLang="zh-CN" sz="2000" dirty="0"/>
          </a:p>
          <a:p>
            <a:pPr marL="342900" indent="-342900">
              <a:lnSpc>
                <a:spcPct val="150000"/>
              </a:lnSpc>
              <a:buFont typeface="Wingdings" pitchFamily="2" charset="2"/>
              <a:buChar char="Ø"/>
            </a:pPr>
            <a:r>
              <a:rPr kumimoji="1" lang="zh-CN" altLang="en-US" sz="2000" dirty="0"/>
              <a:t>样品制备</a:t>
            </a:r>
            <a:endParaRPr kumimoji="1" lang="en-US" altLang="zh-CN" sz="2000" dirty="0"/>
          </a:p>
          <a:p>
            <a:pPr marL="342900" indent="-342900">
              <a:lnSpc>
                <a:spcPct val="150000"/>
              </a:lnSpc>
              <a:buFont typeface="Wingdings" pitchFamily="2" charset="2"/>
              <a:buChar char="Ø"/>
            </a:pPr>
            <a:r>
              <a:rPr kumimoji="1" lang="zh-CN" altLang="en-US" sz="2000" dirty="0"/>
              <a:t>实验结果</a:t>
            </a:r>
            <a:endParaRPr kumimoji="1" lang="en-US" altLang="zh-CN" sz="2000" dirty="0"/>
          </a:p>
          <a:p>
            <a:pPr marL="800100" lvl="1" indent="-342900">
              <a:lnSpc>
                <a:spcPct val="150000"/>
              </a:lnSpc>
              <a:buFont typeface="Arial" panose="020B0604020202020204" pitchFamily="34" charset="0"/>
              <a:buChar char="•"/>
            </a:pPr>
            <a:r>
              <a:rPr kumimoji="1" lang="zh-CN" altLang="en-US" dirty="0"/>
              <a:t>酶法</a:t>
            </a:r>
            <a:endParaRPr kumimoji="1" lang="en-US" altLang="zh-CN" dirty="0"/>
          </a:p>
          <a:p>
            <a:pPr marL="800100" lvl="1" indent="-342900">
              <a:lnSpc>
                <a:spcPct val="150000"/>
              </a:lnSpc>
              <a:buFont typeface="Arial" panose="020B0604020202020204" pitchFamily="34" charset="0"/>
              <a:buChar char="•"/>
            </a:pPr>
            <a:r>
              <a:rPr kumimoji="1" lang="zh-CN" altLang="en-US" dirty="0"/>
              <a:t>磷硫铁法</a:t>
            </a:r>
            <a:endParaRPr kumimoji="1" lang="en-US" altLang="zh-CN" dirty="0"/>
          </a:p>
          <a:p>
            <a:pPr marL="800100" lvl="1" indent="-342900">
              <a:lnSpc>
                <a:spcPct val="150000"/>
              </a:lnSpc>
              <a:buFont typeface="Arial" panose="020B0604020202020204" pitchFamily="34" charset="0"/>
              <a:buChar char="•"/>
            </a:pPr>
            <a:r>
              <a:rPr kumimoji="1" lang="zh-CN" altLang="en-US" dirty="0"/>
              <a:t>试剂盒法</a:t>
            </a:r>
            <a:endParaRPr kumimoji="1" lang="en-US" altLang="zh-CN" dirty="0"/>
          </a:p>
          <a:p>
            <a:pPr marL="342900" indent="-342900">
              <a:lnSpc>
                <a:spcPct val="150000"/>
              </a:lnSpc>
              <a:buFont typeface="Wingdings" pitchFamily="2" charset="2"/>
              <a:buChar char="Ø"/>
            </a:pPr>
            <a:r>
              <a:rPr kumimoji="1" lang="zh-CN" altLang="en-US" sz="2000" dirty="0"/>
              <a:t>实验结论</a:t>
            </a:r>
            <a:endParaRPr kumimoji="1" lang="en-US" altLang="zh-CN" sz="2000" dirty="0"/>
          </a:p>
          <a:p>
            <a:pPr marL="342900" indent="-342900">
              <a:lnSpc>
                <a:spcPct val="150000"/>
              </a:lnSpc>
              <a:buFont typeface="Wingdings" pitchFamily="2" charset="2"/>
              <a:buChar char="Ø"/>
            </a:pPr>
            <a:r>
              <a:rPr kumimoji="1" lang="zh-CN" altLang="en-US" sz="2000" dirty="0"/>
              <a:t>讨论</a:t>
            </a:r>
          </a:p>
        </p:txBody>
      </p:sp>
      <p:pic>
        <p:nvPicPr>
          <p:cNvPr id="2050" name="Picture 2" descr="Ob/ob mice: The Leptin Deficient Mice | Maze Engineers">
            <a:extLst>
              <a:ext uri="{FF2B5EF4-FFF2-40B4-BE49-F238E27FC236}">
                <a16:creationId xmlns:a16="http://schemas.microsoft.com/office/drawing/2014/main" id="{36BF8123-C1DD-A840-906D-E54E3302C7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4480" y="3843415"/>
            <a:ext cx="3183039" cy="222275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hemical formula of Cholesterol. Close-up Stock Photo - Alamy">
            <a:extLst>
              <a:ext uri="{FF2B5EF4-FFF2-40B4-BE49-F238E27FC236}">
                <a16:creationId xmlns:a16="http://schemas.microsoft.com/office/drawing/2014/main" id="{7A691F91-7FA0-534B-B938-1279A49E27AC}"/>
              </a:ext>
            </a:extLst>
          </p:cNvPr>
          <p:cNvPicPr>
            <a:picLocks noChangeAspect="1" noChangeArrowheads="1"/>
          </p:cNvPicPr>
          <p:nvPr/>
        </p:nvPicPr>
        <p:blipFill rotWithShape="1">
          <a:blip r:embed="rId4">
            <a:biLevel thresh="75000"/>
            <a:extLst>
              <a:ext uri="{28A0092B-C50C-407E-A947-70E740481C1C}">
                <a14:useLocalDpi xmlns:a14="http://schemas.microsoft.com/office/drawing/2010/main" val="0"/>
              </a:ext>
            </a:extLst>
          </a:blip>
          <a:srcRect t="4732" b="9677"/>
          <a:stretch/>
        </p:blipFill>
        <p:spPr bwMode="auto">
          <a:xfrm>
            <a:off x="3952465" y="1123039"/>
            <a:ext cx="3787723" cy="238916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Structure and Function of an Enzyme">
            <a:extLst>
              <a:ext uri="{FF2B5EF4-FFF2-40B4-BE49-F238E27FC236}">
                <a16:creationId xmlns:a16="http://schemas.microsoft.com/office/drawing/2014/main" id="{78264362-2C4E-4140-BD59-D508CBFF0EF6}"/>
              </a:ext>
            </a:extLst>
          </p:cNvPr>
          <p:cNvPicPr>
            <a:picLocks noChangeAspect="1" noChangeArrowheads="1"/>
          </p:cNvPicPr>
          <p:nvPr/>
        </p:nvPicPr>
        <p:blipFill rotWithShape="1">
          <a:blip r:embed="rId5">
            <a:duotone>
              <a:srgbClr val="5B9BD5">
                <a:shade val="45000"/>
                <a:satMod val="135000"/>
              </a:srgbClr>
              <a:prstClr val="white"/>
            </a:duotone>
            <a:extLst>
              <a:ext uri="{BEBA8EAE-BF5A-486C-A8C5-ECC9F3942E4B}">
                <a14:imgProps xmlns:a14="http://schemas.microsoft.com/office/drawing/2010/main">
                  <a14:imgLayer r:embed="rId6">
                    <a14:imgEffect>
                      <a14:colorTemperature colorTemp="7200"/>
                    </a14:imgEffect>
                    <a14:imgEffect>
                      <a14:brightnessContrast bright="40000" contrast="-40000"/>
                    </a14:imgEffect>
                  </a14:imgLayer>
                </a14:imgProps>
              </a:ext>
              <a:ext uri="{28A0092B-C50C-407E-A947-70E740481C1C}">
                <a14:useLocalDpi xmlns:a14="http://schemas.microsoft.com/office/drawing/2010/main" val="0"/>
              </a:ext>
            </a:extLst>
          </a:blip>
          <a:srcRect t="33587" b="16174"/>
          <a:stretch/>
        </p:blipFill>
        <p:spPr bwMode="auto">
          <a:xfrm>
            <a:off x="7879108" y="1875768"/>
            <a:ext cx="3546126" cy="1187710"/>
          </a:xfrm>
          <a:prstGeom prst="rect">
            <a:avLst/>
          </a:prstGeom>
          <a:noFill/>
          <a:effectLst>
            <a:outerShdw blurRad="50800" dist="50800" dir="5400000" algn="ctr" rotWithShape="0">
              <a:schemeClr val="bg1"/>
            </a:outerShdw>
          </a:effectLst>
          <a:extLst>
            <a:ext uri="{909E8E84-426E-40DD-AFC4-6F175D3DCCD1}">
              <a14:hiddenFill xmlns:a14="http://schemas.microsoft.com/office/drawing/2010/main">
                <a:solidFill>
                  <a:srgbClr val="FFFFFF"/>
                </a:solidFill>
              </a14:hiddenFill>
            </a:ext>
          </a:extLst>
        </p:spPr>
      </p:pic>
      <p:pic>
        <p:nvPicPr>
          <p:cNvPr id="2060" name="Picture 12" descr="Clipart Of Laboratory Supplies">
            <a:extLst>
              <a:ext uri="{FF2B5EF4-FFF2-40B4-BE49-F238E27FC236}">
                <a16:creationId xmlns:a16="http://schemas.microsoft.com/office/drawing/2014/main" id="{E8011334-1E3E-6842-A1D0-93BA1A4E72F9}"/>
              </a:ext>
            </a:extLst>
          </p:cNvPr>
          <p:cNvPicPr>
            <a:picLocks noChangeAspect="1" noChangeArrowheads="1"/>
          </p:cNvPicPr>
          <p:nvPr/>
        </p:nvPicPr>
        <p:blipFill>
          <a:blip r:embed="rId7">
            <a:duotone>
              <a:schemeClr val="accent5">
                <a:shade val="45000"/>
                <a:satMod val="135000"/>
              </a:schemeClr>
              <a:prstClr val="white"/>
            </a:duotone>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8459461" y="3680749"/>
            <a:ext cx="2385421" cy="2385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5679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4533499" cy="584775"/>
          </a:xfrm>
          <a:prstGeom prst="rect">
            <a:avLst/>
          </a:prstGeom>
          <a:noFill/>
        </p:spPr>
        <p:txBody>
          <a:bodyPr wrap="square" rtlCol="0">
            <a:spAutoFit/>
          </a:bodyPr>
          <a:lstStyle/>
          <a:p>
            <a:r>
              <a:rPr kumimoji="1" lang="zh-CN" altLang="en-US" sz="3200" dirty="0"/>
              <a:t>样品制备</a:t>
            </a: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11" name="TextBox 10">
            <a:extLst>
              <a:ext uri="{FF2B5EF4-FFF2-40B4-BE49-F238E27FC236}">
                <a16:creationId xmlns:a16="http://schemas.microsoft.com/office/drawing/2014/main" id="{C014540D-C7A5-7744-9671-3989765AF72E}"/>
              </a:ext>
            </a:extLst>
          </p:cNvPr>
          <p:cNvSpPr txBox="1"/>
          <p:nvPr/>
        </p:nvSpPr>
        <p:spPr>
          <a:xfrm>
            <a:off x="288758" y="989036"/>
            <a:ext cx="6097904" cy="3420103"/>
          </a:xfrm>
          <a:prstGeom prst="rect">
            <a:avLst/>
          </a:prstGeom>
          <a:noFill/>
        </p:spPr>
        <p:txBody>
          <a:bodyPr wrap="square">
            <a:spAutoFit/>
          </a:bodyPr>
          <a:lstStyle/>
          <a:p>
            <a:pPr marL="285750" indent="-285750">
              <a:lnSpc>
                <a:spcPct val="150000"/>
              </a:lnSpc>
              <a:buFont typeface="Wingdings" pitchFamily="2" charset="2"/>
              <a:buChar char="Ø"/>
            </a:pPr>
            <a:r>
              <a:rPr lang="zh-CN" altLang="en-US" sz="2000" b="1" dirty="0"/>
              <a:t>血浆样品制备</a:t>
            </a:r>
            <a:endParaRPr lang="en-US" altLang="zh-CN" sz="2000" b="1" dirty="0"/>
          </a:p>
          <a:p>
            <a:pPr marL="800100" lvl="1" indent="-342900">
              <a:lnSpc>
                <a:spcPct val="150000"/>
              </a:lnSpc>
              <a:buFont typeface="Arial" panose="020B0604020202020204" pitchFamily="34" charset="0"/>
              <a:buChar char="•"/>
            </a:pPr>
            <a:r>
              <a:rPr lang="zh-CN" altLang="en-US" b="1" dirty="0"/>
              <a:t>预实验</a:t>
            </a:r>
            <a:endParaRPr lang="en-US" altLang="zh-CN" b="1" dirty="0"/>
          </a:p>
          <a:p>
            <a:pPr marL="1200150" lvl="2" indent="-285750">
              <a:lnSpc>
                <a:spcPct val="150000"/>
              </a:lnSpc>
              <a:buFont typeface="Wingdings" pitchFamily="2" charset="2"/>
              <a:buChar char="ü"/>
            </a:pPr>
            <a:r>
              <a:rPr lang="zh-CN" altLang="en-US" dirty="0"/>
              <a:t>乙醇用量：血浆：乙醇 </a:t>
            </a:r>
            <a:r>
              <a:rPr lang="en-US" altLang="zh-CN" dirty="0"/>
              <a:t>=</a:t>
            </a:r>
            <a:r>
              <a:rPr lang="zh-CN" altLang="en-US" dirty="0"/>
              <a:t> </a:t>
            </a:r>
            <a:r>
              <a:rPr lang="en-US" altLang="zh-CN" dirty="0"/>
              <a:t>1</a:t>
            </a:r>
            <a:r>
              <a:rPr lang="zh-CN" altLang="en-US" dirty="0"/>
              <a:t>：</a:t>
            </a:r>
            <a:r>
              <a:rPr lang="en-US" altLang="zh-CN" dirty="0"/>
              <a:t>4</a:t>
            </a:r>
          </a:p>
          <a:p>
            <a:pPr marL="1200150" lvl="2" indent="-285750">
              <a:lnSpc>
                <a:spcPct val="150000"/>
              </a:lnSpc>
              <a:buFont typeface="Wingdings" pitchFamily="2" charset="2"/>
              <a:buChar char="ü"/>
            </a:pPr>
            <a:r>
              <a:rPr lang="zh-CN" altLang="en-US" dirty="0"/>
              <a:t>离心条件：</a:t>
            </a:r>
            <a:r>
              <a:rPr lang="en-US" altLang="zh-CN" dirty="0"/>
              <a:t>3000</a:t>
            </a:r>
            <a:r>
              <a:rPr lang="zh-CN" altLang="en-US" dirty="0"/>
              <a:t> </a:t>
            </a:r>
            <a:r>
              <a:rPr lang="en-US" altLang="zh-CN" dirty="0"/>
              <a:t>rpm</a:t>
            </a:r>
            <a:r>
              <a:rPr lang="zh-CN" altLang="en-US" dirty="0"/>
              <a:t>，室温，</a:t>
            </a:r>
            <a:r>
              <a:rPr lang="en-US" altLang="zh-CN" dirty="0"/>
              <a:t>5</a:t>
            </a:r>
            <a:r>
              <a:rPr lang="zh-CN" altLang="en-US" dirty="0"/>
              <a:t> </a:t>
            </a:r>
            <a:r>
              <a:rPr lang="en-US" altLang="zh-CN" dirty="0"/>
              <a:t>min</a:t>
            </a:r>
            <a:endParaRPr lang="en-US" altLang="zh-CN" sz="2000" dirty="0"/>
          </a:p>
          <a:p>
            <a:pPr marL="742950" lvl="1" indent="-285750">
              <a:lnSpc>
                <a:spcPct val="150000"/>
              </a:lnSpc>
              <a:buFont typeface="Wingdings" pitchFamily="2" charset="2"/>
              <a:buChar char="Ø"/>
            </a:pPr>
            <a:r>
              <a:rPr lang="zh-CN" altLang="en-US" b="1" dirty="0"/>
              <a:t>正式实验</a:t>
            </a:r>
            <a:endParaRPr lang="en-US" altLang="zh-CN" b="1" dirty="0"/>
          </a:p>
          <a:p>
            <a:pPr marL="1200150" lvl="2" indent="-285750">
              <a:lnSpc>
                <a:spcPct val="150000"/>
              </a:lnSpc>
              <a:buFont typeface="Wingdings" pitchFamily="2" charset="2"/>
              <a:buChar char="ü"/>
            </a:pPr>
            <a:r>
              <a:rPr lang="zh-CN" altLang="en-US" dirty="0"/>
              <a:t>乙醇用量：血浆：乙醇</a:t>
            </a:r>
            <a:r>
              <a:rPr lang="en-US" altLang="zh-CN" dirty="0"/>
              <a:t>=1</a:t>
            </a:r>
            <a:r>
              <a:rPr lang="zh-CN" altLang="en-US" dirty="0"/>
              <a:t>：</a:t>
            </a:r>
            <a:r>
              <a:rPr lang="en-US" altLang="zh-CN" dirty="0"/>
              <a:t>2</a:t>
            </a:r>
          </a:p>
          <a:p>
            <a:pPr marL="1200150" lvl="2" indent="-285750">
              <a:lnSpc>
                <a:spcPct val="150000"/>
              </a:lnSpc>
              <a:buFont typeface="Wingdings" pitchFamily="2" charset="2"/>
              <a:buChar char="ü"/>
            </a:pPr>
            <a:r>
              <a:rPr lang="zh-CN" altLang="en-US" dirty="0"/>
              <a:t>预处理：</a:t>
            </a:r>
            <a:r>
              <a:rPr lang="en-US" altLang="zh-CN" dirty="0"/>
              <a:t>80</a:t>
            </a:r>
            <a:r>
              <a:rPr lang="zh-CN" altLang="en-US" dirty="0"/>
              <a:t> </a:t>
            </a:r>
            <a:r>
              <a:rPr lang="en-US" altLang="zh-CN" dirty="0"/>
              <a:t>℃</a:t>
            </a:r>
            <a:r>
              <a:rPr lang="zh-CN" altLang="en-US" dirty="0"/>
              <a:t>处理</a:t>
            </a:r>
            <a:r>
              <a:rPr lang="en-US" altLang="zh-CN" dirty="0"/>
              <a:t>10</a:t>
            </a:r>
            <a:r>
              <a:rPr lang="zh-CN" altLang="en-US" dirty="0"/>
              <a:t> </a:t>
            </a:r>
            <a:r>
              <a:rPr lang="en-US" altLang="zh-CN" dirty="0"/>
              <a:t>min</a:t>
            </a:r>
          </a:p>
          <a:p>
            <a:pPr marL="1200150" lvl="2" indent="-285750">
              <a:lnSpc>
                <a:spcPct val="150000"/>
              </a:lnSpc>
              <a:buFont typeface="Wingdings" pitchFamily="2" charset="2"/>
              <a:buChar char="ü"/>
            </a:pPr>
            <a:r>
              <a:rPr lang="zh-CN" altLang="en-US" dirty="0"/>
              <a:t>离心条件：</a:t>
            </a:r>
            <a:r>
              <a:rPr lang="en-US" altLang="zh-CN" dirty="0"/>
              <a:t>10000</a:t>
            </a:r>
            <a:r>
              <a:rPr lang="zh-CN" altLang="en-US" dirty="0"/>
              <a:t> </a:t>
            </a:r>
            <a:r>
              <a:rPr lang="en-US" altLang="zh-CN" dirty="0"/>
              <a:t>rpm</a:t>
            </a:r>
            <a:r>
              <a:rPr lang="zh-CN" altLang="en-US" dirty="0"/>
              <a:t>，室温，</a:t>
            </a:r>
            <a:r>
              <a:rPr lang="en-US" altLang="zh-CN" dirty="0"/>
              <a:t>5</a:t>
            </a:r>
            <a:r>
              <a:rPr lang="zh-CN" altLang="en-US" dirty="0"/>
              <a:t> </a:t>
            </a:r>
            <a:r>
              <a:rPr lang="en-US" altLang="zh-CN" dirty="0"/>
              <a:t>min</a:t>
            </a:r>
          </a:p>
        </p:txBody>
      </p:sp>
      <p:sp>
        <p:nvSpPr>
          <p:cNvPr id="16" name="TextBox 15">
            <a:extLst>
              <a:ext uri="{FF2B5EF4-FFF2-40B4-BE49-F238E27FC236}">
                <a16:creationId xmlns:a16="http://schemas.microsoft.com/office/drawing/2014/main" id="{1260FEE2-8799-9E45-BD8E-C0BB3456AA57}"/>
              </a:ext>
            </a:extLst>
          </p:cNvPr>
          <p:cNvSpPr txBox="1"/>
          <p:nvPr/>
        </p:nvSpPr>
        <p:spPr>
          <a:xfrm>
            <a:off x="5504648" y="707727"/>
            <a:ext cx="6687352" cy="5913094"/>
          </a:xfrm>
          <a:prstGeom prst="rect">
            <a:avLst/>
          </a:prstGeom>
          <a:noFill/>
        </p:spPr>
        <p:txBody>
          <a:bodyPr wrap="square">
            <a:spAutoFit/>
          </a:bodyPr>
          <a:lstStyle/>
          <a:p>
            <a:pPr marL="285750" indent="-285750">
              <a:lnSpc>
                <a:spcPct val="150000"/>
              </a:lnSpc>
              <a:buFont typeface="Wingdings" pitchFamily="2" charset="2"/>
              <a:buChar char="Ø"/>
            </a:pPr>
            <a:r>
              <a:rPr lang="zh-CN" altLang="en-US" sz="2000" b="1" dirty="0"/>
              <a:t>肝脏样品制备</a:t>
            </a:r>
            <a:endParaRPr lang="en-US" altLang="zh-CN" sz="2000" b="1" dirty="0"/>
          </a:p>
          <a:p>
            <a:pPr marL="800100" lvl="1" indent="-342900">
              <a:lnSpc>
                <a:spcPct val="150000"/>
              </a:lnSpc>
              <a:buFont typeface="Arial" panose="020B0604020202020204" pitchFamily="34" charset="0"/>
              <a:buChar char="•"/>
            </a:pPr>
            <a:r>
              <a:rPr lang="zh-CN" altLang="en-US" b="1" dirty="0"/>
              <a:t>预实验</a:t>
            </a:r>
            <a:r>
              <a:rPr lang="en-US" altLang="zh-CN" b="1" dirty="0"/>
              <a:t>1</a:t>
            </a:r>
          </a:p>
          <a:p>
            <a:pPr marL="1200150" lvl="2" indent="-285750">
              <a:lnSpc>
                <a:spcPct val="150000"/>
              </a:lnSpc>
              <a:buFont typeface="Wingdings" pitchFamily="2" charset="2"/>
              <a:buChar char="ü"/>
            </a:pPr>
            <a:r>
              <a:rPr lang="zh-CN" altLang="en-US" dirty="0"/>
              <a:t>匀浆乙醇用量：肝脏：乙醇</a:t>
            </a:r>
            <a:r>
              <a:rPr lang="en-US" altLang="zh-CN" dirty="0"/>
              <a:t>=1</a:t>
            </a:r>
            <a:r>
              <a:rPr lang="zh-CN" altLang="en-US" dirty="0"/>
              <a:t>：</a:t>
            </a:r>
            <a:r>
              <a:rPr lang="en-US" altLang="zh-CN" dirty="0"/>
              <a:t>10</a:t>
            </a:r>
            <a:r>
              <a:rPr lang="zh-CN" altLang="en-US" dirty="0"/>
              <a:t>（电动匀浆器）；离心条件：</a:t>
            </a:r>
            <a:r>
              <a:rPr lang="en-US" altLang="zh-CN" dirty="0"/>
              <a:t>3000</a:t>
            </a:r>
            <a:r>
              <a:rPr lang="zh-CN" altLang="en-US" dirty="0"/>
              <a:t> </a:t>
            </a:r>
            <a:r>
              <a:rPr lang="en-US" altLang="zh-CN" dirty="0"/>
              <a:t>rpm</a:t>
            </a:r>
            <a:r>
              <a:rPr lang="zh-CN" altLang="en-US" dirty="0"/>
              <a:t>，室温，</a:t>
            </a:r>
            <a:r>
              <a:rPr lang="en-US" altLang="zh-CN" dirty="0"/>
              <a:t>5</a:t>
            </a:r>
            <a:r>
              <a:rPr lang="zh-CN" altLang="en-US" dirty="0"/>
              <a:t> </a:t>
            </a:r>
            <a:r>
              <a:rPr lang="en-US" altLang="zh-CN" dirty="0"/>
              <a:t>min</a:t>
            </a:r>
          </a:p>
          <a:p>
            <a:pPr marL="1200150" lvl="2" indent="-285750">
              <a:lnSpc>
                <a:spcPct val="150000"/>
              </a:lnSpc>
              <a:buFont typeface="Wingdings" pitchFamily="2" charset="2"/>
              <a:buChar char="ü"/>
            </a:pPr>
            <a:r>
              <a:rPr lang="zh-CN" altLang="en-US" dirty="0"/>
              <a:t>提取乙醇用量：上清液：乙醇 </a:t>
            </a:r>
            <a:r>
              <a:rPr lang="en-US" altLang="zh-CN" dirty="0"/>
              <a:t>=</a:t>
            </a:r>
            <a:r>
              <a:rPr lang="zh-CN" altLang="en-US" dirty="0"/>
              <a:t> </a:t>
            </a:r>
            <a:r>
              <a:rPr lang="en-US" altLang="zh-CN" dirty="0"/>
              <a:t>1</a:t>
            </a:r>
            <a:r>
              <a:rPr lang="zh-CN" altLang="en-US" dirty="0"/>
              <a:t>：</a:t>
            </a:r>
            <a:r>
              <a:rPr lang="en-US" altLang="zh-CN" dirty="0"/>
              <a:t>4</a:t>
            </a:r>
            <a:r>
              <a:rPr lang="zh-CN" altLang="en-US" dirty="0"/>
              <a:t>；离心条件：</a:t>
            </a:r>
            <a:r>
              <a:rPr lang="en-US" altLang="zh-CN" dirty="0"/>
              <a:t>3000</a:t>
            </a:r>
            <a:r>
              <a:rPr lang="zh-CN" altLang="en-US" dirty="0"/>
              <a:t> </a:t>
            </a:r>
            <a:r>
              <a:rPr lang="en-US" altLang="zh-CN" dirty="0"/>
              <a:t>rpm</a:t>
            </a:r>
            <a:r>
              <a:rPr lang="zh-CN" altLang="en-US" dirty="0"/>
              <a:t>，室温，</a:t>
            </a:r>
            <a:r>
              <a:rPr lang="en-US" altLang="zh-CN" dirty="0"/>
              <a:t>5</a:t>
            </a:r>
            <a:r>
              <a:rPr lang="zh-CN" altLang="en-US" dirty="0"/>
              <a:t> </a:t>
            </a:r>
            <a:r>
              <a:rPr lang="en-US" altLang="zh-CN" dirty="0"/>
              <a:t>min</a:t>
            </a:r>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预实验</a:t>
            </a:r>
            <a:r>
              <a:rPr lang="en-US" altLang="zh-CN" b="1" dirty="0">
                <a:solidFill>
                  <a:prstClr val="black"/>
                </a:solidFill>
                <a:latin typeface="Calibri" panose="020F0502020204030204"/>
                <a:ea typeface="等线" panose="02010600030101010101" pitchFamily="2" charset="-122"/>
              </a:rPr>
              <a:t>2</a:t>
            </a:r>
          </a:p>
          <a:p>
            <a:pPr marL="1257300" lvl="2" indent="-342900">
              <a:lnSpc>
                <a:spcPct val="150000"/>
              </a:lnSpc>
              <a:buFont typeface="Wingdings" pitchFamily="2" charset="2"/>
              <a:buChar char="ü"/>
              <a:defRPr/>
            </a:pPr>
            <a:r>
              <a:rPr lang="zh-CN" altLang="en-US" dirty="0"/>
              <a:t>匀浆乙醇用量：肝脏：乙醇</a:t>
            </a:r>
            <a:r>
              <a:rPr lang="en-US" altLang="zh-CN" dirty="0"/>
              <a:t>=1</a:t>
            </a:r>
            <a:r>
              <a:rPr lang="zh-CN" altLang="en-US" dirty="0"/>
              <a:t>：</a:t>
            </a:r>
            <a:r>
              <a:rPr lang="en-US" altLang="zh-CN" dirty="0"/>
              <a:t>10</a:t>
            </a:r>
            <a:r>
              <a:rPr lang="zh-CN" altLang="en-US" dirty="0"/>
              <a:t>（电动匀浆器）；</a:t>
            </a:r>
            <a:r>
              <a:rPr lang="en-US" altLang="zh-CN" dirty="0"/>
              <a:t> </a:t>
            </a:r>
            <a:r>
              <a:rPr lang="zh-CN" altLang="en-US" dirty="0"/>
              <a:t>离心条件：</a:t>
            </a:r>
            <a:r>
              <a:rPr lang="en-US" altLang="zh-CN" dirty="0"/>
              <a:t>9000</a:t>
            </a:r>
            <a:r>
              <a:rPr lang="zh-CN" altLang="en-US" dirty="0"/>
              <a:t> </a:t>
            </a:r>
            <a:r>
              <a:rPr lang="en-US" altLang="zh-CN" dirty="0"/>
              <a:t>rpm</a:t>
            </a:r>
            <a:r>
              <a:rPr lang="zh-CN" altLang="en-US" dirty="0"/>
              <a:t>，室温，</a:t>
            </a:r>
            <a:r>
              <a:rPr lang="en-US" altLang="zh-CN" dirty="0"/>
              <a:t>5</a:t>
            </a:r>
            <a:r>
              <a:rPr lang="zh-CN" altLang="en-US" dirty="0"/>
              <a:t> </a:t>
            </a:r>
            <a:r>
              <a:rPr lang="en-US" altLang="zh-CN" dirty="0"/>
              <a:t>min</a:t>
            </a:r>
          </a:p>
          <a:p>
            <a:pPr marL="1257300" lvl="2" indent="-342900">
              <a:lnSpc>
                <a:spcPct val="150000"/>
              </a:lnSpc>
              <a:buFont typeface="Wingdings" pitchFamily="2" charset="2"/>
              <a:buChar char="ü"/>
              <a:defRPr/>
            </a:pPr>
            <a:r>
              <a:rPr lang="zh-CN" altLang="en-US" dirty="0"/>
              <a:t>不进行二次提取</a:t>
            </a:r>
            <a:endParaRPr lang="en-US" altLang="zh-CN" dirty="0"/>
          </a:p>
          <a:p>
            <a:pPr marL="80010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b="1" dirty="0">
                <a:solidFill>
                  <a:prstClr val="black"/>
                </a:solidFill>
                <a:latin typeface="Calibri" panose="020F0502020204030204"/>
                <a:ea typeface="等线" panose="02010600030101010101" pitchFamily="2" charset="-122"/>
              </a:rPr>
              <a:t>正式</a:t>
            </a:r>
            <a:r>
              <a:rPr kumimoji="0" lang="zh-CN" altLang="en-US" sz="1800" b="1"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实验</a:t>
            </a:r>
            <a:endParaRPr kumimoji="0" lang="en-US" altLang="zh-CN" sz="1800" b="1"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1257300" lvl="2" indent="-342900">
              <a:lnSpc>
                <a:spcPct val="150000"/>
              </a:lnSpc>
              <a:buFont typeface="Wingdings" pitchFamily="2" charset="2"/>
              <a:buChar char="ü"/>
              <a:defRPr/>
            </a:pPr>
            <a:r>
              <a:rPr kumimoji="0" lang="zh-TW" altLang="en-US"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匀浆乙醇用量：肝脏：乙醇</a:t>
            </a:r>
            <a:r>
              <a:rPr kumimoji="0" lang="en-US" altLang="zh-TW"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a:t>
            </a:r>
            <a:r>
              <a:rPr kumimoji="0" lang="zh-TW" altLang="en-US"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en-US" altLang="zh-TW"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10</a:t>
            </a:r>
            <a:r>
              <a:rPr kumimoji="0" lang="zh-TW" altLang="en-US"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（玻璃匀浆器）</a:t>
            </a:r>
            <a:r>
              <a:rPr kumimoji="0" lang="zh-CN" altLang="en-US"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TW" altLang="en-US"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离心条件：</a:t>
            </a:r>
            <a:r>
              <a:rPr kumimoji="0" lang="en-US" altLang="zh-TW"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12000</a:t>
            </a:r>
            <a:r>
              <a:rPr kumimoji="0" lang="en-US" altLang="zh-CN"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rpm</a:t>
            </a:r>
            <a:r>
              <a:rPr kumimoji="0" lang="zh-CN" altLang="en-US"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TW" altLang="en-US"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室温，</a:t>
            </a:r>
            <a:r>
              <a:rPr kumimoji="0" lang="en-US" altLang="zh-TW"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5</a:t>
            </a:r>
            <a:r>
              <a:rPr kumimoji="0" lang="en-US" altLang="zh-CN"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min</a:t>
            </a:r>
            <a:endParaRPr kumimoji="0" lang="zh-TW" altLang="en-US"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1257300" lvl="2" indent="-342900">
              <a:lnSpc>
                <a:spcPct val="150000"/>
              </a:lnSpc>
              <a:buFont typeface="Wingdings" pitchFamily="2" charset="2"/>
              <a:buChar char="ü"/>
              <a:defRPr/>
            </a:pPr>
            <a:r>
              <a:rPr kumimoji="0" lang="zh-TW" altLang="en-US"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不进行二次提取</a:t>
            </a:r>
          </a:p>
        </p:txBody>
      </p:sp>
    </p:spTree>
    <p:extLst>
      <p:ext uri="{BB962C8B-B14F-4D97-AF65-F5344CB8AC3E}">
        <p14:creationId xmlns:p14="http://schemas.microsoft.com/office/powerpoint/2010/main" val="115780035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Illustration of chemistry laboratory instruments set - Download Free ...">
            <a:extLst>
              <a:ext uri="{FF2B5EF4-FFF2-40B4-BE49-F238E27FC236}">
                <a16:creationId xmlns:a16="http://schemas.microsoft.com/office/drawing/2014/main" id="{021F2C9E-024A-DD4A-81B3-1D0AC1750656}"/>
              </a:ext>
            </a:extLst>
          </p:cNvPr>
          <p:cNvPicPr>
            <a:picLocks noChangeAspect="1" noChangeArrowheads="1"/>
          </p:cNvPicPr>
          <p:nvPr/>
        </p:nvPicPr>
        <p:blipFill rotWithShape="1">
          <a:blip r:embed="rId3">
            <a:lum bright="70000" contrast="-70000"/>
            <a:alphaModFix amt="35000"/>
            <a:extLst>
              <a:ext uri="{28A0092B-C50C-407E-A947-70E740481C1C}">
                <a14:useLocalDpi xmlns:a14="http://schemas.microsoft.com/office/drawing/2010/main" val="0"/>
              </a:ext>
            </a:extLst>
          </a:blip>
          <a:srcRect t="25741"/>
          <a:stretch/>
        </p:blipFill>
        <p:spPr bwMode="auto">
          <a:xfrm>
            <a:off x="1" y="42685"/>
            <a:ext cx="12192000" cy="677262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6AE7A7E-4A6E-0B4F-8DBE-2FA73700C383}"/>
              </a:ext>
            </a:extLst>
          </p:cNvPr>
          <p:cNvSpPr txBox="1"/>
          <p:nvPr/>
        </p:nvSpPr>
        <p:spPr>
          <a:xfrm>
            <a:off x="1899184" y="3013501"/>
            <a:ext cx="8392041" cy="707886"/>
          </a:xfrm>
          <a:prstGeom prst="rect">
            <a:avLst/>
          </a:prstGeom>
          <a:noFill/>
        </p:spPr>
        <p:txBody>
          <a:bodyPr wrap="none" rtlCol="0">
            <a:spAutoFit/>
          </a:bodyPr>
          <a:lstStyle/>
          <a:p>
            <a:pPr algn="ctr"/>
            <a:r>
              <a:rPr kumimoji="1" lang="zh-CN" altLang="en-US" sz="4000" dirty="0">
                <a:latin typeface="SimHei" panose="02010609060101010101" pitchFamily="49" charset="-122"/>
                <a:ea typeface="SimHei" panose="02010609060101010101" pitchFamily="49" charset="-122"/>
              </a:rPr>
              <a:t>酶法测定小鼠血浆和肝脏胆固醇含量</a:t>
            </a:r>
          </a:p>
        </p:txBody>
      </p:sp>
    </p:spTree>
    <p:extLst>
      <p:ext uri="{BB962C8B-B14F-4D97-AF65-F5344CB8AC3E}">
        <p14:creationId xmlns:p14="http://schemas.microsoft.com/office/powerpoint/2010/main" val="7054097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4533499" cy="584775"/>
          </a:xfrm>
          <a:prstGeom prst="rect">
            <a:avLst/>
          </a:prstGeom>
          <a:noFill/>
        </p:spPr>
        <p:txBody>
          <a:bodyPr wrap="square" rtlCol="0">
            <a:spAutoFit/>
          </a:bodyPr>
          <a:lstStyle/>
          <a:p>
            <a:r>
              <a:rPr kumimoji="1" lang="zh-CN" altLang="en-US" sz="3200" dirty="0"/>
              <a:t>预实验结果</a:t>
            </a: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492875"/>
            <a:ext cx="4031850" cy="365125"/>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zh-CN" altLang="en-US" b="1" dirty="0">
                <a:solidFill>
                  <a:schemeClr val="bg1"/>
                </a:solidFill>
              </a:rPr>
              <a:t>酶法</a:t>
            </a: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8250F010-7937-0B40-ADD3-883B8FB5F954}"/>
                  </a:ext>
                </a:extLst>
              </p:cNvPr>
              <p:cNvSpPr txBox="1">
                <a:spLocks/>
              </p:cNvSpPr>
              <p:nvPr/>
            </p:nvSpPr>
            <p:spPr>
              <a:xfrm>
                <a:off x="288758" y="1143494"/>
                <a:ext cx="4994442" cy="43516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线性检测范围在胆固醇含量</a:t>
                </a:r>
                <a:r>
                  <a:rPr lang="en-US" altLang="zh-CN" sz="2000" dirty="0"/>
                  <a:t> </a:t>
                </a:r>
                <a14:m>
                  <m:oMath xmlns:m="http://schemas.openxmlformats.org/officeDocument/2006/math">
                    <m:r>
                      <a:rPr lang="en-US" altLang="zh-CN" sz="2000" i="1" dirty="0" smtClean="0">
                        <a:latin typeface="Cambria Math" panose="02040503050406030204" pitchFamily="18" charset="0"/>
                      </a:rPr>
                      <m:t>0.00</m:t>
                    </m:r>
                    <m:r>
                      <a:rPr lang="el-GR" altLang="zh-CN" sz="2000" i="1" dirty="0" smtClean="0">
                        <a:latin typeface="Cambria Math" panose="02040503050406030204" pitchFamily="18" charset="0"/>
                      </a:rPr>
                      <m:t>5</m:t>
                    </m:r>
                    <m:r>
                      <a:rPr lang="el-GR" altLang="zh-CN" sz="2000" i="1" dirty="0">
                        <a:latin typeface="Cambria Math" panose="02040503050406030204" pitchFamily="18" charset="0"/>
                      </a:rPr>
                      <m:t> </m:t>
                    </m:r>
                    <m:r>
                      <a:rPr lang="el-GR" altLang="zh-CN" sz="2000" i="1" dirty="0" smtClean="0">
                        <a:latin typeface="Cambria Math" panose="02040503050406030204" pitchFamily="18" charset="0"/>
                      </a:rPr>
                      <m:t>– </m:t>
                    </m:r>
                    <m:r>
                      <a:rPr lang="en-US" altLang="zh-CN" sz="2000" i="1" dirty="0" smtClean="0">
                        <a:latin typeface="Cambria Math" panose="02040503050406030204" pitchFamily="18" charset="0"/>
                      </a:rPr>
                      <m:t>0.20</m:t>
                    </m:r>
                    <m:r>
                      <a:rPr lang="el-GR" altLang="zh-CN" sz="2000" i="1" dirty="0" smtClean="0">
                        <a:latin typeface="Cambria Math" panose="02040503050406030204" pitchFamily="18" charset="0"/>
                      </a:rPr>
                      <m:t> </m:t>
                    </m:r>
                    <m:r>
                      <m:rPr>
                        <m:sty m:val="p"/>
                      </m:rPr>
                      <a:rPr lang="en-US" altLang="zh-CN" sz="2000" i="0" dirty="0" err="1" smtClean="0">
                        <a:latin typeface="Cambria Math" panose="02040503050406030204" pitchFamily="18" charset="0"/>
                      </a:rPr>
                      <m:t>μmol</m:t>
                    </m:r>
                  </m:oMath>
                </a14:m>
                <a:endParaRPr lang="en-US" altLang="zh-CN" sz="2000" dirty="0"/>
              </a:p>
              <a:p>
                <a:pPr>
                  <a:lnSpc>
                    <a:spcPct val="150000"/>
                  </a:lnSpc>
                  <a:buFont typeface="Wingdings" pitchFamily="2" charset="2"/>
                  <a:buChar char="Ø"/>
                </a:pPr>
                <a:r>
                  <a:rPr lang="zh-CN" altLang="en-US" sz="2000" dirty="0"/>
                  <a:t>标准曲线受移液枪精确度不足、酶不稳定等客观因素制约非完全线性，但基本满足线性关系，</a:t>
                </a:r>
                <a14:m>
                  <m:oMath xmlns:m="http://schemas.openxmlformats.org/officeDocument/2006/math">
                    <m:r>
                      <a:rPr lang="en-US" altLang="zh-CN" sz="2000" i="1" dirty="0" smtClean="0">
                        <a:latin typeface="Cambria Math" panose="02040503050406030204" pitchFamily="18" charset="0"/>
                      </a:rPr>
                      <m:t>𝑅</m:t>
                    </m:r>
                    <m:r>
                      <a:rPr lang="en-US" altLang="zh-CN" sz="2000" i="1" baseline="30000" dirty="0" smtClean="0">
                        <a:latin typeface="Cambria Math" panose="02040503050406030204" pitchFamily="18" charset="0"/>
                      </a:rPr>
                      <m:t>2</m:t>
                    </m:r>
                    <m:r>
                      <a:rPr lang="zh-CN" altLang="en-US" sz="2000" i="1" baseline="30000" dirty="0" smtClean="0">
                        <a:latin typeface="Cambria Math" panose="02040503050406030204" pitchFamily="18" charset="0"/>
                      </a:rPr>
                      <m:t> </m:t>
                    </m:r>
                    <m:r>
                      <a:rPr lang="en-US" altLang="zh-CN" sz="2000" i="1" dirty="0" smtClean="0">
                        <a:latin typeface="Cambria Math" panose="02040503050406030204" pitchFamily="18" charset="0"/>
                      </a:rPr>
                      <m:t>&gt;</m:t>
                    </m:r>
                    <m:r>
                      <a:rPr lang="zh-CN" altLang="en-US" sz="2000" i="1" dirty="0" smtClean="0">
                        <a:latin typeface="Cambria Math" panose="02040503050406030204" pitchFamily="18" charset="0"/>
                      </a:rPr>
                      <m:t> </m:t>
                    </m:r>
                    <m:r>
                      <a:rPr lang="en-US" altLang="zh-CN" sz="2000" i="1" dirty="0" smtClean="0">
                        <a:latin typeface="Cambria Math" panose="02040503050406030204" pitchFamily="18" charset="0"/>
                      </a:rPr>
                      <m:t>0.99</m:t>
                    </m:r>
                  </m:oMath>
                </a14:m>
                <a:endParaRPr lang="en-US" altLang="zh-CN" sz="2000" dirty="0"/>
              </a:p>
              <a:p>
                <a:pPr>
                  <a:lnSpc>
                    <a:spcPct val="150000"/>
                  </a:lnSpc>
                  <a:buFont typeface="Wingdings" pitchFamily="2" charset="2"/>
                  <a:buChar char="Ø"/>
                </a:pPr>
                <a:r>
                  <a:rPr lang="zh-CN" altLang="en-US" sz="2000" dirty="0"/>
                  <a:t>根据</a:t>
                </a:r>
                <a:r>
                  <a:rPr lang="en-US" altLang="zh-CN" sz="2000" dirty="0"/>
                  <a:t>6</a:t>
                </a:r>
                <a:r>
                  <a:rPr lang="zh-CN" altLang="en-US" sz="2000" dirty="0"/>
                  <a:t>个空白孔计算出方法检出限</a:t>
                </a:r>
                <a:endParaRPr lang="el-GR" altLang="zh-CN" sz="2000" i="1"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𝐷𝐿</m:t>
                      </m:r>
                      <m:r>
                        <a:rPr lang="zh-CN" altLang="en-US" sz="2000" i="1" dirty="0" smtClean="0">
                          <a:latin typeface="Cambria Math" panose="02040503050406030204" pitchFamily="18" charset="0"/>
                        </a:rPr>
                        <m:t> = 0.00066</m:t>
                      </m:r>
                      <m:r>
                        <a:rPr lang="el-GR" altLang="zh-CN" sz="2000" i="1" dirty="0">
                          <a:latin typeface="Cambria Math" panose="02040503050406030204" pitchFamily="18" charset="0"/>
                        </a:rPr>
                        <m:t> </m:t>
                      </m:r>
                      <m:r>
                        <m:rPr>
                          <m:sty m:val="p"/>
                        </m:rPr>
                        <a:rPr lang="el-GR" altLang="zh-CN" sz="2000" i="0" dirty="0">
                          <a:latin typeface="Cambria Math" panose="02040503050406030204" pitchFamily="18" charset="0"/>
                        </a:rPr>
                        <m:t>μ</m:t>
                      </m:r>
                      <m:r>
                        <m:rPr>
                          <m:sty m:val="p"/>
                        </m:rPr>
                        <a:rPr lang="en-US" altLang="zh-CN" sz="2000" i="0" dirty="0" smtClean="0">
                          <a:latin typeface="Cambria Math" panose="02040503050406030204" pitchFamily="18" charset="0"/>
                        </a:rPr>
                        <m:t>mol</m:t>
                      </m:r>
                    </m:oMath>
                  </m:oMathPara>
                </a14:m>
                <a:endParaRPr lang="zh-CN" altLang="en-US" sz="2000" dirty="0"/>
              </a:p>
            </p:txBody>
          </p:sp>
        </mc:Choice>
        <mc:Fallback xmlns="">
          <p:sp>
            <p:nvSpPr>
              <p:cNvPr id="12" name="内容占位符 2">
                <a:extLst>
                  <a:ext uri="{FF2B5EF4-FFF2-40B4-BE49-F238E27FC236}">
                    <a16:creationId xmlns:a16="http://schemas.microsoft.com/office/drawing/2014/main" id="{8250F010-7937-0B40-ADD3-883B8FB5F954}"/>
                  </a:ext>
                </a:extLst>
              </p:cNvPr>
              <p:cNvSpPr txBox="1">
                <a:spLocks noRot="1" noChangeAspect="1" noMove="1" noResize="1" noEditPoints="1" noAdjustHandles="1" noChangeArrowheads="1" noChangeShapeType="1" noTextEdit="1"/>
              </p:cNvSpPr>
              <p:nvPr/>
            </p:nvSpPr>
            <p:spPr>
              <a:xfrm>
                <a:off x="288758" y="1143494"/>
                <a:ext cx="4994442" cy="4351655"/>
              </a:xfrm>
              <a:prstGeom prst="rect">
                <a:avLst/>
              </a:prstGeom>
              <a:blipFill>
                <a:blip r:embed="rId4"/>
                <a:stretch>
                  <a:fillRect l="-1013" r="-1013"/>
                </a:stretch>
              </a:blipFill>
            </p:spPr>
            <p:txBody>
              <a:bodyPr/>
              <a:lstStyle/>
              <a:p>
                <a:r>
                  <a:rPr lang="zh-CN" altLang="en-US">
                    <a:noFill/>
                  </a:rPr>
                  <a:t> </a:t>
                </a:r>
              </a:p>
            </p:txBody>
          </p:sp>
        </mc:Fallback>
      </mc:AlternateContent>
      <p:graphicFrame>
        <p:nvGraphicFramePr>
          <p:cNvPr id="15" name="图表 1">
            <a:extLst>
              <a:ext uri="{FF2B5EF4-FFF2-40B4-BE49-F238E27FC236}">
                <a16:creationId xmlns:a16="http://schemas.microsoft.com/office/drawing/2014/main" id="{D352E81E-2C6F-FD42-AD43-5431A10B3BCD}"/>
              </a:ext>
            </a:extLst>
          </p:cNvPr>
          <p:cNvGraphicFramePr/>
          <p:nvPr>
            <p:extLst>
              <p:ext uri="{D42A27DB-BD31-4B8C-83A1-F6EECF244321}">
                <p14:modId xmlns:p14="http://schemas.microsoft.com/office/powerpoint/2010/main" val="3895954554"/>
              </p:ext>
            </p:extLst>
          </p:nvPr>
        </p:nvGraphicFramePr>
        <p:xfrm>
          <a:off x="5651501" y="1143494"/>
          <a:ext cx="6049258" cy="450611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312364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7420142" cy="584775"/>
          </a:xfrm>
          <a:prstGeom prst="rect">
            <a:avLst/>
          </a:prstGeom>
          <a:noFill/>
        </p:spPr>
        <p:txBody>
          <a:bodyPr wrap="square" rtlCol="0">
            <a:spAutoFit/>
          </a:bodyPr>
          <a:lstStyle/>
          <a:p>
            <a:r>
              <a:rPr lang="zh-CN" altLang="en-US" sz="3200" dirty="0"/>
              <a:t>小鼠血浆胆固醇测定</a:t>
            </a:r>
            <a:endParaRPr kumimoji="1" lang="zh-CN" altLang="en-US"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492875"/>
            <a:ext cx="4031850" cy="365125"/>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zh-CN" altLang="en-US" b="1" dirty="0">
                <a:solidFill>
                  <a:schemeClr val="bg1"/>
                </a:solidFill>
              </a:rPr>
              <a:t>酶法</a:t>
            </a: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graphicFrame>
        <p:nvGraphicFramePr>
          <p:cNvPr id="16" name="图表 2">
            <a:extLst>
              <a:ext uri="{FF2B5EF4-FFF2-40B4-BE49-F238E27FC236}">
                <a16:creationId xmlns:a16="http://schemas.microsoft.com/office/drawing/2014/main" id="{BCB59469-CEDF-024D-B997-AFD746F3AB96}"/>
              </a:ext>
            </a:extLst>
          </p:cNvPr>
          <p:cNvGraphicFramePr/>
          <p:nvPr>
            <p:extLst>
              <p:ext uri="{D42A27DB-BD31-4B8C-83A1-F6EECF244321}">
                <p14:modId xmlns:p14="http://schemas.microsoft.com/office/powerpoint/2010/main" val="3943782494"/>
              </p:ext>
            </p:extLst>
          </p:nvPr>
        </p:nvGraphicFramePr>
        <p:xfrm>
          <a:off x="138090" y="915495"/>
          <a:ext cx="5807242" cy="536843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 name="表格 3">
            <a:extLst>
              <a:ext uri="{FF2B5EF4-FFF2-40B4-BE49-F238E27FC236}">
                <a16:creationId xmlns:a16="http://schemas.microsoft.com/office/drawing/2014/main" id="{22B1CFE4-E0A8-C646-B542-22BB2AF55C01}"/>
              </a:ext>
            </a:extLst>
          </p:cNvPr>
          <p:cNvGraphicFramePr/>
          <p:nvPr>
            <p:custDataLst>
              <p:tags r:id="rId1"/>
            </p:custDataLst>
            <p:extLst>
              <p:ext uri="{D42A27DB-BD31-4B8C-83A1-F6EECF244321}">
                <p14:modId xmlns:p14="http://schemas.microsoft.com/office/powerpoint/2010/main" val="2430587763"/>
              </p:ext>
            </p:extLst>
          </p:nvPr>
        </p:nvGraphicFramePr>
        <p:xfrm>
          <a:off x="6071887" y="1351270"/>
          <a:ext cx="5702305" cy="2989580"/>
        </p:xfrm>
        <a:graphic>
          <a:graphicData uri="http://schemas.openxmlformats.org/drawingml/2006/table">
            <a:tbl>
              <a:tblPr/>
              <a:tblGrid>
                <a:gridCol w="1380823">
                  <a:extLst>
                    <a:ext uri="{9D8B030D-6E8A-4147-A177-3AD203B41FA5}">
                      <a16:colId xmlns:a16="http://schemas.microsoft.com/office/drawing/2014/main" val="20000"/>
                    </a:ext>
                  </a:extLst>
                </a:gridCol>
                <a:gridCol w="720247">
                  <a:extLst>
                    <a:ext uri="{9D8B030D-6E8A-4147-A177-3AD203B41FA5}">
                      <a16:colId xmlns:a16="http://schemas.microsoft.com/office/drawing/2014/main" val="20001"/>
                    </a:ext>
                  </a:extLst>
                </a:gridCol>
                <a:gridCol w="720247">
                  <a:extLst>
                    <a:ext uri="{9D8B030D-6E8A-4147-A177-3AD203B41FA5}">
                      <a16:colId xmlns:a16="http://schemas.microsoft.com/office/drawing/2014/main" val="20002"/>
                    </a:ext>
                  </a:extLst>
                </a:gridCol>
                <a:gridCol w="720247">
                  <a:extLst>
                    <a:ext uri="{9D8B030D-6E8A-4147-A177-3AD203B41FA5}">
                      <a16:colId xmlns:a16="http://schemas.microsoft.com/office/drawing/2014/main" val="20003"/>
                    </a:ext>
                  </a:extLst>
                </a:gridCol>
                <a:gridCol w="720247">
                  <a:extLst>
                    <a:ext uri="{9D8B030D-6E8A-4147-A177-3AD203B41FA5}">
                      <a16:colId xmlns:a16="http://schemas.microsoft.com/office/drawing/2014/main" val="20004"/>
                    </a:ext>
                  </a:extLst>
                </a:gridCol>
                <a:gridCol w="720247">
                  <a:extLst>
                    <a:ext uri="{9D8B030D-6E8A-4147-A177-3AD203B41FA5}">
                      <a16:colId xmlns:a16="http://schemas.microsoft.com/office/drawing/2014/main" val="20005"/>
                    </a:ext>
                  </a:extLst>
                </a:gridCol>
                <a:gridCol w="720247">
                  <a:extLst>
                    <a:ext uri="{9D8B030D-6E8A-4147-A177-3AD203B41FA5}">
                      <a16:colId xmlns:a16="http://schemas.microsoft.com/office/drawing/2014/main" val="20006"/>
                    </a:ext>
                  </a:extLst>
                </a:gridCol>
              </a:tblGrid>
              <a:tr h="5207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zh-CN" sz="1800" dirty="0">
                          <a:latin typeface="+mn-lt"/>
                          <a:ea typeface="+mn-ea"/>
                        </a:rPr>
                        <a:t>样品种类</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gridSpan="6">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zh-CN" sz="1800" dirty="0">
                          <a:latin typeface="+mn-lt"/>
                          <a:ea typeface="+mn-ea"/>
                        </a:rPr>
                        <a:t>血浆样品</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hMerge="1">
                  <a:txBody>
                    <a:bodyPr/>
                    <a:lstStyle/>
                    <a:p>
                      <a:endParaRPr lang="en-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en-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en-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en-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en-CN"/>
                    </a:p>
                  </a:txBody>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extLst>
                  <a:ext uri="{0D108BD9-81ED-4DB2-BD59-A6C34878D82A}">
                    <a16:rowId xmlns:a16="http://schemas.microsoft.com/office/drawing/2014/main" val="10000"/>
                  </a:ext>
                </a:extLst>
              </a:tr>
              <a:tr h="82296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zh-CN" sz="1800" dirty="0">
                          <a:latin typeface="+mn-lt"/>
                          <a:ea typeface="+mn-ea"/>
                        </a:rPr>
                        <a:t>来源</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dirty="0">
                          <a:latin typeface="+mn-lt"/>
                          <a:ea typeface="+mn-ea"/>
                        </a:rPr>
                        <a:t>wt2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dirty="0">
                          <a:latin typeface="+mn-lt"/>
                          <a:ea typeface="+mn-ea"/>
                        </a:rPr>
                        <a:t>wt4</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dirty="0">
                          <a:latin typeface="+mn-lt"/>
                          <a:ea typeface="+mn-ea"/>
                        </a:rPr>
                        <a:t>wt11</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dirty="0">
                          <a:latin typeface="+mn-lt"/>
                          <a:ea typeface="+mn-ea"/>
                        </a:rPr>
                        <a:t>ob4</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dirty="0">
                          <a:latin typeface="+mn-lt"/>
                          <a:ea typeface="+mn-ea"/>
                        </a:rPr>
                        <a:t>ob10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solidFill>
                      <a:srgbClr val="FF7E7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a:latin typeface="+mn-lt"/>
                          <a:ea typeface="+mn-ea"/>
                        </a:rPr>
                        <a:t>ob11</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2296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zh-CN" sz="1800">
                          <a:latin typeface="+mn-lt"/>
                          <a:ea typeface="+mn-ea"/>
                        </a:rPr>
                        <a:t>胆固醇含量（</a:t>
                      </a:r>
                      <a:r>
                        <a:rPr lang="en-US" altLang="zh-CN" sz="1800">
                          <a:latin typeface="+mn-lt"/>
                          <a:ea typeface="+mn-ea"/>
                        </a:rPr>
                        <a:t>nmol</a:t>
                      </a:r>
                      <a:r>
                        <a:rPr lang="zh-CN" sz="1800">
                          <a:latin typeface="+mn-lt"/>
                          <a:ea typeface="+mn-ea"/>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a:solidFill>
                            <a:srgbClr val="000000"/>
                          </a:solidFill>
                          <a:latin typeface="+mn-lt"/>
                          <a:ea typeface="+mn-ea"/>
                        </a:rPr>
                        <a:t>3.45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1.86</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1.70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7.99</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-1.65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solidFill>
                      <a:srgbClr val="FF7E7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8.07</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2296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zh-CN" sz="1800" dirty="0">
                          <a:latin typeface="+mn-lt"/>
                          <a:ea typeface="+mn-ea"/>
                        </a:rPr>
                        <a:t>小鼠血浆胆固醇浓度（</a:t>
                      </a:r>
                      <a:r>
                        <a:rPr lang="en-US" altLang="zh-CN" sz="1800" dirty="0">
                          <a:latin typeface="+mn-lt"/>
                          <a:ea typeface="+mn-ea"/>
                        </a:rPr>
                        <a:t>mmol/L</a:t>
                      </a:r>
                      <a:r>
                        <a:rPr lang="zh-CN" sz="1800" dirty="0">
                          <a:latin typeface="+mn-lt"/>
                          <a:ea typeface="+mn-ea"/>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a:solidFill>
                            <a:srgbClr val="000000"/>
                          </a:solidFill>
                          <a:latin typeface="+mn-lt"/>
                          <a:ea typeface="+mn-ea"/>
                        </a:rPr>
                        <a:t>0.575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0.310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a:solidFill>
                            <a:srgbClr val="000000"/>
                          </a:solidFill>
                          <a:latin typeface="+mn-lt"/>
                          <a:ea typeface="+mn-ea"/>
                        </a:rPr>
                        <a:t>0.283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1.332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NA</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solidFill>
                      <a:srgbClr val="FF7E7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1.345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21" name="内容占位符 2">
            <a:extLst>
              <a:ext uri="{FF2B5EF4-FFF2-40B4-BE49-F238E27FC236}">
                <a16:creationId xmlns:a16="http://schemas.microsoft.com/office/drawing/2014/main" id="{59C2C4D5-601E-3B4A-95EE-4C2B4C011FA9}"/>
              </a:ext>
            </a:extLst>
          </p:cNvPr>
          <p:cNvSpPr txBox="1">
            <a:spLocks/>
          </p:cNvSpPr>
          <p:nvPr/>
        </p:nvSpPr>
        <p:spPr>
          <a:xfrm>
            <a:off x="6591300" y="4703084"/>
            <a:ext cx="5462610" cy="43516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en-US" altLang="zh-CN" sz="2000" i="1" dirty="0" err="1"/>
              <a:t>wt</a:t>
            </a:r>
            <a:r>
              <a:rPr lang="zh-CN" altLang="en-US" sz="2000" dirty="0"/>
              <a:t>小鼠血浆胆固醇浓度为</a:t>
            </a:r>
            <a:r>
              <a:rPr lang="en-US" altLang="zh-CN" sz="2000" dirty="0"/>
              <a:t>0.389</a:t>
            </a:r>
            <a:r>
              <a:rPr lang="zh-CN" altLang="en-US" sz="2000" dirty="0"/>
              <a:t> </a:t>
            </a:r>
            <a:r>
              <a:rPr lang="en-US" altLang="zh-CN" sz="2000" dirty="0"/>
              <a:t>mmol/L</a:t>
            </a:r>
          </a:p>
          <a:p>
            <a:pPr>
              <a:lnSpc>
                <a:spcPct val="150000"/>
              </a:lnSpc>
              <a:buFont typeface="Wingdings" pitchFamily="2" charset="2"/>
              <a:buChar char="Ø"/>
            </a:pPr>
            <a:r>
              <a:rPr lang="en-US" altLang="zh-CN" sz="2000" i="1" dirty="0" err="1"/>
              <a:t>ob</a:t>
            </a:r>
            <a:r>
              <a:rPr lang="en-US" altLang="zh-CN" sz="2000" i="1" dirty="0"/>
              <a:t>/</a:t>
            </a:r>
            <a:r>
              <a:rPr lang="en-US" altLang="zh-CN" sz="2000" i="1" dirty="0" err="1"/>
              <a:t>ob</a:t>
            </a:r>
            <a:r>
              <a:rPr lang="zh-CN" altLang="en-US" sz="2000" dirty="0"/>
              <a:t>小鼠血浆胆固醇浓度为</a:t>
            </a:r>
            <a:r>
              <a:rPr lang="en-US" altLang="zh-CN" sz="2000" dirty="0"/>
              <a:t>1.338</a:t>
            </a:r>
            <a:r>
              <a:rPr lang="zh-CN" altLang="en-US" sz="2000" dirty="0"/>
              <a:t> </a:t>
            </a:r>
            <a:r>
              <a:rPr lang="en-US" altLang="zh-CN" sz="2000" dirty="0"/>
              <a:t>mmol/L</a:t>
            </a:r>
          </a:p>
          <a:p>
            <a:pPr>
              <a:lnSpc>
                <a:spcPct val="150000"/>
              </a:lnSpc>
              <a:buFont typeface="Wingdings" pitchFamily="2" charset="2"/>
              <a:buChar char="Ø"/>
            </a:pPr>
            <a:endParaRPr lang="zh-CN" altLang="en-US" sz="2000" dirty="0"/>
          </a:p>
        </p:txBody>
      </p:sp>
    </p:spTree>
    <p:extLst>
      <p:ext uri="{BB962C8B-B14F-4D97-AF65-F5344CB8AC3E}">
        <p14:creationId xmlns:p14="http://schemas.microsoft.com/office/powerpoint/2010/main" val="30629056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6302542" cy="584775"/>
          </a:xfrm>
          <a:prstGeom prst="rect">
            <a:avLst/>
          </a:prstGeom>
          <a:noFill/>
        </p:spPr>
        <p:txBody>
          <a:bodyPr wrap="square" rtlCol="0">
            <a:spAutoFit/>
          </a:bodyPr>
          <a:lstStyle/>
          <a:p>
            <a:r>
              <a:rPr lang="zh-CN" altLang="en-US" sz="3200" dirty="0"/>
              <a:t>小鼠肝脏胆固醇测定</a:t>
            </a:r>
            <a:endParaRPr kumimoji="1" lang="zh-CN" altLang="en-US"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492875"/>
            <a:ext cx="4031850" cy="365125"/>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zh-CN" altLang="en-US" b="1" dirty="0">
                <a:solidFill>
                  <a:schemeClr val="bg1"/>
                </a:solidFill>
              </a:rPr>
              <a:t>酶法</a:t>
            </a: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graphicFrame>
        <p:nvGraphicFramePr>
          <p:cNvPr id="23" name="图表 2">
            <a:extLst>
              <a:ext uri="{FF2B5EF4-FFF2-40B4-BE49-F238E27FC236}">
                <a16:creationId xmlns:a16="http://schemas.microsoft.com/office/drawing/2014/main" id="{9F731108-824E-B448-B639-D3CD3D910F8B}"/>
              </a:ext>
            </a:extLst>
          </p:cNvPr>
          <p:cNvGraphicFramePr/>
          <p:nvPr>
            <p:extLst>
              <p:ext uri="{D42A27DB-BD31-4B8C-83A1-F6EECF244321}">
                <p14:modId xmlns:p14="http://schemas.microsoft.com/office/powerpoint/2010/main" val="1188982515"/>
              </p:ext>
            </p:extLst>
          </p:nvPr>
        </p:nvGraphicFramePr>
        <p:xfrm>
          <a:off x="-160534" y="620097"/>
          <a:ext cx="6843707" cy="68961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7" name="表格 3">
            <a:extLst>
              <a:ext uri="{FF2B5EF4-FFF2-40B4-BE49-F238E27FC236}">
                <a16:creationId xmlns:a16="http://schemas.microsoft.com/office/drawing/2014/main" id="{8DCD2745-4D2C-4647-B838-AEC3C00633E0}"/>
              </a:ext>
            </a:extLst>
          </p:cNvPr>
          <p:cNvGraphicFramePr/>
          <p:nvPr>
            <p:custDataLst>
              <p:tags r:id="rId1"/>
            </p:custDataLst>
            <p:extLst>
              <p:ext uri="{D42A27DB-BD31-4B8C-83A1-F6EECF244321}">
                <p14:modId xmlns:p14="http://schemas.microsoft.com/office/powerpoint/2010/main" val="337939942"/>
              </p:ext>
            </p:extLst>
          </p:nvPr>
        </p:nvGraphicFramePr>
        <p:xfrm>
          <a:off x="6096000" y="1146167"/>
          <a:ext cx="5842000" cy="3552121"/>
        </p:xfrm>
        <a:graphic>
          <a:graphicData uri="http://schemas.openxmlformats.org/drawingml/2006/table">
            <a:tbl>
              <a:tblPr/>
              <a:tblGrid>
                <a:gridCol w="1355477">
                  <a:extLst>
                    <a:ext uri="{9D8B030D-6E8A-4147-A177-3AD203B41FA5}">
                      <a16:colId xmlns:a16="http://schemas.microsoft.com/office/drawing/2014/main" val="20000"/>
                    </a:ext>
                  </a:extLst>
                </a:gridCol>
                <a:gridCol w="814495">
                  <a:extLst>
                    <a:ext uri="{9D8B030D-6E8A-4147-A177-3AD203B41FA5}">
                      <a16:colId xmlns:a16="http://schemas.microsoft.com/office/drawing/2014/main" val="20001"/>
                    </a:ext>
                  </a:extLst>
                </a:gridCol>
                <a:gridCol w="712494">
                  <a:extLst>
                    <a:ext uri="{9D8B030D-6E8A-4147-A177-3AD203B41FA5}">
                      <a16:colId xmlns:a16="http://schemas.microsoft.com/office/drawing/2014/main" val="20002"/>
                    </a:ext>
                  </a:extLst>
                </a:gridCol>
                <a:gridCol w="710983">
                  <a:extLst>
                    <a:ext uri="{9D8B030D-6E8A-4147-A177-3AD203B41FA5}">
                      <a16:colId xmlns:a16="http://schemas.microsoft.com/office/drawing/2014/main" val="20003"/>
                    </a:ext>
                  </a:extLst>
                </a:gridCol>
                <a:gridCol w="815251">
                  <a:extLst>
                    <a:ext uri="{9D8B030D-6E8A-4147-A177-3AD203B41FA5}">
                      <a16:colId xmlns:a16="http://schemas.microsoft.com/office/drawing/2014/main" val="20004"/>
                    </a:ext>
                  </a:extLst>
                </a:gridCol>
                <a:gridCol w="711739">
                  <a:extLst>
                    <a:ext uri="{9D8B030D-6E8A-4147-A177-3AD203B41FA5}">
                      <a16:colId xmlns:a16="http://schemas.microsoft.com/office/drawing/2014/main" val="20005"/>
                    </a:ext>
                  </a:extLst>
                </a:gridCol>
                <a:gridCol w="721561">
                  <a:extLst>
                    <a:ext uri="{9D8B030D-6E8A-4147-A177-3AD203B41FA5}">
                      <a16:colId xmlns:a16="http://schemas.microsoft.com/office/drawing/2014/main" val="20006"/>
                    </a:ext>
                  </a:extLst>
                </a:gridCol>
              </a:tblGrid>
              <a:tr h="71057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zh-CN" sz="1800" dirty="0">
                          <a:latin typeface="+mn-lt"/>
                          <a:ea typeface="+mn-ea"/>
                        </a:rPr>
                        <a:t>样品种类</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gridSpan="6">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zh-CN" sz="1800" dirty="0">
                          <a:latin typeface="+mn-lt"/>
                          <a:ea typeface="+mn-ea"/>
                        </a:rPr>
                        <a:t>肝脏样品</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hMerge="1">
                  <a:txBody>
                    <a:bodyPr/>
                    <a:lstStyle/>
                    <a:p>
                      <a:endParaRPr lang="en-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en-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en-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en-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en-CN"/>
                    </a:p>
                  </a:txBody>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extLst>
                  <a:ext uri="{0D108BD9-81ED-4DB2-BD59-A6C34878D82A}">
                    <a16:rowId xmlns:a16="http://schemas.microsoft.com/office/drawing/2014/main" val="10000"/>
                  </a:ext>
                </a:extLst>
              </a:tr>
              <a:tr h="94718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zh-CN" sz="1800" dirty="0">
                          <a:latin typeface="+mn-lt"/>
                          <a:ea typeface="+mn-ea"/>
                        </a:rPr>
                        <a:t>来源</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dirty="0">
                          <a:latin typeface="+mn-lt"/>
                          <a:ea typeface="+mn-ea"/>
                        </a:rPr>
                        <a:t>wt2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solidFill>
                      <a:srgbClr val="FF7E7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dirty="0">
                          <a:latin typeface="+mn-lt"/>
                          <a:ea typeface="+mn-ea"/>
                        </a:rPr>
                        <a:t>wt4</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dirty="0">
                          <a:latin typeface="+mn-lt"/>
                          <a:ea typeface="+mn-ea"/>
                        </a:rPr>
                        <a:t>wt11</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dirty="0">
                          <a:latin typeface="+mn-lt"/>
                          <a:ea typeface="+mn-ea"/>
                        </a:rPr>
                        <a:t>ob4</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dirty="0">
                          <a:latin typeface="+mn-lt"/>
                          <a:ea typeface="+mn-ea"/>
                        </a:rPr>
                        <a:t>ob10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solidFill>
                      <a:srgbClr val="FF7E7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a:latin typeface="+mn-lt"/>
                          <a:ea typeface="+mn-ea"/>
                        </a:rPr>
                        <a:t>ob11</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4718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zh-CN" sz="1800" dirty="0">
                          <a:latin typeface="+mn-lt"/>
                          <a:ea typeface="+mn-ea"/>
                        </a:rPr>
                        <a:t>胆固醇含量</a:t>
                      </a:r>
                      <a:endParaRPr lang="en-US" altLang="zh-CN" sz="1800" dirty="0">
                        <a:latin typeface="+mn-lt"/>
                        <a:ea typeface="+mn-ea"/>
                      </a:endParaRPr>
                    </a:p>
                    <a:p>
                      <a:pPr marL="0" indent="0" algn="ctr">
                        <a:spcBef>
                          <a:spcPct val="0"/>
                        </a:spcBef>
                        <a:spcAft>
                          <a:spcPct val="0"/>
                        </a:spcAft>
                      </a:pPr>
                      <a:r>
                        <a:rPr lang="zh-CN" sz="1800" dirty="0">
                          <a:latin typeface="+mn-lt"/>
                          <a:ea typeface="+mn-ea"/>
                        </a:rPr>
                        <a:t>（</a:t>
                      </a:r>
                      <a:r>
                        <a:rPr lang="en-US" altLang="zh-CN" sz="1800" dirty="0">
                          <a:latin typeface="+mn-lt"/>
                          <a:ea typeface="+mn-ea"/>
                        </a:rPr>
                        <a:t>nmol</a:t>
                      </a:r>
                      <a:r>
                        <a:rPr lang="zh-CN" sz="1800" dirty="0">
                          <a:latin typeface="+mn-lt"/>
                          <a:ea typeface="+mn-ea"/>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47.83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solidFill>
                      <a:srgbClr val="FF7E7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18.20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10.10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35.43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7.79</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solidFill>
                      <a:srgbClr val="FF7E7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38.28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94718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zh-CN" sz="1800" dirty="0">
                          <a:latin typeface="+mn-lt"/>
                          <a:ea typeface="+mn-ea"/>
                        </a:rPr>
                        <a:t>小鼠肝脏胆固醇浓度（</a:t>
                      </a:r>
                      <a:r>
                        <a:rPr lang="en-US" altLang="zh-CN" sz="1800" dirty="0" err="1">
                          <a:latin typeface="+mn-lt"/>
                          <a:ea typeface="+mn-ea"/>
                        </a:rPr>
                        <a:t>μmol</a:t>
                      </a:r>
                      <a:r>
                        <a:rPr lang="en-US" altLang="zh-CN" sz="1800" dirty="0">
                          <a:latin typeface="+mn-lt"/>
                          <a:ea typeface="+mn-ea"/>
                        </a:rPr>
                        <a:t>/g</a:t>
                      </a:r>
                      <a:r>
                        <a:rPr lang="zh-CN" sz="1800" dirty="0">
                          <a:latin typeface="+mn-lt"/>
                          <a:ea typeface="+mn-ea"/>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23.915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solidFill>
                      <a:srgbClr val="FF7E7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a:solidFill>
                            <a:srgbClr val="000000"/>
                          </a:solidFill>
                          <a:latin typeface="+mn-lt"/>
                          <a:ea typeface="+mn-ea"/>
                        </a:rPr>
                        <a:t>9.100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5.050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17.715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3.895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solidFill>
                      <a:srgbClr val="FF7E7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ctr">
                        <a:spcBef>
                          <a:spcPct val="0"/>
                        </a:spcBef>
                        <a:spcAft>
                          <a:spcPct val="0"/>
                        </a:spcAft>
                      </a:pPr>
                      <a:r>
                        <a:rPr lang="en-US" altLang="zh-CN" sz="1800" i="0" dirty="0">
                          <a:solidFill>
                            <a:srgbClr val="000000"/>
                          </a:solidFill>
                          <a:latin typeface="+mn-lt"/>
                          <a:ea typeface="+mn-ea"/>
                        </a:rPr>
                        <a:t>19.14</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28" name="内容占位符 2">
            <a:extLst>
              <a:ext uri="{FF2B5EF4-FFF2-40B4-BE49-F238E27FC236}">
                <a16:creationId xmlns:a16="http://schemas.microsoft.com/office/drawing/2014/main" id="{0960566F-111A-3848-86C7-40621FDC824D}"/>
              </a:ext>
            </a:extLst>
          </p:cNvPr>
          <p:cNvSpPr txBox="1">
            <a:spLocks/>
          </p:cNvSpPr>
          <p:nvPr/>
        </p:nvSpPr>
        <p:spPr>
          <a:xfrm>
            <a:off x="6337300" y="5015787"/>
            <a:ext cx="5600700" cy="13057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en-US" altLang="zh-CN" sz="2000" i="1" dirty="0" err="1"/>
              <a:t>wt</a:t>
            </a:r>
            <a:r>
              <a:rPr lang="zh-CN" altLang="en-US" sz="2000" dirty="0"/>
              <a:t>小鼠肝脏胆固醇浓度为</a:t>
            </a:r>
            <a:r>
              <a:rPr lang="en-US" altLang="zh-CN" sz="2000" dirty="0">
                <a:latin typeface="Calibri" panose="020F0502020204030204"/>
                <a:ea typeface="Calibri" panose="020F0502020204030204"/>
              </a:rPr>
              <a:t>7.075</a:t>
            </a:r>
            <a:r>
              <a:rPr lang="zh-CN" altLang="en-US" sz="2000" dirty="0">
                <a:latin typeface="Calibri" panose="020F0502020204030204"/>
                <a:ea typeface="Calibri" panose="020F0502020204030204"/>
              </a:rPr>
              <a:t> </a:t>
            </a:r>
            <a:r>
              <a:rPr lang="en-US" altLang="zh-CN" sz="2000" dirty="0" err="1">
                <a:latin typeface="Calibri" panose="020F0502020204030204"/>
                <a:ea typeface="Calibri" panose="020F0502020204030204"/>
              </a:rPr>
              <a:t>μmol</a:t>
            </a:r>
            <a:r>
              <a:rPr lang="en-US" altLang="zh-CN" sz="2000" dirty="0">
                <a:latin typeface="Calibri" panose="020F0502020204030204"/>
                <a:ea typeface="Calibri" panose="020F0502020204030204"/>
              </a:rPr>
              <a:t>/g</a:t>
            </a:r>
            <a:endParaRPr lang="en-US" altLang="zh-CN" sz="2000" dirty="0"/>
          </a:p>
          <a:p>
            <a:pPr>
              <a:lnSpc>
                <a:spcPct val="150000"/>
              </a:lnSpc>
              <a:buFont typeface="Wingdings" pitchFamily="2" charset="2"/>
              <a:buChar char="Ø"/>
            </a:pPr>
            <a:r>
              <a:rPr lang="en-US" altLang="zh-CN" sz="2000" i="1" dirty="0" err="1"/>
              <a:t>ob</a:t>
            </a:r>
            <a:r>
              <a:rPr lang="en-US" altLang="zh-CN" sz="2000" i="1" dirty="0"/>
              <a:t>/</a:t>
            </a:r>
            <a:r>
              <a:rPr lang="en-US" altLang="zh-CN" sz="2000" i="1" dirty="0" err="1"/>
              <a:t>ob</a:t>
            </a:r>
            <a:r>
              <a:rPr lang="zh-CN" altLang="en-US" sz="2000" dirty="0"/>
              <a:t>小鼠肝脏胆固醇浓度为</a:t>
            </a:r>
            <a:r>
              <a:rPr lang="en-US" altLang="zh-CN" sz="2000" dirty="0">
                <a:latin typeface="Calibri" panose="020F0502020204030204"/>
                <a:ea typeface="Calibri" panose="020F0502020204030204"/>
              </a:rPr>
              <a:t>18.428</a:t>
            </a:r>
            <a:r>
              <a:rPr lang="zh-CN" altLang="en-US" sz="2000" dirty="0">
                <a:latin typeface="Calibri" panose="020F0502020204030204"/>
                <a:ea typeface="Calibri" panose="020F0502020204030204"/>
              </a:rPr>
              <a:t> </a:t>
            </a:r>
            <a:r>
              <a:rPr lang="en-US" altLang="zh-CN" sz="2000" dirty="0" err="1">
                <a:latin typeface="Calibri" panose="020F0502020204030204"/>
                <a:ea typeface="Calibri" panose="020F0502020204030204"/>
              </a:rPr>
              <a:t>μmol</a:t>
            </a:r>
            <a:r>
              <a:rPr lang="en-US" altLang="zh-CN" sz="2000" dirty="0">
                <a:latin typeface="Calibri" panose="020F0502020204030204"/>
                <a:ea typeface="Calibri" panose="020F0502020204030204"/>
              </a:rPr>
              <a:t>/g</a:t>
            </a:r>
            <a:endParaRPr lang="en-US" altLang="zh-CN" sz="2000" dirty="0"/>
          </a:p>
          <a:p>
            <a:pPr>
              <a:lnSpc>
                <a:spcPct val="150000"/>
              </a:lnSpc>
              <a:buFont typeface="Wingdings" pitchFamily="2" charset="2"/>
              <a:buChar char="Ø"/>
            </a:pPr>
            <a:endParaRPr lang="zh-CN" altLang="en-US" sz="2000" dirty="0"/>
          </a:p>
        </p:txBody>
      </p:sp>
      <p:pic>
        <p:nvPicPr>
          <p:cNvPr id="32" name="内容占位符 4">
            <a:extLst>
              <a:ext uri="{FF2B5EF4-FFF2-40B4-BE49-F238E27FC236}">
                <a16:creationId xmlns:a16="http://schemas.microsoft.com/office/drawing/2014/main" id="{C53AAAEA-4D98-A041-8349-646B87CFAE38}"/>
              </a:ext>
            </a:extLst>
          </p:cNvPr>
          <p:cNvPicPr>
            <a:picLocks noChangeAspect="1"/>
          </p:cNvPicPr>
          <p:nvPr/>
        </p:nvPicPr>
        <p:blipFill>
          <a:blip r:embed="rId6"/>
          <a:srcRect l="2571" t="40864" r="4724" b="36690"/>
          <a:stretch>
            <a:fillRect/>
          </a:stretch>
        </p:blipFill>
        <p:spPr>
          <a:xfrm>
            <a:off x="7201415" y="4856081"/>
            <a:ext cx="4736585" cy="883393"/>
          </a:xfrm>
          <a:prstGeom prst="rect">
            <a:avLst/>
          </a:prstGeom>
        </p:spPr>
      </p:pic>
      <p:sp>
        <p:nvSpPr>
          <p:cNvPr id="33" name="矩形 6">
            <a:extLst>
              <a:ext uri="{FF2B5EF4-FFF2-40B4-BE49-F238E27FC236}">
                <a16:creationId xmlns:a16="http://schemas.microsoft.com/office/drawing/2014/main" id="{5F73EF63-8FF3-EF4A-AD06-81177C1EB8EE}"/>
              </a:ext>
            </a:extLst>
          </p:cNvPr>
          <p:cNvSpPr/>
          <p:nvPr/>
        </p:nvSpPr>
        <p:spPr>
          <a:xfrm>
            <a:off x="7436249" y="4849463"/>
            <a:ext cx="713774" cy="890011"/>
          </a:xfrm>
          <a:prstGeom prst="rect">
            <a:avLst/>
          </a:prstGeom>
          <a:noFill/>
          <a:ln w="381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34" name="文本框 7">
            <a:extLst>
              <a:ext uri="{FF2B5EF4-FFF2-40B4-BE49-F238E27FC236}">
                <a16:creationId xmlns:a16="http://schemas.microsoft.com/office/drawing/2014/main" id="{7A5D8A2F-E1A2-7241-8F7E-A31EFC8B7C9F}"/>
              </a:ext>
            </a:extLst>
          </p:cNvPr>
          <p:cNvSpPr txBox="1"/>
          <p:nvPr/>
        </p:nvSpPr>
        <p:spPr>
          <a:xfrm>
            <a:off x="5984872" y="5850746"/>
            <a:ext cx="3540327" cy="584775"/>
          </a:xfrm>
          <a:prstGeom prst="rect">
            <a:avLst/>
          </a:prstGeom>
          <a:noFill/>
        </p:spPr>
        <p:txBody>
          <a:bodyPr wrap="square" rtlCol="0">
            <a:spAutoFit/>
          </a:bodyPr>
          <a:lstStyle/>
          <a:p>
            <a:pPr algn="ctr"/>
            <a:r>
              <a:rPr lang="zh-CN" altLang="en-US" sz="1600" dirty="0">
                <a:solidFill>
                  <a:srgbClr val="FF0000"/>
                </a:solidFill>
                <a:ea typeface="微软雅黑" panose="020B0503020204020204" pitchFamily="34" charset="-122"/>
              </a:rPr>
              <a:t>明显黄色</a:t>
            </a:r>
          </a:p>
          <a:p>
            <a:pPr algn="ctr"/>
            <a:r>
              <a:rPr lang="zh-CN" altLang="en-US" sz="1600" dirty="0">
                <a:solidFill>
                  <a:srgbClr val="FF0000"/>
                </a:solidFill>
                <a:ea typeface="微软雅黑" panose="020B0503020204020204" pitchFamily="34" charset="-122"/>
              </a:rPr>
              <a:t>加入</a:t>
            </a:r>
            <a:r>
              <a:rPr lang="en-US" altLang="zh-CN" sz="1600" dirty="0">
                <a:solidFill>
                  <a:srgbClr val="FF0000"/>
                </a:solidFill>
                <a:ea typeface="微软雅黑" panose="020B0503020204020204" pitchFamily="34" charset="-122"/>
              </a:rPr>
              <a:t>NaCl</a:t>
            </a:r>
            <a:r>
              <a:rPr lang="zh-CN" altLang="en-US" sz="1600" dirty="0">
                <a:solidFill>
                  <a:srgbClr val="FF0000"/>
                </a:solidFill>
                <a:ea typeface="微软雅黑" panose="020B0503020204020204" pitchFamily="34" charset="-122"/>
              </a:rPr>
              <a:t>以后生成白色絮状沉淀</a:t>
            </a:r>
          </a:p>
        </p:txBody>
      </p:sp>
    </p:spTree>
    <p:extLst>
      <p:ext uri="{BB962C8B-B14F-4D97-AF65-F5344CB8AC3E}">
        <p14:creationId xmlns:p14="http://schemas.microsoft.com/office/powerpoint/2010/main" val="249790124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par>
                                <p:cTn id="8" presetID="3" presetClass="entr" presetSubtype="1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blinds(horizontal)">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1"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linds(horizontal)">
                                      <p:cBhvr>
                                        <p:cTn id="15" dur="500"/>
                                        <p:tgtEl>
                                          <p:spTgt spid="33"/>
                                        </p:tgtEl>
                                      </p:cBhvr>
                                    </p:animEffect>
                                  </p:childTnLst>
                                </p:cTn>
                              </p:par>
                              <p:par>
                                <p:cTn id="16" presetID="3" presetClass="entr" presetSubtype="10" fill="hold" grpId="1"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blinds(horizontal)">
                                      <p:cBhvr>
                                        <p:cTn id="18" dur="5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32"/>
                                        </p:tgtEl>
                                        <p:attrNameLst>
                                          <p:attrName>style.visibility</p:attrName>
                                        </p:attrNameLst>
                                      </p:cBhvr>
                                      <p:to>
                                        <p:strVal val="hidden"/>
                                      </p:to>
                                    </p:set>
                                  </p:childTnLst>
                                </p:cTn>
                              </p:par>
                              <p:par>
                                <p:cTn id="27" presetID="3" presetClass="entr" presetSubtype="1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blinds(horizontal)">
                                      <p:cBhvr>
                                        <p:cTn id="2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3" grpId="0" animBg="1"/>
      <p:bldP spid="33" grpId="1" animBg="1"/>
      <p:bldP spid="34" grpId="0"/>
      <p:bldP spid="3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6302542" cy="584775"/>
          </a:xfrm>
          <a:prstGeom prst="rect">
            <a:avLst/>
          </a:prstGeom>
          <a:noFill/>
        </p:spPr>
        <p:txBody>
          <a:bodyPr wrap="square" rtlCol="0">
            <a:spAutoFit/>
          </a:bodyPr>
          <a:lstStyle/>
          <a:p>
            <a:r>
              <a:rPr kumimoji="1" lang="zh-CN" altLang="en-US" sz="3200" dirty="0"/>
              <a:t>差异性分析</a:t>
            </a: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492875"/>
            <a:ext cx="4031850" cy="365125"/>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zh-CN" altLang="en-US" b="1" dirty="0">
                <a:solidFill>
                  <a:schemeClr val="bg1"/>
                </a:solidFill>
              </a:rPr>
              <a:t>酶法</a:t>
            </a: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pic>
        <p:nvPicPr>
          <p:cNvPr id="14" name="图片 19" descr="0932bab7615f860006d96897d258b92">
            <a:extLst>
              <a:ext uri="{FF2B5EF4-FFF2-40B4-BE49-F238E27FC236}">
                <a16:creationId xmlns:a16="http://schemas.microsoft.com/office/drawing/2014/main" id="{1F475F14-DF30-8F43-9FDD-A2A1626910A5}"/>
              </a:ext>
            </a:extLst>
          </p:cNvPr>
          <p:cNvPicPr>
            <a:picLocks noChangeAspect="1"/>
          </p:cNvPicPr>
          <p:nvPr/>
        </p:nvPicPr>
        <p:blipFill>
          <a:blip r:embed="rId4"/>
          <a:stretch>
            <a:fillRect/>
          </a:stretch>
        </p:blipFill>
        <p:spPr>
          <a:xfrm>
            <a:off x="288758" y="1352962"/>
            <a:ext cx="6394450" cy="4601845"/>
          </a:xfrm>
          <a:prstGeom prst="rect">
            <a:avLst/>
          </a:prstGeom>
        </p:spPr>
      </p:pic>
      <p:sp>
        <p:nvSpPr>
          <p:cNvPr id="15" name="内容占位符 2">
            <a:extLst>
              <a:ext uri="{FF2B5EF4-FFF2-40B4-BE49-F238E27FC236}">
                <a16:creationId xmlns:a16="http://schemas.microsoft.com/office/drawing/2014/main" id="{F1B3DBFC-EB71-DF4F-88E9-B26AD062FD4E}"/>
              </a:ext>
            </a:extLst>
          </p:cNvPr>
          <p:cNvSpPr txBox="1">
            <a:spLocks/>
          </p:cNvSpPr>
          <p:nvPr/>
        </p:nvSpPr>
        <p:spPr>
          <a:xfrm>
            <a:off x="6683208" y="2368962"/>
            <a:ext cx="5600700" cy="29396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肝脏组</a:t>
            </a:r>
            <a:r>
              <a:rPr lang="en-US" altLang="zh-CN" sz="2000" dirty="0"/>
              <a:t>ANOVA</a:t>
            </a:r>
            <a:r>
              <a:rPr lang="zh-CN" altLang="en-US" sz="2000" dirty="0"/>
              <a:t>中</a:t>
            </a:r>
            <a:r>
              <a:rPr lang="en-US" altLang="zh-CN" sz="2000" dirty="0"/>
              <a:t>p</a:t>
            </a:r>
            <a:r>
              <a:rPr lang="zh-CN" altLang="en-US" sz="2000" dirty="0"/>
              <a:t>值为</a:t>
            </a:r>
            <a:r>
              <a:rPr lang="en-US" altLang="zh-CN" sz="2000" dirty="0"/>
              <a:t>0.0339</a:t>
            </a:r>
          </a:p>
          <a:p>
            <a:pPr>
              <a:lnSpc>
                <a:spcPct val="150000"/>
              </a:lnSpc>
              <a:buFont typeface="Wingdings" pitchFamily="2" charset="2"/>
              <a:buChar char="Ø"/>
            </a:pPr>
            <a:r>
              <a:rPr lang="zh-CN" altLang="en-US" sz="2000" dirty="0"/>
              <a:t>血浆组</a:t>
            </a:r>
            <a:r>
              <a:rPr lang="en-US" altLang="zh-CN" sz="2000" dirty="0"/>
              <a:t>ANOVA</a:t>
            </a:r>
            <a:r>
              <a:rPr lang="zh-CN" altLang="en-US" sz="2000" dirty="0"/>
              <a:t>中</a:t>
            </a:r>
            <a:r>
              <a:rPr lang="en-US" altLang="zh-CN" sz="2000" dirty="0"/>
              <a:t>p</a:t>
            </a:r>
            <a:r>
              <a:rPr lang="zh-CN" altLang="en-US" sz="2000" dirty="0"/>
              <a:t>值为</a:t>
            </a:r>
            <a:r>
              <a:rPr lang="en-US" altLang="zh-CN" sz="2000" dirty="0"/>
              <a:t>0.00425</a:t>
            </a:r>
          </a:p>
          <a:p>
            <a:pPr>
              <a:lnSpc>
                <a:spcPct val="150000"/>
              </a:lnSpc>
              <a:buFont typeface="Wingdings" pitchFamily="2" charset="2"/>
              <a:buChar char="Ø"/>
            </a:pPr>
            <a:r>
              <a:rPr lang="zh-CN" altLang="en-US" sz="2000" dirty="0"/>
              <a:t>结论：</a:t>
            </a:r>
            <a:r>
              <a:rPr lang="en-US" altLang="zh-CN" sz="2000" i="1" dirty="0" err="1"/>
              <a:t>wt</a:t>
            </a:r>
            <a:r>
              <a:rPr lang="zh-CN" altLang="en-US" sz="2000" dirty="0"/>
              <a:t>小鼠和</a:t>
            </a:r>
            <a:r>
              <a:rPr lang="en-US" altLang="zh-CN" sz="2000" i="1" dirty="0" err="1"/>
              <a:t>ob</a:t>
            </a:r>
            <a:r>
              <a:rPr lang="en-US" altLang="zh-CN" sz="2000" i="1" dirty="0"/>
              <a:t>/</a:t>
            </a:r>
            <a:r>
              <a:rPr lang="en-US" altLang="zh-CN" sz="2000" i="1" dirty="0" err="1"/>
              <a:t>ob</a:t>
            </a:r>
            <a:r>
              <a:rPr lang="zh-CN" altLang="en-US" sz="2000" dirty="0"/>
              <a:t>小鼠在血浆和肝脏样本上分别有显著性差异</a:t>
            </a:r>
          </a:p>
        </p:txBody>
      </p:sp>
      <p:sp>
        <p:nvSpPr>
          <p:cNvPr id="2" name="TextBox 1">
            <a:extLst>
              <a:ext uri="{FF2B5EF4-FFF2-40B4-BE49-F238E27FC236}">
                <a16:creationId xmlns:a16="http://schemas.microsoft.com/office/drawing/2014/main" id="{9DECFBAB-8BB4-1547-8CFE-B4A61C9397A6}"/>
              </a:ext>
            </a:extLst>
          </p:cNvPr>
          <p:cNvSpPr txBox="1"/>
          <p:nvPr/>
        </p:nvSpPr>
        <p:spPr>
          <a:xfrm>
            <a:off x="2861805" y="5688304"/>
            <a:ext cx="1248355" cy="369332"/>
          </a:xfrm>
          <a:prstGeom prst="rect">
            <a:avLst/>
          </a:prstGeom>
          <a:noFill/>
        </p:spPr>
        <p:txBody>
          <a:bodyPr wrap="none" rtlCol="0">
            <a:spAutoFit/>
          </a:bodyPr>
          <a:lstStyle/>
          <a:p>
            <a:r>
              <a:rPr kumimoji="1" lang="en-US" altLang="zh-CN" dirty="0"/>
              <a:t>t-</a:t>
            </a:r>
            <a:r>
              <a:rPr kumimoji="1" lang="zh-CN" altLang="en-US" dirty="0"/>
              <a:t>检验结果</a:t>
            </a:r>
          </a:p>
        </p:txBody>
      </p:sp>
    </p:spTree>
    <p:extLst>
      <p:ext uri="{BB962C8B-B14F-4D97-AF65-F5344CB8AC3E}">
        <p14:creationId xmlns:p14="http://schemas.microsoft.com/office/powerpoint/2010/main" val="183341820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blinds(horizontal)">
                                      <p:cBhvr>
                                        <p:cTn id="10" dur="500"/>
                                        <p:tgtEl>
                                          <p:spTgt spid="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animEffect transition="in" filter="blinds(horizontal)">
                                      <p:cBhvr>
                                        <p:cTn id="15"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6302542" cy="584775"/>
          </a:xfrm>
          <a:prstGeom prst="rect">
            <a:avLst/>
          </a:prstGeom>
          <a:noFill/>
        </p:spPr>
        <p:txBody>
          <a:bodyPr wrap="square" rtlCol="0">
            <a:spAutoFit/>
          </a:bodyPr>
          <a:lstStyle/>
          <a:p>
            <a:r>
              <a:rPr kumimoji="1" lang="zh-CN" altLang="en-US" sz="3200" dirty="0"/>
              <a:t>相关性分析</a:t>
            </a: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492875"/>
            <a:ext cx="4031850" cy="365125"/>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zh-CN" altLang="en-US" b="1" dirty="0">
                <a:solidFill>
                  <a:schemeClr val="bg1"/>
                </a:solidFill>
              </a:rPr>
              <a:t>酶法</a:t>
            </a: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5" name="内容占位符 2">
            <a:extLst>
              <a:ext uri="{FF2B5EF4-FFF2-40B4-BE49-F238E27FC236}">
                <a16:creationId xmlns:a16="http://schemas.microsoft.com/office/drawing/2014/main" id="{F1B3DBFC-EB71-DF4F-88E9-B26AD062FD4E}"/>
              </a:ext>
            </a:extLst>
          </p:cNvPr>
          <p:cNvSpPr txBox="1">
            <a:spLocks/>
          </p:cNvSpPr>
          <p:nvPr/>
        </p:nvSpPr>
        <p:spPr>
          <a:xfrm>
            <a:off x="6310669" y="2186890"/>
            <a:ext cx="5600700" cy="29396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正式实验选取了同一只小鼠的血浆和肝脏样品</a:t>
            </a:r>
            <a:endParaRPr lang="en-US" altLang="zh-CN" sz="2000" dirty="0"/>
          </a:p>
          <a:p>
            <a:pPr>
              <a:lnSpc>
                <a:spcPct val="150000"/>
              </a:lnSpc>
              <a:buFont typeface="Wingdings" pitchFamily="2" charset="2"/>
              <a:buChar char="Ø"/>
            </a:pPr>
            <a:r>
              <a:rPr lang="zh-CN" altLang="en-US" sz="2000" dirty="0"/>
              <a:t>统计发现虽然二者符合的线性程度较差，但是</a:t>
            </a:r>
            <a:r>
              <a:rPr lang="en-US" altLang="zh-CN" sz="2000" dirty="0"/>
              <a:t>R</a:t>
            </a:r>
            <a:r>
              <a:rPr lang="en-US" altLang="zh-CN" sz="2000" baseline="30000" dirty="0"/>
              <a:t>2</a:t>
            </a:r>
            <a:r>
              <a:rPr lang="zh-CN" altLang="en-US" sz="2000" dirty="0"/>
              <a:t>仍大于</a:t>
            </a:r>
            <a:r>
              <a:rPr lang="en-US" altLang="zh-CN" sz="2000" dirty="0"/>
              <a:t>0.9</a:t>
            </a:r>
          </a:p>
          <a:p>
            <a:pPr>
              <a:lnSpc>
                <a:spcPct val="150000"/>
              </a:lnSpc>
              <a:buFont typeface="Wingdings" pitchFamily="2" charset="2"/>
              <a:buChar char="Ø"/>
            </a:pPr>
            <a:r>
              <a:rPr lang="zh-CN" altLang="en-US" sz="2000" dirty="0"/>
              <a:t>说明小鼠血浆胆固醇浓度与小鼠肝脏胆固醇浓度呈正相关关系</a:t>
            </a:r>
          </a:p>
        </p:txBody>
      </p:sp>
      <p:graphicFrame>
        <p:nvGraphicFramePr>
          <p:cNvPr id="16" name="图表 1">
            <a:extLst>
              <a:ext uri="{FF2B5EF4-FFF2-40B4-BE49-F238E27FC236}">
                <a16:creationId xmlns:a16="http://schemas.microsoft.com/office/drawing/2014/main" id="{A7572D1C-4E39-384C-A020-F6E60BEB6361}"/>
              </a:ext>
            </a:extLst>
          </p:cNvPr>
          <p:cNvGraphicFramePr/>
          <p:nvPr>
            <p:extLst>
              <p:ext uri="{D42A27DB-BD31-4B8C-83A1-F6EECF244321}">
                <p14:modId xmlns:p14="http://schemas.microsoft.com/office/powerpoint/2010/main" val="4113646689"/>
              </p:ext>
            </p:extLst>
          </p:nvPr>
        </p:nvGraphicFramePr>
        <p:xfrm>
          <a:off x="-317500" y="1163179"/>
          <a:ext cx="6628169" cy="55721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82032222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blinds(horizontal)">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blinds(horizontal)">
                                      <p:cBhvr>
                                        <p:cTn id="17"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4533499" cy="584775"/>
          </a:xfrm>
          <a:prstGeom prst="rect">
            <a:avLst/>
          </a:prstGeom>
          <a:noFill/>
        </p:spPr>
        <p:txBody>
          <a:bodyPr wrap="square" rtlCol="0">
            <a:spAutoFit/>
          </a:bodyPr>
          <a:lstStyle/>
          <a:p>
            <a:r>
              <a:rPr kumimoji="1" lang="zh-CN" altLang="en-US" sz="3200" dirty="0"/>
              <a:t>不理想的实验结果</a:t>
            </a: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492875"/>
            <a:ext cx="4031850" cy="365125"/>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zh-CN" altLang="en-US" b="1" dirty="0">
                <a:solidFill>
                  <a:schemeClr val="bg1"/>
                </a:solidFill>
              </a:rPr>
              <a:t>酶法</a:t>
            </a: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graphicFrame>
        <p:nvGraphicFramePr>
          <p:cNvPr id="11" name="图表 3" descr="7b0a202020202263686172745265734964223a202234353536333835220a7d0a">
            <a:extLst>
              <a:ext uri="{FF2B5EF4-FFF2-40B4-BE49-F238E27FC236}">
                <a16:creationId xmlns:a16="http://schemas.microsoft.com/office/drawing/2014/main" id="{0E6195C2-DDB6-B542-873C-F97BDF046850}"/>
              </a:ext>
            </a:extLst>
          </p:cNvPr>
          <p:cNvGraphicFramePr/>
          <p:nvPr/>
        </p:nvGraphicFramePr>
        <p:xfrm>
          <a:off x="6096635" y="2025015"/>
          <a:ext cx="5282565" cy="326263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图表 4" descr="7b0a202020202263686172745265734964223a202234353536333835220a7d0a">
            <a:extLst>
              <a:ext uri="{FF2B5EF4-FFF2-40B4-BE49-F238E27FC236}">
                <a16:creationId xmlns:a16="http://schemas.microsoft.com/office/drawing/2014/main" id="{C43A9215-B97D-0B4F-A4BF-29DC7FD68426}"/>
              </a:ext>
            </a:extLst>
          </p:cNvPr>
          <p:cNvGraphicFramePr/>
          <p:nvPr/>
        </p:nvGraphicFramePr>
        <p:xfrm>
          <a:off x="467995" y="2024380"/>
          <a:ext cx="5530850" cy="3303270"/>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582BD24C-4087-3748-85CD-00DA33A60ADA}"/>
              </a:ext>
            </a:extLst>
          </p:cNvPr>
          <p:cNvSpPr txBox="1"/>
          <p:nvPr/>
        </p:nvSpPr>
        <p:spPr>
          <a:xfrm>
            <a:off x="388269" y="1574800"/>
            <a:ext cx="1800493" cy="369332"/>
          </a:xfrm>
          <a:prstGeom prst="rect">
            <a:avLst/>
          </a:prstGeom>
          <a:noFill/>
        </p:spPr>
        <p:txBody>
          <a:bodyPr wrap="none" rtlCol="0">
            <a:spAutoFit/>
          </a:bodyPr>
          <a:lstStyle/>
          <a:p>
            <a:r>
              <a:rPr kumimoji="1" lang="zh-CN" altLang="en-US" dirty="0"/>
              <a:t>第一次正式实验</a:t>
            </a:r>
          </a:p>
        </p:txBody>
      </p:sp>
    </p:spTree>
    <p:extLst>
      <p:ext uri="{BB962C8B-B14F-4D97-AF65-F5344CB8AC3E}">
        <p14:creationId xmlns:p14="http://schemas.microsoft.com/office/powerpoint/2010/main" val="39492964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llustration of chemistry laboratory instruments set - Download Free ...">
            <a:extLst>
              <a:ext uri="{FF2B5EF4-FFF2-40B4-BE49-F238E27FC236}">
                <a16:creationId xmlns:a16="http://schemas.microsoft.com/office/drawing/2014/main" id="{710DEE01-6623-0748-8E05-CBBC17A2B623}"/>
              </a:ext>
            </a:extLst>
          </p:cNvPr>
          <p:cNvPicPr>
            <a:picLocks noChangeAspect="1" noChangeArrowheads="1"/>
          </p:cNvPicPr>
          <p:nvPr/>
        </p:nvPicPr>
        <p:blipFill rotWithShape="1">
          <a:blip r:embed="rId3">
            <a:lum bright="70000" contrast="-70000"/>
            <a:alphaModFix amt="35000"/>
            <a:extLst>
              <a:ext uri="{28A0092B-C50C-407E-A947-70E740481C1C}">
                <a14:useLocalDpi xmlns:a14="http://schemas.microsoft.com/office/drawing/2010/main" val="0"/>
              </a:ext>
            </a:extLst>
          </a:blip>
          <a:srcRect t="25741"/>
          <a:stretch/>
        </p:blipFill>
        <p:spPr bwMode="auto">
          <a:xfrm>
            <a:off x="1" y="42685"/>
            <a:ext cx="12192000" cy="677262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6AE7A7E-4A6E-0B4F-8DBE-2FA73700C383}"/>
              </a:ext>
            </a:extLst>
          </p:cNvPr>
          <p:cNvSpPr txBox="1"/>
          <p:nvPr/>
        </p:nvSpPr>
        <p:spPr>
          <a:xfrm>
            <a:off x="2155666" y="3013501"/>
            <a:ext cx="7879080" cy="707886"/>
          </a:xfrm>
          <a:prstGeom prst="rect">
            <a:avLst/>
          </a:prstGeom>
          <a:noFill/>
        </p:spPr>
        <p:txBody>
          <a:bodyPr wrap="none" rtlCol="0">
            <a:spAutoFit/>
          </a:bodyPr>
          <a:lstStyle/>
          <a:p>
            <a:pPr algn="ctr"/>
            <a:r>
              <a:rPr kumimoji="1" lang="zh-CN" altLang="en-US" sz="4000" dirty="0">
                <a:latin typeface="SimHei" panose="02010609060101010101" pitchFamily="49" charset="-122"/>
                <a:ea typeface="SimHei" panose="02010609060101010101" pitchFamily="49" charset="-122"/>
              </a:rPr>
              <a:t>磷硫铁法测定小鼠肝脏胆固醇含量</a:t>
            </a:r>
          </a:p>
        </p:txBody>
      </p:sp>
    </p:spTree>
    <p:extLst>
      <p:ext uri="{BB962C8B-B14F-4D97-AF65-F5344CB8AC3E}">
        <p14:creationId xmlns:p14="http://schemas.microsoft.com/office/powerpoint/2010/main" val="80205565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磷硫铁法</a:t>
            </a: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4" name="TextBox 13">
            <a:extLst>
              <a:ext uri="{FF2B5EF4-FFF2-40B4-BE49-F238E27FC236}">
                <a16:creationId xmlns:a16="http://schemas.microsoft.com/office/drawing/2014/main" id="{5830872C-F521-9C47-8721-1E06EDD7685A}"/>
              </a:ext>
            </a:extLst>
          </p:cNvPr>
          <p:cNvSpPr txBox="1"/>
          <p:nvPr/>
        </p:nvSpPr>
        <p:spPr>
          <a:xfrm>
            <a:off x="288758" y="404261"/>
            <a:ext cx="6302542" cy="584775"/>
          </a:xfrm>
          <a:prstGeom prst="rect">
            <a:avLst/>
          </a:prstGeom>
          <a:noFill/>
        </p:spPr>
        <p:txBody>
          <a:bodyPr wrap="square" rtlCol="0">
            <a:spAutoFit/>
          </a:bodyPr>
          <a:lstStyle/>
          <a:p>
            <a:r>
              <a:rPr kumimoji="1" lang="zh-CN" altLang="en-US" sz="3200" dirty="0"/>
              <a:t>实验结果</a:t>
            </a:r>
          </a:p>
        </p:txBody>
      </p:sp>
      <p:graphicFrame>
        <p:nvGraphicFramePr>
          <p:cNvPr id="16" name="Chart 15">
            <a:extLst>
              <a:ext uri="{FF2B5EF4-FFF2-40B4-BE49-F238E27FC236}">
                <a16:creationId xmlns:a16="http://schemas.microsoft.com/office/drawing/2014/main" id="{CD05CC05-6A19-394D-9BE0-DDC36819271E}"/>
              </a:ext>
            </a:extLst>
          </p:cNvPr>
          <p:cNvGraphicFramePr/>
          <p:nvPr>
            <p:extLst>
              <p:ext uri="{D42A27DB-BD31-4B8C-83A1-F6EECF244321}">
                <p14:modId xmlns:p14="http://schemas.microsoft.com/office/powerpoint/2010/main" val="2893985082"/>
              </p:ext>
            </p:extLst>
          </p:nvPr>
        </p:nvGraphicFramePr>
        <p:xfrm>
          <a:off x="305920" y="1465363"/>
          <a:ext cx="4763302" cy="458443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Chart 18">
            <a:extLst>
              <a:ext uri="{FF2B5EF4-FFF2-40B4-BE49-F238E27FC236}">
                <a16:creationId xmlns:a16="http://schemas.microsoft.com/office/drawing/2014/main" id="{00000000-0008-0000-0000-000002000000}"/>
              </a:ext>
            </a:extLst>
          </p:cNvPr>
          <p:cNvGraphicFramePr/>
          <p:nvPr>
            <p:extLst>
              <p:ext uri="{D42A27DB-BD31-4B8C-83A1-F6EECF244321}">
                <p14:modId xmlns:p14="http://schemas.microsoft.com/office/powerpoint/2010/main" val="2358365129"/>
              </p:ext>
            </p:extLst>
          </p:nvPr>
        </p:nvGraphicFramePr>
        <p:xfrm>
          <a:off x="6872221" y="1694595"/>
          <a:ext cx="4284729" cy="4584431"/>
        </p:xfrm>
        <a:graphic>
          <a:graphicData uri="http://schemas.openxmlformats.org/drawingml/2006/chart">
            <c:chart xmlns:c="http://schemas.openxmlformats.org/drawingml/2006/chart" xmlns:r="http://schemas.openxmlformats.org/officeDocument/2006/relationships" r:id="rId5"/>
          </a:graphicData>
        </a:graphic>
      </p:graphicFrame>
      <p:cxnSp>
        <p:nvCxnSpPr>
          <p:cNvPr id="4" name="Straight Arrow Connector 3">
            <a:extLst>
              <a:ext uri="{FF2B5EF4-FFF2-40B4-BE49-F238E27FC236}">
                <a16:creationId xmlns:a16="http://schemas.microsoft.com/office/drawing/2014/main" id="{DDD16E96-0155-E54B-972A-644E16C6109C}"/>
              </a:ext>
            </a:extLst>
          </p:cNvPr>
          <p:cNvCxnSpPr>
            <a:cxnSpLocks/>
          </p:cNvCxnSpPr>
          <p:nvPr/>
        </p:nvCxnSpPr>
        <p:spPr>
          <a:xfrm>
            <a:off x="4490570" y="3379315"/>
            <a:ext cx="22546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 name="TextBox 5">
            <a:extLst>
              <a:ext uri="{FF2B5EF4-FFF2-40B4-BE49-F238E27FC236}">
                <a16:creationId xmlns:a16="http://schemas.microsoft.com/office/drawing/2014/main" id="{1FDA6EE1-A355-EC44-A7AC-973B8C81DBC2}"/>
              </a:ext>
            </a:extLst>
          </p:cNvPr>
          <p:cNvSpPr txBox="1"/>
          <p:nvPr/>
        </p:nvSpPr>
        <p:spPr>
          <a:xfrm>
            <a:off x="4483063" y="3009983"/>
            <a:ext cx="2262158" cy="369332"/>
          </a:xfrm>
          <a:prstGeom prst="rect">
            <a:avLst/>
          </a:prstGeom>
          <a:noFill/>
        </p:spPr>
        <p:txBody>
          <a:bodyPr wrap="none" rtlCol="0">
            <a:spAutoFit/>
          </a:bodyPr>
          <a:lstStyle/>
          <a:p>
            <a:r>
              <a:rPr kumimoji="1" lang="zh-CN" altLang="en-US" dirty="0"/>
              <a:t>乙醇挥发、试剂比例</a:t>
            </a:r>
          </a:p>
        </p:txBody>
      </p:sp>
      <p:sp>
        <p:nvSpPr>
          <p:cNvPr id="21" name="TextBox 20">
            <a:extLst>
              <a:ext uri="{FF2B5EF4-FFF2-40B4-BE49-F238E27FC236}">
                <a16:creationId xmlns:a16="http://schemas.microsoft.com/office/drawing/2014/main" id="{FF2025C4-839B-E14C-80B3-C8DAF03579FD}"/>
              </a:ext>
            </a:extLst>
          </p:cNvPr>
          <p:cNvSpPr txBox="1"/>
          <p:nvPr/>
        </p:nvSpPr>
        <p:spPr>
          <a:xfrm>
            <a:off x="4717649" y="3379315"/>
            <a:ext cx="1800493" cy="369332"/>
          </a:xfrm>
          <a:prstGeom prst="rect">
            <a:avLst/>
          </a:prstGeom>
          <a:noFill/>
        </p:spPr>
        <p:txBody>
          <a:bodyPr wrap="none" rtlCol="0">
            <a:spAutoFit/>
          </a:bodyPr>
          <a:lstStyle/>
          <a:p>
            <a:r>
              <a:rPr kumimoji="1" lang="zh-CN" altLang="en-US" dirty="0"/>
              <a:t>合适的反应时间</a:t>
            </a:r>
          </a:p>
        </p:txBody>
      </p:sp>
      <p:sp>
        <p:nvSpPr>
          <p:cNvPr id="22" name="TextBox 21">
            <a:extLst>
              <a:ext uri="{FF2B5EF4-FFF2-40B4-BE49-F238E27FC236}">
                <a16:creationId xmlns:a16="http://schemas.microsoft.com/office/drawing/2014/main" id="{A3F75882-F985-3645-BB7E-496F8E6D348D}"/>
              </a:ext>
            </a:extLst>
          </p:cNvPr>
          <p:cNvSpPr txBox="1"/>
          <p:nvPr/>
        </p:nvSpPr>
        <p:spPr>
          <a:xfrm>
            <a:off x="2148840" y="1325263"/>
            <a:ext cx="1569660" cy="369332"/>
          </a:xfrm>
          <a:prstGeom prst="rect">
            <a:avLst/>
          </a:prstGeom>
          <a:noFill/>
        </p:spPr>
        <p:txBody>
          <a:bodyPr wrap="none" rtlCol="0">
            <a:spAutoFit/>
          </a:bodyPr>
          <a:lstStyle/>
          <a:p>
            <a:r>
              <a:rPr kumimoji="1" lang="zh-CN" altLang="en-US" dirty="0"/>
              <a:t>第一次预实验</a:t>
            </a:r>
          </a:p>
        </p:txBody>
      </p:sp>
      <p:sp>
        <p:nvSpPr>
          <p:cNvPr id="23" name="TextBox 22">
            <a:extLst>
              <a:ext uri="{FF2B5EF4-FFF2-40B4-BE49-F238E27FC236}">
                <a16:creationId xmlns:a16="http://schemas.microsoft.com/office/drawing/2014/main" id="{320650C6-AB33-D244-A89B-12B6D5C0CAB2}"/>
              </a:ext>
            </a:extLst>
          </p:cNvPr>
          <p:cNvSpPr txBox="1"/>
          <p:nvPr/>
        </p:nvSpPr>
        <p:spPr>
          <a:xfrm>
            <a:off x="8729424" y="1325263"/>
            <a:ext cx="1107996" cy="369332"/>
          </a:xfrm>
          <a:prstGeom prst="rect">
            <a:avLst/>
          </a:prstGeom>
          <a:noFill/>
        </p:spPr>
        <p:txBody>
          <a:bodyPr wrap="none" rtlCol="0">
            <a:spAutoFit/>
          </a:bodyPr>
          <a:lstStyle/>
          <a:p>
            <a:r>
              <a:rPr kumimoji="1" lang="zh-CN" altLang="en-US" dirty="0"/>
              <a:t>正式实验</a:t>
            </a:r>
          </a:p>
        </p:txBody>
      </p:sp>
    </p:spTree>
    <p:extLst>
      <p:ext uri="{BB962C8B-B14F-4D97-AF65-F5344CB8AC3E}">
        <p14:creationId xmlns:p14="http://schemas.microsoft.com/office/powerpoint/2010/main" val="4366390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blinds(horizontal)">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linds(horizontal)">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linds(horizontal)">
                                      <p:cBhvr>
                                        <p:cTn id="26" dur="500"/>
                                        <p:tgtEl>
                                          <p:spTgt spid="19"/>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blinds(horizontal)">
                                      <p:cBhvr>
                                        <p:cTn id="2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p:bldAsOne/>
      </p:bldGraphic>
      <p:bldGraphic spid="19" grpId="0">
        <p:bldAsOne/>
      </p:bldGraphic>
      <p:bldP spid="6" grpId="0"/>
      <p:bldP spid="21" grpId="0"/>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磷硫铁法</a:t>
            </a: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4" name="TextBox 13">
            <a:extLst>
              <a:ext uri="{FF2B5EF4-FFF2-40B4-BE49-F238E27FC236}">
                <a16:creationId xmlns:a16="http://schemas.microsoft.com/office/drawing/2014/main" id="{5830872C-F521-9C47-8721-1E06EDD7685A}"/>
              </a:ext>
            </a:extLst>
          </p:cNvPr>
          <p:cNvSpPr txBox="1"/>
          <p:nvPr/>
        </p:nvSpPr>
        <p:spPr>
          <a:xfrm>
            <a:off x="288758" y="404261"/>
            <a:ext cx="6302542" cy="584775"/>
          </a:xfrm>
          <a:prstGeom prst="rect">
            <a:avLst/>
          </a:prstGeom>
          <a:noFill/>
        </p:spPr>
        <p:txBody>
          <a:bodyPr wrap="square" rtlCol="0">
            <a:spAutoFit/>
          </a:bodyPr>
          <a:lstStyle/>
          <a:p>
            <a:r>
              <a:rPr kumimoji="1" lang="zh-CN" altLang="en-US" sz="3200" dirty="0"/>
              <a:t>实验结果</a:t>
            </a:r>
          </a:p>
        </p:txBody>
      </p:sp>
      <p:graphicFrame>
        <p:nvGraphicFramePr>
          <p:cNvPr id="2" name="Table 1">
            <a:extLst>
              <a:ext uri="{FF2B5EF4-FFF2-40B4-BE49-F238E27FC236}">
                <a16:creationId xmlns:a16="http://schemas.microsoft.com/office/drawing/2014/main" id="{EBEDA459-8066-824B-A001-655A9420DB6D}"/>
              </a:ext>
            </a:extLst>
          </p:cNvPr>
          <p:cNvGraphicFramePr>
            <a:graphicFrameLocks noGrp="1"/>
          </p:cNvGraphicFramePr>
          <p:nvPr>
            <p:extLst>
              <p:ext uri="{D42A27DB-BD31-4B8C-83A1-F6EECF244321}">
                <p14:modId xmlns:p14="http://schemas.microsoft.com/office/powerpoint/2010/main" val="1315118963"/>
              </p:ext>
            </p:extLst>
          </p:nvPr>
        </p:nvGraphicFramePr>
        <p:xfrm>
          <a:off x="468630" y="1725930"/>
          <a:ext cx="4761547" cy="2466816"/>
        </p:xfrm>
        <a:graphic>
          <a:graphicData uri="http://schemas.openxmlformats.org/drawingml/2006/table">
            <a:tbl>
              <a:tblPr firstRow="1" firstCol="1" bandRow="1">
                <a:tableStyleId>{93296810-A885-4BE3-A3E7-6D5BEEA58F35}</a:tableStyleId>
              </a:tblPr>
              <a:tblGrid>
                <a:gridCol w="1472941">
                  <a:extLst>
                    <a:ext uri="{9D8B030D-6E8A-4147-A177-3AD203B41FA5}">
                      <a16:colId xmlns:a16="http://schemas.microsoft.com/office/drawing/2014/main" val="1762353990"/>
                    </a:ext>
                  </a:extLst>
                </a:gridCol>
                <a:gridCol w="3288606">
                  <a:extLst>
                    <a:ext uri="{9D8B030D-6E8A-4147-A177-3AD203B41FA5}">
                      <a16:colId xmlns:a16="http://schemas.microsoft.com/office/drawing/2014/main" val="1698093595"/>
                    </a:ext>
                  </a:extLst>
                </a:gridCol>
              </a:tblGrid>
              <a:tr h="839704">
                <a:tc>
                  <a:txBody>
                    <a:bodyPr/>
                    <a:lstStyle/>
                    <a:p>
                      <a:pPr algn="ctr">
                        <a:lnSpc>
                          <a:spcPct val="115000"/>
                        </a:lnSpc>
                      </a:pPr>
                      <a:r>
                        <a:rPr lang="en-US" sz="2000" kern="0" baseline="-25000">
                          <a:effectLst/>
                        </a:rPr>
                        <a:t> </a:t>
                      </a:r>
                      <a:endParaRPr lang="en-CN" sz="24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pPr>
                      <a:r>
                        <a:rPr lang="zh-CN" altLang="en-US" sz="2000" kern="0" dirty="0">
                          <a:effectLst/>
                        </a:rPr>
                        <a:t>肝脏</a:t>
                      </a:r>
                      <a:r>
                        <a:rPr lang="zh-CN" sz="2000" kern="0" dirty="0">
                          <a:effectLst/>
                        </a:rPr>
                        <a:t>胆固醇浓度（</a:t>
                      </a:r>
                      <a:r>
                        <a:rPr lang="el-GR" sz="2000" kern="0" dirty="0">
                          <a:effectLst/>
                        </a:rPr>
                        <a:t>μ</a:t>
                      </a:r>
                      <a:r>
                        <a:rPr lang="en-US" sz="2000" kern="0" dirty="0">
                          <a:effectLst/>
                        </a:rPr>
                        <a:t>mol/g</a:t>
                      </a:r>
                      <a:r>
                        <a:rPr lang="zh-CN" sz="2000" kern="0" dirty="0">
                          <a:effectLst/>
                        </a:rPr>
                        <a:t>）</a:t>
                      </a:r>
                      <a:endParaRPr lang="en-CN" sz="24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90403393"/>
                  </a:ext>
                </a:extLst>
              </a:tr>
              <a:tr h="406778">
                <a:tc>
                  <a:txBody>
                    <a:bodyPr/>
                    <a:lstStyle/>
                    <a:p>
                      <a:pPr algn="ctr">
                        <a:lnSpc>
                          <a:spcPct val="115000"/>
                        </a:lnSpc>
                      </a:pPr>
                      <a:r>
                        <a:rPr lang="en-CN" sz="2000" kern="0">
                          <a:effectLst/>
                        </a:rPr>
                        <a:t>w</a:t>
                      </a:r>
                      <a:r>
                        <a:rPr lang="en-US" sz="2000" kern="0">
                          <a:effectLst/>
                        </a:rPr>
                        <a:t>t4</a:t>
                      </a:r>
                      <a:endParaRPr lang="en-CN" sz="24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pPr>
                      <a:r>
                        <a:rPr lang="en-US" sz="2000" kern="0" dirty="0">
                          <a:effectLst/>
                        </a:rPr>
                        <a:t>17.5</a:t>
                      </a:r>
                      <a:r>
                        <a:rPr lang="el-GR" sz="2000" kern="0" dirty="0">
                          <a:effectLst/>
                        </a:rPr>
                        <a:t>4</a:t>
                      </a:r>
                      <a:endParaRPr lang="en-CN" sz="24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93658272"/>
                  </a:ext>
                </a:extLst>
              </a:tr>
              <a:tr h="406778">
                <a:tc>
                  <a:txBody>
                    <a:bodyPr/>
                    <a:lstStyle/>
                    <a:p>
                      <a:pPr algn="ctr">
                        <a:lnSpc>
                          <a:spcPct val="115000"/>
                        </a:lnSpc>
                      </a:pPr>
                      <a:r>
                        <a:rPr lang="en-CN" sz="2000" kern="0">
                          <a:effectLst/>
                        </a:rPr>
                        <a:t>wt</a:t>
                      </a:r>
                      <a:r>
                        <a:rPr lang="en-US" sz="2000" kern="0">
                          <a:effectLst/>
                        </a:rPr>
                        <a:t>11</a:t>
                      </a:r>
                      <a:endParaRPr lang="en-CN" sz="24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pPr>
                      <a:r>
                        <a:rPr lang="en-US" sz="2000" kern="0" dirty="0">
                          <a:effectLst/>
                        </a:rPr>
                        <a:t>12.48</a:t>
                      </a:r>
                      <a:endParaRPr lang="en-CN" sz="24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01509238"/>
                  </a:ext>
                </a:extLst>
              </a:tr>
              <a:tr h="406778">
                <a:tc>
                  <a:txBody>
                    <a:bodyPr/>
                    <a:lstStyle/>
                    <a:p>
                      <a:pPr algn="ctr">
                        <a:lnSpc>
                          <a:spcPct val="115000"/>
                        </a:lnSpc>
                      </a:pPr>
                      <a:r>
                        <a:rPr lang="en-CN" sz="2000" kern="0">
                          <a:effectLst/>
                        </a:rPr>
                        <a:t>o</a:t>
                      </a:r>
                      <a:r>
                        <a:rPr lang="en-US" sz="2000" kern="0">
                          <a:effectLst/>
                        </a:rPr>
                        <a:t>b4</a:t>
                      </a:r>
                      <a:endParaRPr lang="en-CN" sz="24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pPr>
                      <a:r>
                        <a:rPr lang="en-US" sz="2000" kern="0" dirty="0">
                          <a:effectLst/>
                        </a:rPr>
                        <a:t>22.50</a:t>
                      </a:r>
                      <a:endParaRPr lang="en-CN" sz="24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33921909"/>
                  </a:ext>
                </a:extLst>
              </a:tr>
              <a:tr h="406778">
                <a:tc>
                  <a:txBody>
                    <a:bodyPr/>
                    <a:lstStyle/>
                    <a:p>
                      <a:pPr algn="ctr">
                        <a:lnSpc>
                          <a:spcPct val="115000"/>
                        </a:lnSpc>
                      </a:pPr>
                      <a:r>
                        <a:rPr lang="en-US" sz="2000" kern="0" dirty="0">
                          <a:effectLst/>
                        </a:rPr>
                        <a:t>ob11</a:t>
                      </a:r>
                      <a:endParaRPr lang="en-CN" sz="24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pPr>
                      <a:r>
                        <a:rPr lang="en-US" sz="2000" kern="0" dirty="0">
                          <a:effectLst/>
                        </a:rPr>
                        <a:t>34.30</a:t>
                      </a:r>
                      <a:endParaRPr lang="en-CN" sz="24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3663484"/>
                  </a:ext>
                </a:extLst>
              </a:tr>
            </a:tbl>
          </a:graphicData>
        </a:graphic>
      </p:graphicFrame>
      <p:pic>
        <p:nvPicPr>
          <p:cNvPr id="7" name="Picture 6">
            <a:extLst>
              <a:ext uri="{FF2B5EF4-FFF2-40B4-BE49-F238E27FC236}">
                <a16:creationId xmlns:a16="http://schemas.microsoft.com/office/drawing/2014/main" id="{43F434EA-8DF5-2149-8B4D-029324F1AC6C}"/>
              </a:ext>
            </a:extLst>
          </p:cNvPr>
          <p:cNvPicPr>
            <a:picLocks noChangeAspect="1"/>
          </p:cNvPicPr>
          <p:nvPr/>
        </p:nvPicPr>
        <p:blipFill rotWithShape="1">
          <a:blip r:embed="rId4"/>
          <a:srcRect l="3351" t="8005" r="13086" b="6158"/>
          <a:stretch/>
        </p:blipFill>
        <p:spPr>
          <a:xfrm>
            <a:off x="5843467" y="1543050"/>
            <a:ext cx="6079917" cy="3854767"/>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8C4A270-E18F-1342-A702-1E58EAED430B}"/>
                  </a:ext>
                </a:extLst>
              </p:cNvPr>
              <p:cNvSpPr txBox="1"/>
              <p:nvPr/>
            </p:nvSpPr>
            <p:spPr>
              <a:xfrm>
                <a:off x="0" y="4593953"/>
                <a:ext cx="6097904" cy="61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𝐷𝐿</m:t>
                      </m:r>
                      <m:r>
                        <a:rPr lang="zh-CN" altLang="en-US" i="0">
                          <a:latin typeface="Cambria Math" panose="02040503050406030204" pitchFamily="18" charset="0"/>
                        </a:rPr>
                        <m:t>= </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𝑘𝑠</m:t>
                              </m:r>
                            </m:e>
                            <m:sub>
                              <m:r>
                                <a:rPr lang="zh-CN" altLang="en-US" i="1">
                                  <a:latin typeface="Cambria Math" panose="02040503050406030204" pitchFamily="18" charset="0"/>
                                </a:rPr>
                                <m:t>𝑏</m:t>
                              </m:r>
                            </m:sub>
                          </m:sSub>
                        </m:num>
                        <m:den>
                          <m:r>
                            <a:rPr lang="zh-CN" altLang="en-US" i="1">
                              <a:latin typeface="Cambria Math" panose="02040503050406030204" pitchFamily="18" charset="0"/>
                            </a:rPr>
                            <m:t>𝑚</m:t>
                          </m:r>
                        </m:den>
                      </m:f>
                      <m:r>
                        <a:rPr lang="zh-CN" altLang="en-US" i="0">
                          <a:latin typeface="Cambria Math" panose="02040503050406030204" pitchFamily="18" charset="0"/>
                        </a:rPr>
                        <m:t>= 0.00126</m:t>
                      </m:r>
                    </m:oMath>
                  </m:oMathPara>
                </a14:m>
                <a:endParaRPr lang="zh-CN" altLang="en-US" dirty="0"/>
              </a:p>
            </p:txBody>
          </p:sp>
        </mc:Choice>
        <mc:Fallback xmlns="">
          <p:sp>
            <p:nvSpPr>
              <p:cNvPr id="17" name="TextBox 16">
                <a:extLst>
                  <a:ext uri="{FF2B5EF4-FFF2-40B4-BE49-F238E27FC236}">
                    <a16:creationId xmlns:a16="http://schemas.microsoft.com/office/drawing/2014/main" id="{88C4A270-E18F-1342-A702-1E58EAED430B}"/>
                  </a:ext>
                </a:extLst>
              </p:cNvPr>
              <p:cNvSpPr txBox="1">
                <a:spLocks noRot="1" noChangeAspect="1" noMove="1" noResize="1" noEditPoints="1" noAdjustHandles="1" noChangeArrowheads="1" noChangeShapeType="1" noTextEdit="1"/>
              </p:cNvSpPr>
              <p:nvPr/>
            </p:nvSpPr>
            <p:spPr>
              <a:xfrm>
                <a:off x="0" y="4593953"/>
                <a:ext cx="6097904" cy="618246"/>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6236571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磷硫铁法</a:t>
            </a: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2" name="内容占位符 2">
            <a:extLst>
              <a:ext uri="{FF2B5EF4-FFF2-40B4-BE49-F238E27FC236}">
                <a16:creationId xmlns:a16="http://schemas.microsoft.com/office/drawing/2014/main" id="{8250F010-7937-0B40-ADD3-883B8FB5F954}"/>
              </a:ext>
            </a:extLst>
          </p:cNvPr>
          <p:cNvSpPr txBox="1">
            <a:spLocks/>
          </p:cNvSpPr>
          <p:nvPr/>
        </p:nvSpPr>
        <p:spPr>
          <a:xfrm>
            <a:off x="288758" y="989036"/>
            <a:ext cx="4994442" cy="51717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反应体系体积为</a:t>
            </a:r>
            <a:r>
              <a:rPr lang="en-US" altLang="zh-CN" sz="2000" dirty="0"/>
              <a:t>220</a:t>
            </a:r>
            <a:r>
              <a:rPr lang="zh-CN" altLang="en-US" sz="2000" dirty="0"/>
              <a:t> </a:t>
            </a:r>
            <a:r>
              <a:rPr lang="el-GR" altLang="zh-CN" sz="2000" dirty="0"/>
              <a:t>μ</a:t>
            </a:r>
            <a:r>
              <a:rPr lang="en-US" altLang="zh-CN" sz="2000" dirty="0"/>
              <a:t>L</a:t>
            </a:r>
            <a:endParaRPr lang="el-GR" altLang="zh-CN" sz="2000" dirty="0"/>
          </a:p>
          <a:p>
            <a:pPr lvl="1">
              <a:lnSpc>
                <a:spcPct val="150000"/>
              </a:lnSpc>
            </a:pPr>
            <a:r>
              <a:rPr lang="zh-CN" altLang="el-GR" sz="1800" dirty="0"/>
              <a:t>为了</a:t>
            </a:r>
            <a:r>
              <a:rPr lang="zh-CN" altLang="en-US" sz="1800" dirty="0"/>
              <a:t>测定血浆样品，最初确定体系中</a:t>
            </a:r>
            <a:r>
              <a:rPr lang="zh-CN" altLang="en-CN" sz="1800" dirty="0"/>
              <a:t>有机相</a:t>
            </a:r>
            <a:r>
              <a:rPr lang="zh-CN" altLang="en-US" sz="1800" dirty="0"/>
              <a:t>为</a:t>
            </a:r>
            <a:r>
              <a:rPr lang="en-US" altLang="zh-CN" sz="1800" dirty="0"/>
              <a:t>20 </a:t>
            </a:r>
            <a:r>
              <a:rPr lang="el-GR" altLang="zh-CN" sz="1800" dirty="0"/>
              <a:t>μ</a:t>
            </a:r>
            <a:r>
              <a:rPr lang="en-US" altLang="zh-CN" sz="1800" dirty="0"/>
              <a:t>L</a:t>
            </a:r>
          </a:p>
          <a:p>
            <a:pPr lvl="1">
              <a:lnSpc>
                <a:spcPct val="150000"/>
              </a:lnSpc>
            </a:pPr>
            <a:r>
              <a:rPr lang="zh-CN" altLang="en-US" sz="1800" dirty="0"/>
              <a:t>胆固醇浓度较大时反应时有</a:t>
            </a:r>
            <a:r>
              <a:rPr lang="zh-CN" altLang="en-US" sz="1800" dirty="0">
                <a:solidFill>
                  <a:srgbClr val="9B0000"/>
                </a:solidFill>
              </a:rPr>
              <a:t>紫红色</a:t>
            </a:r>
            <a:r>
              <a:rPr lang="zh-CN" altLang="en-US" sz="1800" dirty="0"/>
              <a:t>物质析出，难以消除</a:t>
            </a:r>
            <a:endParaRPr lang="en-US" altLang="zh-CN" sz="1800" dirty="0"/>
          </a:p>
          <a:p>
            <a:pPr lvl="1">
              <a:lnSpc>
                <a:spcPct val="150000"/>
              </a:lnSpc>
            </a:pPr>
            <a:r>
              <a:rPr lang="zh-CN" altLang="en-US" sz="1800" dirty="0"/>
              <a:t>严重影响实验的平行性与标准曲线的线性范围</a:t>
            </a:r>
            <a:endParaRPr lang="en-US" altLang="zh-CN" sz="1800" dirty="0"/>
          </a:p>
          <a:p>
            <a:pPr marL="0" indent="0">
              <a:lnSpc>
                <a:spcPct val="150000"/>
              </a:lnSpc>
              <a:spcBef>
                <a:spcPts val="0"/>
              </a:spcBef>
              <a:buFont typeface="Wingdings"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将无水乙醇替换为</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PBS</a:t>
            </a:r>
            <a:r>
              <a:rPr lang="zh-CN" altLang="el-GR" sz="2000" dirty="0">
                <a:solidFill>
                  <a:prstClr val="black"/>
                </a:solidFill>
                <a:latin typeface="Calibri" panose="020F0502020204030204"/>
                <a:ea typeface="等线" panose="02010600030101010101" pitchFamily="2" charset="-122"/>
              </a:rPr>
              <a:t>后</a:t>
            </a:r>
            <a:r>
              <a:rPr lang="zh-CN" altLang="en-US" sz="2000" dirty="0">
                <a:solidFill>
                  <a:prstClr val="black"/>
                </a:solidFill>
                <a:latin typeface="Calibri" panose="020F0502020204030204"/>
                <a:ea typeface="等线" panose="02010600030101010101" pitchFamily="2" charset="-122"/>
              </a:rPr>
              <a:t>仍无改善</a:t>
            </a:r>
            <a:endParaRPr lang="en-US" altLang="zh-CN" sz="2000" dirty="0">
              <a:solidFill>
                <a:prstClr val="black"/>
              </a:solidFill>
              <a:latin typeface="Calibri"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 typeface="Wingdings" pitchFamily="2" charset="2"/>
              <a:buChar char="Ø"/>
              <a:tabLst/>
              <a:defRPr/>
            </a:pPr>
            <a:r>
              <a:rPr lang="zh-CN" altLang="en-US" sz="2000" dirty="0">
                <a:solidFill>
                  <a:prstClr val="black"/>
                </a:solidFill>
                <a:latin typeface="Calibri" panose="020F0502020204030204"/>
                <a:ea typeface="等线" panose="02010600030101010101" pitchFamily="2" charset="-122"/>
              </a:rPr>
              <a:t>初步推断为乙醇挥发导致</a:t>
            </a:r>
            <a:endParaRPr lang="en-US" altLang="zh-CN" sz="2000" dirty="0">
              <a:solidFill>
                <a:prstClr val="black"/>
              </a:solidFill>
              <a:latin typeface="Calibri" panose="020F0502020204030204"/>
              <a:ea typeface="等线" panose="02010600030101010101" pitchFamily="2" charset="-122"/>
            </a:endParaRPr>
          </a:p>
          <a:p>
            <a:pPr lvl="1">
              <a:lnSpc>
                <a:spcPct val="150000"/>
              </a:lnSpc>
              <a:spcBef>
                <a:spcPts val="0"/>
              </a:spcBef>
              <a:defRPr/>
            </a:pPr>
            <a:r>
              <a:rPr lang="zh-CN" altLang="en-US" sz="1800" dirty="0">
                <a:solidFill>
                  <a:prstClr val="black"/>
                </a:solidFill>
                <a:latin typeface="Calibri" panose="020F0502020204030204"/>
                <a:ea typeface="等线" panose="02010600030101010101" pitchFamily="2" charset="-122"/>
              </a:rPr>
              <a:t>各孔反应体积存在差异</a:t>
            </a:r>
            <a:endParaRPr lang="en-US" altLang="zh-CN" sz="1800" dirty="0">
              <a:solidFill>
                <a:prstClr val="black"/>
              </a:solidFill>
              <a:latin typeface="Calibri" panose="020F0502020204030204"/>
              <a:ea typeface="等线" panose="02010600030101010101" pitchFamily="2" charset="-122"/>
            </a:endParaRPr>
          </a:p>
          <a:p>
            <a:pPr lvl="1">
              <a:lnSpc>
                <a:spcPct val="150000"/>
              </a:lnSpc>
              <a:spcBef>
                <a:spcPts val="0"/>
              </a:spcBef>
              <a:defRPr/>
            </a:pPr>
            <a:r>
              <a:rPr lang="zh-CN" altLang="en-US" sz="1800" dirty="0">
                <a:solidFill>
                  <a:prstClr val="black"/>
                </a:solidFill>
                <a:latin typeface="Calibri" panose="020F0502020204030204"/>
                <a:ea typeface="等线" panose="02010600030101010101" pitchFamily="2" charset="-122"/>
              </a:rPr>
              <a:t>有机产物析出</a:t>
            </a:r>
            <a:endParaRPr lang="en-US" altLang="zh-CN" sz="1800" dirty="0">
              <a:solidFill>
                <a:prstClr val="black"/>
              </a:solidFill>
              <a:latin typeface="Calibri"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 typeface="Wingdings" pitchFamily="2" charset="2"/>
              <a:buChar char="Ø"/>
              <a:tabLst/>
              <a:defRPr/>
            </a:pPr>
            <a:r>
              <a:rPr lang="zh-CN" altLang="en-US" sz="2000" dirty="0">
                <a:solidFill>
                  <a:prstClr val="black"/>
                </a:solidFill>
                <a:latin typeface="Calibri" panose="020F0502020204030204"/>
                <a:ea typeface="等线" panose="02010600030101010101" pitchFamily="2" charset="-122"/>
              </a:rPr>
              <a:t>改进：增加体系中有机相的比例</a:t>
            </a:r>
            <a:endParaRPr lang="en-US" altLang="zh-CN" sz="2000" dirty="0">
              <a:solidFill>
                <a:prstClr val="black"/>
              </a:solidFill>
              <a:latin typeface="Calibri" panose="020F0502020204030204"/>
              <a:ea typeface="等线" panose="02010600030101010101" pitchFamily="2" charset="-122"/>
            </a:endParaRPr>
          </a:p>
        </p:txBody>
      </p:sp>
      <p:sp>
        <p:nvSpPr>
          <p:cNvPr id="11" name="TextBox 10">
            <a:extLst>
              <a:ext uri="{FF2B5EF4-FFF2-40B4-BE49-F238E27FC236}">
                <a16:creationId xmlns:a16="http://schemas.microsoft.com/office/drawing/2014/main" id="{AA87075D-89E5-A24E-AADD-15A90D128F01}"/>
              </a:ext>
            </a:extLst>
          </p:cNvPr>
          <p:cNvSpPr txBox="1"/>
          <p:nvPr/>
        </p:nvSpPr>
        <p:spPr>
          <a:xfrm>
            <a:off x="288758" y="404261"/>
            <a:ext cx="6302542" cy="584775"/>
          </a:xfrm>
          <a:prstGeom prst="rect">
            <a:avLst/>
          </a:prstGeom>
          <a:noFill/>
        </p:spPr>
        <p:txBody>
          <a:bodyPr wrap="square" rtlCol="0">
            <a:spAutoFit/>
          </a:bodyPr>
          <a:lstStyle/>
          <a:p>
            <a:r>
              <a:rPr kumimoji="1" lang="zh-CN" altLang="en-US" sz="3200" dirty="0"/>
              <a:t>乙醇挥发对实验的影响</a:t>
            </a:r>
          </a:p>
        </p:txBody>
      </p:sp>
      <p:graphicFrame>
        <p:nvGraphicFramePr>
          <p:cNvPr id="2" name="Table 1">
            <a:extLst>
              <a:ext uri="{FF2B5EF4-FFF2-40B4-BE49-F238E27FC236}">
                <a16:creationId xmlns:a16="http://schemas.microsoft.com/office/drawing/2014/main" id="{E973D787-92A0-FB48-A514-D784256A9131}"/>
              </a:ext>
            </a:extLst>
          </p:cNvPr>
          <p:cNvGraphicFramePr>
            <a:graphicFrameLocks noGrp="1"/>
          </p:cNvGraphicFramePr>
          <p:nvPr>
            <p:extLst>
              <p:ext uri="{D42A27DB-BD31-4B8C-83A1-F6EECF244321}">
                <p14:modId xmlns:p14="http://schemas.microsoft.com/office/powerpoint/2010/main" val="1176619265"/>
              </p:ext>
            </p:extLst>
          </p:nvPr>
        </p:nvGraphicFramePr>
        <p:xfrm>
          <a:off x="5600696" y="1345078"/>
          <a:ext cx="6302546" cy="2422422"/>
        </p:xfrm>
        <a:graphic>
          <a:graphicData uri="http://schemas.openxmlformats.org/drawingml/2006/table">
            <a:tbl>
              <a:tblPr firstRow="1" firstCol="1" bandRow="1">
                <a:tableStyleId>{93296810-A885-4BE3-A3E7-6D5BEEA58F35}</a:tableStyleId>
              </a:tblPr>
              <a:tblGrid>
                <a:gridCol w="1134250">
                  <a:extLst>
                    <a:ext uri="{9D8B030D-6E8A-4147-A177-3AD203B41FA5}">
                      <a16:colId xmlns:a16="http://schemas.microsoft.com/office/drawing/2014/main" val="785531569"/>
                    </a:ext>
                  </a:extLst>
                </a:gridCol>
                <a:gridCol w="738328">
                  <a:extLst>
                    <a:ext uri="{9D8B030D-6E8A-4147-A177-3AD203B41FA5}">
                      <a16:colId xmlns:a16="http://schemas.microsoft.com/office/drawing/2014/main" val="3696517103"/>
                    </a:ext>
                  </a:extLst>
                </a:gridCol>
                <a:gridCol w="738328">
                  <a:extLst>
                    <a:ext uri="{9D8B030D-6E8A-4147-A177-3AD203B41FA5}">
                      <a16:colId xmlns:a16="http://schemas.microsoft.com/office/drawing/2014/main" val="4240111297"/>
                    </a:ext>
                  </a:extLst>
                </a:gridCol>
                <a:gridCol w="738328">
                  <a:extLst>
                    <a:ext uri="{9D8B030D-6E8A-4147-A177-3AD203B41FA5}">
                      <a16:colId xmlns:a16="http://schemas.microsoft.com/office/drawing/2014/main" val="2975997430"/>
                    </a:ext>
                  </a:extLst>
                </a:gridCol>
                <a:gridCol w="738328">
                  <a:extLst>
                    <a:ext uri="{9D8B030D-6E8A-4147-A177-3AD203B41FA5}">
                      <a16:colId xmlns:a16="http://schemas.microsoft.com/office/drawing/2014/main" val="2211994632"/>
                    </a:ext>
                  </a:extLst>
                </a:gridCol>
                <a:gridCol w="738328">
                  <a:extLst>
                    <a:ext uri="{9D8B030D-6E8A-4147-A177-3AD203B41FA5}">
                      <a16:colId xmlns:a16="http://schemas.microsoft.com/office/drawing/2014/main" val="3178870029"/>
                    </a:ext>
                  </a:extLst>
                </a:gridCol>
                <a:gridCol w="738328">
                  <a:extLst>
                    <a:ext uri="{9D8B030D-6E8A-4147-A177-3AD203B41FA5}">
                      <a16:colId xmlns:a16="http://schemas.microsoft.com/office/drawing/2014/main" val="421670838"/>
                    </a:ext>
                  </a:extLst>
                </a:gridCol>
                <a:gridCol w="738328">
                  <a:extLst>
                    <a:ext uri="{9D8B030D-6E8A-4147-A177-3AD203B41FA5}">
                      <a16:colId xmlns:a16="http://schemas.microsoft.com/office/drawing/2014/main" val="4056801187"/>
                    </a:ext>
                  </a:extLst>
                </a:gridCol>
              </a:tblGrid>
              <a:tr h="1000824">
                <a:tc>
                  <a:txBody>
                    <a:bodyPr/>
                    <a:lstStyle/>
                    <a:p>
                      <a:pPr algn="ctr">
                        <a:lnSpc>
                          <a:spcPct val="150000"/>
                        </a:lnSpc>
                      </a:pPr>
                      <a:r>
                        <a:rPr lang="zh-CN" sz="1800" kern="100">
                          <a:effectLst/>
                        </a:rPr>
                        <a:t>胆固醇含量</a:t>
                      </a:r>
                      <a:r>
                        <a:rPr lang="en-US" sz="1800" kern="100">
                          <a:effectLst/>
                        </a:rPr>
                        <a:t>(</a:t>
                      </a:r>
                      <a:r>
                        <a:rPr lang="el-GR" sz="1800" kern="100">
                          <a:effectLst/>
                        </a:rPr>
                        <a:t>μmol</a:t>
                      </a:r>
                      <a:r>
                        <a:rPr lang="en-US" sz="1800" kern="100">
                          <a:effectLst/>
                        </a:rPr>
                        <a:t>)</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US" sz="1800" kern="100" dirty="0">
                          <a:effectLst/>
                        </a:rPr>
                        <a:t>0.08</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US" sz="1800" kern="100" dirty="0">
                          <a:effectLst/>
                        </a:rPr>
                        <a:t>0.10</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US" sz="1800" kern="100" dirty="0">
                          <a:effectLst/>
                        </a:rPr>
                        <a:t>0.12</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US" sz="1800" kern="100" dirty="0">
                          <a:effectLst/>
                        </a:rPr>
                        <a:t>0.14</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US" sz="1800" kern="100" dirty="0">
                          <a:effectLst/>
                        </a:rPr>
                        <a:t>0.16</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US" sz="1800" kern="100" dirty="0">
                          <a:effectLst/>
                        </a:rPr>
                        <a:t>0.18</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0.20</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27265379"/>
                  </a:ext>
                </a:extLst>
              </a:tr>
              <a:tr h="473866">
                <a:tc>
                  <a:txBody>
                    <a:bodyPr/>
                    <a:lstStyle/>
                    <a:p>
                      <a:pPr algn="ctr">
                        <a:lnSpc>
                          <a:spcPct val="150000"/>
                        </a:lnSpc>
                      </a:pPr>
                      <a:r>
                        <a:rPr lang="zh-CN" sz="1800" kern="100">
                          <a:effectLst/>
                        </a:rPr>
                        <a:t>吸光值</a:t>
                      </a:r>
                      <a:r>
                        <a:rPr lang="en-US" sz="1800" kern="100">
                          <a:effectLst/>
                        </a:rPr>
                        <a:t>1</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dirty="0">
                          <a:effectLst/>
                        </a:rPr>
                        <a:t>0.102</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dirty="0">
                          <a:effectLst/>
                        </a:rPr>
                        <a:t>0.362</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dirty="0">
                          <a:effectLst/>
                        </a:rPr>
                        <a:t>0.238</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dirty="0">
                          <a:effectLst/>
                        </a:rPr>
                        <a:t>0.177</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a:effectLst/>
                        </a:rPr>
                        <a:t>0.682</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dirty="0">
                          <a:effectLst/>
                        </a:rPr>
                        <a:t>0.259</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dirty="0">
                          <a:effectLst/>
                        </a:rPr>
                        <a:t>0.311</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64864217"/>
                  </a:ext>
                </a:extLst>
              </a:tr>
              <a:tr h="473866">
                <a:tc>
                  <a:txBody>
                    <a:bodyPr/>
                    <a:lstStyle/>
                    <a:p>
                      <a:pPr algn="ctr">
                        <a:lnSpc>
                          <a:spcPct val="150000"/>
                        </a:lnSpc>
                      </a:pPr>
                      <a:r>
                        <a:rPr lang="zh-CN" sz="1800" kern="100">
                          <a:effectLst/>
                        </a:rPr>
                        <a:t>吸光值</a:t>
                      </a:r>
                      <a:r>
                        <a:rPr lang="en-US" sz="1800" kern="100">
                          <a:effectLst/>
                        </a:rPr>
                        <a:t>2</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a:effectLst/>
                        </a:rPr>
                        <a:t>0.07</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a:effectLst/>
                        </a:rPr>
                        <a:t>0.146</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a:effectLst/>
                        </a:rPr>
                        <a:t>0.21</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dirty="0">
                          <a:effectLst/>
                        </a:rPr>
                        <a:t>0.826</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dirty="0">
                          <a:effectLst/>
                        </a:rPr>
                        <a:t>0.437</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dirty="0">
                          <a:effectLst/>
                        </a:rPr>
                        <a:t>0.228</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pPr>
                      <a:r>
                        <a:rPr lang="en-CN" sz="1800" kern="100" dirty="0">
                          <a:effectLst/>
                        </a:rPr>
                        <a:t>0.297</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8516616"/>
                  </a:ext>
                </a:extLst>
              </a:tr>
              <a:tr h="473866">
                <a:tc>
                  <a:txBody>
                    <a:bodyPr/>
                    <a:lstStyle/>
                    <a:p>
                      <a:pPr algn="ctr">
                        <a:lnSpc>
                          <a:spcPct val="150000"/>
                        </a:lnSpc>
                      </a:pPr>
                      <a:r>
                        <a:rPr lang="zh-CN" sz="1800" kern="100" dirty="0">
                          <a:effectLst/>
                        </a:rPr>
                        <a:t>平均值</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CN" sz="1800" kern="100">
                          <a:effectLst/>
                        </a:rPr>
                        <a:t>0.086</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CN" sz="1800" kern="100">
                          <a:effectLst/>
                        </a:rPr>
                        <a:t>0.254</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CN" sz="1800" kern="100">
                          <a:effectLst/>
                        </a:rPr>
                        <a:t>0.224</a:t>
                      </a:r>
                      <a:endParaRPr lang="en-CN" sz="18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CN" sz="1800" kern="100" dirty="0">
                          <a:effectLst/>
                        </a:rPr>
                        <a:t>0.50</a:t>
                      </a:r>
                      <a:r>
                        <a:rPr lang="en-US" altLang="zh-CN" sz="1800" kern="100" dirty="0">
                          <a:effectLst/>
                        </a:rPr>
                        <a:t>2</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CN" sz="1800" kern="100" dirty="0">
                          <a:effectLst/>
                        </a:rPr>
                        <a:t>0.5</a:t>
                      </a:r>
                      <a:r>
                        <a:rPr lang="en-US" altLang="zh-CN" sz="1800" kern="100" dirty="0">
                          <a:effectLst/>
                        </a:rPr>
                        <a:t>60</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CN" sz="1800" kern="100" dirty="0">
                          <a:effectLst/>
                        </a:rPr>
                        <a:t>0.24</a:t>
                      </a:r>
                      <a:r>
                        <a:rPr lang="en-US" altLang="zh-CN" sz="1800" kern="100" dirty="0">
                          <a:effectLst/>
                        </a:rPr>
                        <a:t>4</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CN" sz="1800" kern="100" dirty="0">
                          <a:effectLst/>
                        </a:rPr>
                        <a:t>0.304</a:t>
                      </a:r>
                      <a:endParaRPr lang="en-CN" sz="18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34611458"/>
                  </a:ext>
                </a:extLst>
              </a:tr>
            </a:tbl>
          </a:graphicData>
        </a:graphic>
      </p:graphicFrame>
      <p:sp>
        <p:nvSpPr>
          <p:cNvPr id="15" name="Rectangle 14">
            <a:extLst>
              <a:ext uri="{FF2B5EF4-FFF2-40B4-BE49-F238E27FC236}">
                <a16:creationId xmlns:a16="http://schemas.microsoft.com/office/drawing/2014/main" id="{AF5AA412-F370-7242-A831-3E76D180E664}"/>
              </a:ext>
            </a:extLst>
          </p:cNvPr>
          <p:cNvSpPr/>
          <p:nvPr/>
        </p:nvSpPr>
        <p:spPr>
          <a:xfrm>
            <a:off x="6845300" y="9291638"/>
            <a:ext cx="639763" cy="914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 name="Rectangle 2">
            <a:extLst>
              <a:ext uri="{FF2B5EF4-FFF2-40B4-BE49-F238E27FC236}">
                <a16:creationId xmlns:a16="http://schemas.microsoft.com/office/drawing/2014/main" id="{04D8E42E-9E4F-A74D-986F-0A40BC96050A}"/>
              </a:ext>
            </a:extLst>
          </p:cNvPr>
          <p:cNvSpPr/>
          <p:nvPr/>
        </p:nvSpPr>
        <p:spPr>
          <a:xfrm>
            <a:off x="8888730" y="2250555"/>
            <a:ext cx="880110" cy="111159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6" name="Picture 15">
            <a:extLst>
              <a:ext uri="{FF2B5EF4-FFF2-40B4-BE49-F238E27FC236}">
                <a16:creationId xmlns:a16="http://schemas.microsoft.com/office/drawing/2014/main" id="{A9A6510D-46E7-0643-BC09-CCCF038348B5}"/>
              </a:ext>
            </a:extLst>
          </p:cNvPr>
          <p:cNvPicPr>
            <a:picLocks noChangeAspect="1"/>
          </p:cNvPicPr>
          <p:nvPr/>
        </p:nvPicPr>
        <p:blipFill rotWithShape="1">
          <a:blip r:embed="rId4">
            <a:extLst>
              <a:ext uri="{28A0092B-C50C-407E-A947-70E740481C1C}">
                <a14:useLocalDpi xmlns:a14="http://schemas.microsoft.com/office/drawing/2010/main" val="0"/>
              </a:ext>
            </a:extLst>
          </a:blip>
          <a:srcRect l="5930" t="43222" r="23833" b="41338"/>
          <a:stretch/>
        </p:blipFill>
        <p:spPr bwMode="auto">
          <a:xfrm>
            <a:off x="6681718" y="3934744"/>
            <a:ext cx="5221524" cy="1530324"/>
          </a:xfrm>
          <a:prstGeom prst="rect">
            <a:avLst/>
          </a:prstGeom>
          <a:ln>
            <a:noFill/>
          </a:ln>
          <a:extLst>
            <a:ext uri="{53640926-AAD7-44D8-BBD7-CCE9431645EC}">
              <a14:shadowObscured xmlns:a14="http://schemas.microsoft.com/office/drawing/2010/main"/>
            </a:ext>
          </a:extLst>
        </p:spPr>
      </p:pic>
      <p:sp>
        <p:nvSpPr>
          <p:cNvPr id="18" name="Rectangle 17">
            <a:extLst>
              <a:ext uri="{FF2B5EF4-FFF2-40B4-BE49-F238E27FC236}">
                <a16:creationId xmlns:a16="http://schemas.microsoft.com/office/drawing/2014/main" id="{A62097D3-3714-2A44-8F5C-805DC79226B6}"/>
              </a:ext>
            </a:extLst>
          </p:cNvPr>
          <p:cNvSpPr/>
          <p:nvPr/>
        </p:nvSpPr>
        <p:spPr>
          <a:xfrm>
            <a:off x="8888730" y="3934744"/>
            <a:ext cx="880110" cy="153032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3001140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blinds(horizontal)">
                                      <p:cBhvr>
                                        <p:cTn id="10" dur="500"/>
                                        <p:tgtEl>
                                          <p:spTgt spid="1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blinds(horizontal)">
                                      <p:cBhvr>
                                        <p:cTn id="13" dur="500"/>
                                        <p:tgtEl>
                                          <p:spTgt spid="12">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2">
                                            <p:txEl>
                                              <p:pRg st="3" end="3"/>
                                            </p:txEl>
                                          </p:spTgt>
                                        </p:tgtEl>
                                        <p:attrNameLst>
                                          <p:attrName>style.visibility</p:attrName>
                                        </p:attrNameLst>
                                      </p:cBhvr>
                                      <p:to>
                                        <p:strVal val="visible"/>
                                      </p:to>
                                    </p:set>
                                    <p:animEffect transition="in" filter="blinds(horizontal)">
                                      <p:cBhvr>
                                        <p:cTn id="16" dur="500"/>
                                        <p:tgtEl>
                                          <p:spTgt spid="1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linds(horizontal)">
                                      <p:cBhvr>
                                        <p:cTn id="24" dur="500"/>
                                        <p:tgtEl>
                                          <p:spTgt spid="3"/>
                                        </p:tgtEl>
                                      </p:cBhvr>
                                    </p:animEffect>
                                  </p:childTnLst>
                                </p:cTn>
                              </p:par>
                              <p:par>
                                <p:cTn id="25" presetID="3" presetClass="entr" presetSubtype="1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linds(horizontal)">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animEffect transition="in" filter="blinds(horizontal)">
                                      <p:cBhvr>
                                        <p:cTn id="35" dur="500"/>
                                        <p:tgtEl>
                                          <p:spTgt spid="1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2">
                                            <p:txEl>
                                              <p:pRg st="5" end="5"/>
                                            </p:txEl>
                                          </p:spTgt>
                                        </p:tgtEl>
                                        <p:attrNameLst>
                                          <p:attrName>style.visibility</p:attrName>
                                        </p:attrNameLst>
                                      </p:cBhvr>
                                      <p:to>
                                        <p:strVal val="visible"/>
                                      </p:to>
                                    </p:set>
                                    <p:animEffect transition="in" filter="blinds(horizontal)">
                                      <p:cBhvr>
                                        <p:cTn id="40" dur="500"/>
                                        <p:tgtEl>
                                          <p:spTgt spid="12">
                                            <p:txEl>
                                              <p:pRg st="5" end="5"/>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12">
                                            <p:txEl>
                                              <p:pRg st="6" end="6"/>
                                            </p:txEl>
                                          </p:spTgt>
                                        </p:tgtEl>
                                        <p:attrNameLst>
                                          <p:attrName>style.visibility</p:attrName>
                                        </p:attrNameLst>
                                      </p:cBhvr>
                                      <p:to>
                                        <p:strVal val="visible"/>
                                      </p:to>
                                    </p:set>
                                    <p:animEffect transition="in" filter="blinds(horizontal)">
                                      <p:cBhvr>
                                        <p:cTn id="43" dur="500"/>
                                        <p:tgtEl>
                                          <p:spTgt spid="12">
                                            <p:txEl>
                                              <p:pRg st="6" end="6"/>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12">
                                            <p:txEl>
                                              <p:pRg st="7" end="7"/>
                                            </p:txEl>
                                          </p:spTgt>
                                        </p:tgtEl>
                                        <p:attrNameLst>
                                          <p:attrName>style.visibility</p:attrName>
                                        </p:attrNameLst>
                                      </p:cBhvr>
                                      <p:to>
                                        <p:strVal val="visible"/>
                                      </p:to>
                                    </p:set>
                                    <p:animEffect transition="in" filter="blinds(horizontal)">
                                      <p:cBhvr>
                                        <p:cTn id="46" dur="500"/>
                                        <p:tgtEl>
                                          <p:spTgt spid="12">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2">
                                            <p:txEl>
                                              <p:pRg st="8" end="8"/>
                                            </p:txEl>
                                          </p:spTgt>
                                        </p:tgtEl>
                                        <p:attrNameLst>
                                          <p:attrName>style.visibility</p:attrName>
                                        </p:attrNameLst>
                                      </p:cBhvr>
                                      <p:to>
                                        <p:strVal val="visible"/>
                                      </p:to>
                                    </p:set>
                                    <p:animEffect transition="in" filter="blinds(horizontal)">
                                      <p:cBhvr>
                                        <p:cTn id="51" dur="500"/>
                                        <p:tgtEl>
                                          <p:spTgt spid="1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磷硫铁法</a:t>
            </a: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2" name="内容占位符 2">
            <a:extLst>
              <a:ext uri="{FF2B5EF4-FFF2-40B4-BE49-F238E27FC236}">
                <a16:creationId xmlns:a16="http://schemas.microsoft.com/office/drawing/2014/main" id="{8250F010-7937-0B40-ADD3-883B8FB5F954}"/>
              </a:ext>
            </a:extLst>
          </p:cNvPr>
          <p:cNvSpPr txBox="1">
            <a:spLocks/>
          </p:cNvSpPr>
          <p:nvPr/>
        </p:nvSpPr>
        <p:spPr>
          <a:xfrm>
            <a:off x="288758" y="1108131"/>
            <a:ext cx="5894872" cy="43516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实验发现合适的加样量</a:t>
            </a:r>
            <a:endParaRPr lang="en-US" altLang="zh-CN" sz="2000" dirty="0"/>
          </a:p>
          <a:p>
            <a:pPr lvl="1">
              <a:lnSpc>
                <a:spcPct val="150000"/>
              </a:lnSpc>
            </a:pPr>
            <a:r>
              <a:rPr lang="zh-CN" altLang="en-US" sz="1800" dirty="0"/>
              <a:t>胆固醇标准液</a:t>
            </a:r>
            <a:r>
              <a:rPr lang="en-US" altLang="zh-CN" sz="1800" dirty="0"/>
              <a:t>/</a:t>
            </a:r>
            <a:r>
              <a:rPr lang="zh-CN" altLang="en-US" sz="1800" dirty="0"/>
              <a:t>样品溶液 </a:t>
            </a:r>
            <a:r>
              <a:rPr lang="en-US" altLang="zh-CN" sz="1800" dirty="0"/>
              <a:t>+</a:t>
            </a:r>
            <a:r>
              <a:rPr lang="zh-CN" altLang="en-US" sz="1800" dirty="0"/>
              <a:t> 无水乙醇：</a:t>
            </a:r>
            <a:r>
              <a:rPr lang="en-US" altLang="zh-CN" sz="1800" dirty="0"/>
              <a:t>100 </a:t>
            </a:r>
            <a:r>
              <a:rPr lang="el-GR" altLang="zh-CN" sz="1800" dirty="0"/>
              <a:t>μ</a:t>
            </a:r>
            <a:r>
              <a:rPr lang="en-US" altLang="zh-CN" sz="1800" dirty="0"/>
              <a:t>L</a:t>
            </a:r>
          </a:p>
          <a:p>
            <a:pPr lvl="1">
              <a:lnSpc>
                <a:spcPct val="150000"/>
              </a:lnSpc>
            </a:pPr>
            <a:r>
              <a:rPr lang="zh-CN" altLang="en-US" sz="1800" dirty="0"/>
              <a:t>磷硫铁试剂：</a:t>
            </a:r>
            <a:r>
              <a:rPr lang="en-US" altLang="zh-CN" sz="1800" dirty="0"/>
              <a:t>100 </a:t>
            </a:r>
            <a:r>
              <a:rPr lang="el-GR" altLang="zh-CN" sz="1800" dirty="0"/>
              <a:t>μ</a:t>
            </a:r>
            <a:r>
              <a:rPr lang="en-US" altLang="zh-CN" sz="1800" dirty="0"/>
              <a:t>L</a:t>
            </a:r>
          </a:p>
          <a:p>
            <a:pPr marL="0" marR="0" lvl="0" indent="0" algn="l" defTabSz="914400" rtl="0" eaLnBrk="1" fontAlgn="auto" latinLnBrk="0" hangingPunct="1">
              <a:lnSpc>
                <a:spcPct val="150000"/>
              </a:lnSpc>
              <a:spcBef>
                <a:spcPts val="0"/>
              </a:spcBef>
              <a:spcAft>
                <a:spcPts val="0"/>
              </a:spcAft>
              <a:buClrTx/>
              <a:buSzTx/>
              <a:buFont typeface="Wingdings"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效果</a:t>
            </a: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spcBef>
                <a:spcPts val="0"/>
              </a:spcBef>
              <a:defRPr/>
            </a:pPr>
            <a:r>
              <a:rPr lang="zh-CN" altLang="en-US" sz="1800" dirty="0">
                <a:solidFill>
                  <a:prstClr val="black"/>
                </a:solidFill>
                <a:latin typeface="Calibri" panose="020F0502020204030204"/>
                <a:ea typeface="等线" panose="02010600030101010101" pitchFamily="2" charset="-122"/>
              </a:rPr>
              <a:t>未再观察到产物析出，颜色变化明显</a:t>
            </a:r>
            <a:endParaRPr lang="en-US" altLang="zh-CN" sz="1800" dirty="0">
              <a:solidFill>
                <a:prstClr val="black"/>
              </a:solidFill>
              <a:latin typeface="Calibri" panose="020F0502020204030204"/>
              <a:ea typeface="等线" panose="02010600030101010101" pitchFamily="2" charset="-122"/>
            </a:endParaRPr>
          </a:p>
          <a:p>
            <a:pPr lvl="1">
              <a:lnSpc>
                <a:spcPct val="150000"/>
              </a:lnSpc>
              <a:spcBef>
                <a:spcPts val="0"/>
              </a:spcBef>
              <a:defRPr/>
            </a:pPr>
            <a:r>
              <a:rPr lang="zh-CN" altLang="en-US" sz="1800" dirty="0">
                <a:solidFill>
                  <a:prstClr val="black"/>
                </a:solidFill>
                <a:latin typeface="Calibri" panose="020F0502020204030204"/>
                <a:ea typeface="等线" panose="02010600030101010101" pitchFamily="2" charset="-122"/>
              </a:rPr>
              <a:t>线性范围增大</a:t>
            </a:r>
            <a:endParaRPr lang="en-US" altLang="zh-CN" sz="1800" dirty="0">
              <a:solidFill>
                <a:prstClr val="black"/>
              </a:solidFill>
              <a:latin typeface="Calibri" panose="020F0502020204030204"/>
              <a:ea typeface="等线" panose="02010600030101010101" pitchFamily="2" charset="-122"/>
            </a:endParaRPr>
          </a:p>
          <a:p>
            <a:pPr lvl="1">
              <a:lnSpc>
                <a:spcPct val="150000"/>
              </a:lnSpc>
              <a:spcBef>
                <a:spcPts val="0"/>
              </a:spcBef>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灵敏度提高</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spcBef>
                <a:spcPts val="0"/>
              </a:spcBef>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平行性仍有待改善（乙醇挥发的问题难以解决）</a:t>
            </a:r>
            <a:endParaRPr lang="en-US" altLang="zh-CN" sz="1800" dirty="0">
              <a:solidFill>
                <a:prstClr val="black"/>
              </a:solidFill>
              <a:latin typeface="Calibri" panose="020F0502020204030204"/>
              <a:ea typeface="等线" panose="02010600030101010101" pitchFamily="2" charset="-122"/>
            </a:endParaRPr>
          </a:p>
          <a:p>
            <a:pPr lvl="2">
              <a:lnSpc>
                <a:spcPct val="150000"/>
              </a:lnSpc>
              <a:spcBef>
                <a:spcPts val="0"/>
              </a:spcBef>
              <a:buFont typeface="Wingdings" pitchFamily="2" charset="2"/>
              <a:buChar char="ü"/>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但通过增加乙醇的量一定程度上减少了挥发导致的体积偏差</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11" name="TextBox 10">
            <a:extLst>
              <a:ext uri="{FF2B5EF4-FFF2-40B4-BE49-F238E27FC236}">
                <a16:creationId xmlns:a16="http://schemas.microsoft.com/office/drawing/2014/main" id="{AA87075D-89E5-A24E-AADD-15A90D128F01}"/>
              </a:ext>
            </a:extLst>
          </p:cNvPr>
          <p:cNvSpPr txBox="1"/>
          <p:nvPr/>
        </p:nvSpPr>
        <p:spPr>
          <a:xfrm>
            <a:off x="288758" y="404261"/>
            <a:ext cx="6302542" cy="584775"/>
          </a:xfrm>
          <a:prstGeom prst="rect">
            <a:avLst/>
          </a:prstGeom>
          <a:noFill/>
        </p:spPr>
        <p:txBody>
          <a:bodyPr wrap="square" rtlCol="0">
            <a:spAutoFit/>
          </a:bodyPr>
          <a:lstStyle/>
          <a:p>
            <a:r>
              <a:rPr kumimoji="1" lang="zh-CN" altLang="en-US" sz="3200" dirty="0"/>
              <a:t>探究合适的试剂比例</a:t>
            </a:r>
          </a:p>
        </p:txBody>
      </p:sp>
      <p:pic>
        <p:nvPicPr>
          <p:cNvPr id="3" name="Picture 2">
            <a:extLst>
              <a:ext uri="{FF2B5EF4-FFF2-40B4-BE49-F238E27FC236}">
                <a16:creationId xmlns:a16="http://schemas.microsoft.com/office/drawing/2014/main" id="{59F4373D-EFC6-1646-B2DD-52B166C45661}"/>
              </a:ext>
            </a:extLst>
          </p:cNvPr>
          <p:cNvPicPr>
            <a:picLocks noChangeAspect="1"/>
          </p:cNvPicPr>
          <p:nvPr/>
        </p:nvPicPr>
        <p:blipFill rotWithShape="1">
          <a:blip r:embed="rId4"/>
          <a:srcRect l="13635" t="20675" r="61482" b="17037"/>
          <a:stretch/>
        </p:blipFill>
        <p:spPr>
          <a:xfrm rot="5400000">
            <a:off x="8122691" y="273903"/>
            <a:ext cx="1901514" cy="3569970"/>
          </a:xfrm>
          <a:prstGeom prst="rect">
            <a:avLst/>
          </a:prstGeom>
        </p:spPr>
      </p:pic>
      <p:graphicFrame>
        <p:nvGraphicFramePr>
          <p:cNvPr id="15" name="Chart 14">
            <a:extLst>
              <a:ext uri="{FF2B5EF4-FFF2-40B4-BE49-F238E27FC236}">
                <a16:creationId xmlns:a16="http://schemas.microsoft.com/office/drawing/2014/main" id="{63D8637C-3E5A-4A45-84F4-34C572463B05}"/>
              </a:ext>
            </a:extLst>
          </p:cNvPr>
          <p:cNvGraphicFramePr/>
          <p:nvPr>
            <p:extLst>
              <p:ext uri="{D42A27DB-BD31-4B8C-83A1-F6EECF244321}">
                <p14:modId xmlns:p14="http://schemas.microsoft.com/office/powerpoint/2010/main" val="1525637930"/>
              </p:ext>
            </p:extLst>
          </p:nvPr>
        </p:nvGraphicFramePr>
        <p:xfrm>
          <a:off x="6821805" y="3247637"/>
          <a:ext cx="4160520" cy="326062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07506313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blinds(horizontal)">
                                      <p:cBhvr>
                                        <p:cTn id="10" dur="500"/>
                                        <p:tgtEl>
                                          <p:spTgt spid="1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blinds(horizontal)">
                                      <p:cBhvr>
                                        <p:cTn id="13" dur="500"/>
                                        <p:tgtEl>
                                          <p:spTgt spid="1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2">
                                            <p:txEl>
                                              <p:pRg st="3" end="3"/>
                                            </p:txEl>
                                          </p:spTgt>
                                        </p:tgtEl>
                                        <p:attrNameLst>
                                          <p:attrName>style.visibility</p:attrName>
                                        </p:attrNameLst>
                                      </p:cBhvr>
                                      <p:to>
                                        <p:strVal val="visible"/>
                                      </p:to>
                                    </p:set>
                                    <p:animEffect transition="in" filter="blinds(horizontal)">
                                      <p:cBhvr>
                                        <p:cTn id="18" dur="500"/>
                                        <p:tgtEl>
                                          <p:spTgt spid="1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animEffect transition="in" filter="blinds(horizontal)">
                                      <p:cBhvr>
                                        <p:cTn id="23" dur="500"/>
                                        <p:tgtEl>
                                          <p:spTgt spid="12">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blinds(horizontal)">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2">
                                            <p:txEl>
                                              <p:pRg st="5" end="5"/>
                                            </p:txEl>
                                          </p:spTgt>
                                        </p:tgtEl>
                                        <p:attrNameLst>
                                          <p:attrName>style.visibility</p:attrName>
                                        </p:attrNameLst>
                                      </p:cBhvr>
                                      <p:to>
                                        <p:strVal val="visible"/>
                                      </p:to>
                                    </p:set>
                                    <p:animEffect transition="in" filter="blinds(horizontal)">
                                      <p:cBhvr>
                                        <p:cTn id="31" dur="500"/>
                                        <p:tgtEl>
                                          <p:spTgt spid="12">
                                            <p:txEl>
                                              <p:pRg st="5" end="5"/>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2">
                                            <p:txEl>
                                              <p:pRg st="6" end="6"/>
                                            </p:txEl>
                                          </p:spTgt>
                                        </p:tgtEl>
                                        <p:attrNameLst>
                                          <p:attrName>style.visibility</p:attrName>
                                        </p:attrNameLst>
                                      </p:cBhvr>
                                      <p:to>
                                        <p:strVal val="visible"/>
                                      </p:to>
                                    </p:set>
                                    <p:animEffect transition="in" filter="blinds(horizontal)">
                                      <p:cBhvr>
                                        <p:cTn id="34" dur="500"/>
                                        <p:tgtEl>
                                          <p:spTgt spid="12">
                                            <p:txEl>
                                              <p:pRg st="6" end="6"/>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linds(horizontal)">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2">
                                            <p:txEl>
                                              <p:pRg st="7" end="7"/>
                                            </p:txEl>
                                          </p:spTgt>
                                        </p:tgtEl>
                                        <p:attrNameLst>
                                          <p:attrName>style.visibility</p:attrName>
                                        </p:attrNameLst>
                                      </p:cBhvr>
                                      <p:to>
                                        <p:strVal val="visible"/>
                                      </p:to>
                                    </p:set>
                                    <p:animEffect transition="in" filter="blinds(horizontal)">
                                      <p:cBhvr>
                                        <p:cTn id="42" dur="500"/>
                                        <p:tgtEl>
                                          <p:spTgt spid="12">
                                            <p:txEl>
                                              <p:pRg st="7" end="7"/>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12">
                                            <p:txEl>
                                              <p:pRg st="8" end="8"/>
                                            </p:txEl>
                                          </p:spTgt>
                                        </p:tgtEl>
                                        <p:attrNameLst>
                                          <p:attrName>style.visibility</p:attrName>
                                        </p:attrNameLst>
                                      </p:cBhvr>
                                      <p:to>
                                        <p:strVal val="visible"/>
                                      </p:to>
                                    </p:set>
                                    <p:animEffect transition="in" filter="blinds(horizontal)">
                                      <p:cBhvr>
                                        <p:cTn id="45" dur="500"/>
                                        <p:tgtEl>
                                          <p:spTgt spid="1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磷硫铁法</a:t>
            </a: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2" name="内容占位符 2">
            <a:extLst>
              <a:ext uri="{FF2B5EF4-FFF2-40B4-BE49-F238E27FC236}">
                <a16:creationId xmlns:a16="http://schemas.microsoft.com/office/drawing/2014/main" id="{8250F010-7937-0B40-ADD3-883B8FB5F954}"/>
              </a:ext>
            </a:extLst>
          </p:cNvPr>
          <p:cNvSpPr txBox="1">
            <a:spLocks/>
          </p:cNvSpPr>
          <p:nvPr/>
        </p:nvSpPr>
        <p:spPr>
          <a:xfrm>
            <a:off x="288758" y="989036"/>
            <a:ext cx="4994442" cy="43516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endParaRPr lang="zh-CN" altLang="en-US" sz="2000" dirty="0"/>
          </a:p>
        </p:txBody>
      </p:sp>
      <p:sp>
        <p:nvSpPr>
          <p:cNvPr id="11" name="TextBox 10">
            <a:extLst>
              <a:ext uri="{FF2B5EF4-FFF2-40B4-BE49-F238E27FC236}">
                <a16:creationId xmlns:a16="http://schemas.microsoft.com/office/drawing/2014/main" id="{AA87075D-89E5-A24E-AADD-15A90D128F01}"/>
              </a:ext>
            </a:extLst>
          </p:cNvPr>
          <p:cNvSpPr txBox="1"/>
          <p:nvPr/>
        </p:nvSpPr>
        <p:spPr>
          <a:xfrm>
            <a:off x="288758" y="404261"/>
            <a:ext cx="6302542" cy="584775"/>
          </a:xfrm>
          <a:prstGeom prst="rect">
            <a:avLst/>
          </a:prstGeom>
          <a:noFill/>
        </p:spPr>
        <p:txBody>
          <a:bodyPr wrap="square" rtlCol="0">
            <a:spAutoFit/>
          </a:bodyPr>
          <a:lstStyle/>
          <a:p>
            <a:r>
              <a:rPr kumimoji="1" lang="zh-CN" altLang="en-US" sz="3200" dirty="0"/>
              <a:t>探究合适的反应时间</a:t>
            </a:r>
          </a:p>
        </p:txBody>
      </p:sp>
      <p:sp>
        <p:nvSpPr>
          <p:cNvPr id="14" name="内容占位符 2">
            <a:extLst>
              <a:ext uri="{FF2B5EF4-FFF2-40B4-BE49-F238E27FC236}">
                <a16:creationId xmlns:a16="http://schemas.microsoft.com/office/drawing/2014/main" id="{6EB8477D-2BAD-4545-A91D-91A08BBA89B2}"/>
              </a:ext>
            </a:extLst>
          </p:cNvPr>
          <p:cNvSpPr txBox="1">
            <a:spLocks/>
          </p:cNvSpPr>
          <p:nvPr/>
        </p:nvSpPr>
        <p:spPr>
          <a:xfrm>
            <a:off x="288758" y="989036"/>
            <a:ext cx="6683542" cy="43516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实验过程中发现部分孔颜色存在明显差异</a:t>
            </a:r>
            <a:endParaRPr lang="en-US" altLang="zh-CN" sz="2000" dirty="0"/>
          </a:p>
          <a:p>
            <a:pPr lvl="1">
              <a:lnSpc>
                <a:spcPct val="150000"/>
              </a:lnSpc>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差异过大，可排除操作错误等原因</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pPr>
            <a:r>
              <a:rPr lang="zh-CN" altLang="en-US" sz="1800" dirty="0">
                <a:solidFill>
                  <a:prstClr val="black"/>
                </a:solidFill>
                <a:latin typeface="Calibri" panose="020F0502020204030204"/>
                <a:ea typeface="等线" panose="02010600030101010101" pitchFamily="2" charset="-122"/>
              </a:rPr>
              <a:t>推测可能是反应达到充分的时间长于参考值（</a:t>
            </a:r>
            <a:r>
              <a:rPr lang="en-US" altLang="zh-CN" sz="1800" dirty="0">
                <a:solidFill>
                  <a:prstClr val="black"/>
                </a:solidFill>
                <a:latin typeface="Calibri" panose="020F0502020204030204"/>
                <a:ea typeface="等线" panose="02010600030101010101" pitchFamily="2" charset="-122"/>
              </a:rPr>
              <a:t>10</a:t>
            </a:r>
            <a:r>
              <a:rPr lang="zh-CN" altLang="en-US" sz="1800" dirty="0">
                <a:solidFill>
                  <a:prstClr val="black"/>
                </a:solidFill>
                <a:latin typeface="Calibri" panose="020F0502020204030204"/>
                <a:ea typeface="等线" panose="02010600030101010101" pitchFamily="2" charset="-122"/>
              </a:rPr>
              <a:t> </a:t>
            </a:r>
            <a:r>
              <a:rPr lang="en-US" altLang="zh-CN" sz="1800" dirty="0">
                <a:solidFill>
                  <a:prstClr val="black"/>
                </a:solidFill>
                <a:latin typeface="Calibri" panose="020F0502020204030204"/>
                <a:ea typeface="等线" panose="02010600030101010101" pitchFamily="2" charset="-122"/>
              </a:rPr>
              <a:t>min</a:t>
            </a:r>
            <a:r>
              <a:rPr lang="zh-CN" altLang="en-US" sz="1800" dirty="0">
                <a:solidFill>
                  <a:prstClr val="black"/>
                </a:solidFill>
                <a:latin typeface="Calibri" panose="020F0502020204030204"/>
                <a:ea typeface="等线" panose="02010600030101010101" pitchFamily="2" charset="-122"/>
              </a:rPr>
              <a:t>）</a:t>
            </a:r>
            <a:endParaRPr lang="en-US" altLang="zh-CN" sz="1800" dirty="0">
              <a:solidFill>
                <a:prstClr val="black"/>
              </a:solidFill>
              <a:latin typeface="Calibri"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 typeface="Wingdings"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改进</a:t>
            </a: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spcBef>
                <a:spcPts val="0"/>
              </a:spcBef>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使用混匀仪混匀</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2">
              <a:lnSpc>
                <a:spcPct val="150000"/>
              </a:lnSpc>
              <a:spcBef>
                <a:spcPts val="0"/>
              </a:spcBef>
              <a:buFont typeface="Wingdings" pitchFamily="2" charset="2"/>
              <a:buChar char="ü"/>
              <a:defRPr/>
            </a:pPr>
            <a:r>
              <a:rPr lang="zh-CN" altLang="en-US" sz="1800" dirty="0">
                <a:solidFill>
                  <a:prstClr val="black"/>
                </a:solidFill>
                <a:latin typeface="Calibri" panose="020F0502020204030204"/>
                <a:ea typeface="等线" panose="02010600030101010101" pitchFamily="2" charset="-122"/>
              </a:rPr>
              <a:t>使反应更充分</a:t>
            </a:r>
            <a:endParaRPr lang="en-US" altLang="zh-CN" sz="1800" dirty="0">
              <a:solidFill>
                <a:prstClr val="black"/>
              </a:solidFill>
              <a:latin typeface="Calibri" panose="020F0502020204030204"/>
              <a:ea typeface="等线" panose="02010600030101010101" pitchFamily="2" charset="-122"/>
            </a:endParaRPr>
          </a:p>
          <a:p>
            <a:pPr lvl="2">
              <a:lnSpc>
                <a:spcPct val="150000"/>
              </a:lnSpc>
              <a:spcBef>
                <a:spcPts val="0"/>
              </a:spcBef>
              <a:buFont typeface="Wingdings" pitchFamily="2" charset="2"/>
              <a:buChar char="ü"/>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磷硫铁试剂较黏稠，使用移液器吸入时误差可能较大，因此</a:t>
            </a:r>
            <a:r>
              <a:rPr kumimoji="0" lang="zh-CN" altLang="en-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加样时</a:t>
            </a: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不再</a:t>
            </a:r>
            <a:r>
              <a:rPr kumimoji="0" lang="zh-CN" altLang="en-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吸吹混匀</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R="0" lvl="1" algn="l" defTabSz="914400" rtl="0" eaLnBrk="1" fontAlgn="auto" latinLnBrk="0" hangingPunct="1">
              <a:lnSpc>
                <a:spcPct val="150000"/>
              </a:lnSpc>
              <a:spcBef>
                <a:spcPts val="0"/>
              </a:spcBef>
              <a:spcAft>
                <a:spcPts val="0"/>
              </a:spcAft>
              <a:buClrTx/>
              <a:buSzTx/>
              <a:tabLst/>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延长反应时间</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2">
              <a:lnSpc>
                <a:spcPct val="150000"/>
              </a:lnSpc>
              <a:spcBef>
                <a:spcPts val="0"/>
              </a:spcBef>
              <a:buFont typeface="Wingdings" pitchFamily="2" charset="2"/>
              <a:buChar char="ü"/>
              <a:defRPr/>
            </a:pPr>
            <a:r>
              <a:rPr lang="zh-CN" altLang="en-US" sz="1800" dirty="0">
                <a:solidFill>
                  <a:prstClr val="black"/>
                </a:solidFill>
                <a:latin typeface="Calibri" panose="020F0502020204030204"/>
                <a:ea typeface="等线" panose="02010600030101010101" pitchFamily="2" charset="-122"/>
              </a:rPr>
              <a:t>发现反应时间为</a:t>
            </a:r>
            <a:r>
              <a:rPr lang="en-US" altLang="zh-CN" sz="1800" dirty="0">
                <a:solidFill>
                  <a:prstClr val="black"/>
                </a:solidFill>
                <a:latin typeface="Calibri" panose="020F0502020204030204"/>
                <a:ea typeface="等线" panose="02010600030101010101" pitchFamily="2" charset="-122"/>
              </a:rPr>
              <a:t>20 min</a:t>
            </a:r>
            <a:r>
              <a:rPr lang="zh-CN" altLang="en-US" sz="1800" dirty="0">
                <a:solidFill>
                  <a:prstClr val="black"/>
                </a:solidFill>
                <a:latin typeface="Calibri" panose="020F0502020204030204"/>
                <a:ea typeface="等线" panose="02010600030101010101" pitchFamily="2" charset="-122"/>
              </a:rPr>
              <a:t>时效果较好</a:t>
            </a:r>
            <a:endParaRPr lang="en-US" altLang="zh-CN" sz="1800" dirty="0">
              <a:solidFill>
                <a:prstClr val="black"/>
              </a:solidFill>
              <a:latin typeface="Calibri" panose="020F0502020204030204"/>
              <a:ea typeface="等线" panose="02010600030101010101" pitchFamily="2" charset="-122"/>
            </a:endParaRPr>
          </a:p>
          <a:p>
            <a:pPr lvl="2">
              <a:lnSpc>
                <a:spcPct val="150000"/>
              </a:lnSpc>
              <a:spcBef>
                <a:spcPts val="0"/>
              </a:spcBef>
              <a:buFont typeface="Wingdings" pitchFamily="2" charset="2"/>
              <a:buChar char="ü"/>
              <a:defRPr/>
            </a:pPr>
            <a:r>
              <a:rPr kumimoji="0"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线性、平行性改善</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2">
              <a:lnSpc>
                <a:spcPct val="150000"/>
              </a:lnSpc>
              <a:spcBef>
                <a:spcPts val="0"/>
              </a:spcBef>
              <a:buFont typeface="Wingdings" pitchFamily="2" charset="2"/>
              <a:buChar char="ü"/>
              <a:defRPr/>
            </a:pP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grpSp>
        <p:nvGrpSpPr>
          <p:cNvPr id="15" name="Group 14">
            <a:extLst>
              <a:ext uri="{FF2B5EF4-FFF2-40B4-BE49-F238E27FC236}">
                <a16:creationId xmlns:a16="http://schemas.microsoft.com/office/drawing/2014/main" id="{160362A0-F27C-BE43-8288-9C515C483DDC}"/>
              </a:ext>
            </a:extLst>
          </p:cNvPr>
          <p:cNvGrpSpPr/>
          <p:nvPr/>
        </p:nvGrpSpPr>
        <p:grpSpPr>
          <a:xfrm>
            <a:off x="7891600" y="989036"/>
            <a:ext cx="3181351" cy="5071951"/>
            <a:chOff x="0" y="1856"/>
            <a:chExt cx="3182042" cy="5072380"/>
          </a:xfrm>
        </p:grpSpPr>
        <p:graphicFrame>
          <p:nvGraphicFramePr>
            <p:cNvPr id="16" name="Chart 15">
              <a:extLst>
                <a:ext uri="{FF2B5EF4-FFF2-40B4-BE49-F238E27FC236}">
                  <a16:creationId xmlns:a16="http://schemas.microsoft.com/office/drawing/2014/main" id="{90B8E5A8-3B02-3140-9256-7EE3001892E4}"/>
                </a:ext>
              </a:extLst>
            </p:cNvPr>
            <p:cNvGraphicFramePr/>
            <p:nvPr/>
          </p:nvGraphicFramePr>
          <p:xfrm>
            <a:off x="0" y="2461846"/>
            <a:ext cx="2871470" cy="261239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a:extLst>
                <a:ext uri="{FF2B5EF4-FFF2-40B4-BE49-F238E27FC236}">
                  <a16:creationId xmlns:a16="http://schemas.microsoft.com/office/drawing/2014/main" id="{00000000-0008-0000-0000-000002000000}"/>
                </a:ext>
              </a:extLst>
            </p:cNvPr>
            <p:cNvGraphicFramePr/>
            <p:nvPr>
              <p:extLst>
                <p:ext uri="{D42A27DB-BD31-4B8C-83A1-F6EECF244321}">
                  <p14:modId xmlns:p14="http://schemas.microsoft.com/office/powerpoint/2010/main" val="108006503"/>
                </p:ext>
              </p:extLst>
            </p:nvPr>
          </p:nvGraphicFramePr>
          <p:xfrm>
            <a:off x="264851" y="1856"/>
            <a:ext cx="2917191" cy="2459990"/>
          </p:xfrm>
          <a:graphic>
            <a:graphicData uri="http://schemas.openxmlformats.org/drawingml/2006/chart">
              <c:chart xmlns:c="http://schemas.openxmlformats.org/drawingml/2006/chart" xmlns:r="http://schemas.openxmlformats.org/officeDocument/2006/relationships" r:id="rId5"/>
            </a:graphicData>
          </a:graphic>
        </p:graphicFrame>
      </p:grpSp>
    </p:spTree>
    <p:extLst>
      <p:ext uri="{BB962C8B-B14F-4D97-AF65-F5344CB8AC3E}">
        <p14:creationId xmlns:p14="http://schemas.microsoft.com/office/powerpoint/2010/main" val="8911826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blinds(horizontal)">
                                      <p:cBhvr>
                                        <p:cTn id="10" dur="500"/>
                                        <p:tgtEl>
                                          <p:spTgt spid="14">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animEffect transition="in" filter="blinds(horizontal)">
                                      <p:cBhvr>
                                        <p:cTn id="13" dur="500"/>
                                        <p:tgtEl>
                                          <p:spTgt spid="1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4">
                                            <p:txEl>
                                              <p:pRg st="3" end="3"/>
                                            </p:txEl>
                                          </p:spTgt>
                                        </p:tgtEl>
                                        <p:attrNameLst>
                                          <p:attrName>style.visibility</p:attrName>
                                        </p:attrNameLst>
                                      </p:cBhvr>
                                      <p:to>
                                        <p:strVal val="visible"/>
                                      </p:to>
                                    </p:set>
                                    <p:animEffect transition="in" filter="blinds(horizontal)">
                                      <p:cBhvr>
                                        <p:cTn id="18" dur="500"/>
                                        <p:tgtEl>
                                          <p:spTgt spid="1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animEffect transition="in" filter="blinds(horizontal)">
                                      <p:cBhvr>
                                        <p:cTn id="23" dur="500"/>
                                        <p:tgtEl>
                                          <p:spTgt spid="14">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4">
                                            <p:txEl>
                                              <p:pRg st="5" end="5"/>
                                            </p:txEl>
                                          </p:spTgt>
                                        </p:tgtEl>
                                        <p:attrNameLst>
                                          <p:attrName>style.visibility</p:attrName>
                                        </p:attrNameLst>
                                      </p:cBhvr>
                                      <p:to>
                                        <p:strVal val="visible"/>
                                      </p:to>
                                    </p:set>
                                    <p:animEffect transition="in" filter="blinds(horizontal)">
                                      <p:cBhvr>
                                        <p:cTn id="26" dur="500"/>
                                        <p:tgtEl>
                                          <p:spTgt spid="14">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4">
                                            <p:txEl>
                                              <p:pRg st="6" end="6"/>
                                            </p:txEl>
                                          </p:spTgt>
                                        </p:tgtEl>
                                        <p:attrNameLst>
                                          <p:attrName>style.visibility</p:attrName>
                                        </p:attrNameLst>
                                      </p:cBhvr>
                                      <p:to>
                                        <p:strVal val="visible"/>
                                      </p:to>
                                    </p:set>
                                    <p:animEffect transition="in" filter="blinds(horizontal)">
                                      <p:cBhvr>
                                        <p:cTn id="29" dur="500"/>
                                        <p:tgtEl>
                                          <p:spTgt spid="1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4">
                                            <p:txEl>
                                              <p:pRg st="7" end="7"/>
                                            </p:txEl>
                                          </p:spTgt>
                                        </p:tgtEl>
                                        <p:attrNameLst>
                                          <p:attrName>style.visibility</p:attrName>
                                        </p:attrNameLst>
                                      </p:cBhvr>
                                      <p:to>
                                        <p:strVal val="visible"/>
                                      </p:to>
                                    </p:set>
                                    <p:animEffect transition="in" filter="blinds(horizontal)">
                                      <p:cBhvr>
                                        <p:cTn id="34" dur="500"/>
                                        <p:tgtEl>
                                          <p:spTgt spid="14">
                                            <p:txEl>
                                              <p:pRg st="7" end="7"/>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14">
                                            <p:txEl>
                                              <p:pRg st="8" end="8"/>
                                            </p:txEl>
                                          </p:spTgt>
                                        </p:tgtEl>
                                        <p:attrNameLst>
                                          <p:attrName>style.visibility</p:attrName>
                                        </p:attrNameLst>
                                      </p:cBhvr>
                                      <p:to>
                                        <p:strVal val="visible"/>
                                      </p:to>
                                    </p:set>
                                    <p:animEffect transition="in" filter="blinds(horizontal)">
                                      <p:cBhvr>
                                        <p:cTn id="37" dur="500"/>
                                        <p:tgtEl>
                                          <p:spTgt spid="14">
                                            <p:txEl>
                                              <p:pRg st="8" end="8"/>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14">
                                            <p:txEl>
                                              <p:pRg st="9" end="9"/>
                                            </p:txEl>
                                          </p:spTgt>
                                        </p:tgtEl>
                                        <p:attrNameLst>
                                          <p:attrName>style.visibility</p:attrName>
                                        </p:attrNameLst>
                                      </p:cBhvr>
                                      <p:to>
                                        <p:strVal val="visible"/>
                                      </p:to>
                                    </p:set>
                                    <p:animEffect transition="in" filter="blinds(horizontal)">
                                      <p:cBhvr>
                                        <p:cTn id="40" dur="500"/>
                                        <p:tgtEl>
                                          <p:spTgt spid="14">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blinds(horizontal)">
                                      <p:cBhvr>
                                        <p:cTn id="4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磷硫铁法</a:t>
            </a: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2" name="内容占位符 2">
            <a:extLst>
              <a:ext uri="{FF2B5EF4-FFF2-40B4-BE49-F238E27FC236}">
                <a16:creationId xmlns:a16="http://schemas.microsoft.com/office/drawing/2014/main" id="{8250F010-7937-0B40-ADD3-883B8FB5F954}"/>
              </a:ext>
            </a:extLst>
          </p:cNvPr>
          <p:cNvSpPr txBox="1">
            <a:spLocks/>
          </p:cNvSpPr>
          <p:nvPr/>
        </p:nvSpPr>
        <p:spPr>
          <a:xfrm>
            <a:off x="288758" y="1068415"/>
            <a:ext cx="6774982" cy="55192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实验结果分析</a:t>
            </a:r>
            <a:endParaRPr lang="en-US" altLang="zh-CN" sz="2000" dirty="0"/>
          </a:p>
          <a:p>
            <a:pPr lvl="1">
              <a:lnSpc>
                <a:spcPct val="150000"/>
              </a:lnSpc>
            </a:pPr>
            <a:r>
              <a:rPr lang="zh-CN" altLang="en-US" sz="1800" dirty="0"/>
              <a:t>和酶法结果一致，第一次正式实验测定得到的结果异常，推测可能是样品制备过程中存在体积误差</a:t>
            </a:r>
            <a:endParaRPr lang="en-US" altLang="zh-CN" sz="1800" dirty="0"/>
          </a:p>
          <a:p>
            <a:pPr lvl="1">
              <a:lnSpc>
                <a:spcPct val="150000"/>
              </a:lnSpc>
            </a:pPr>
            <a:r>
              <a:rPr lang="zh-CN" altLang="en-US" sz="1800" dirty="0"/>
              <a:t>第二次正式实验测定得到的结果符合预期，结果</a:t>
            </a:r>
            <a:r>
              <a:rPr lang="zh-CN" altLang="en-US" sz="1800" b="1" dirty="0"/>
              <a:t>略低于</a:t>
            </a:r>
            <a:r>
              <a:rPr lang="zh-CN" altLang="en-US" sz="1800" dirty="0"/>
              <a:t>参考值，可能是由于样品制备过程中胆固醇存在一定损失</a:t>
            </a:r>
            <a:endParaRPr lang="en-US" altLang="zh-CN" sz="1800" dirty="0"/>
          </a:p>
          <a:p>
            <a:pPr>
              <a:lnSpc>
                <a:spcPct val="150000"/>
              </a:lnSpc>
              <a:buFont typeface="Wingdings" pitchFamily="2" charset="2"/>
              <a:buChar char="Ø"/>
            </a:pPr>
            <a:r>
              <a:rPr lang="zh-CN" altLang="en-US" sz="2000" dirty="0"/>
              <a:t>实验中遇到的困难</a:t>
            </a:r>
            <a:endParaRPr lang="en-US" altLang="zh-CN" sz="2000" dirty="0"/>
          </a:p>
          <a:p>
            <a:pPr lvl="1">
              <a:lnSpc>
                <a:spcPct val="150000"/>
              </a:lnSpc>
            </a:pPr>
            <a:r>
              <a:rPr lang="zh-CN" altLang="en-US" sz="1800" dirty="0"/>
              <a:t>反应的影响因素多：无水乙醇、产物不太稳定、反应时间不确定</a:t>
            </a:r>
            <a:endParaRPr lang="en-US" altLang="zh-CN" sz="1800" dirty="0"/>
          </a:p>
          <a:p>
            <a:pPr lvl="1">
              <a:lnSpc>
                <a:spcPct val="150000"/>
              </a:lnSpc>
            </a:pPr>
            <a:r>
              <a:rPr lang="zh-CN" altLang="en-US" sz="1800" dirty="0"/>
              <a:t>可查阅的文献资料少：磷硫铁法不常用；一般用于</a:t>
            </a:r>
            <a:r>
              <a:rPr lang="zh-CN" altLang="en-US" sz="1800" u="sng" dirty="0"/>
              <a:t>比色法</a:t>
            </a:r>
            <a:r>
              <a:rPr lang="zh-CN" altLang="en-US" sz="1800" dirty="0"/>
              <a:t>而非标准曲线法</a:t>
            </a:r>
            <a:endParaRPr lang="en-US" altLang="zh-CN" sz="1800" dirty="0"/>
          </a:p>
        </p:txBody>
      </p:sp>
      <p:sp>
        <p:nvSpPr>
          <p:cNvPr id="11" name="TextBox 10">
            <a:extLst>
              <a:ext uri="{FF2B5EF4-FFF2-40B4-BE49-F238E27FC236}">
                <a16:creationId xmlns:a16="http://schemas.microsoft.com/office/drawing/2014/main" id="{AA87075D-89E5-A24E-AADD-15A90D128F01}"/>
              </a:ext>
            </a:extLst>
          </p:cNvPr>
          <p:cNvSpPr txBox="1"/>
          <p:nvPr/>
        </p:nvSpPr>
        <p:spPr>
          <a:xfrm>
            <a:off x="288758" y="404261"/>
            <a:ext cx="6302542" cy="584775"/>
          </a:xfrm>
          <a:prstGeom prst="rect">
            <a:avLst/>
          </a:prstGeom>
          <a:noFill/>
        </p:spPr>
        <p:txBody>
          <a:bodyPr wrap="square" rtlCol="0">
            <a:spAutoFit/>
          </a:bodyPr>
          <a:lstStyle/>
          <a:p>
            <a:r>
              <a:rPr kumimoji="1" lang="zh-CN" altLang="en-US" sz="3200" dirty="0"/>
              <a:t>正式实验</a:t>
            </a:r>
          </a:p>
        </p:txBody>
      </p:sp>
      <p:pic>
        <p:nvPicPr>
          <p:cNvPr id="14" name="Picture 13">
            <a:extLst>
              <a:ext uri="{FF2B5EF4-FFF2-40B4-BE49-F238E27FC236}">
                <a16:creationId xmlns:a16="http://schemas.microsoft.com/office/drawing/2014/main" id="{C0AAEF55-E099-5F4D-9E57-D6313D195404}"/>
              </a:ext>
            </a:extLst>
          </p:cNvPr>
          <p:cNvPicPr>
            <a:picLocks noChangeAspect="1"/>
          </p:cNvPicPr>
          <p:nvPr/>
        </p:nvPicPr>
        <p:blipFill rotWithShape="1">
          <a:blip r:embed="rId4"/>
          <a:srcRect l="3351" t="8005" r="13086" b="6158"/>
          <a:stretch/>
        </p:blipFill>
        <p:spPr>
          <a:xfrm>
            <a:off x="7049224" y="1971348"/>
            <a:ext cx="4854018" cy="3077527"/>
          </a:xfrm>
          <a:prstGeom prst="rect">
            <a:avLst/>
          </a:prstGeom>
        </p:spPr>
      </p:pic>
    </p:spTree>
    <p:extLst>
      <p:ext uri="{BB962C8B-B14F-4D97-AF65-F5344CB8AC3E}">
        <p14:creationId xmlns:p14="http://schemas.microsoft.com/office/powerpoint/2010/main" val="103864989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blinds(horizontal)">
                                      <p:cBhvr>
                                        <p:cTn id="10" dur="500"/>
                                        <p:tgtEl>
                                          <p:spTgt spid="1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blinds(horizontal)">
                                      <p:cBhvr>
                                        <p:cTn id="13" dur="500"/>
                                        <p:tgtEl>
                                          <p:spTgt spid="1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2">
                                            <p:txEl>
                                              <p:pRg st="3" end="3"/>
                                            </p:txEl>
                                          </p:spTgt>
                                        </p:tgtEl>
                                        <p:attrNameLst>
                                          <p:attrName>style.visibility</p:attrName>
                                        </p:attrNameLst>
                                      </p:cBhvr>
                                      <p:to>
                                        <p:strVal val="visible"/>
                                      </p:to>
                                    </p:set>
                                    <p:animEffect transition="in" filter="blinds(horizontal)">
                                      <p:cBhvr>
                                        <p:cTn id="18" dur="500"/>
                                        <p:tgtEl>
                                          <p:spTgt spid="1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animEffect transition="in" filter="blinds(horizontal)">
                                      <p:cBhvr>
                                        <p:cTn id="23" dur="500"/>
                                        <p:tgtEl>
                                          <p:spTgt spid="1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2">
                                            <p:txEl>
                                              <p:pRg st="5" end="5"/>
                                            </p:txEl>
                                          </p:spTgt>
                                        </p:tgtEl>
                                        <p:attrNameLst>
                                          <p:attrName>style.visibility</p:attrName>
                                        </p:attrNameLst>
                                      </p:cBhvr>
                                      <p:to>
                                        <p:strVal val="visible"/>
                                      </p:to>
                                    </p:set>
                                    <p:animEffect transition="in" filter="blinds(horizontal)">
                                      <p:cBhvr>
                                        <p:cTn id="28"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磷硫铁法</a:t>
            </a: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1" name="TextBox 10">
            <a:extLst>
              <a:ext uri="{FF2B5EF4-FFF2-40B4-BE49-F238E27FC236}">
                <a16:creationId xmlns:a16="http://schemas.microsoft.com/office/drawing/2014/main" id="{AA87075D-89E5-A24E-AADD-15A90D128F01}"/>
              </a:ext>
            </a:extLst>
          </p:cNvPr>
          <p:cNvSpPr txBox="1"/>
          <p:nvPr/>
        </p:nvSpPr>
        <p:spPr>
          <a:xfrm>
            <a:off x="288758" y="404261"/>
            <a:ext cx="6302542" cy="584775"/>
          </a:xfrm>
          <a:prstGeom prst="rect">
            <a:avLst/>
          </a:prstGeom>
          <a:noFill/>
        </p:spPr>
        <p:txBody>
          <a:bodyPr wrap="square" rtlCol="0">
            <a:spAutoFit/>
          </a:bodyPr>
          <a:lstStyle/>
          <a:p>
            <a:r>
              <a:rPr kumimoji="1" lang="zh-CN" altLang="en-US" sz="3200" dirty="0"/>
              <a:t>与酶法的对比</a:t>
            </a:r>
          </a:p>
        </p:txBody>
      </p:sp>
      <p:pic>
        <p:nvPicPr>
          <p:cNvPr id="15" name="Picture 10" descr="Structure and Function of an Enzyme">
            <a:extLst>
              <a:ext uri="{FF2B5EF4-FFF2-40B4-BE49-F238E27FC236}">
                <a16:creationId xmlns:a16="http://schemas.microsoft.com/office/drawing/2014/main" id="{E6297533-CFF8-9F46-BFB2-C8FE997499E5}"/>
              </a:ext>
            </a:extLst>
          </p:cNvPr>
          <p:cNvPicPr>
            <a:picLocks noChangeAspect="1" noChangeArrowheads="1"/>
          </p:cNvPicPr>
          <p:nvPr/>
        </p:nvPicPr>
        <p:blipFill rotWithShape="1">
          <a:blip r:embed="rId4">
            <a:duotone>
              <a:srgbClr val="5B9BD5">
                <a:shade val="45000"/>
                <a:satMod val="135000"/>
              </a:srgbClr>
              <a:prstClr val="white"/>
            </a:duotone>
            <a:extLst>
              <a:ext uri="{BEBA8EAE-BF5A-486C-A8C5-ECC9F3942E4B}">
                <a14:imgProps xmlns:a14="http://schemas.microsoft.com/office/drawing/2010/main">
                  <a14:imgLayer r:embed="rId5">
                    <a14:imgEffect>
                      <a14:colorTemperature colorTemp="7200"/>
                    </a14:imgEffect>
                    <a14:imgEffect>
                      <a14:brightnessContrast bright="40000" contrast="-40000"/>
                    </a14:imgEffect>
                  </a14:imgLayer>
                </a14:imgProps>
              </a:ext>
              <a:ext uri="{28A0092B-C50C-407E-A947-70E740481C1C}">
                <a14:useLocalDpi xmlns:a14="http://schemas.microsoft.com/office/drawing/2010/main" val="0"/>
              </a:ext>
            </a:extLst>
          </a:blip>
          <a:srcRect t="33587" b="16174"/>
          <a:stretch/>
        </p:blipFill>
        <p:spPr bwMode="auto">
          <a:xfrm>
            <a:off x="1309133" y="1410384"/>
            <a:ext cx="4466827" cy="1496082"/>
          </a:xfrm>
          <a:prstGeom prst="rect">
            <a:avLst/>
          </a:prstGeom>
          <a:noFill/>
          <a:effectLst>
            <a:outerShdw blurRad="50800" dist="50800" dir="5400000" algn="ctr" rotWithShape="0">
              <a:schemeClr val="bg1"/>
            </a:outerShdw>
          </a:effectLst>
          <a:extLst>
            <a:ext uri="{909E8E84-426E-40DD-AFC4-6F175D3DCCD1}">
              <a14:hiddenFill xmlns:a14="http://schemas.microsoft.com/office/drawing/2010/main">
                <a:solidFill>
                  <a:srgbClr val="FFFFFF"/>
                </a:solidFill>
              </a14:hiddenFill>
            </a:ext>
          </a:extLst>
        </p:spPr>
      </p:pic>
      <p:pic>
        <p:nvPicPr>
          <p:cNvPr id="16" name="Picture 12" descr="Clipart Of Laboratory Supplies">
            <a:extLst>
              <a:ext uri="{FF2B5EF4-FFF2-40B4-BE49-F238E27FC236}">
                <a16:creationId xmlns:a16="http://schemas.microsoft.com/office/drawing/2014/main" id="{99027D6A-D278-C643-B2C8-E33D822703CF}"/>
              </a:ext>
            </a:extLst>
          </p:cNvPr>
          <p:cNvPicPr>
            <a:picLocks noChangeAspect="1" noChangeArrowheads="1"/>
          </p:cNvPicPr>
          <p:nvPr/>
        </p:nvPicPr>
        <p:blipFill>
          <a:blip r:embed="rId6">
            <a:duotone>
              <a:schemeClr val="accent5">
                <a:shade val="45000"/>
                <a:satMod val="135000"/>
              </a:schemeClr>
              <a:prstClr val="white"/>
            </a:duotone>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446500" y="965714"/>
            <a:ext cx="2385421" cy="238542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9E05F73-4213-2645-A391-EDA02AC1D1D8}"/>
              </a:ext>
            </a:extLst>
          </p:cNvPr>
          <p:cNvSpPr/>
          <p:nvPr/>
        </p:nvSpPr>
        <p:spPr>
          <a:xfrm>
            <a:off x="1530866" y="4591120"/>
            <a:ext cx="4023360" cy="1268730"/>
          </a:xfrm>
          <a:prstGeom prst="rect">
            <a:avLst/>
          </a:prstGeom>
          <a:solidFill>
            <a:srgbClr val="FF7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ysClr val="windowText" lastClr="000000"/>
                </a:solidFill>
              </a:rPr>
              <a:t>成本高</a:t>
            </a:r>
            <a:endParaRPr kumimoji="1" lang="en-US" altLang="zh-CN" dirty="0">
              <a:solidFill>
                <a:sysClr val="windowText" lastClr="000000"/>
              </a:solidFill>
            </a:endParaRPr>
          </a:p>
          <a:p>
            <a:pPr algn="ctr"/>
            <a:r>
              <a:rPr kumimoji="1" lang="zh-CN" altLang="en-US" dirty="0">
                <a:solidFill>
                  <a:sysClr val="windowText" lastClr="000000"/>
                </a:solidFill>
              </a:rPr>
              <a:t>对样品制备的要求高</a:t>
            </a:r>
            <a:endParaRPr kumimoji="1" lang="en-US" altLang="zh-CN" dirty="0">
              <a:solidFill>
                <a:sysClr val="windowText" lastClr="000000"/>
              </a:solidFill>
            </a:endParaRPr>
          </a:p>
        </p:txBody>
      </p:sp>
      <p:sp>
        <p:nvSpPr>
          <p:cNvPr id="17" name="Rectangle 16">
            <a:extLst>
              <a:ext uri="{FF2B5EF4-FFF2-40B4-BE49-F238E27FC236}">
                <a16:creationId xmlns:a16="http://schemas.microsoft.com/office/drawing/2014/main" id="{884035AF-C9CA-904C-A7C1-7309864E9DCD}"/>
              </a:ext>
            </a:extLst>
          </p:cNvPr>
          <p:cNvSpPr/>
          <p:nvPr/>
        </p:nvSpPr>
        <p:spPr>
          <a:xfrm>
            <a:off x="1530866" y="3337516"/>
            <a:ext cx="4023360" cy="126873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ysClr val="windowText" lastClr="000000"/>
                </a:solidFill>
              </a:rPr>
              <a:t>使用的样品量少，检测限低</a:t>
            </a:r>
            <a:endParaRPr kumimoji="1" lang="en-US" altLang="zh-CN" dirty="0">
              <a:solidFill>
                <a:sysClr val="windowText" lastClr="000000"/>
              </a:solidFill>
            </a:endParaRPr>
          </a:p>
          <a:p>
            <a:pPr algn="ctr"/>
            <a:r>
              <a:rPr kumimoji="1" lang="zh-CN" altLang="en-US" dirty="0">
                <a:solidFill>
                  <a:sysClr val="windowText" lastClr="000000"/>
                </a:solidFill>
              </a:rPr>
              <a:t>反应体系更稳定</a:t>
            </a:r>
            <a:endParaRPr kumimoji="1" lang="en-US" altLang="zh-CN" dirty="0">
              <a:solidFill>
                <a:sysClr val="windowText" lastClr="000000"/>
              </a:solidFill>
            </a:endParaRPr>
          </a:p>
          <a:p>
            <a:pPr algn="ctr"/>
            <a:r>
              <a:rPr kumimoji="1" lang="zh-CN" altLang="en-US" dirty="0">
                <a:solidFill>
                  <a:sysClr val="windowText" lastClr="000000"/>
                </a:solidFill>
              </a:rPr>
              <a:t>反应条件温和，无毒害，污染小</a:t>
            </a:r>
          </a:p>
        </p:txBody>
      </p:sp>
      <p:sp>
        <p:nvSpPr>
          <p:cNvPr id="18" name="Rectangle 17">
            <a:extLst>
              <a:ext uri="{FF2B5EF4-FFF2-40B4-BE49-F238E27FC236}">
                <a16:creationId xmlns:a16="http://schemas.microsoft.com/office/drawing/2014/main" id="{07A6E82D-7D6F-AD41-8196-46B19E399DD0}"/>
              </a:ext>
            </a:extLst>
          </p:cNvPr>
          <p:cNvSpPr/>
          <p:nvPr/>
        </p:nvSpPr>
        <p:spPr>
          <a:xfrm>
            <a:off x="6627530" y="3337516"/>
            <a:ext cx="4023360" cy="126873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ysClr val="windowText" lastClr="000000"/>
                </a:solidFill>
              </a:rPr>
              <a:t>成本较低</a:t>
            </a:r>
            <a:endParaRPr kumimoji="1" lang="en-US" altLang="zh-CN" dirty="0">
              <a:solidFill>
                <a:sysClr val="windowText" lastClr="000000"/>
              </a:solidFill>
            </a:endParaRPr>
          </a:p>
          <a:p>
            <a:pPr algn="ctr"/>
            <a:r>
              <a:rPr kumimoji="1" lang="zh-CN" altLang="en-US" dirty="0">
                <a:solidFill>
                  <a:sysClr val="windowText" lastClr="000000"/>
                </a:solidFill>
              </a:rPr>
              <a:t>对样品制备的要求较低</a:t>
            </a:r>
            <a:endParaRPr kumimoji="1" lang="en-US" altLang="zh-CN" dirty="0">
              <a:solidFill>
                <a:sysClr val="windowText" lastClr="000000"/>
              </a:solidFill>
            </a:endParaRPr>
          </a:p>
          <a:p>
            <a:pPr algn="ctr"/>
            <a:r>
              <a:rPr kumimoji="1" lang="zh-CN" altLang="en-US" dirty="0">
                <a:solidFill>
                  <a:sysClr val="windowText" lastClr="000000"/>
                </a:solidFill>
              </a:rPr>
              <a:t>可用于粗测大量样品</a:t>
            </a:r>
            <a:endParaRPr kumimoji="1" lang="en-US" altLang="zh-CN" dirty="0">
              <a:solidFill>
                <a:sysClr val="windowText" lastClr="000000"/>
              </a:solidFill>
            </a:endParaRPr>
          </a:p>
        </p:txBody>
      </p:sp>
      <p:sp>
        <p:nvSpPr>
          <p:cNvPr id="19" name="Rectangle 18">
            <a:extLst>
              <a:ext uri="{FF2B5EF4-FFF2-40B4-BE49-F238E27FC236}">
                <a16:creationId xmlns:a16="http://schemas.microsoft.com/office/drawing/2014/main" id="{B74031FB-E96D-F24B-ABCD-FB0D9108CE87}"/>
              </a:ext>
            </a:extLst>
          </p:cNvPr>
          <p:cNvSpPr/>
          <p:nvPr/>
        </p:nvSpPr>
        <p:spPr>
          <a:xfrm>
            <a:off x="6627530" y="4591120"/>
            <a:ext cx="4023360" cy="1268730"/>
          </a:xfrm>
          <a:prstGeom prst="rect">
            <a:avLst/>
          </a:prstGeom>
          <a:solidFill>
            <a:srgbClr val="FF7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ysClr val="windowText" lastClr="000000"/>
                </a:solidFill>
              </a:rPr>
              <a:t>使用的样品量大，检测限高</a:t>
            </a:r>
            <a:endParaRPr kumimoji="1" lang="en-US" altLang="zh-CN" dirty="0">
              <a:solidFill>
                <a:sysClr val="windowText" lastClr="000000"/>
              </a:solidFill>
            </a:endParaRPr>
          </a:p>
          <a:p>
            <a:pPr algn="ctr"/>
            <a:r>
              <a:rPr kumimoji="1" lang="zh-CN" altLang="en-US" dirty="0">
                <a:solidFill>
                  <a:sysClr val="windowText" lastClr="000000"/>
                </a:solidFill>
              </a:rPr>
              <a:t>反应体系不稳定，不适合测定微量样品</a:t>
            </a:r>
            <a:endParaRPr kumimoji="1" lang="en-US" altLang="zh-CN" dirty="0">
              <a:solidFill>
                <a:sysClr val="windowText" lastClr="000000"/>
              </a:solidFill>
            </a:endParaRPr>
          </a:p>
        </p:txBody>
      </p:sp>
    </p:spTree>
    <p:extLst>
      <p:ext uri="{BB962C8B-B14F-4D97-AF65-F5344CB8AC3E}">
        <p14:creationId xmlns:p14="http://schemas.microsoft.com/office/powerpoint/2010/main" val="312780778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linds(horizontal)">
                                      <p:cBhvr>
                                        <p:cTn id="10" dur="500"/>
                                        <p:tgtEl>
                                          <p:spTgt spid="1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horizontal)">
                                      <p:cBhvr>
                                        <p:cTn id="13" dur="500"/>
                                        <p:tgtEl>
                                          <p:spTgt spid="1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linds(horizontal)">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7" grpId="0" animBg="1"/>
      <p:bldP spid="18"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llustration of chemistry laboratory instruments set - Download Free ...">
            <a:extLst>
              <a:ext uri="{FF2B5EF4-FFF2-40B4-BE49-F238E27FC236}">
                <a16:creationId xmlns:a16="http://schemas.microsoft.com/office/drawing/2014/main" id="{710DEE01-6623-0748-8E05-CBBC17A2B623}"/>
              </a:ext>
            </a:extLst>
          </p:cNvPr>
          <p:cNvPicPr>
            <a:picLocks noChangeAspect="1" noChangeArrowheads="1"/>
          </p:cNvPicPr>
          <p:nvPr/>
        </p:nvPicPr>
        <p:blipFill rotWithShape="1">
          <a:blip r:embed="rId3">
            <a:lum bright="70000" contrast="-70000"/>
            <a:alphaModFix amt="35000"/>
            <a:extLst>
              <a:ext uri="{28A0092B-C50C-407E-A947-70E740481C1C}">
                <a14:useLocalDpi xmlns:a14="http://schemas.microsoft.com/office/drawing/2010/main" val="0"/>
              </a:ext>
            </a:extLst>
          </a:blip>
          <a:srcRect t="25741"/>
          <a:stretch/>
        </p:blipFill>
        <p:spPr bwMode="auto">
          <a:xfrm>
            <a:off x="1" y="42685"/>
            <a:ext cx="12192000" cy="677262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6AE7A7E-4A6E-0B4F-8DBE-2FA73700C383}"/>
              </a:ext>
            </a:extLst>
          </p:cNvPr>
          <p:cNvSpPr txBox="1"/>
          <p:nvPr/>
        </p:nvSpPr>
        <p:spPr>
          <a:xfrm>
            <a:off x="2155666" y="3013501"/>
            <a:ext cx="7879080" cy="707886"/>
          </a:xfrm>
          <a:prstGeom prst="rect">
            <a:avLst/>
          </a:prstGeom>
          <a:noFill/>
        </p:spPr>
        <p:txBody>
          <a:bodyPr wrap="none" rtlCol="0">
            <a:spAutoFit/>
          </a:bodyPr>
          <a:lstStyle/>
          <a:p>
            <a:pPr algn="ctr"/>
            <a:r>
              <a:rPr kumimoji="1" lang="zh-CN" altLang="en-US" sz="4000" dirty="0">
                <a:latin typeface="SimHei" panose="02010609060101010101" pitchFamily="49" charset="-122"/>
                <a:ea typeface="SimHei" panose="02010609060101010101" pitchFamily="49" charset="-122"/>
              </a:rPr>
              <a:t>试剂盒法测定小鼠肝脏胆固醇含量</a:t>
            </a:r>
          </a:p>
        </p:txBody>
      </p:sp>
    </p:spTree>
    <p:extLst>
      <p:ext uri="{BB962C8B-B14F-4D97-AF65-F5344CB8AC3E}">
        <p14:creationId xmlns:p14="http://schemas.microsoft.com/office/powerpoint/2010/main" val="79476178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4533499" cy="584775"/>
          </a:xfrm>
          <a:prstGeom prst="rect">
            <a:avLst/>
          </a:prstGeom>
          <a:noFill/>
        </p:spPr>
        <p:txBody>
          <a:bodyPr wrap="square" rtlCol="0">
            <a:spAutoFit/>
          </a:bodyPr>
          <a:lstStyle/>
          <a:p>
            <a:r>
              <a:rPr kumimoji="1" lang="zh-CN" altLang="en-US" sz="3200" dirty="0"/>
              <a:t>实验目的</a:t>
            </a: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试剂盒法</a:t>
            </a:r>
          </a:p>
        </p:txBody>
      </p:sp>
      <p:sp>
        <p:nvSpPr>
          <p:cNvPr id="12" name="内容占位符 2">
            <a:extLst>
              <a:ext uri="{FF2B5EF4-FFF2-40B4-BE49-F238E27FC236}">
                <a16:creationId xmlns:a16="http://schemas.microsoft.com/office/drawing/2014/main" id="{8250F010-7937-0B40-ADD3-883B8FB5F954}"/>
              </a:ext>
            </a:extLst>
          </p:cNvPr>
          <p:cNvSpPr txBox="1">
            <a:spLocks/>
          </p:cNvSpPr>
          <p:nvPr/>
        </p:nvSpPr>
        <p:spPr>
          <a:xfrm>
            <a:off x="288758" y="1143494"/>
            <a:ext cx="5642142" cy="43516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通过比较成熟的试剂盒检验酶法和磷硫铁法测量胆固醇浓度的可靠性</a:t>
            </a:r>
            <a:endParaRPr lang="en-US" altLang="zh-CN" sz="2000" dirty="0"/>
          </a:p>
          <a:p>
            <a:pPr>
              <a:lnSpc>
                <a:spcPct val="150000"/>
              </a:lnSpc>
              <a:buFont typeface="Wingdings" pitchFamily="2" charset="2"/>
              <a:buChar char="Ø"/>
            </a:pPr>
            <a:r>
              <a:rPr lang="zh-CN" altLang="en-US" sz="2000" dirty="0"/>
              <a:t>但实际上试剂盒方法本身存在一定问题，导致没有我们想象中那么重要的参考作用</a:t>
            </a:r>
          </a:p>
          <a:p>
            <a:pPr lvl="1">
              <a:lnSpc>
                <a:spcPct val="150000"/>
              </a:lnSpc>
            </a:pPr>
            <a:r>
              <a:rPr lang="zh-CN" altLang="en-US" sz="1800" dirty="0"/>
              <a:t>试剂盒已经过期</a:t>
            </a:r>
            <a:endParaRPr lang="en-US" altLang="zh-CN" sz="1800" dirty="0"/>
          </a:p>
          <a:p>
            <a:pPr lvl="1">
              <a:lnSpc>
                <a:spcPct val="150000"/>
              </a:lnSpc>
            </a:pPr>
            <a:r>
              <a:rPr lang="zh-CN" altLang="en-US" sz="1800" dirty="0"/>
              <a:t>试剂盒中胆固醇标准液浓度不准</a:t>
            </a:r>
            <a:endParaRPr lang="en-US" altLang="zh-CN" sz="1800" dirty="0"/>
          </a:p>
          <a:p>
            <a:pPr lvl="1">
              <a:lnSpc>
                <a:spcPct val="150000"/>
              </a:lnSpc>
            </a:pPr>
            <a:r>
              <a:rPr lang="zh-CN" altLang="en-US" sz="1800" dirty="0"/>
              <a:t>试剂盒只支持测量液相样品中的胆固醇，没有提供肝脏样品胆固醇的测量方法</a:t>
            </a:r>
          </a:p>
        </p:txBody>
      </p:sp>
    </p:spTree>
    <p:extLst>
      <p:ext uri="{BB962C8B-B14F-4D97-AF65-F5344CB8AC3E}">
        <p14:creationId xmlns:p14="http://schemas.microsoft.com/office/powerpoint/2010/main" val="11163563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blinds(horizontal)">
                                      <p:cBhvr>
                                        <p:cTn id="12" dur="500"/>
                                        <p:tgtEl>
                                          <p:spTgt spid="12">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Effect transition="in" filter="blinds(horizontal)">
                                      <p:cBhvr>
                                        <p:cTn id="15" dur="500"/>
                                        <p:tgtEl>
                                          <p:spTgt spid="12">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2">
                                            <p:txEl>
                                              <p:pRg st="3" end="3"/>
                                            </p:txEl>
                                          </p:spTgt>
                                        </p:tgtEl>
                                        <p:attrNameLst>
                                          <p:attrName>style.visibility</p:attrName>
                                        </p:attrNameLst>
                                      </p:cBhvr>
                                      <p:to>
                                        <p:strVal val="visible"/>
                                      </p:to>
                                    </p:set>
                                    <p:animEffect transition="in" filter="blinds(horizontal)">
                                      <p:cBhvr>
                                        <p:cTn id="18" dur="500"/>
                                        <p:tgtEl>
                                          <p:spTgt spid="12">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animEffect transition="in" filter="blinds(horizontal)">
                                      <p:cBhvr>
                                        <p:cTn id="21"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4533499" cy="584775"/>
          </a:xfrm>
          <a:prstGeom prst="rect">
            <a:avLst/>
          </a:prstGeom>
          <a:noFill/>
        </p:spPr>
        <p:txBody>
          <a:bodyPr wrap="square" rtlCol="0">
            <a:spAutoFit/>
          </a:bodyPr>
          <a:lstStyle/>
          <a:p>
            <a:r>
              <a:rPr kumimoji="1" lang="zh-CN" altLang="en-US" sz="3200" dirty="0"/>
              <a:t>试剂盒的问题</a:t>
            </a: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试剂盒法</a:t>
            </a:r>
          </a:p>
        </p:txBody>
      </p:sp>
      <p:graphicFrame>
        <p:nvGraphicFramePr>
          <p:cNvPr id="14" name="图表 3">
            <a:extLst>
              <a:ext uri="{FF2B5EF4-FFF2-40B4-BE49-F238E27FC236}">
                <a16:creationId xmlns:a16="http://schemas.microsoft.com/office/drawing/2014/main" id="{00000000-0008-0000-0000-000003000000}"/>
              </a:ext>
            </a:extLst>
          </p:cNvPr>
          <p:cNvGraphicFramePr/>
          <p:nvPr>
            <p:extLst>
              <p:ext uri="{D42A27DB-BD31-4B8C-83A1-F6EECF244321}">
                <p14:modId xmlns:p14="http://schemas.microsoft.com/office/powerpoint/2010/main" val="2793294508"/>
              </p:ext>
            </p:extLst>
          </p:nvPr>
        </p:nvGraphicFramePr>
        <p:xfrm>
          <a:off x="288758" y="1147795"/>
          <a:ext cx="5591342" cy="5305944"/>
        </p:xfrm>
        <a:graphic>
          <a:graphicData uri="http://schemas.openxmlformats.org/drawingml/2006/chart">
            <c:chart xmlns:c="http://schemas.openxmlformats.org/drawingml/2006/chart" xmlns:r="http://schemas.openxmlformats.org/officeDocument/2006/relationships" r:id="rId4"/>
          </a:graphicData>
        </a:graphic>
      </p:graphicFrame>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5592629" y="2435369"/>
            <a:ext cx="6310613" cy="19872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配制胆固醇浓度是</a:t>
            </a:r>
            <a:r>
              <a:rPr lang="en-US" altLang="zh-CN" sz="2000" dirty="0"/>
              <a:t>10</a:t>
            </a:r>
            <a:r>
              <a:rPr lang="zh-CN" altLang="en-US" sz="2000" dirty="0"/>
              <a:t> </a:t>
            </a:r>
            <a:r>
              <a:rPr lang="el-GR" altLang="zh-CN" sz="2000" dirty="0"/>
              <a:t>μ</a:t>
            </a:r>
            <a:r>
              <a:rPr lang="en-US" altLang="zh-CN" sz="2000" dirty="0"/>
              <a:t>mol/mL</a:t>
            </a:r>
          </a:p>
          <a:p>
            <a:pPr>
              <a:lnSpc>
                <a:spcPct val="150000"/>
              </a:lnSpc>
              <a:buFont typeface="Wingdings" pitchFamily="2" charset="2"/>
              <a:buChar char="Ø"/>
            </a:pPr>
            <a:r>
              <a:rPr lang="zh-CN" altLang="en-US" sz="2000" dirty="0"/>
              <a:t>但是用标曲算出来配制胆固醇浓度只有</a:t>
            </a:r>
            <a:r>
              <a:rPr lang="en-US" altLang="zh-CN" sz="2000" dirty="0"/>
              <a:t>4.24</a:t>
            </a:r>
            <a:r>
              <a:rPr lang="el-GR" altLang="zh-CN" sz="2000" dirty="0"/>
              <a:t> μ</a:t>
            </a:r>
            <a:r>
              <a:rPr lang="en-US" altLang="zh-CN" sz="2000" dirty="0"/>
              <a:t>mol/mL</a:t>
            </a:r>
          </a:p>
          <a:p>
            <a:pPr>
              <a:lnSpc>
                <a:spcPct val="150000"/>
              </a:lnSpc>
              <a:buFont typeface="Wingdings" pitchFamily="2" charset="2"/>
              <a:buChar char="Ø"/>
            </a:pPr>
            <a:r>
              <a:rPr lang="zh-CN" altLang="zh-CN" sz="2000" dirty="0">
                <a:effectLst/>
                <a:ea typeface="DengXian" panose="02010600030101010101" pitchFamily="2" charset="-122"/>
                <a:cs typeface="Times New Roman" panose="02020603050405020304" pitchFamily="18" charset="0"/>
              </a:rPr>
              <a:t>可能的原因是前人使用标准品后未及时盖盖子，导致乙醇挥发，试剂盒中胆固醇标准品浓度偏高</a:t>
            </a:r>
            <a:endParaRPr lang="en-US" altLang="zh-CN" sz="2000" dirty="0"/>
          </a:p>
          <a:p>
            <a:pPr>
              <a:lnSpc>
                <a:spcPct val="150000"/>
              </a:lnSpc>
              <a:buFont typeface="Wingdings" pitchFamily="2" charset="2"/>
              <a:buChar char="Ø"/>
            </a:pPr>
            <a:endParaRPr lang="zh-CN" altLang="en-US" sz="2000" dirty="0"/>
          </a:p>
        </p:txBody>
      </p:sp>
    </p:spTree>
    <p:extLst>
      <p:ext uri="{BB962C8B-B14F-4D97-AF65-F5344CB8AC3E}">
        <p14:creationId xmlns:p14="http://schemas.microsoft.com/office/powerpoint/2010/main" val="289045600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blinds(horizontal)">
                                      <p:cBhvr>
                                        <p:cTn id="10" dur="500"/>
                                        <p:tgtEl>
                                          <p:spTgt spid="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animEffect transition="in" filter="blinds(horizontal)">
                                      <p:cBhvr>
                                        <p:cTn id="15"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4533499" cy="584775"/>
          </a:xfrm>
          <a:prstGeom prst="rect">
            <a:avLst/>
          </a:prstGeom>
          <a:noFill/>
        </p:spPr>
        <p:txBody>
          <a:bodyPr wrap="square" rtlCol="0">
            <a:spAutoFit/>
          </a:bodyPr>
          <a:lstStyle/>
          <a:p>
            <a:r>
              <a:rPr kumimoji="1" lang="zh-CN" altLang="en-US" sz="3200" dirty="0"/>
              <a:t>试剂盒的问题</a:t>
            </a: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试剂盒法</a:t>
            </a:r>
          </a:p>
        </p:txBody>
      </p:sp>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288758" y="989036"/>
            <a:ext cx="5642142" cy="56779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试剂盒只支持测量液相样品中的胆固醇，没有提供肝脏样品胆固醇的测量方法</a:t>
            </a:r>
            <a:endParaRPr lang="en-US" altLang="zh-CN" sz="2000" dirty="0"/>
          </a:p>
          <a:p>
            <a:pPr lvl="1">
              <a:lnSpc>
                <a:spcPct val="150000"/>
              </a:lnSpc>
            </a:pPr>
            <a:r>
              <a:rPr lang="zh-CN" altLang="en-US" sz="1800" dirty="0">
                <a:effectLst/>
                <a:ea typeface="DengXian" panose="02010600030101010101" pitchFamily="2" charset="-122"/>
                <a:cs typeface="Times New Roman" panose="02020603050405020304" pitchFamily="18" charset="0"/>
              </a:rPr>
              <a:t>需要我们自己探索合适的肝脏提取方法</a:t>
            </a:r>
            <a:endParaRPr lang="en-US" altLang="zh-CN" sz="1400" dirty="0">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 typeface="Wingdings"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结果</a:t>
            </a: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spcBef>
                <a:spcPts val="0"/>
              </a:spcBef>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第一次浓度太低，低于标曲检测限（按试剂盒说明书制作标曲）</a:t>
            </a:r>
            <a:endParaRPr kumimoji="0" lang="en-US" altLang="zh-TW"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spcBef>
                <a:spcPts val="0"/>
              </a:spcBef>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修改提取方法，增加样品胆固醇浓度后，样品加入工作液时又会产生浑浊</a:t>
            </a:r>
            <a:endParaRPr kumimoji="0" lang="en-US" altLang="zh-TW"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spcBef>
                <a:spcPts val="0"/>
              </a:spcBef>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并且在酶法中有效的可以消除浑浊的方法在试剂盒法中并不起作用</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394143789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blinds(horizontal)">
                                      <p:cBhvr>
                                        <p:cTn id="10" dur="500"/>
                                        <p:tgtEl>
                                          <p:spTgt spid="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animEffect transition="in" filter="blinds(horizontal)">
                                      <p:cBhvr>
                                        <p:cTn id="15" dur="500"/>
                                        <p:tgtEl>
                                          <p:spTgt spid="15">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
                                            <p:txEl>
                                              <p:pRg st="3" end="3"/>
                                            </p:txEl>
                                          </p:spTgt>
                                        </p:tgtEl>
                                        <p:attrNameLst>
                                          <p:attrName>style.visibility</p:attrName>
                                        </p:attrNameLst>
                                      </p:cBhvr>
                                      <p:to>
                                        <p:strVal val="visible"/>
                                      </p:to>
                                    </p:set>
                                    <p:animEffect transition="in" filter="blinds(horizontal)">
                                      <p:cBhvr>
                                        <p:cTn id="18" dur="500"/>
                                        <p:tgtEl>
                                          <p:spTgt spid="15">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5">
                                            <p:txEl>
                                              <p:pRg st="4" end="4"/>
                                            </p:txEl>
                                          </p:spTgt>
                                        </p:tgtEl>
                                        <p:attrNameLst>
                                          <p:attrName>style.visibility</p:attrName>
                                        </p:attrNameLst>
                                      </p:cBhvr>
                                      <p:to>
                                        <p:strVal val="visible"/>
                                      </p:to>
                                    </p:set>
                                    <p:animEffect transition="in" filter="blinds(horizontal)">
                                      <p:cBhvr>
                                        <p:cTn id="21" dur="500"/>
                                        <p:tgtEl>
                                          <p:spTgt spid="15">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5">
                                            <p:txEl>
                                              <p:pRg st="5" end="5"/>
                                            </p:txEl>
                                          </p:spTgt>
                                        </p:tgtEl>
                                        <p:attrNameLst>
                                          <p:attrName>style.visibility</p:attrName>
                                        </p:attrNameLst>
                                      </p:cBhvr>
                                      <p:to>
                                        <p:strVal val="visible"/>
                                      </p:to>
                                    </p:set>
                                    <p:animEffect transition="in" filter="blinds(horizontal)">
                                      <p:cBhvr>
                                        <p:cTn id="24" dur="5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4533499" cy="584775"/>
          </a:xfrm>
          <a:prstGeom prst="rect">
            <a:avLst/>
          </a:prstGeom>
          <a:noFill/>
        </p:spPr>
        <p:txBody>
          <a:bodyPr wrap="square" rtlCol="0">
            <a:spAutoFit/>
          </a:bodyPr>
          <a:lstStyle/>
          <a:p>
            <a:r>
              <a:rPr kumimoji="1" lang="zh-CN" altLang="en-US" sz="3200" dirty="0"/>
              <a:t>正式实验结果</a:t>
            </a: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试剂盒法</a:t>
            </a:r>
          </a:p>
        </p:txBody>
      </p:sp>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288758" y="989036"/>
            <a:ext cx="5642142" cy="56779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kumimoji="0" lang="en-US" altLang="zh-CN" sz="2000" b="0" i="1"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wt</a:t>
            </a:r>
            <a:r>
              <a:rPr kumimoji="0" lang="zh-TW"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小鼠肝脏的胆固醇浓度：</a:t>
            </a:r>
            <a:r>
              <a:rPr kumimoji="0" lang="en-US" altLang="zh-TW"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2.1</a:t>
            </a:r>
            <a:r>
              <a:rPr kumimoji="0" lang="el-GR" altLang="zh-TW"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lang="el-GR" altLang="zh-TW" sz="2000" dirty="0">
                <a:solidFill>
                  <a:prstClr val="black"/>
                </a:solidFill>
                <a:latin typeface="Calibri" panose="020F0502020204030204"/>
                <a:ea typeface="等线" panose="02010600030101010101" pitchFamily="2" charset="-122"/>
              </a:rPr>
              <a:t>μ</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mol/mL</a:t>
            </a:r>
          </a:p>
          <a:p>
            <a:pPr lvl="1">
              <a:lnSpc>
                <a:spcPct val="150000"/>
              </a:lnSpc>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试剂盒法需要用血浆原液进行实验，用量较大，所以只用了一份</a:t>
            </a:r>
            <a:r>
              <a:rPr kumimoji="0" lang="en-US" altLang="zh-CN" sz="1800" b="0" i="1"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ob</a:t>
            </a:r>
            <a:r>
              <a:rPr kumimoji="0" lang="en-US" altLang="zh-CN" sz="1800" b="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en-US" altLang="zh-CN" sz="1800" b="0" i="1"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ob</a:t>
            </a: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小鼠血浆原液，没有用</a:t>
            </a:r>
            <a:r>
              <a:rPr kumimoji="0" lang="en-US" altLang="zh-CN" sz="1800" b="0" i="1"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wt</a:t>
            </a: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小鼠血浆原液</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a:lnSpc>
                <a:spcPct val="150000"/>
              </a:lnSpc>
              <a:buFont typeface="Wingdings" pitchFamily="2" charset="2"/>
              <a:buChar char="Ø"/>
            </a:pPr>
            <a:r>
              <a:rPr kumimoji="0" lang="en-US" altLang="zh-CN" sz="2000" b="0" i="1"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ob</a:t>
            </a:r>
            <a:r>
              <a:rPr kumimoji="0" lang="en-US" altLang="zh-CN" sz="2000" b="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en-US" altLang="zh-CN" sz="2000" b="0" i="1"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ob</a:t>
            </a:r>
            <a:r>
              <a:rPr kumimoji="0" lang="zh-TW"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小鼠血浆的胆固醇浓度：</a:t>
            </a:r>
            <a:r>
              <a:rPr kumimoji="0" lang="en-US" altLang="zh-TW"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1.9 </a:t>
            </a:r>
            <a:r>
              <a:rPr lang="el-GR" altLang="zh-TW" sz="2000" dirty="0">
                <a:solidFill>
                  <a:prstClr val="black"/>
                </a:solidFill>
                <a:latin typeface="Calibri" panose="020F0502020204030204"/>
                <a:ea typeface="等线" panose="02010600030101010101" pitchFamily="2" charset="-122"/>
              </a:rPr>
              <a:t>μ</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mol/mL</a:t>
            </a:r>
          </a:p>
          <a:p>
            <a:pPr lvl="1">
              <a:lnSpc>
                <a:spcPct val="150000"/>
              </a:lnSpc>
            </a:pPr>
            <a:r>
              <a:rPr kumimoji="0" lang="en-US" altLang="zh-CN" sz="1800" b="0" i="1"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ob</a:t>
            </a:r>
            <a:r>
              <a:rPr kumimoji="0" lang="en-US" altLang="zh-CN" sz="1800" b="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en-US" altLang="zh-CN" sz="1800" b="0" i="1"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ob</a:t>
            </a: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小鼠肝脏样品和工作液反应产生浑浊，无法得到有效数据</a:t>
            </a:r>
            <a:endParaRPr kumimoji="0" lang="en-US" altLang="zh-TW"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 typeface="Wingdings" pitchFamily="2" charset="2"/>
              <a:buChar char="Ø"/>
              <a:tabLst/>
              <a:defRPr/>
            </a:pPr>
            <a:r>
              <a:rPr kumimoji="0" lang="en-US" altLang="zh-CN" sz="2000" b="0" i="1"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ob</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en-US" altLang="zh-CN" sz="2000" b="0" i="1"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ob</a:t>
            </a:r>
            <a:r>
              <a:rPr kumimoji="0" lang="zh-TW"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小鼠血浆的胆固醇浓度：</a:t>
            </a:r>
            <a:r>
              <a:rPr kumimoji="0" lang="en-US" altLang="zh-TW"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1.9 </a:t>
            </a:r>
            <a:r>
              <a:rPr kumimoji="0" lang="el-GR" altLang="zh-TW"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μ</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mol/mL</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通过试剂盒法，发现提取血浆胆固醇后进行实验测得的胆固醇浓度，比血浆原液直接进行实验测得的胆固醇浓度低</a:t>
            </a:r>
            <a:r>
              <a:rPr kumimoji="0" lang="zh-TW" altLang="el-GR"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约</a:t>
            </a: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10</a:t>
            </a: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倍。说明在血浆胆固醇提取过程中，有大量胆固醇损失</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3498187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blinds(horizontal)">
                                      <p:cBhvr>
                                        <p:cTn id="10" dur="500"/>
                                        <p:tgtEl>
                                          <p:spTgt spid="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animEffect transition="in" filter="blinds(horizontal)">
                                      <p:cBhvr>
                                        <p:cTn id="15" dur="500"/>
                                        <p:tgtEl>
                                          <p:spTgt spid="15">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
                                            <p:txEl>
                                              <p:pRg st="3" end="3"/>
                                            </p:txEl>
                                          </p:spTgt>
                                        </p:tgtEl>
                                        <p:attrNameLst>
                                          <p:attrName>style.visibility</p:attrName>
                                        </p:attrNameLst>
                                      </p:cBhvr>
                                      <p:to>
                                        <p:strVal val="visible"/>
                                      </p:to>
                                    </p:set>
                                    <p:animEffect transition="in" filter="blinds(horizontal)">
                                      <p:cBhvr>
                                        <p:cTn id="18" dur="500"/>
                                        <p:tgtEl>
                                          <p:spTgt spid="1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5">
                                            <p:txEl>
                                              <p:pRg st="4" end="4"/>
                                            </p:txEl>
                                          </p:spTgt>
                                        </p:tgtEl>
                                        <p:attrNameLst>
                                          <p:attrName>style.visibility</p:attrName>
                                        </p:attrNameLst>
                                      </p:cBhvr>
                                      <p:to>
                                        <p:strVal val="visible"/>
                                      </p:to>
                                    </p:set>
                                    <p:animEffect transition="in" filter="blinds(horizontal)">
                                      <p:cBhvr>
                                        <p:cTn id="23" dur="500"/>
                                        <p:tgtEl>
                                          <p:spTgt spid="15">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5">
                                            <p:txEl>
                                              <p:pRg st="5" end="5"/>
                                            </p:txEl>
                                          </p:spTgt>
                                        </p:tgtEl>
                                        <p:attrNameLst>
                                          <p:attrName>style.visibility</p:attrName>
                                        </p:attrNameLst>
                                      </p:cBhvr>
                                      <p:to>
                                        <p:strVal val="visible"/>
                                      </p:to>
                                    </p:set>
                                    <p:animEffect transition="in" filter="blinds(horizontal)">
                                      <p:cBhvr>
                                        <p:cTn id="26" dur="5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kumimoji="1" lang="zh-CN" altLang="en-US" sz="3200" dirty="0"/>
              <a:t>实验条件探究  </a:t>
            </a:r>
            <a:r>
              <a:rPr kumimoji="1" lang="zh-CN" altLang="en-US" sz="2000" dirty="0"/>
              <a:t>消除肝脏样品在酶法中产生的浑浊</a:t>
            </a:r>
            <a:endParaRPr kumimoji="1" lang="en-US" altLang="zh-CN"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试剂盒法</a:t>
            </a:r>
          </a:p>
        </p:txBody>
      </p:sp>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317149" y="989036"/>
            <a:ext cx="5642142" cy="56779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kumimoji="0" lang="zh-TW"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先测定导致浑浊的成分</a:t>
            </a:r>
            <a:endParaRPr kumimoji="0" lang="en-US" altLang="zh-TW"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pPr>
            <a:r>
              <a:rPr kumimoji="1" lang="zh-CN" altLang="en-US" sz="1800" dirty="0">
                <a:solidFill>
                  <a:prstClr val="black"/>
                </a:solidFill>
                <a:latin typeface="等线" panose="020F0502020204030204"/>
              </a:rPr>
              <a:t>不同溶液中加入肝脏样品</a:t>
            </a:r>
          </a:p>
        </p:txBody>
      </p:sp>
      <p:pic>
        <p:nvPicPr>
          <p:cNvPr id="20" name="图片 5">
            <a:extLst>
              <a:ext uri="{FF2B5EF4-FFF2-40B4-BE49-F238E27FC236}">
                <a16:creationId xmlns:a16="http://schemas.microsoft.com/office/drawing/2014/main" id="{47AA1414-BD3D-E64C-8581-8000AF1273D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808" t="12920" r="29960" b="78425"/>
          <a:stretch/>
        </p:blipFill>
        <p:spPr bwMode="auto">
          <a:xfrm>
            <a:off x="1066800" y="2325340"/>
            <a:ext cx="6498665" cy="1167159"/>
          </a:xfrm>
          <a:prstGeom prst="rect">
            <a:avLst/>
          </a:prstGeom>
          <a:ln>
            <a:noFill/>
          </a:ln>
          <a:extLst>
            <a:ext uri="{53640926-AAD7-44D8-BBD7-CCE9431645EC}">
              <a14:shadowObscured xmlns:a14="http://schemas.microsoft.com/office/drawing/2010/main"/>
            </a:ext>
          </a:extLst>
        </p:spPr>
      </p:pic>
      <p:graphicFrame>
        <p:nvGraphicFramePr>
          <p:cNvPr id="21" name="表格 2">
            <a:extLst>
              <a:ext uri="{FF2B5EF4-FFF2-40B4-BE49-F238E27FC236}">
                <a16:creationId xmlns:a16="http://schemas.microsoft.com/office/drawing/2014/main" id="{F9639353-054C-0041-A51E-5DAD23F003B7}"/>
              </a:ext>
            </a:extLst>
          </p:cNvPr>
          <p:cNvGraphicFramePr>
            <a:graphicFrameLocks noGrp="1"/>
          </p:cNvGraphicFramePr>
          <p:nvPr>
            <p:extLst>
              <p:ext uri="{D42A27DB-BD31-4B8C-83A1-F6EECF244321}">
                <p14:modId xmlns:p14="http://schemas.microsoft.com/office/powerpoint/2010/main" val="1854356171"/>
              </p:ext>
            </p:extLst>
          </p:nvPr>
        </p:nvGraphicFramePr>
        <p:xfrm>
          <a:off x="326857" y="3691912"/>
          <a:ext cx="7238607" cy="1362688"/>
        </p:xfrm>
        <a:graphic>
          <a:graphicData uri="http://schemas.openxmlformats.org/drawingml/2006/table">
            <a:tbl>
              <a:tblPr firstRow="1" firstCol="1" bandRow="1"/>
              <a:tblGrid>
                <a:gridCol w="704313">
                  <a:extLst>
                    <a:ext uri="{9D8B030D-6E8A-4147-A177-3AD203B41FA5}">
                      <a16:colId xmlns:a16="http://schemas.microsoft.com/office/drawing/2014/main" val="3639061388"/>
                    </a:ext>
                  </a:extLst>
                </a:gridCol>
                <a:gridCol w="1089049">
                  <a:extLst>
                    <a:ext uri="{9D8B030D-6E8A-4147-A177-3AD203B41FA5}">
                      <a16:colId xmlns:a16="http://schemas.microsoft.com/office/drawing/2014/main" val="562188049"/>
                    </a:ext>
                  </a:extLst>
                </a:gridCol>
                <a:gridCol w="1089049">
                  <a:extLst>
                    <a:ext uri="{9D8B030D-6E8A-4147-A177-3AD203B41FA5}">
                      <a16:colId xmlns:a16="http://schemas.microsoft.com/office/drawing/2014/main" val="3977844692"/>
                    </a:ext>
                  </a:extLst>
                </a:gridCol>
                <a:gridCol w="1089049">
                  <a:extLst>
                    <a:ext uri="{9D8B030D-6E8A-4147-A177-3AD203B41FA5}">
                      <a16:colId xmlns:a16="http://schemas.microsoft.com/office/drawing/2014/main" val="2589807251"/>
                    </a:ext>
                  </a:extLst>
                </a:gridCol>
                <a:gridCol w="1089049">
                  <a:extLst>
                    <a:ext uri="{9D8B030D-6E8A-4147-A177-3AD203B41FA5}">
                      <a16:colId xmlns:a16="http://schemas.microsoft.com/office/drawing/2014/main" val="387794712"/>
                    </a:ext>
                  </a:extLst>
                </a:gridCol>
                <a:gridCol w="1089049">
                  <a:extLst>
                    <a:ext uri="{9D8B030D-6E8A-4147-A177-3AD203B41FA5}">
                      <a16:colId xmlns:a16="http://schemas.microsoft.com/office/drawing/2014/main" val="516969965"/>
                    </a:ext>
                  </a:extLst>
                </a:gridCol>
                <a:gridCol w="1089049">
                  <a:extLst>
                    <a:ext uri="{9D8B030D-6E8A-4147-A177-3AD203B41FA5}">
                      <a16:colId xmlns:a16="http://schemas.microsoft.com/office/drawing/2014/main" val="3017835365"/>
                    </a:ext>
                  </a:extLst>
                </a:gridCol>
              </a:tblGrid>
              <a:tr h="430304">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tabLst>
                          <a:tab pos="647065" algn="l"/>
                        </a:tabLst>
                      </a:pPr>
                      <a:r>
                        <a:rPr lang="zh-CN" sz="1800" kern="100">
                          <a:effectLst/>
                          <a:latin typeface="+mn-lt"/>
                          <a:ea typeface="+mn-ea"/>
                        </a:rPr>
                        <a:t>孔号</a:t>
                      </a:r>
                      <a:endParaRPr lang="zh-CN" sz="1800" kern="10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tabLst>
                          <a:tab pos="647065" algn="l"/>
                        </a:tabLst>
                      </a:pPr>
                      <a:r>
                        <a:rPr lang="en-US" sz="1800" kern="100" dirty="0">
                          <a:effectLst/>
                          <a:latin typeface="+mn-lt"/>
                          <a:ea typeface="+mn-ea"/>
                        </a:rPr>
                        <a:t>1</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tabLst>
                          <a:tab pos="647065" algn="l"/>
                        </a:tabLst>
                      </a:pPr>
                      <a:r>
                        <a:rPr lang="en-US" altLang="zh-CN" sz="1800" kern="100" dirty="0">
                          <a:effectLst/>
                          <a:latin typeface="+mn-lt"/>
                          <a:ea typeface="+mn-ea"/>
                          <a:cs typeface="Times New Roman" panose="02020603050405020304" pitchFamily="18" charset="0"/>
                        </a:rPr>
                        <a:t>2</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tabLst>
                          <a:tab pos="647065" algn="l"/>
                        </a:tabLst>
                      </a:pPr>
                      <a:r>
                        <a:rPr lang="en-US" sz="1800" kern="100" dirty="0">
                          <a:effectLst/>
                          <a:latin typeface="+mn-lt"/>
                          <a:ea typeface="+mn-ea"/>
                        </a:rPr>
                        <a:t>3</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tabLst>
                          <a:tab pos="647065" algn="l"/>
                        </a:tabLst>
                      </a:pPr>
                      <a:r>
                        <a:rPr lang="en-US" sz="1800" kern="100" dirty="0">
                          <a:effectLst/>
                          <a:latin typeface="+mn-lt"/>
                          <a:ea typeface="+mn-ea"/>
                        </a:rPr>
                        <a:t>4</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tabLst>
                          <a:tab pos="647065" algn="l"/>
                        </a:tabLst>
                      </a:pPr>
                      <a:r>
                        <a:rPr lang="en-US" sz="1800" kern="100" dirty="0">
                          <a:effectLst/>
                          <a:latin typeface="+mn-lt"/>
                          <a:ea typeface="+mn-ea"/>
                        </a:rPr>
                        <a:t>5</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tabLst>
                          <a:tab pos="647065" algn="l"/>
                        </a:tabLst>
                      </a:pPr>
                      <a:r>
                        <a:rPr lang="en-US" sz="1800" kern="100" dirty="0">
                          <a:effectLst/>
                          <a:latin typeface="+mn-lt"/>
                          <a:ea typeface="+mn-ea"/>
                        </a:rPr>
                        <a:t>6</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969667932"/>
                  </a:ext>
                </a:extLst>
              </a:tr>
              <a:tr h="932384">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tabLst>
                          <a:tab pos="647065" algn="l"/>
                        </a:tabLst>
                      </a:pPr>
                      <a:r>
                        <a:rPr lang="zh-CN" sz="1800" kern="100">
                          <a:effectLst/>
                          <a:latin typeface="+mn-lt"/>
                          <a:ea typeface="+mn-ea"/>
                        </a:rPr>
                        <a:t>样品</a:t>
                      </a:r>
                      <a:endParaRPr lang="zh-CN" sz="1800" kern="10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tabLst>
                          <a:tab pos="647065" algn="l"/>
                        </a:tabLst>
                      </a:pPr>
                      <a:r>
                        <a:rPr lang="zh-CN" sz="1800" kern="100" dirty="0">
                          <a:effectLst/>
                          <a:latin typeface="+mn-lt"/>
                          <a:ea typeface="+mn-ea"/>
                        </a:rPr>
                        <a:t>水</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tabLst>
                          <a:tab pos="647065" algn="l"/>
                        </a:tabLst>
                      </a:pPr>
                      <a:r>
                        <a:rPr lang="en-US" sz="1800" kern="100" dirty="0">
                          <a:effectLst/>
                          <a:latin typeface="+mn-lt"/>
                          <a:ea typeface="+mn-ea"/>
                        </a:rPr>
                        <a:t>TritonX-100</a:t>
                      </a:r>
                      <a:r>
                        <a:rPr lang="zh-CN" sz="1800" kern="100" dirty="0">
                          <a:effectLst/>
                          <a:latin typeface="+mn-lt"/>
                          <a:ea typeface="+mn-ea"/>
                        </a:rPr>
                        <a:t>溶液</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tabLst>
                          <a:tab pos="647065" algn="l"/>
                        </a:tabLst>
                      </a:pPr>
                      <a:r>
                        <a:rPr lang="zh-CN" sz="1800" kern="100" dirty="0">
                          <a:effectLst/>
                          <a:latin typeface="+mn-lt"/>
                          <a:ea typeface="+mn-ea"/>
                        </a:rPr>
                        <a:t>胆酸钠</a:t>
                      </a:r>
                      <a:endParaRPr lang="en-US" altLang="zh-CN" sz="1800" kern="100" dirty="0">
                        <a:effectLst/>
                        <a:latin typeface="+mn-lt"/>
                        <a:ea typeface="+mn-ea"/>
                      </a:endParaRPr>
                    </a:p>
                    <a:p>
                      <a:pPr algn="ctr">
                        <a:tabLst>
                          <a:tab pos="647065" algn="l"/>
                        </a:tabLst>
                      </a:pPr>
                      <a:r>
                        <a:rPr lang="zh-CN" sz="1800" kern="100" dirty="0">
                          <a:effectLst/>
                          <a:latin typeface="+mn-lt"/>
                          <a:ea typeface="+mn-ea"/>
                        </a:rPr>
                        <a:t>溶液</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tabLst>
                          <a:tab pos="647065" algn="l"/>
                        </a:tabLst>
                      </a:pPr>
                      <a:r>
                        <a:rPr lang="zh-CN" sz="1800" kern="100" dirty="0">
                          <a:effectLst/>
                          <a:latin typeface="+mn-lt"/>
                          <a:ea typeface="+mn-ea"/>
                        </a:rPr>
                        <a:t>苯酚溶液</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tabLst>
                          <a:tab pos="647065" algn="l"/>
                        </a:tabLst>
                      </a:pPr>
                      <a:r>
                        <a:rPr lang="zh-CN" sz="1800" kern="100" dirty="0">
                          <a:effectLst/>
                          <a:latin typeface="+mn-lt"/>
                          <a:ea typeface="+mn-ea"/>
                        </a:rPr>
                        <a:t>纯</a:t>
                      </a:r>
                      <a:r>
                        <a:rPr lang="en-US" sz="1800" kern="100" dirty="0">
                          <a:effectLst/>
                          <a:latin typeface="+mn-lt"/>
                          <a:ea typeface="+mn-ea"/>
                        </a:rPr>
                        <a:t>DMSO</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tabLst>
                          <a:tab pos="647065" algn="l"/>
                        </a:tabLst>
                      </a:pPr>
                      <a:r>
                        <a:rPr lang="en-US" sz="1800" kern="100" dirty="0">
                          <a:effectLst/>
                          <a:latin typeface="+mn-lt"/>
                          <a:ea typeface="+mn-ea"/>
                        </a:rPr>
                        <a:t>10%</a:t>
                      </a:r>
                    </a:p>
                    <a:p>
                      <a:pPr algn="ctr">
                        <a:tabLst>
                          <a:tab pos="647065" algn="l"/>
                        </a:tabLst>
                      </a:pPr>
                      <a:r>
                        <a:rPr lang="en-US" sz="1800" kern="100" dirty="0">
                          <a:effectLst/>
                          <a:latin typeface="+mn-lt"/>
                          <a:ea typeface="+mn-ea"/>
                        </a:rPr>
                        <a:t>DMSO</a:t>
                      </a:r>
                      <a:endParaRPr lang="zh-CN" sz="1800" kern="100" dirty="0">
                        <a:effectLst/>
                        <a:latin typeface="+mn-lt"/>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772341090"/>
                  </a:ext>
                </a:extLst>
              </a:tr>
            </a:tbl>
          </a:graphicData>
        </a:graphic>
      </p:graphicFrame>
      <p:sp>
        <p:nvSpPr>
          <p:cNvPr id="23" name="文本框 6">
            <a:extLst>
              <a:ext uri="{FF2B5EF4-FFF2-40B4-BE49-F238E27FC236}">
                <a16:creationId xmlns:a16="http://schemas.microsoft.com/office/drawing/2014/main" id="{E90BB389-EC4F-9047-A786-6AAEBE6B3003}"/>
              </a:ext>
            </a:extLst>
          </p:cNvPr>
          <p:cNvSpPr txBox="1"/>
          <p:nvPr/>
        </p:nvSpPr>
        <p:spPr>
          <a:xfrm>
            <a:off x="7915800" y="2801738"/>
            <a:ext cx="3784959" cy="1430200"/>
          </a:xfrm>
          <a:prstGeom prst="rect">
            <a:avLst/>
          </a:prstGeom>
          <a:noFill/>
        </p:spPr>
        <p:txBody>
          <a:bodyPr wrap="square" rtlCol="0">
            <a:spAutoFit/>
          </a:bodyPr>
          <a:lstStyle/>
          <a:p>
            <a:pPr marL="342900" indent="-342900">
              <a:lnSpc>
                <a:spcPct val="150000"/>
              </a:lnSpc>
              <a:buFont typeface="Wingdings" pitchFamily="2" charset="2"/>
              <a:buChar char="Ø"/>
            </a:pPr>
            <a:r>
              <a:rPr kumimoji="1" lang="zh-CN" altLang="en-US" sz="2000" dirty="0"/>
              <a:t>所有成分的水溶液都能使肝脏样品产生浑浊</a:t>
            </a:r>
            <a:endParaRPr kumimoji="1" lang="en-US" altLang="zh-CN" sz="2000" dirty="0"/>
          </a:p>
          <a:p>
            <a:pPr marL="342900" indent="-342900">
              <a:lnSpc>
                <a:spcPct val="150000"/>
              </a:lnSpc>
              <a:buFont typeface="Wingdings" pitchFamily="2" charset="2"/>
              <a:buChar char="Ø"/>
            </a:pPr>
            <a:r>
              <a:rPr kumimoji="1" lang="zh-CN" altLang="en-US" sz="2000" dirty="0"/>
              <a:t>只有纯的</a:t>
            </a:r>
            <a:r>
              <a:rPr kumimoji="1" lang="en-US" altLang="zh-CN" sz="2000" dirty="0"/>
              <a:t>DMSO</a:t>
            </a:r>
            <a:r>
              <a:rPr kumimoji="1" lang="zh-CN" altLang="en-US" sz="2000" dirty="0"/>
              <a:t>不会产生浑浊</a:t>
            </a:r>
          </a:p>
        </p:txBody>
      </p:sp>
    </p:spTree>
    <p:extLst>
      <p:ext uri="{BB962C8B-B14F-4D97-AF65-F5344CB8AC3E}">
        <p14:creationId xmlns:p14="http://schemas.microsoft.com/office/powerpoint/2010/main" val="128792032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blinds(horizontal)">
                                      <p:cBhvr>
                                        <p:cTn id="10" dur="500"/>
                                        <p:tgtEl>
                                          <p:spTgt spid="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linds(horizontal)">
                                      <p:cBhvr>
                                        <p:cTn id="15" dur="500"/>
                                        <p:tgtEl>
                                          <p:spTgt spid="20"/>
                                        </p:tgtEl>
                                      </p:cBhvr>
                                    </p:animEffect>
                                  </p:childTnLst>
                                </p:cTn>
                              </p:par>
                              <p:par>
                                <p:cTn id="16" presetID="3" presetClass="entr" presetSubtype="1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blinds(horizontal)">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linds(horizontal)">
                                      <p:cBhvr>
                                        <p:cTn id="2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kumimoji="1" lang="zh-CN" altLang="en-US" sz="3200" dirty="0"/>
              <a:t>实验条件探究  </a:t>
            </a:r>
            <a:r>
              <a:rPr kumimoji="1" lang="zh-CN" altLang="en-US" sz="2000" dirty="0"/>
              <a:t>消除肝脏样品在酶法中产生的浑浊</a:t>
            </a:r>
            <a:endParaRPr kumimoji="1" lang="en-US" altLang="zh-CN"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试剂盒法</a:t>
            </a:r>
          </a:p>
        </p:txBody>
      </p:sp>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317149" y="989036"/>
            <a:ext cx="5642142" cy="56779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TW" altLang="en-US" sz="2000" dirty="0">
                <a:solidFill>
                  <a:prstClr val="black"/>
                </a:solidFill>
                <a:latin typeface="Calibri" panose="020F0502020204030204"/>
                <a:ea typeface="等线" panose="02010600030101010101" pitchFamily="2" charset="-122"/>
              </a:rPr>
              <a:t>再</a:t>
            </a:r>
            <a:r>
              <a:rPr kumimoji="0" lang="zh-TW"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测定可使浑浊消失的物质</a:t>
            </a:r>
            <a:endParaRPr kumimoji="0" lang="en-US" altLang="zh-TW"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pPr>
            <a:r>
              <a:rPr kumimoji="1" lang="zh-CN" altLang="en-US" sz="1800" dirty="0">
                <a:solidFill>
                  <a:prstClr val="black"/>
                </a:solidFill>
                <a:latin typeface="等线" panose="020F0502020204030204"/>
              </a:rPr>
              <a:t>不同溶液中加入肝脏样品</a:t>
            </a:r>
          </a:p>
        </p:txBody>
      </p:sp>
      <p:sp>
        <p:nvSpPr>
          <p:cNvPr id="23" name="文本框 6">
            <a:extLst>
              <a:ext uri="{FF2B5EF4-FFF2-40B4-BE49-F238E27FC236}">
                <a16:creationId xmlns:a16="http://schemas.microsoft.com/office/drawing/2014/main" id="{E90BB389-EC4F-9047-A786-6AAEBE6B3003}"/>
              </a:ext>
            </a:extLst>
          </p:cNvPr>
          <p:cNvSpPr txBox="1"/>
          <p:nvPr/>
        </p:nvSpPr>
        <p:spPr>
          <a:xfrm>
            <a:off x="6276439" y="2102906"/>
            <a:ext cx="5741468" cy="2815194"/>
          </a:xfrm>
          <a:prstGeom prst="rect">
            <a:avLst/>
          </a:prstGeom>
          <a:noFill/>
        </p:spPr>
        <p:txBody>
          <a:bodyPr wrap="square" rtlCol="0">
            <a:spAutoFit/>
          </a:bodyPr>
          <a:lstStyle/>
          <a:p>
            <a:pPr marL="342900" indent="-342900">
              <a:lnSpc>
                <a:spcPct val="150000"/>
              </a:lnSpc>
              <a:buFont typeface="Wingdings" pitchFamily="2" charset="2"/>
              <a:buChar char="Ø"/>
            </a:pPr>
            <a:r>
              <a:rPr kumimoji="1" lang="zh-CN" altLang="en-US" sz="2000" dirty="0"/>
              <a:t>还尝试了加热、离心去除沉淀，都失败了</a:t>
            </a:r>
            <a:endParaRPr kumimoji="1" lang="en-US" altLang="zh-CN" sz="2000" dirty="0"/>
          </a:p>
          <a:p>
            <a:pPr marL="342900" indent="-342900">
              <a:lnSpc>
                <a:spcPct val="150000"/>
              </a:lnSpc>
              <a:buFont typeface="Wingdings" pitchFamily="2" charset="2"/>
              <a:buChar char="Ø"/>
            </a:pPr>
            <a:r>
              <a:rPr kumimoji="1" lang="zh-CN" altLang="en-US" sz="2000" dirty="0"/>
              <a:t>只有加入</a:t>
            </a:r>
            <a:r>
              <a:rPr kumimoji="1" lang="en-US" altLang="zh-CN" sz="2000" dirty="0"/>
              <a:t>30</a:t>
            </a:r>
            <a:r>
              <a:rPr kumimoji="1" lang="el-GR" altLang="zh-CN" sz="2000" dirty="0"/>
              <a:t> μ</a:t>
            </a:r>
            <a:r>
              <a:rPr kumimoji="1" lang="en-US" altLang="zh-CN" sz="2000" dirty="0"/>
              <a:t>L</a:t>
            </a:r>
            <a:r>
              <a:rPr kumimoji="1" lang="zh-CN" altLang="en-US" sz="2000" dirty="0"/>
              <a:t>饱和氯化钠溶液时，既让浑浊消失，又不干扰显色反应</a:t>
            </a:r>
            <a:endParaRPr kumimoji="1" lang="en-US" altLang="zh-CN" sz="2000" dirty="0"/>
          </a:p>
          <a:p>
            <a:pPr marL="342900" indent="-342900">
              <a:lnSpc>
                <a:spcPct val="150000"/>
              </a:lnSpc>
              <a:buFont typeface="Wingdings" pitchFamily="2" charset="2"/>
              <a:buChar char="Ø"/>
            </a:pPr>
            <a:r>
              <a:rPr kumimoji="1" lang="zh-CN" altLang="en-US" sz="2000" dirty="0"/>
              <a:t>发现在</a:t>
            </a:r>
            <a:r>
              <a:rPr kumimoji="1" lang="en-US" altLang="zh-CN" sz="2000" dirty="0"/>
              <a:t>1.5 mL EP</a:t>
            </a:r>
            <a:r>
              <a:rPr kumimoji="1" lang="zh-CN" altLang="en-US" sz="2000" dirty="0"/>
              <a:t>管里进行大体积反应也不会产生浑浊。但由于正式实验样品量的限制，还是在酶标板上进行反应</a:t>
            </a:r>
          </a:p>
        </p:txBody>
      </p:sp>
      <p:pic>
        <p:nvPicPr>
          <p:cNvPr id="12" name="图片 5">
            <a:extLst>
              <a:ext uri="{FF2B5EF4-FFF2-40B4-BE49-F238E27FC236}">
                <a16:creationId xmlns:a16="http://schemas.microsoft.com/office/drawing/2014/main" id="{009BE690-3C24-8D47-8F4B-480076A265C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20" t="7451" r="3299" b="69169"/>
          <a:stretch/>
        </p:blipFill>
        <p:spPr bwMode="auto">
          <a:xfrm>
            <a:off x="453860" y="2057459"/>
            <a:ext cx="5642140" cy="1812320"/>
          </a:xfrm>
          <a:prstGeom prst="rect">
            <a:avLst/>
          </a:prstGeom>
          <a:ln>
            <a:noFill/>
          </a:ln>
          <a:extLst>
            <a:ext uri="{53640926-AAD7-44D8-BBD7-CCE9431645EC}">
              <a14:shadowObscured xmlns:a14="http://schemas.microsoft.com/office/drawing/2010/main"/>
            </a:ext>
          </a:extLst>
        </p:spPr>
      </p:pic>
      <p:graphicFrame>
        <p:nvGraphicFramePr>
          <p:cNvPr id="14" name="表格 8">
            <a:extLst>
              <a:ext uri="{FF2B5EF4-FFF2-40B4-BE49-F238E27FC236}">
                <a16:creationId xmlns:a16="http://schemas.microsoft.com/office/drawing/2014/main" id="{482DF548-1286-AC44-B579-8A1FA375A7A2}"/>
              </a:ext>
            </a:extLst>
          </p:cNvPr>
          <p:cNvGraphicFramePr>
            <a:graphicFrameLocks noGrp="1"/>
          </p:cNvGraphicFramePr>
          <p:nvPr>
            <p:extLst>
              <p:ext uri="{D42A27DB-BD31-4B8C-83A1-F6EECF244321}">
                <p14:modId xmlns:p14="http://schemas.microsoft.com/office/powerpoint/2010/main" val="4196597337"/>
              </p:ext>
            </p:extLst>
          </p:nvPr>
        </p:nvGraphicFramePr>
        <p:xfrm>
          <a:off x="453859" y="4138126"/>
          <a:ext cx="5642141" cy="1559948"/>
        </p:xfrm>
        <a:graphic>
          <a:graphicData uri="http://schemas.openxmlformats.org/drawingml/2006/table">
            <a:tbl>
              <a:tblPr firstRow="1" firstCol="1" bandRow="1">
                <a:tableStyleId>{5C22544A-7EE6-4342-B048-85BDC9FD1C3A}</a:tableStyleId>
              </a:tblPr>
              <a:tblGrid>
                <a:gridCol w="805923">
                  <a:extLst>
                    <a:ext uri="{9D8B030D-6E8A-4147-A177-3AD203B41FA5}">
                      <a16:colId xmlns:a16="http://schemas.microsoft.com/office/drawing/2014/main" val="2359285359"/>
                    </a:ext>
                  </a:extLst>
                </a:gridCol>
                <a:gridCol w="805923">
                  <a:extLst>
                    <a:ext uri="{9D8B030D-6E8A-4147-A177-3AD203B41FA5}">
                      <a16:colId xmlns:a16="http://schemas.microsoft.com/office/drawing/2014/main" val="107711246"/>
                    </a:ext>
                  </a:extLst>
                </a:gridCol>
                <a:gridCol w="805923">
                  <a:extLst>
                    <a:ext uri="{9D8B030D-6E8A-4147-A177-3AD203B41FA5}">
                      <a16:colId xmlns:a16="http://schemas.microsoft.com/office/drawing/2014/main" val="1421306109"/>
                    </a:ext>
                  </a:extLst>
                </a:gridCol>
                <a:gridCol w="805923">
                  <a:extLst>
                    <a:ext uri="{9D8B030D-6E8A-4147-A177-3AD203B41FA5}">
                      <a16:colId xmlns:a16="http://schemas.microsoft.com/office/drawing/2014/main" val="378733794"/>
                    </a:ext>
                  </a:extLst>
                </a:gridCol>
                <a:gridCol w="805923">
                  <a:extLst>
                    <a:ext uri="{9D8B030D-6E8A-4147-A177-3AD203B41FA5}">
                      <a16:colId xmlns:a16="http://schemas.microsoft.com/office/drawing/2014/main" val="746524854"/>
                    </a:ext>
                  </a:extLst>
                </a:gridCol>
                <a:gridCol w="805923">
                  <a:extLst>
                    <a:ext uri="{9D8B030D-6E8A-4147-A177-3AD203B41FA5}">
                      <a16:colId xmlns:a16="http://schemas.microsoft.com/office/drawing/2014/main" val="1502169123"/>
                    </a:ext>
                  </a:extLst>
                </a:gridCol>
                <a:gridCol w="806603">
                  <a:extLst>
                    <a:ext uri="{9D8B030D-6E8A-4147-A177-3AD203B41FA5}">
                      <a16:colId xmlns:a16="http://schemas.microsoft.com/office/drawing/2014/main" val="3481283014"/>
                    </a:ext>
                  </a:extLst>
                </a:gridCol>
              </a:tblGrid>
              <a:tr h="462668">
                <a:tc>
                  <a:txBody>
                    <a:bodyPr/>
                    <a:lstStyle/>
                    <a:p>
                      <a:pPr algn="ctr">
                        <a:tabLst>
                          <a:tab pos="647065" algn="l"/>
                        </a:tabLst>
                      </a:pPr>
                      <a:r>
                        <a:rPr lang="zh-CN" sz="1800" kern="100" dirty="0">
                          <a:effectLst/>
                        </a:rPr>
                        <a:t>孔号</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800" kern="100">
                          <a:effectLst/>
                        </a:rPr>
                        <a:t>A7</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800" kern="100">
                          <a:effectLst/>
                        </a:rPr>
                        <a:t>A8</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800" kern="100">
                          <a:effectLst/>
                        </a:rPr>
                        <a:t>B8</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800" kern="100">
                          <a:effectLst/>
                        </a:rPr>
                        <a:t>B7</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800" kern="100">
                          <a:effectLst/>
                        </a:rPr>
                        <a:t>B6</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800" kern="100">
                          <a:effectLst/>
                        </a:rPr>
                        <a:t>B5</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5449745"/>
                  </a:ext>
                </a:extLst>
              </a:tr>
              <a:tr h="857676">
                <a:tc>
                  <a:txBody>
                    <a:bodyPr/>
                    <a:lstStyle/>
                    <a:p>
                      <a:pPr algn="ctr">
                        <a:tabLst>
                          <a:tab pos="647065" algn="l"/>
                        </a:tabLst>
                      </a:pPr>
                      <a:r>
                        <a:rPr lang="zh-CN" sz="1800" kern="100" dirty="0">
                          <a:effectLst/>
                        </a:rPr>
                        <a:t>样品</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zh-CN" sz="1800" kern="100">
                          <a:effectLst/>
                        </a:rPr>
                        <a:t>对照</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800" kern="100" dirty="0">
                          <a:effectLst/>
                        </a:rPr>
                        <a:t>TritonX-100</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zh-CN" sz="1800" kern="100">
                          <a:effectLst/>
                        </a:rPr>
                        <a:t>吐温</a:t>
                      </a:r>
                      <a:r>
                        <a:rPr lang="en-US" sz="1800" kern="100">
                          <a:effectLst/>
                        </a:rPr>
                        <a:t>20</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800" kern="100" dirty="0">
                          <a:effectLst/>
                        </a:rPr>
                        <a:t>DMSO</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zh-CN" sz="1800" kern="100">
                          <a:effectLst/>
                        </a:rPr>
                        <a:t>饱和氯化钠</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zh-CN" sz="1800" kern="100" dirty="0">
                          <a:effectLst/>
                        </a:rPr>
                        <a:t>肝脏样品稀释五倍</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36876242"/>
                  </a:ext>
                </a:extLst>
              </a:tr>
            </a:tbl>
          </a:graphicData>
        </a:graphic>
      </p:graphicFrame>
    </p:spTree>
    <p:extLst>
      <p:ext uri="{BB962C8B-B14F-4D97-AF65-F5344CB8AC3E}">
        <p14:creationId xmlns:p14="http://schemas.microsoft.com/office/powerpoint/2010/main" val="396524220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blinds(horizontal)">
                                      <p:cBhvr>
                                        <p:cTn id="10" dur="500"/>
                                        <p:tgtEl>
                                          <p:spTgt spid="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par>
                                <p:cTn id="16" presetID="3" presetClass="entr" presetSubtype="1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linds(horizontal)">
                                      <p:cBhvr>
                                        <p:cTn id="2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kumimoji="1" lang="zh-CN" altLang="en-US" sz="3200" dirty="0"/>
              <a:t>实验条件探究  </a:t>
            </a:r>
            <a:r>
              <a:rPr kumimoji="1" lang="zh-CN" altLang="en-US" sz="2000" dirty="0"/>
              <a:t>探究酶法中胆酸钠对反应的影响</a:t>
            </a:r>
            <a:endParaRPr kumimoji="1" lang="en-US" altLang="zh-CN"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Rectangle 8">
            <a:extLst>
              <a:ext uri="{FF2B5EF4-FFF2-40B4-BE49-F238E27FC236}">
                <a16:creationId xmlns:a16="http://schemas.microsoft.com/office/drawing/2014/main" id="{53D5C380-40C2-B346-BE92-EDCD6BC44997}"/>
              </a:ext>
            </a:extLst>
          </p:cNvPr>
          <p:cNvSpPr/>
          <p:nvPr/>
        </p:nvSpPr>
        <p:spPr>
          <a:xfrm>
            <a:off x="1" y="6667018"/>
            <a:ext cx="4031850" cy="190982"/>
          </a:xfrm>
          <a:prstGeom prst="rect">
            <a:avLst/>
          </a:prstGeom>
          <a:solidFill>
            <a:srgbClr val="9B0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b="1" dirty="0">
              <a:solidFill>
                <a:schemeClr val="bg1"/>
              </a:solidFill>
            </a:endParaRPr>
          </a:p>
        </p:txBody>
      </p:sp>
      <p:sp>
        <p:nvSpPr>
          <p:cNvPr id="10" name="Rectangle 9">
            <a:extLst>
              <a:ext uri="{FF2B5EF4-FFF2-40B4-BE49-F238E27FC236}">
                <a16:creationId xmlns:a16="http://schemas.microsoft.com/office/drawing/2014/main" id="{43CA3A3D-D600-7E4E-9D1B-362E070F4461}"/>
              </a:ext>
            </a:extLst>
          </p:cNvPr>
          <p:cNvSpPr/>
          <p:nvPr/>
        </p:nvSpPr>
        <p:spPr>
          <a:xfrm>
            <a:off x="4031849" y="6667018"/>
            <a:ext cx="4080077" cy="190982"/>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zh-CN" altLang="en-US" b="1" dirty="0">
              <a:solidFill>
                <a:schemeClr val="bg1"/>
              </a:solidFill>
            </a:endParaRPr>
          </a:p>
        </p:txBody>
      </p:sp>
      <p:sp>
        <p:nvSpPr>
          <p:cNvPr id="13" name="Rectangle 12">
            <a:extLst>
              <a:ext uri="{FF2B5EF4-FFF2-40B4-BE49-F238E27FC236}">
                <a16:creationId xmlns:a16="http://schemas.microsoft.com/office/drawing/2014/main" id="{0FBF6E5E-664B-A043-A00F-3EE1EF27B055}"/>
              </a:ext>
            </a:extLst>
          </p:cNvPr>
          <p:cNvSpPr/>
          <p:nvPr/>
        </p:nvSpPr>
        <p:spPr>
          <a:xfrm>
            <a:off x="8111923" y="6508259"/>
            <a:ext cx="4080077" cy="349741"/>
          </a:xfrm>
          <a:prstGeom prst="rect">
            <a:avLst/>
          </a:prstGeom>
          <a:solidFill>
            <a:srgbClr val="9B0000"/>
          </a:solidFill>
          <a:ln>
            <a:solidFill>
              <a:schemeClr val="bg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zh-CN" altLang="en-US" b="1" dirty="0">
                <a:solidFill>
                  <a:schemeClr val="bg1"/>
                </a:solidFill>
              </a:rPr>
              <a:t>试剂盒法</a:t>
            </a:r>
          </a:p>
        </p:txBody>
      </p:sp>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317149" y="989036"/>
            <a:ext cx="5642142" cy="56779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kumimoji="1" lang="zh-CN" altLang="en-US" sz="2000" dirty="0">
                <a:solidFill>
                  <a:prstClr val="black"/>
                </a:solidFill>
                <a:latin typeface="等线" panose="020F0502020204030204"/>
              </a:rPr>
              <a:t>不加胆酸钠酶溶液中会产生沉淀干扰反应</a:t>
            </a:r>
            <a:endParaRPr kumimoji="1" lang="en-US" altLang="zh-CN" sz="2000" dirty="0">
              <a:solidFill>
                <a:prstClr val="black"/>
              </a:solidFill>
              <a:latin typeface="等线" panose="020F0502020204030204"/>
            </a:endParaRPr>
          </a:p>
          <a:p>
            <a:pPr>
              <a:lnSpc>
                <a:spcPct val="150000"/>
              </a:lnSpc>
              <a:buFont typeface="Wingdings" pitchFamily="2" charset="2"/>
              <a:buChar char="Ø"/>
            </a:pPr>
            <a:r>
              <a:rPr kumimoji="1" lang="zh-CN" altLang="en-US" sz="2000" dirty="0">
                <a:solidFill>
                  <a:prstClr val="black"/>
                </a:solidFill>
                <a:latin typeface="等线" panose="020F0502020204030204"/>
              </a:rPr>
              <a:t>一倍胆酸钠最佳</a:t>
            </a:r>
          </a:p>
          <a:p>
            <a:pPr>
              <a:lnSpc>
                <a:spcPct val="150000"/>
              </a:lnSpc>
              <a:buFont typeface="Wingdings" pitchFamily="2" charset="2"/>
              <a:buChar char="Ø"/>
            </a:pPr>
            <a:endParaRPr kumimoji="1" lang="zh-CN" altLang="en-US" sz="2000" dirty="0">
              <a:solidFill>
                <a:prstClr val="black"/>
              </a:solidFill>
              <a:latin typeface="等线" panose="020F0502020204030204"/>
            </a:endParaRPr>
          </a:p>
          <a:p>
            <a:pPr>
              <a:lnSpc>
                <a:spcPct val="150000"/>
              </a:lnSpc>
              <a:buFont typeface="Wingdings" pitchFamily="2" charset="2"/>
              <a:buChar char="Ø"/>
            </a:pPr>
            <a:endParaRPr kumimoji="1" lang="zh-CN" altLang="en-US" sz="1800" dirty="0">
              <a:solidFill>
                <a:prstClr val="black"/>
              </a:solidFill>
              <a:latin typeface="等线" panose="020F0502020204030204"/>
            </a:endParaRPr>
          </a:p>
        </p:txBody>
      </p:sp>
      <p:pic>
        <p:nvPicPr>
          <p:cNvPr id="16" name="图片 2">
            <a:extLst>
              <a:ext uri="{FF2B5EF4-FFF2-40B4-BE49-F238E27FC236}">
                <a16:creationId xmlns:a16="http://schemas.microsoft.com/office/drawing/2014/main" id="{6A66BAC1-F6F7-7A4F-9166-F43CE958D77E}"/>
              </a:ext>
            </a:extLst>
          </p:cNvPr>
          <p:cNvPicPr>
            <a:picLocks noChangeAspect="1"/>
          </p:cNvPicPr>
          <p:nvPr/>
        </p:nvPicPr>
        <p:blipFill rotWithShape="1">
          <a:blip r:embed="rId4"/>
          <a:srcRect l="20694" t="29576" r="4116" b="20587"/>
          <a:stretch/>
        </p:blipFill>
        <p:spPr>
          <a:xfrm>
            <a:off x="1109248" y="2199108"/>
            <a:ext cx="4515032" cy="2244506"/>
          </a:xfrm>
          <a:prstGeom prst="rect">
            <a:avLst/>
          </a:prstGeom>
        </p:spPr>
      </p:pic>
      <p:sp>
        <p:nvSpPr>
          <p:cNvPr id="17" name="文本框 10">
            <a:extLst>
              <a:ext uri="{FF2B5EF4-FFF2-40B4-BE49-F238E27FC236}">
                <a16:creationId xmlns:a16="http://schemas.microsoft.com/office/drawing/2014/main" id="{5759EC93-9010-3E45-BF32-882ECC2051F0}"/>
              </a:ext>
            </a:extLst>
          </p:cNvPr>
          <p:cNvSpPr txBox="1"/>
          <p:nvPr/>
        </p:nvSpPr>
        <p:spPr>
          <a:xfrm>
            <a:off x="1669056" y="4459091"/>
            <a:ext cx="3395416" cy="369332"/>
          </a:xfrm>
          <a:prstGeom prst="rect">
            <a:avLst/>
          </a:prstGeom>
          <a:noFill/>
        </p:spPr>
        <p:txBody>
          <a:bodyPr wrap="square" rtlCol="0">
            <a:spAutoFit/>
          </a:bodyPr>
          <a:lstStyle/>
          <a:p>
            <a:r>
              <a:rPr kumimoji="1" lang="zh-CN" altLang="en-US" dirty="0"/>
              <a:t>加入不同浓度胆酸钠后的酶溶液</a:t>
            </a:r>
          </a:p>
        </p:txBody>
      </p:sp>
      <p:graphicFrame>
        <p:nvGraphicFramePr>
          <p:cNvPr id="18" name="表格 7">
            <a:extLst>
              <a:ext uri="{FF2B5EF4-FFF2-40B4-BE49-F238E27FC236}">
                <a16:creationId xmlns:a16="http://schemas.microsoft.com/office/drawing/2014/main" id="{2F3354E9-9A58-6143-8D4D-08852A45ECE8}"/>
              </a:ext>
            </a:extLst>
          </p:cNvPr>
          <p:cNvGraphicFramePr>
            <a:graphicFrameLocks noGrp="1"/>
          </p:cNvGraphicFramePr>
          <p:nvPr>
            <p:extLst>
              <p:ext uri="{D42A27DB-BD31-4B8C-83A1-F6EECF244321}">
                <p14:modId xmlns:p14="http://schemas.microsoft.com/office/powerpoint/2010/main" val="405810146"/>
              </p:ext>
            </p:extLst>
          </p:nvPr>
        </p:nvGraphicFramePr>
        <p:xfrm>
          <a:off x="500817" y="4923120"/>
          <a:ext cx="5731896" cy="1138022"/>
        </p:xfrm>
        <a:graphic>
          <a:graphicData uri="http://schemas.openxmlformats.org/drawingml/2006/table">
            <a:tbl>
              <a:tblPr firstRow="1" firstCol="1" bandRow="1">
                <a:tableStyleId>{5C22544A-7EE6-4342-B048-85BDC9FD1C3A}</a:tableStyleId>
              </a:tblPr>
              <a:tblGrid>
                <a:gridCol w="955316">
                  <a:extLst>
                    <a:ext uri="{9D8B030D-6E8A-4147-A177-3AD203B41FA5}">
                      <a16:colId xmlns:a16="http://schemas.microsoft.com/office/drawing/2014/main" val="2968580848"/>
                    </a:ext>
                  </a:extLst>
                </a:gridCol>
                <a:gridCol w="955316">
                  <a:extLst>
                    <a:ext uri="{9D8B030D-6E8A-4147-A177-3AD203B41FA5}">
                      <a16:colId xmlns:a16="http://schemas.microsoft.com/office/drawing/2014/main" val="3019980182"/>
                    </a:ext>
                  </a:extLst>
                </a:gridCol>
                <a:gridCol w="955316">
                  <a:extLst>
                    <a:ext uri="{9D8B030D-6E8A-4147-A177-3AD203B41FA5}">
                      <a16:colId xmlns:a16="http://schemas.microsoft.com/office/drawing/2014/main" val="3727783532"/>
                    </a:ext>
                  </a:extLst>
                </a:gridCol>
                <a:gridCol w="955316">
                  <a:extLst>
                    <a:ext uri="{9D8B030D-6E8A-4147-A177-3AD203B41FA5}">
                      <a16:colId xmlns:a16="http://schemas.microsoft.com/office/drawing/2014/main" val="3229211354"/>
                    </a:ext>
                  </a:extLst>
                </a:gridCol>
                <a:gridCol w="955316">
                  <a:extLst>
                    <a:ext uri="{9D8B030D-6E8A-4147-A177-3AD203B41FA5}">
                      <a16:colId xmlns:a16="http://schemas.microsoft.com/office/drawing/2014/main" val="3279746892"/>
                    </a:ext>
                  </a:extLst>
                </a:gridCol>
                <a:gridCol w="955316">
                  <a:extLst>
                    <a:ext uri="{9D8B030D-6E8A-4147-A177-3AD203B41FA5}">
                      <a16:colId xmlns:a16="http://schemas.microsoft.com/office/drawing/2014/main" val="2805477103"/>
                    </a:ext>
                  </a:extLst>
                </a:gridCol>
              </a:tblGrid>
              <a:tr h="569011">
                <a:tc>
                  <a:txBody>
                    <a:bodyPr/>
                    <a:lstStyle/>
                    <a:p>
                      <a:pPr algn="ctr">
                        <a:tabLst>
                          <a:tab pos="647065" algn="l"/>
                        </a:tabLst>
                      </a:pPr>
                      <a:r>
                        <a:rPr lang="zh-CN" sz="1600" kern="100">
                          <a:effectLst/>
                        </a:rPr>
                        <a:t>胆酸钠浓度</a:t>
                      </a:r>
                      <a:endParaRPr lang="zh-CN"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600" kern="100">
                          <a:effectLst/>
                        </a:rPr>
                        <a:t>0</a:t>
                      </a:r>
                      <a:r>
                        <a:rPr lang="zh-CN" sz="1600" kern="100">
                          <a:effectLst/>
                        </a:rPr>
                        <a:t>倍</a:t>
                      </a:r>
                      <a:endParaRPr lang="zh-CN"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600" kern="100" dirty="0">
                          <a:effectLst/>
                        </a:rPr>
                        <a:t>0.5</a:t>
                      </a:r>
                      <a:r>
                        <a:rPr lang="zh-CN" sz="1600" kern="100" dirty="0">
                          <a:effectLst/>
                        </a:rPr>
                        <a:t>倍</a:t>
                      </a:r>
                      <a:endParaRPr lang="zh-CN"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600" b="1" kern="100" dirty="0">
                          <a:effectLst/>
                        </a:rPr>
                        <a:t>1</a:t>
                      </a:r>
                      <a:r>
                        <a:rPr lang="zh-CN" sz="1600" b="1" kern="100" dirty="0">
                          <a:effectLst/>
                        </a:rPr>
                        <a:t>倍</a:t>
                      </a:r>
                      <a:endParaRPr lang="zh-CN" sz="1600" b="1"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600" kern="100">
                          <a:effectLst/>
                        </a:rPr>
                        <a:t>2</a:t>
                      </a:r>
                      <a:r>
                        <a:rPr lang="zh-CN" sz="1600" kern="100">
                          <a:effectLst/>
                        </a:rPr>
                        <a:t>倍</a:t>
                      </a:r>
                      <a:endParaRPr lang="zh-CN"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600" kern="100">
                          <a:effectLst/>
                        </a:rPr>
                        <a:t>4</a:t>
                      </a:r>
                      <a:r>
                        <a:rPr lang="zh-CN" sz="1600" kern="100">
                          <a:effectLst/>
                        </a:rPr>
                        <a:t>倍</a:t>
                      </a:r>
                      <a:endParaRPr lang="zh-CN"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32428896"/>
                  </a:ext>
                </a:extLst>
              </a:tr>
              <a:tr h="569011">
                <a:tc>
                  <a:txBody>
                    <a:bodyPr/>
                    <a:lstStyle/>
                    <a:p>
                      <a:pPr algn="ctr">
                        <a:tabLst>
                          <a:tab pos="647065" algn="l"/>
                        </a:tabLst>
                      </a:pPr>
                      <a:r>
                        <a:rPr lang="zh-CN" sz="1600" kern="100" dirty="0">
                          <a:effectLst/>
                        </a:rPr>
                        <a:t>吸光度</a:t>
                      </a:r>
                      <a:endParaRPr lang="zh-CN"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600" kern="100">
                          <a:effectLst/>
                        </a:rPr>
                        <a:t>0.835</a:t>
                      </a:r>
                      <a:endParaRPr lang="zh-CN"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600" kern="100">
                          <a:effectLst/>
                        </a:rPr>
                        <a:t>0.250</a:t>
                      </a:r>
                      <a:endParaRPr lang="zh-CN"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600" b="1" kern="100" dirty="0">
                          <a:effectLst/>
                        </a:rPr>
                        <a:t>0.274</a:t>
                      </a:r>
                      <a:endParaRPr lang="zh-CN" sz="1600" b="1"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600" kern="100">
                          <a:effectLst/>
                        </a:rPr>
                        <a:t>0.244</a:t>
                      </a:r>
                      <a:endParaRPr lang="zh-CN"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tabLst>
                          <a:tab pos="647065" algn="l"/>
                        </a:tabLst>
                      </a:pPr>
                      <a:r>
                        <a:rPr lang="en-US" sz="1600" kern="100" dirty="0">
                          <a:effectLst/>
                        </a:rPr>
                        <a:t>0.251</a:t>
                      </a:r>
                      <a:endParaRPr lang="zh-CN"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36088467"/>
                  </a:ext>
                </a:extLst>
              </a:tr>
            </a:tbl>
          </a:graphicData>
        </a:graphic>
      </p:graphicFrame>
    </p:spTree>
    <p:extLst>
      <p:ext uri="{BB962C8B-B14F-4D97-AF65-F5344CB8AC3E}">
        <p14:creationId xmlns:p14="http://schemas.microsoft.com/office/powerpoint/2010/main" val="14957176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linds(horizontal)">
                                      <p:cBhvr>
                                        <p:cTn id="15" dur="500"/>
                                        <p:tgtEl>
                                          <p:spTgt spid="17"/>
                                        </p:tgtEl>
                                      </p:cBhvr>
                                    </p:animEffect>
                                  </p:childTnLst>
                                </p:cTn>
                              </p:par>
                              <p:par>
                                <p:cTn id="16" presetID="3" presetClass="entr" presetSubtype="1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linds(horizontal)">
                                      <p:cBhvr>
                                        <p:cTn id="1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kumimoji="1" lang="zh-CN" altLang="en-US" sz="3200" dirty="0"/>
              <a:t>实验结论</a:t>
            </a:r>
            <a:endParaRPr kumimoji="1" lang="en-US" altLang="zh-CN"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317148" y="989036"/>
            <a:ext cx="6277961" cy="56779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kumimoji="1" lang="zh-CN" altLang="en-US" sz="2000" dirty="0">
                <a:solidFill>
                  <a:prstClr val="black"/>
                </a:solidFill>
              </a:rPr>
              <a:t>我们的实验数据表明</a:t>
            </a:r>
            <a:r>
              <a:rPr kumimoji="1" lang="en-US" altLang="zh-CN" sz="2000" i="1" dirty="0" err="1">
                <a:solidFill>
                  <a:prstClr val="black"/>
                </a:solidFill>
              </a:rPr>
              <a:t>ob</a:t>
            </a:r>
            <a:r>
              <a:rPr kumimoji="1" lang="en-US" altLang="zh-CN" sz="2000" i="1" dirty="0">
                <a:solidFill>
                  <a:prstClr val="black"/>
                </a:solidFill>
              </a:rPr>
              <a:t>/</a:t>
            </a:r>
            <a:r>
              <a:rPr kumimoji="1" lang="en-US" altLang="zh-CN" sz="2000" i="1" dirty="0" err="1">
                <a:solidFill>
                  <a:prstClr val="black"/>
                </a:solidFill>
              </a:rPr>
              <a:t>ob</a:t>
            </a:r>
            <a:r>
              <a:rPr kumimoji="1" lang="zh-CN" altLang="en-US" sz="2000" dirty="0">
                <a:solidFill>
                  <a:prstClr val="black"/>
                </a:solidFill>
              </a:rPr>
              <a:t>小鼠无论是血浆还是肝脏中的胆固醇含量都高于</a:t>
            </a:r>
            <a:r>
              <a:rPr kumimoji="1" lang="en-US" altLang="zh-CN" sz="2000" i="1" dirty="0" err="1">
                <a:solidFill>
                  <a:prstClr val="black"/>
                </a:solidFill>
              </a:rPr>
              <a:t>wt</a:t>
            </a:r>
            <a:r>
              <a:rPr kumimoji="1" lang="zh-CN" altLang="en-US" sz="2000" dirty="0">
                <a:solidFill>
                  <a:prstClr val="black"/>
                </a:solidFill>
              </a:rPr>
              <a:t>小鼠</a:t>
            </a:r>
            <a:endParaRPr kumimoji="1" lang="en-US" altLang="zh-CN" sz="2000" dirty="0">
              <a:solidFill>
                <a:prstClr val="black"/>
              </a:solidFill>
            </a:endParaRPr>
          </a:p>
          <a:p>
            <a:pPr>
              <a:lnSpc>
                <a:spcPct val="150000"/>
              </a:lnSpc>
              <a:buFont typeface="Wingdings" pitchFamily="2" charset="2"/>
              <a:buChar char="Ø"/>
            </a:pPr>
            <a:r>
              <a:rPr kumimoji="1" lang="zh-CN" altLang="en-US" sz="2000" dirty="0">
                <a:solidFill>
                  <a:prstClr val="black"/>
                </a:solidFill>
              </a:rPr>
              <a:t>磷硫铁法</a:t>
            </a:r>
            <a:endParaRPr kumimoji="1" lang="en-US" altLang="zh-CN" sz="2000" dirty="0">
              <a:solidFill>
                <a:prstClr val="black"/>
              </a:solidFill>
            </a:endParaRPr>
          </a:p>
          <a:p>
            <a:pPr lvl="1">
              <a:lnSpc>
                <a:spcPct val="150000"/>
              </a:lnSpc>
            </a:pPr>
            <a:r>
              <a:rPr kumimoji="1" lang="zh-CN" altLang="en-US" sz="1800" dirty="0">
                <a:solidFill>
                  <a:prstClr val="black"/>
                </a:solidFill>
              </a:rPr>
              <a:t>对肝脏样品的测定结果较准确，适合大量样品的测定</a:t>
            </a:r>
            <a:endParaRPr kumimoji="1" lang="en-US" altLang="zh-CN" sz="1800" dirty="0">
              <a:solidFill>
                <a:prstClr val="black"/>
              </a:solidFill>
            </a:endParaRPr>
          </a:p>
          <a:p>
            <a:pPr lvl="1">
              <a:lnSpc>
                <a:spcPct val="150000"/>
              </a:lnSpc>
            </a:pPr>
            <a:r>
              <a:rPr kumimoji="1" lang="zh-CN" altLang="en-US" sz="1800" dirty="0">
                <a:solidFill>
                  <a:prstClr val="black"/>
                </a:solidFill>
              </a:rPr>
              <a:t>使用的样品量较多，体系不稳定，试剂有毒有害</a:t>
            </a:r>
          </a:p>
          <a:p>
            <a:pPr>
              <a:lnSpc>
                <a:spcPct val="150000"/>
              </a:lnSpc>
              <a:buFont typeface="Wingdings" pitchFamily="2" charset="2"/>
              <a:buChar char="Ø"/>
            </a:pPr>
            <a:r>
              <a:rPr kumimoji="1" lang="zh-CN" altLang="en-US" sz="2000" dirty="0">
                <a:solidFill>
                  <a:prstClr val="black"/>
                </a:solidFill>
              </a:rPr>
              <a:t>酶法</a:t>
            </a:r>
            <a:endParaRPr kumimoji="1" lang="en-US" altLang="zh-CN" sz="2000" dirty="0">
              <a:solidFill>
                <a:prstClr val="black"/>
              </a:solidFill>
            </a:endParaRPr>
          </a:p>
          <a:p>
            <a:pPr marR="0" lvl="1" algn="l" defTabSz="914400" rtl="0" eaLnBrk="1" fontAlgn="auto" latinLnBrk="0" hangingPunct="1">
              <a:lnSpc>
                <a:spcPct val="150000"/>
              </a:lnSpc>
              <a:spcBef>
                <a:spcPts val="0"/>
              </a:spcBef>
              <a:spcAft>
                <a:spcPts val="0"/>
              </a:spcAft>
              <a:buClrTx/>
              <a:buSzTx/>
              <a:tabLst/>
              <a:defRPr/>
            </a:pPr>
            <a:r>
              <a:rPr kumimoji="1" lang="zh-CN" altLang="en-US" sz="1800" dirty="0">
                <a:solidFill>
                  <a:prstClr val="black"/>
                </a:solidFill>
                <a:latin typeface="Calibri" panose="020F0502020204030204"/>
                <a:ea typeface="等线" panose="02010600030101010101" pitchFamily="2" charset="-122"/>
              </a:rPr>
              <a:t>使用的样品量少，反应时间短</a:t>
            </a:r>
            <a:endParaRPr kumimoji="1" lang="en-US" altLang="zh-CN" sz="1800" dirty="0">
              <a:solidFill>
                <a:prstClr val="black"/>
              </a:solidFill>
              <a:latin typeface="Calibri" panose="020F0502020204030204"/>
              <a:ea typeface="等线" panose="02010600030101010101" pitchFamily="2" charset="-122"/>
            </a:endParaRPr>
          </a:p>
          <a:p>
            <a:pPr marR="0" lvl="1" algn="l" defTabSz="914400" rtl="0" eaLnBrk="1" fontAlgn="auto" latinLnBrk="0" hangingPunct="1">
              <a:lnSpc>
                <a:spcPct val="150000"/>
              </a:lnSpc>
              <a:spcBef>
                <a:spcPts val="0"/>
              </a:spcBef>
              <a:spcAft>
                <a:spcPts val="0"/>
              </a:spcAft>
              <a:buClrTx/>
              <a:buSzTx/>
              <a:tabLst/>
              <a:defRPr/>
            </a:pPr>
            <a:r>
              <a:rPr kumimoji="1" lang="zh-CN" altLang="en-US"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对体系</a:t>
            </a:r>
            <a:r>
              <a:rPr kumimoji="1" lang="zh-CN" altLang="en-US" sz="1800" dirty="0">
                <a:solidFill>
                  <a:prstClr val="black"/>
                </a:solidFill>
              </a:rPr>
              <a:t>要求较高</a:t>
            </a:r>
            <a:endParaRPr kumimoji="1"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buFont typeface="Wingdings" pitchFamily="2" charset="2"/>
              <a:buChar char="Ø"/>
            </a:pPr>
            <a:endParaRPr kumimoji="1" lang="zh-CN" altLang="en-US" sz="1600" dirty="0">
              <a:solidFill>
                <a:prstClr val="black"/>
              </a:solidFill>
            </a:endParaRPr>
          </a:p>
          <a:p>
            <a:pPr>
              <a:lnSpc>
                <a:spcPct val="150000"/>
              </a:lnSpc>
              <a:buFont typeface="Wingdings" pitchFamily="2" charset="2"/>
              <a:buChar char="Ø"/>
            </a:pPr>
            <a:endParaRPr kumimoji="1" lang="en-US" altLang="zh-CN" sz="2000" dirty="0">
              <a:solidFill>
                <a:prstClr val="black"/>
              </a:solidFill>
            </a:endParaRPr>
          </a:p>
        </p:txBody>
      </p:sp>
    </p:spTree>
    <p:extLst>
      <p:ext uri="{BB962C8B-B14F-4D97-AF65-F5344CB8AC3E}">
        <p14:creationId xmlns:p14="http://schemas.microsoft.com/office/powerpoint/2010/main" val="371471713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kumimoji="1" lang="zh-CN" altLang="en-US" sz="3200" dirty="0"/>
              <a:t>问题讨论</a:t>
            </a:r>
            <a:endParaRPr kumimoji="1" lang="en-US" altLang="zh-CN"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288758" y="989036"/>
            <a:ext cx="5642142" cy="17333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kumimoji="1" lang="zh-CN" altLang="en-US" sz="2000" dirty="0">
                <a:solidFill>
                  <a:prstClr val="black"/>
                </a:solidFill>
              </a:rPr>
              <a:t>血浆胆固醇浓度过低</a:t>
            </a:r>
            <a:endParaRPr kumimoji="1" lang="en-US" altLang="zh-CN" sz="2000" dirty="0">
              <a:solidFill>
                <a:prstClr val="black"/>
              </a:solidFill>
            </a:endParaRPr>
          </a:p>
          <a:p>
            <a:pPr>
              <a:lnSpc>
                <a:spcPct val="150000"/>
              </a:lnSpc>
              <a:buFont typeface="Wingdings" pitchFamily="2" charset="2"/>
              <a:buChar char="Ø"/>
            </a:pPr>
            <a:r>
              <a:rPr kumimoji="1" lang="zh-CN" altLang="en-US" sz="2000" dirty="0">
                <a:solidFill>
                  <a:prstClr val="black"/>
                </a:solidFill>
              </a:rPr>
              <a:t>白色浑浊物质</a:t>
            </a:r>
            <a:endParaRPr kumimoji="1" lang="en-US" altLang="zh-CN" sz="2000" dirty="0">
              <a:solidFill>
                <a:prstClr val="black"/>
              </a:solidFill>
            </a:endParaRPr>
          </a:p>
          <a:p>
            <a:pPr>
              <a:lnSpc>
                <a:spcPct val="150000"/>
              </a:lnSpc>
              <a:buFont typeface="Wingdings" pitchFamily="2" charset="2"/>
              <a:buChar char="Ø"/>
            </a:pPr>
            <a:r>
              <a:rPr kumimoji="1" lang="zh-CN" altLang="en-US" sz="2000" dirty="0">
                <a:solidFill>
                  <a:prstClr val="black"/>
                </a:solidFill>
              </a:rPr>
              <a:t>部分</a:t>
            </a:r>
            <a:r>
              <a:rPr kumimoji="1" lang="en-US" altLang="zh-CN" sz="2000" i="1" dirty="0" err="1">
                <a:solidFill>
                  <a:prstClr val="black"/>
                </a:solidFill>
              </a:rPr>
              <a:t>wt</a:t>
            </a:r>
            <a:r>
              <a:rPr kumimoji="1" lang="zh-CN" altLang="en-US" sz="2000" dirty="0">
                <a:solidFill>
                  <a:prstClr val="black"/>
                </a:solidFill>
              </a:rPr>
              <a:t>小鼠胆固醇高于</a:t>
            </a:r>
            <a:r>
              <a:rPr kumimoji="1" lang="en-US" altLang="zh-CN" sz="2000" i="1" dirty="0" err="1">
                <a:solidFill>
                  <a:prstClr val="black"/>
                </a:solidFill>
              </a:rPr>
              <a:t>ob</a:t>
            </a:r>
            <a:r>
              <a:rPr kumimoji="1" lang="en-US" altLang="zh-CN" sz="2000" i="1" dirty="0">
                <a:solidFill>
                  <a:prstClr val="black"/>
                </a:solidFill>
              </a:rPr>
              <a:t>/</a:t>
            </a:r>
            <a:r>
              <a:rPr kumimoji="1" lang="en-US" altLang="zh-CN" sz="2000" i="1" dirty="0" err="1">
                <a:solidFill>
                  <a:prstClr val="black"/>
                </a:solidFill>
              </a:rPr>
              <a:t>ob</a:t>
            </a:r>
            <a:r>
              <a:rPr kumimoji="1" lang="zh-CN" altLang="en-US" sz="2000" dirty="0">
                <a:solidFill>
                  <a:prstClr val="black"/>
                </a:solidFill>
              </a:rPr>
              <a:t>小鼠</a:t>
            </a:r>
          </a:p>
          <a:p>
            <a:pPr>
              <a:lnSpc>
                <a:spcPct val="150000"/>
              </a:lnSpc>
              <a:buFont typeface="Wingdings" pitchFamily="2" charset="2"/>
              <a:buChar char="Ø"/>
            </a:pPr>
            <a:endParaRPr kumimoji="1" lang="zh-CN" altLang="en-US" sz="1800" dirty="0">
              <a:solidFill>
                <a:prstClr val="black"/>
              </a:solidFill>
            </a:endParaRPr>
          </a:p>
        </p:txBody>
      </p:sp>
    </p:spTree>
    <p:extLst>
      <p:ext uri="{BB962C8B-B14F-4D97-AF65-F5344CB8AC3E}">
        <p14:creationId xmlns:p14="http://schemas.microsoft.com/office/powerpoint/2010/main" val="280397391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kumimoji="1" lang="zh-CN" altLang="en-US" sz="3200" dirty="0"/>
              <a:t>血浆胆固醇浓度过低</a:t>
            </a:r>
            <a:endParaRPr kumimoji="1" lang="en-US" altLang="zh-CN"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317149" y="989036"/>
            <a:ext cx="5875834" cy="56779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kumimoji="1" lang="zh-CN" altLang="en-US" sz="2000" dirty="0">
                <a:solidFill>
                  <a:prstClr val="black"/>
                </a:solidFill>
              </a:rPr>
              <a:t>查阅了相关资料，发现血浆中胆固醇含量的正常值远高于酶法和试剂盒法的测量值</a:t>
            </a:r>
            <a:endParaRPr kumimoji="1" lang="en-US" altLang="zh-CN" sz="2000" dirty="0">
              <a:solidFill>
                <a:prstClr val="black"/>
              </a:solidFill>
            </a:endParaRPr>
          </a:p>
          <a:p>
            <a:pPr>
              <a:lnSpc>
                <a:spcPct val="150000"/>
              </a:lnSpc>
              <a:buFont typeface="Wingdings" pitchFamily="2" charset="2"/>
              <a:buChar char="Ø"/>
            </a:pPr>
            <a:r>
              <a:rPr kumimoji="1" lang="zh-CN" altLang="en-US" sz="2000" dirty="0">
                <a:solidFill>
                  <a:prstClr val="black"/>
                </a:solidFill>
              </a:rPr>
              <a:t>结合试剂盒法实验验证说明样品制备过程可能存在较多的胆固醇流失</a:t>
            </a:r>
            <a:endParaRPr kumimoji="1" lang="en-US" altLang="zh-CN" sz="2000" dirty="0">
              <a:solidFill>
                <a:prstClr val="black"/>
              </a:solidFill>
            </a:endParaRPr>
          </a:p>
          <a:p>
            <a:pPr>
              <a:lnSpc>
                <a:spcPct val="150000"/>
              </a:lnSpc>
              <a:buFont typeface="Wingdings" pitchFamily="2" charset="2"/>
              <a:buChar char="Ø"/>
            </a:pPr>
            <a:r>
              <a:rPr lang="zh-CN" altLang="en-US" sz="2000" dirty="0"/>
              <a:t>可能的解释</a:t>
            </a:r>
            <a:endParaRPr lang="en-US" altLang="zh-CN" sz="2000" dirty="0"/>
          </a:p>
          <a:p>
            <a:pPr lvl="1">
              <a:lnSpc>
                <a:spcPct val="150000"/>
              </a:lnSpc>
            </a:pPr>
            <a:r>
              <a:rPr lang="zh-CN" altLang="en-US" sz="1800" dirty="0"/>
              <a:t>血浆中存在某种物质与胆固醇络合产生不溶于水或乙醇的沉淀</a:t>
            </a:r>
            <a:endParaRPr lang="en-US" altLang="zh-CN" sz="1800" dirty="0"/>
          </a:p>
          <a:p>
            <a:pPr lvl="1">
              <a:lnSpc>
                <a:spcPct val="150000"/>
              </a:lnSpc>
            </a:pPr>
            <a:r>
              <a:rPr lang="zh-CN" altLang="en-US" sz="1800" dirty="0"/>
              <a:t>乙醇无法很好地破坏脂蛋白结构释放胆固醇</a:t>
            </a:r>
            <a:endParaRPr lang="en-US" altLang="zh-CN" sz="1800" dirty="0"/>
          </a:p>
          <a:p>
            <a:pPr marL="0" marR="0" lvl="0" indent="0" algn="l" defTabSz="914400" rtl="0" eaLnBrk="1" fontAlgn="auto" latinLnBrk="0" hangingPunct="1">
              <a:lnSpc>
                <a:spcPct val="150000"/>
              </a:lnSpc>
              <a:spcBef>
                <a:spcPts val="0"/>
              </a:spcBef>
              <a:spcAft>
                <a:spcPts val="0"/>
              </a:spcAft>
              <a:buClrTx/>
              <a:buSzTx/>
              <a:buFont typeface="Wingdings"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可能的改进</a:t>
            </a: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spcBef>
                <a:spcPts val="0"/>
              </a:spcBef>
              <a:defRPr/>
            </a:pPr>
            <a:r>
              <a:rPr lang="zh-CN" altLang="en-US" sz="1800" dirty="0"/>
              <a:t>改进提取程序</a:t>
            </a:r>
            <a:endParaRPr lang="en-US" altLang="zh-CN" sz="1800" dirty="0"/>
          </a:p>
          <a:p>
            <a:pPr lvl="1">
              <a:lnSpc>
                <a:spcPct val="150000"/>
              </a:lnSpc>
              <a:spcBef>
                <a:spcPts val="0"/>
              </a:spcBef>
              <a:defRPr/>
            </a:pPr>
            <a:r>
              <a:rPr lang="zh-CN" altLang="en-US" sz="1800" dirty="0"/>
              <a:t>探究不同溶剂对血浆总胆固醇的提取效果</a:t>
            </a:r>
            <a:endParaRPr lang="en-US" altLang="zh-CN" sz="1800" dirty="0"/>
          </a:p>
          <a:p>
            <a:pPr lvl="1">
              <a:lnSpc>
                <a:spcPct val="150000"/>
              </a:lnSpc>
              <a:spcBef>
                <a:spcPts val="0"/>
              </a:spcBef>
              <a:defRPr/>
            </a:pPr>
            <a:r>
              <a:rPr lang="zh-CN" altLang="en-US" sz="1800" dirty="0"/>
              <a:t>消除血浆中干扰物质的影响</a:t>
            </a:r>
            <a:endParaRPr lang="en-US" altLang="zh-CN" sz="1800" dirty="0"/>
          </a:p>
          <a:p>
            <a:pPr lvl="1">
              <a:lnSpc>
                <a:spcPct val="150000"/>
              </a:lnSpc>
              <a:spcBef>
                <a:spcPts val="0"/>
              </a:spcBef>
              <a:defRPr/>
            </a:pPr>
            <a:endParaRPr lang="en-US" altLang="zh-CN" sz="1800" dirty="0"/>
          </a:p>
          <a:p>
            <a:pPr lvl="1">
              <a:lnSpc>
                <a:spcPct val="150000"/>
              </a:lnSpc>
            </a:pPr>
            <a:endParaRPr kumimoji="1" lang="en-US" altLang="zh-CN" sz="1600" dirty="0">
              <a:solidFill>
                <a:prstClr val="black"/>
              </a:solidFill>
            </a:endParaRPr>
          </a:p>
        </p:txBody>
      </p:sp>
      <p:pic>
        <p:nvPicPr>
          <p:cNvPr id="5" name="内容占位符 5">
            <a:extLst>
              <a:ext uri="{FF2B5EF4-FFF2-40B4-BE49-F238E27FC236}">
                <a16:creationId xmlns:a16="http://schemas.microsoft.com/office/drawing/2014/main" id="{BC52CF5E-FFC0-CB47-B744-75B3A64A47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1374" y="1108952"/>
            <a:ext cx="5539094" cy="4351338"/>
          </a:xfrm>
          <a:prstGeom prst="rect">
            <a:avLst/>
          </a:prstGeom>
        </p:spPr>
      </p:pic>
      <p:sp>
        <p:nvSpPr>
          <p:cNvPr id="6" name="文本框 6">
            <a:extLst>
              <a:ext uri="{FF2B5EF4-FFF2-40B4-BE49-F238E27FC236}">
                <a16:creationId xmlns:a16="http://schemas.microsoft.com/office/drawing/2014/main" id="{AEDB6C86-F3A0-A742-9321-55BC81FAE684}"/>
              </a:ext>
            </a:extLst>
          </p:cNvPr>
          <p:cNvSpPr txBox="1"/>
          <p:nvPr/>
        </p:nvSpPr>
        <p:spPr>
          <a:xfrm>
            <a:off x="6560023" y="5694062"/>
            <a:ext cx="4884656" cy="1200329"/>
          </a:xfrm>
          <a:prstGeom prst="rect">
            <a:avLst/>
          </a:prstGeom>
          <a:noFill/>
        </p:spPr>
        <p:txBody>
          <a:bodyPr wrap="square" rtlCol="0">
            <a:spAutoFit/>
          </a:bodyPr>
          <a:lstStyle/>
          <a:p>
            <a:pPr algn="just"/>
            <a:r>
              <a:rPr lang="en-US" altLang="zh-CN" b="0" i="0" dirty="0">
                <a:solidFill>
                  <a:schemeClr val="accent3"/>
                </a:solidFill>
                <a:effectLst/>
                <a:ea typeface="Microsoft YaHei" panose="020B0503020204020204" pitchFamily="34" charset="-122"/>
              </a:rPr>
              <a:t>Clinical chemistry reference database for Wistar rats and C57/BL6 mice</a:t>
            </a:r>
            <a:r>
              <a:rPr lang="zh-CN" altLang="en-US" b="0" i="0" dirty="0">
                <a:solidFill>
                  <a:schemeClr val="accent3"/>
                </a:solidFill>
                <a:effectLst/>
                <a:ea typeface="Microsoft YaHei" panose="020B0503020204020204" pitchFamily="34" charset="-122"/>
              </a:rPr>
              <a:t>，</a:t>
            </a:r>
            <a:r>
              <a:rPr lang="en-US" altLang="zh-CN" b="0" i="1" dirty="0">
                <a:solidFill>
                  <a:schemeClr val="accent3"/>
                </a:solidFill>
                <a:effectLst/>
                <a:ea typeface="Microsoft YaHei" panose="020B0503020204020204" pitchFamily="34" charset="-122"/>
              </a:rPr>
              <a:t>Biological Chemistry</a:t>
            </a:r>
            <a:r>
              <a:rPr lang="en-US" altLang="zh-CN" b="0" i="0" dirty="0">
                <a:solidFill>
                  <a:schemeClr val="accent3"/>
                </a:solidFill>
                <a:effectLst/>
                <a:ea typeface="Microsoft YaHei" panose="020B0503020204020204" pitchFamily="34" charset="-122"/>
              </a:rPr>
              <a:t> 388(5):547-54, 2007.</a:t>
            </a:r>
            <a:endParaRPr lang="en-US" altLang="zh-CN" b="0" i="0" dirty="0">
              <a:solidFill>
                <a:schemeClr val="accent3"/>
              </a:solidFill>
              <a:effectLst/>
            </a:endParaRPr>
          </a:p>
          <a:p>
            <a:pPr algn="just"/>
            <a:endParaRPr lang="zh-CN" altLang="en-US" dirty="0">
              <a:solidFill>
                <a:schemeClr val="accent3"/>
              </a:solidFill>
            </a:endParaRPr>
          </a:p>
        </p:txBody>
      </p:sp>
    </p:spTree>
    <p:extLst>
      <p:ext uri="{BB962C8B-B14F-4D97-AF65-F5344CB8AC3E}">
        <p14:creationId xmlns:p14="http://schemas.microsoft.com/office/powerpoint/2010/main" val="164428523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kumimoji="1" lang="zh-CN" altLang="en-US" sz="3200" dirty="0"/>
              <a:t>白色</a:t>
            </a:r>
            <a:r>
              <a:rPr kumimoji="1" lang="zh-CN" altLang="en-CN" sz="3200" dirty="0"/>
              <a:t>浑浊</a:t>
            </a:r>
            <a:r>
              <a:rPr kumimoji="1" lang="zh-CN" altLang="en-US" sz="3200" dirty="0"/>
              <a:t>物质</a:t>
            </a:r>
            <a:endParaRPr kumimoji="1" lang="en-US" altLang="zh-CN"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317149" y="989036"/>
            <a:ext cx="5875834" cy="56779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排除了工作液中不同物质的干扰并比较不同样品之间的情况，我们确认了浑浊物质应当是难溶于水相的胆固醇</a:t>
            </a:r>
            <a:endParaRPr lang="en-US" altLang="zh-CN" sz="2000" dirty="0"/>
          </a:p>
          <a:p>
            <a:pPr>
              <a:lnSpc>
                <a:spcPct val="150000"/>
              </a:lnSpc>
              <a:buFont typeface="Wingdings" pitchFamily="2" charset="2"/>
              <a:buChar char="Ø"/>
            </a:pPr>
            <a:r>
              <a:rPr lang="zh-CN" altLang="en-US" sz="2000" dirty="0"/>
              <a:t>探究了何种物质可以消除乳光现象</a:t>
            </a:r>
            <a:endParaRPr lang="en-US" altLang="zh-CN" sz="2000" dirty="0"/>
          </a:p>
          <a:p>
            <a:pPr lvl="1">
              <a:lnSpc>
                <a:spcPct val="150000"/>
              </a:lnSpc>
            </a:pPr>
            <a:r>
              <a:rPr lang="zh-CN" altLang="en-US" sz="1800" dirty="0"/>
              <a:t>但可重复性一般</a:t>
            </a:r>
            <a:endParaRPr lang="en-US" altLang="zh-CN" sz="1800" dirty="0"/>
          </a:p>
          <a:p>
            <a:pPr>
              <a:lnSpc>
                <a:spcPct val="150000"/>
              </a:lnSpc>
              <a:buFont typeface="Wingdings" pitchFamily="2" charset="2"/>
              <a:buChar char="Ø"/>
            </a:pPr>
            <a:r>
              <a:rPr lang="zh-CN" altLang="en-US" sz="2000" dirty="0"/>
              <a:t>可能原因</a:t>
            </a:r>
            <a:endParaRPr lang="en-US" altLang="zh-CN" sz="2000" dirty="0"/>
          </a:p>
          <a:p>
            <a:pPr lvl="1">
              <a:lnSpc>
                <a:spcPct val="150000"/>
              </a:lnSpc>
              <a:buFont typeface="Wingdings" pitchFamily="2" charset="2"/>
              <a:buChar char="Ø"/>
            </a:pPr>
            <a:r>
              <a:rPr lang="zh-CN" altLang="en-US" sz="1800" dirty="0"/>
              <a:t>反应体系无法很好的溶解胆固醇</a:t>
            </a:r>
            <a:endParaRPr lang="en-US" altLang="zh-CN" sz="1800" dirty="0"/>
          </a:p>
          <a:p>
            <a:pPr lvl="1">
              <a:lnSpc>
                <a:spcPct val="150000"/>
              </a:lnSpc>
              <a:buFont typeface="Wingdings" pitchFamily="2" charset="2"/>
              <a:buChar char="Ø"/>
            </a:pPr>
            <a:r>
              <a:rPr lang="zh-CN" altLang="en-US" sz="1800" dirty="0"/>
              <a:t>酶活力不足</a:t>
            </a:r>
            <a:endParaRPr lang="en-US" altLang="zh-CN" sz="1800" dirty="0"/>
          </a:p>
          <a:p>
            <a:pPr marL="0" marR="0" lvl="0" indent="0" algn="l" defTabSz="914400" rtl="0" eaLnBrk="1" fontAlgn="auto" latinLnBrk="0" hangingPunct="1">
              <a:lnSpc>
                <a:spcPct val="150000"/>
              </a:lnSpc>
              <a:spcBef>
                <a:spcPts val="0"/>
              </a:spcBef>
              <a:spcAft>
                <a:spcPts val="0"/>
              </a:spcAft>
              <a:buClrTx/>
              <a:buSzTx/>
              <a:buFont typeface="Wingdings"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可能的探究</a:t>
            </a: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lvl="1">
              <a:lnSpc>
                <a:spcPct val="150000"/>
              </a:lnSpc>
              <a:spcBef>
                <a:spcPts val="0"/>
              </a:spcBef>
              <a:defRPr/>
            </a:pPr>
            <a:r>
              <a:rPr lang="zh-CN" altLang="en-US" sz="1800" dirty="0"/>
              <a:t>样品</a:t>
            </a:r>
            <a:r>
              <a:rPr lang="en-US" altLang="zh-CN" sz="1800" dirty="0"/>
              <a:t>-</a:t>
            </a:r>
            <a:r>
              <a:rPr lang="zh-CN" altLang="en-US" sz="1800" dirty="0"/>
              <a:t>工作液的最佳比例</a:t>
            </a:r>
            <a:endParaRPr kumimoji="0" lang="en-US" altLang="zh-CN" sz="16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pic>
        <p:nvPicPr>
          <p:cNvPr id="9" name="图片 4">
            <a:extLst>
              <a:ext uri="{FF2B5EF4-FFF2-40B4-BE49-F238E27FC236}">
                <a16:creationId xmlns:a16="http://schemas.microsoft.com/office/drawing/2014/main" id="{D3CD1AD9-A7C3-AB4E-97C3-7502BC3608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1305" y="1577407"/>
            <a:ext cx="1446699" cy="3703186"/>
          </a:xfrm>
          <a:prstGeom prst="rect">
            <a:avLst/>
          </a:prstGeom>
        </p:spPr>
      </p:pic>
    </p:spTree>
    <p:extLst>
      <p:ext uri="{BB962C8B-B14F-4D97-AF65-F5344CB8AC3E}">
        <p14:creationId xmlns:p14="http://schemas.microsoft.com/office/powerpoint/2010/main" val="113677087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lang="en-US" altLang="zh-CN" sz="3200" i="1" dirty="0" err="1"/>
              <a:t>wt</a:t>
            </a:r>
            <a:r>
              <a:rPr lang="zh-CN" altLang="en-US" sz="3200" dirty="0"/>
              <a:t>小鼠胆固醇高于</a:t>
            </a:r>
            <a:r>
              <a:rPr lang="en-US" altLang="zh-CN" sz="3200" i="1" dirty="0" err="1"/>
              <a:t>ob</a:t>
            </a:r>
            <a:r>
              <a:rPr lang="en-US" altLang="zh-CN" sz="3200" i="1" dirty="0"/>
              <a:t>/</a:t>
            </a:r>
            <a:r>
              <a:rPr lang="en-US" altLang="zh-CN" sz="3200" i="1" dirty="0" err="1"/>
              <a:t>ob</a:t>
            </a:r>
            <a:r>
              <a:rPr lang="zh-CN" altLang="en-US" sz="3200" dirty="0"/>
              <a:t>小鼠</a:t>
            </a:r>
            <a:endParaRPr kumimoji="1" lang="en-US" altLang="zh-CN" sz="3200" dirty="0"/>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15" name="内容占位符 2">
            <a:extLst>
              <a:ext uri="{FF2B5EF4-FFF2-40B4-BE49-F238E27FC236}">
                <a16:creationId xmlns:a16="http://schemas.microsoft.com/office/drawing/2014/main" id="{1D00DDD6-70A6-4641-B9B2-7D3B8C5302E7}"/>
              </a:ext>
            </a:extLst>
          </p:cNvPr>
          <p:cNvSpPr txBox="1">
            <a:spLocks/>
          </p:cNvSpPr>
          <p:nvPr/>
        </p:nvSpPr>
        <p:spPr>
          <a:xfrm>
            <a:off x="288758" y="989036"/>
            <a:ext cx="5875834" cy="56779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zh-CN" altLang="en-US" sz="2000" dirty="0"/>
              <a:t>第一次正式实验中出现</a:t>
            </a:r>
            <a:endParaRPr lang="en-US" altLang="zh-CN" sz="2000" dirty="0"/>
          </a:p>
          <a:p>
            <a:pPr>
              <a:lnSpc>
                <a:spcPct val="150000"/>
              </a:lnSpc>
              <a:buFont typeface="Wingdings" pitchFamily="2" charset="2"/>
              <a:buChar char="Ø"/>
            </a:pPr>
            <a:r>
              <a:rPr lang="zh-CN" altLang="en-US" sz="2000" dirty="0"/>
              <a:t>回顾制样方法后，我们发现可能是血浆样品体积并不严格等于</a:t>
            </a:r>
            <a:r>
              <a:rPr lang="en-US" altLang="zh-CN" sz="2000" dirty="0"/>
              <a:t>12</a:t>
            </a:r>
            <a:r>
              <a:rPr lang="zh-CN" altLang="en-US" sz="2000" dirty="0"/>
              <a:t> </a:t>
            </a:r>
            <a:r>
              <a:rPr lang="en-US" altLang="zh-CN" sz="2000" dirty="0" err="1"/>
              <a:t>μL</a:t>
            </a:r>
            <a:r>
              <a:rPr lang="zh-CN" altLang="en-US" sz="2000" dirty="0"/>
              <a:t>，或是的确存在异常小鼠</a:t>
            </a:r>
            <a:endParaRPr lang="en-US" altLang="zh-CN" sz="2000" dirty="0"/>
          </a:p>
          <a:p>
            <a:pPr>
              <a:lnSpc>
                <a:spcPct val="150000"/>
              </a:lnSpc>
              <a:buFont typeface="Wingdings" pitchFamily="2" charset="2"/>
              <a:buChar char="Ø"/>
            </a:pPr>
            <a:r>
              <a:rPr lang="zh-CN" altLang="en-US" sz="2000" dirty="0"/>
              <a:t>采用了更加严谨的制样方法，并比较了多组不同小鼠间的数据，最后排除了异常数据，得到了符合预期的结果</a:t>
            </a:r>
            <a:endParaRPr lang="en-US" altLang="zh-CN" sz="2000" dirty="0"/>
          </a:p>
        </p:txBody>
      </p:sp>
    </p:spTree>
    <p:extLst>
      <p:ext uri="{BB962C8B-B14F-4D97-AF65-F5344CB8AC3E}">
        <p14:creationId xmlns:p14="http://schemas.microsoft.com/office/powerpoint/2010/main" val="326939507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kumimoji="1" lang="zh-TW" altLang="en-US" sz="3200" dirty="0">
                <a:latin typeface="DengXian" panose="02010600030101010101" pitchFamily="2" charset="-122"/>
                <a:ea typeface="DengXian" panose="02010600030101010101" pitchFamily="2" charset="-122"/>
                <a:cs typeface="Arial" panose="020B0604020202020204" pitchFamily="34" charset="0"/>
              </a:rPr>
              <a:t>心得体会与收获</a:t>
            </a:r>
            <a:endParaRPr kumimoji="1" lang="en-US" altLang="zh-CN" sz="3200" dirty="0">
              <a:latin typeface="DengXian" panose="02010600030101010101" pitchFamily="2" charset="-122"/>
              <a:ea typeface="DengXian" panose="02010600030101010101" pitchFamily="2" charset="-122"/>
              <a:cs typeface="Arial" panose="020B0604020202020204" pitchFamily="34" charset="0"/>
            </a:endParaRP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6" name="TextBox 5">
            <a:extLst>
              <a:ext uri="{FF2B5EF4-FFF2-40B4-BE49-F238E27FC236}">
                <a16:creationId xmlns:a16="http://schemas.microsoft.com/office/drawing/2014/main" id="{DFC76506-58AF-FE40-8C80-DB193B23B5D4}"/>
              </a:ext>
            </a:extLst>
          </p:cNvPr>
          <p:cNvSpPr txBox="1"/>
          <p:nvPr/>
        </p:nvSpPr>
        <p:spPr>
          <a:xfrm>
            <a:off x="288758" y="989036"/>
            <a:ext cx="7952272" cy="2958439"/>
          </a:xfrm>
          <a:prstGeom prst="rect">
            <a:avLst/>
          </a:prstGeom>
          <a:noFill/>
        </p:spPr>
        <p:txBody>
          <a:bodyPr wrap="square">
            <a:spAutoFit/>
          </a:bodyPr>
          <a:lstStyle/>
          <a:p>
            <a:pPr>
              <a:lnSpc>
                <a:spcPct val="150000"/>
              </a:lnSpc>
            </a:pPr>
            <a:r>
              <a:rPr lang="zh-CN" altLang="en-US" dirty="0"/>
              <a:t>整个开放实验过程从最初的方法文献调研的百花齐放，难以抉择，到后期的实验结果不理想，都极大的锻炼了我们的自主实验探索的能力。这个过程中我们学会了利用已学知识整合众多实验方案，并探索自己的实验方案。同时，我们也提升了面临不理想结果的心理承受力和积极复盘分析可能原因，进一步改进试验方案的能力。总体来说，我们脱离了曾经的只能靠老师给定的实验方案按部就班的进行实验的模式，逐渐获得自主设计并进行实验的能力与勇气。当然只是一个开始，等待我们未来进一步的改进与探索。</a:t>
            </a:r>
          </a:p>
        </p:txBody>
      </p:sp>
    </p:spTree>
    <p:extLst>
      <p:ext uri="{BB962C8B-B14F-4D97-AF65-F5344CB8AC3E}">
        <p14:creationId xmlns:p14="http://schemas.microsoft.com/office/powerpoint/2010/main" val="11602617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kumimoji="1" lang="zh-TW" altLang="en-US" sz="3200" dirty="0">
                <a:latin typeface="DengXian" panose="02010600030101010101" pitchFamily="2" charset="-122"/>
                <a:ea typeface="DengXian" panose="02010600030101010101" pitchFamily="2" charset="-122"/>
                <a:cs typeface="Arial" panose="020B0604020202020204" pitchFamily="34" charset="0"/>
              </a:rPr>
              <a:t>致谢</a:t>
            </a:r>
            <a:endParaRPr kumimoji="1" lang="en-US" altLang="zh-CN" sz="3200" dirty="0">
              <a:latin typeface="DengXian" panose="02010600030101010101" pitchFamily="2" charset="-122"/>
              <a:ea typeface="DengXian" panose="02010600030101010101" pitchFamily="2" charset="-122"/>
              <a:cs typeface="Arial" panose="020B0604020202020204" pitchFamily="34" charset="0"/>
            </a:endParaRP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9" name="TextBox 8">
            <a:extLst>
              <a:ext uri="{FF2B5EF4-FFF2-40B4-BE49-F238E27FC236}">
                <a16:creationId xmlns:a16="http://schemas.microsoft.com/office/drawing/2014/main" id="{59900E61-25D2-D244-91EE-A76910BBFB72}"/>
              </a:ext>
            </a:extLst>
          </p:cNvPr>
          <p:cNvSpPr txBox="1"/>
          <p:nvPr/>
        </p:nvSpPr>
        <p:spPr>
          <a:xfrm>
            <a:off x="288758" y="989036"/>
            <a:ext cx="9095272" cy="3738716"/>
          </a:xfrm>
          <a:prstGeom prst="rect">
            <a:avLst/>
          </a:prstGeom>
          <a:noFill/>
        </p:spPr>
        <p:txBody>
          <a:bodyPr wrap="square">
            <a:spAutoFit/>
          </a:bodyPr>
          <a:lstStyle/>
          <a:p>
            <a:pPr marL="342900" indent="-342900" algn="just">
              <a:lnSpc>
                <a:spcPct val="150000"/>
              </a:lnSpc>
              <a:buFont typeface="Wingdings" pitchFamily="2" charset="2"/>
              <a:buChar char="Ø"/>
            </a:pPr>
            <a:r>
              <a:rPr lang="zh-CN" sz="2000" kern="100" dirty="0">
                <a:effectLst/>
                <a:latin typeface="DengXian" panose="02010600030101010101" pitchFamily="2" charset="-122"/>
                <a:ea typeface="DengXian" panose="02010600030101010101" pitchFamily="2" charset="-122"/>
                <a:cs typeface="Times New Roman" panose="02020603050405020304" pitchFamily="18" charset="0"/>
              </a:rPr>
              <a:t>感谢朱文苑老师和王青松老师对实验课题选择、课题实施、实验材料准备的帮助与指导</a:t>
            </a:r>
            <a:endParaRPr lang="en-CN" altLang="zh-CN" sz="2000" kern="100" dirty="0">
              <a:latin typeface="DengXian" panose="02010600030101010101" pitchFamily="2" charset="-122"/>
              <a:ea typeface="DengXian" panose="02010600030101010101" pitchFamily="2" charset="-122"/>
              <a:cs typeface="Times New Roman" panose="02020603050405020304" pitchFamily="18" charset="0"/>
            </a:endParaRPr>
          </a:p>
          <a:p>
            <a:pPr marL="342900" indent="-342900" algn="just">
              <a:lnSpc>
                <a:spcPct val="150000"/>
              </a:lnSpc>
              <a:buFont typeface="Wingdings" pitchFamily="2" charset="2"/>
              <a:buChar char="Ø"/>
            </a:pPr>
            <a:r>
              <a:rPr lang="zh-CN" sz="2000" kern="100" dirty="0">
                <a:effectLst/>
                <a:latin typeface="DengXian" panose="02010600030101010101" pitchFamily="2" charset="-122"/>
                <a:ea typeface="DengXian" panose="02010600030101010101" pitchFamily="2" charset="-122"/>
                <a:cs typeface="Times New Roman" panose="02020603050405020304" pitchFamily="18" charset="0"/>
              </a:rPr>
              <a:t>感谢朱文苑老师、王青松老师、刘凤麟老师和刘旖璇老师在实验方法、实验技能方面的悉心培训与指导</a:t>
            </a:r>
            <a:endParaRPr lang="en-CN" altLang="zh-CN" sz="2000" kern="100" dirty="0">
              <a:latin typeface="DengXian" panose="02010600030101010101" pitchFamily="2" charset="-122"/>
              <a:ea typeface="DengXian" panose="02010600030101010101" pitchFamily="2" charset="-122"/>
              <a:cs typeface="Times New Roman" panose="02020603050405020304" pitchFamily="18" charset="0"/>
            </a:endParaRPr>
          </a:p>
          <a:p>
            <a:pPr marL="342900" indent="-342900" algn="just">
              <a:lnSpc>
                <a:spcPct val="150000"/>
              </a:lnSpc>
              <a:buFont typeface="Wingdings" pitchFamily="2" charset="2"/>
              <a:buChar char="Ø"/>
            </a:pPr>
            <a:r>
              <a:rPr lang="zh-CN" sz="2000" kern="100" dirty="0">
                <a:effectLst/>
                <a:latin typeface="DengXian" panose="02010600030101010101" pitchFamily="2" charset="-122"/>
                <a:ea typeface="DengXian" panose="02010600030101010101" pitchFamily="2" charset="-122"/>
                <a:cs typeface="Times New Roman" panose="02020603050405020304" pitchFamily="18" charset="0"/>
              </a:rPr>
              <a:t>感谢柳懿宸助教在实验细节与仪器使用中的帮助</a:t>
            </a:r>
            <a:endParaRPr lang="en-CN" altLang="zh-CN" sz="2000" kern="100" dirty="0">
              <a:latin typeface="DengXian" panose="02010600030101010101" pitchFamily="2" charset="-122"/>
              <a:ea typeface="DengXian" panose="02010600030101010101" pitchFamily="2" charset="-122"/>
              <a:cs typeface="Times New Roman" panose="02020603050405020304" pitchFamily="18" charset="0"/>
            </a:endParaRPr>
          </a:p>
          <a:p>
            <a:pPr marL="342900" indent="-342900" algn="just">
              <a:lnSpc>
                <a:spcPct val="150000"/>
              </a:lnSpc>
              <a:buFont typeface="Wingdings" pitchFamily="2" charset="2"/>
              <a:buChar char="Ø"/>
            </a:pPr>
            <a:r>
              <a:rPr lang="zh-CN" sz="2000" kern="100" dirty="0">
                <a:effectLst/>
                <a:latin typeface="DengXian" panose="02010600030101010101" pitchFamily="2" charset="-122"/>
                <a:ea typeface="DengXian" panose="02010600030101010101" pitchFamily="2" charset="-122"/>
                <a:cs typeface="Times New Roman" panose="02020603050405020304" pitchFamily="18" charset="0"/>
              </a:rPr>
              <a:t>感谢大组成员与周五生物化学实验班同学们的陪伴与帮助</a:t>
            </a:r>
            <a:endParaRPr lang="en-CN" sz="2000" kern="100" dirty="0">
              <a:effectLst/>
              <a:latin typeface="DengXian" panose="02010600030101010101" pitchFamily="2" charset="-122"/>
              <a:ea typeface="DengXian" panose="02010600030101010101" pitchFamily="2" charset="-122"/>
              <a:cs typeface="Times New Roman" panose="02020603050405020304" pitchFamily="18" charset="0"/>
            </a:endParaRPr>
          </a:p>
          <a:p>
            <a:pPr>
              <a:lnSpc>
                <a:spcPct val="150000"/>
              </a:lnSpc>
            </a:pPr>
            <a:br>
              <a:rPr lang="en-US" sz="2000" dirty="0">
                <a:effectLst/>
                <a:latin typeface="DengXian" panose="02010600030101010101" pitchFamily="2" charset="-122"/>
                <a:ea typeface="DengXian" panose="02010600030101010101" pitchFamily="2" charset="-122"/>
              </a:rPr>
            </a:br>
            <a:endParaRPr lang="zh-CN" altLang="en-US" sz="2000"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462963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3AFB74-E59C-7A4A-A8CA-5D2B23643BB1}"/>
              </a:ext>
            </a:extLst>
          </p:cNvPr>
          <p:cNvSpPr txBox="1"/>
          <p:nvPr/>
        </p:nvSpPr>
        <p:spPr>
          <a:xfrm>
            <a:off x="288758" y="404261"/>
            <a:ext cx="8753642" cy="584775"/>
          </a:xfrm>
          <a:prstGeom prst="rect">
            <a:avLst/>
          </a:prstGeom>
          <a:noFill/>
        </p:spPr>
        <p:txBody>
          <a:bodyPr wrap="square" rtlCol="0">
            <a:spAutoFit/>
          </a:bodyPr>
          <a:lstStyle/>
          <a:p>
            <a:r>
              <a:rPr kumimoji="1" lang="zh-TW" altLang="en-US" sz="3200" dirty="0">
                <a:latin typeface="DengXian" panose="02010600030101010101" pitchFamily="2" charset="-122"/>
                <a:ea typeface="DengXian" panose="02010600030101010101" pitchFamily="2" charset="-122"/>
                <a:cs typeface="Arial" panose="020B0604020202020204" pitchFamily="34" charset="0"/>
              </a:rPr>
              <a:t>参考文献</a:t>
            </a:r>
            <a:endParaRPr kumimoji="1" lang="en-US" altLang="zh-CN" sz="3200" dirty="0">
              <a:latin typeface="DengXian" panose="02010600030101010101" pitchFamily="2" charset="-122"/>
              <a:ea typeface="DengXian" panose="02010600030101010101" pitchFamily="2" charset="-122"/>
              <a:cs typeface="Arial" panose="020B0604020202020204" pitchFamily="34" charset="0"/>
            </a:endParaRPr>
          </a:p>
        </p:txBody>
      </p:sp>
      <p:pic>
        <p:nvPicPr>
          <p:cNvPr id="8" name="图片 19">
            <a:extLst>
              <a:ext uri="{FF2B5EF4-FFF2-40B4-BE49-F238E27FC236}">
                <a16:creationId xmlns:a16="http://schemas.microsoft.com/office/drawing/2014/main" id="{2CC68028-2988-CE4A-A4C5-3CB3F5AF8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9005" y="457289"/>
            <a:ext cx="1711754" cy="477838"/>
          </a:xfrm>
          <a:prstGeom prst="rect">
            <a:avLst/>
          </a:prstGeom>
        </p:spPr>
      </p:pic>
      <p:sp>
        <p:nvSpPr>
          <p:cNvPr id="5" name="TextBox 4">
            <a:extLst>
              <a:ext uri="{FF2B5EF4-FFF2-40B4-BE49-F238E27FC236}">
                <a16:creationId xmlns:a16="http://schemas.microsoft.com/office/drawing/2014/main" id="{4231BD38-D3D0-AC48-9D81-A9F085238FF1}"/>
              </a:ext>
            </a:extLst>
          </p:cNvPr>
          <p:cNvSpPr txBox="1"/>
          <p:nvPr/>
        </p:nvSpPr>
        <p:spPr>
          <a:xfrm>
            <a:off x="288758" y="1084588"/>
            <a:ext cx="9449602" cy="5450851"/>
          </a:xfrm>
          <a:prstGeom prst="rect">
            <a:avLst/>
          </a:prstGeom>
          <a:noFill/>
        </p:spPr>
        <p:txBody>
          <a:bodyPr wrap="square">
            <a:spAutoFit/>
          </a:bodyPr>
          <a:lstStyle/>
          <a:p>
            <a:pPr algn="just">
              <a:lnSpc>
                <a:spcPct val="150000"/>
              </a:lnSpc>
            </a:pPr>
            <a:r>
              <a:rPr lang="en-US" sz="1800" kern="100" dirty="0">
                <a:effectLst/>
                <a:ea typeface="DengXian" panose="02010600030101010101" pitchFamily="2" charset="-122"/>
                <a:cs typeface="Times New Roman" panose="02020603050405020304" pitchFamily="18" charset="0"/>
              </a:rPr>
              <a:t>[1] </a:t>
            </a:r>
            <a:r>
              <a:rPr lang="zh-CN" sz="1800" kern="100" dirty="0">
                <a:effectLst/>
                <a:ea typeface="DengXian" panose="02010600030101010101" pitchFamily="2" charset="-122"/>
                <a:cs typeface="Times New Roman" panose="02020603050405020304" pitchFamily="18" charset="0"/>
              </a:rPr>
              <a:t>张钦凤</a:t>
            </a:r>
            <a:r>
              <a:rPr lang="en-US" sz="1800" kern="100" dirty="0">
                <a:effectLst/>
                <a:ea typeface="DengXian" panose="02010600030101010101" pitchFamily="2" charset="-122"/>
                <a:cs typeface="Times New Roman" panose="02020603050405020304" pitchFamily="18" charset="0"/>
              </a:rPr>
              <a:t>,</a:t>
            </a:r>
            <a:r>
              <a:rPr lang="zh-CN" sz="1800" kern="100" dirty="0">
                <a:effectLst/>
                <a:ea typeface="DengXian" panose="02010600030101010101" pitchFamily="2" charset="-122"/>
                <a:cs typeface="Times New Roman" panose="02020603050405020304" pitchFamily="18" charset="0"/>
              </a:rPr>
              <a:t>朴钟龟</a:t>
            </a:r>
            <a:r>
              <a:rPr lang="en-US" sz="1800" kern="100" dirty="0">
                <a:effectLst/>
                <a:ea typeface="DengXian" panose="02010600030101010101" pitchFamily="2" charset="-122"/>
                <a:cs typeface="Times New Roman" panose="02020603050405020304" pitchFamily="18" charset="0"/>
              </a:rPr>
              <a:t>,</a:t>
            </a:r>
            <a:r>
              <a:rPr lang="zh-CN" sz="1800" kern="100" dirty="0">
                <a:effectLst/>
                <a:ea typeface="DengXian" panose="02010600030101010101" pitchFamily="2" charset="-122"/>
                <a:cs typeface="Times New Roman" panose="02020603050405020304" pitchFamily="18" charset="0"/>
              </a:rPr>
              <a:t>高尚伯</a:t>
            </a:r>
            <a:r>
              <a:rPr lang="en-US" sz="1800" kern="100" dirty="0">
                <a:effectLst/>
                <a:ea typeface="DengXian" panose="02010600030101010101" pitchFamily="2" charset="-122"/>
                <a:cs typeface="Times New Roman" panose="02020603050405020304" pitchFamily="18" charset="0"/>
              </a:rPr>
              <a:t>,</a:t>
            </a:r>
            <a:r>
              <a:rPr lang="zh-CN" sz="1800" kern="100" dirty="0">
                <a:effectLst/>
                <a:ea typeface="DengXian" panose="02010600030101010101" pitchFamily="2" charset="-122"/>
                <a:cs typeface="Times New Roman" panose="02020603050405020304" pitchFamily="18" charset="0"/>
              </a:rPr>
              <a:t>等</a:t>
            </a:r>
            <a:r>
              <a:rPr lang="en-US" sz="1800" kern="100" dirty="0">
                <a:effectLst/>
                <a:ea typeface="DengXian" panose="02010600030101010101" pitchFamily="2" charset="-122"/>
                <a:cs typeface="Times New Roman" panose="02020603050405020304" pitchFamily="18" charset="0"/>
              </a:rPr>
              <a:t>.</a:t>
            </a:r>
            <a:r>
              <a:rPr lang="zh-CN" sz="1800" kern="100" dirty="0">
                <a:effectLst/>
                <a:ea typeface="DengXian" panose="02010600030101010101" pitchFamily="2" charset="-122"/>
                <a:cs typeface="Times New Roman" panose="02020603050405020304" pitchFamily="18" charset="0"/>
              </a:rPr>
              <a:t>血清胆固醇水平与心血管疾病和恶性肿瘤</a:t>
            </a:r>
            <a:r>
              <a:rPr lang="en-US" sz="1800" kern="100" dirty="0">
                <a:effectLst/>
                <a:ea typeface="DengXian" panose="02010600030101010101" pitchFamily="2" charset="-122"/>
                <a:cs typeface="Times New Roman" panose="02020603050405020304" pitchFamily="18" charset="0"/>
              </a:rPr>
              <a:t>:698 796</a:t>
            </a:r>
            <a:r>
              <a:rPr lang="zh-CN" sz="1800" kern="100" dirty="0">
                <a:effectLst/>
                <a:ea typeface="DengXian" panose="02010600030101010101" pitchFamily="2" charset="-122"/>
                <a:cs typeface="Times New Roman" panose="02020603050405020304" pitchFamily="18" charset="0"/>
              </a:rPr>
              <a:t>人的</a:t>
            </a:r>
            <a:r>
              <a:rPr lang="en-US" sz="1800" kern="100" dirty="0">
                <a:effectLst/>
                <a:ea typeface="DengXian" panose="02010600030101010101" pitchFamily="2" charset="-122"/>
                <a:cs typeface="Times New Roman" panose="02020603050405020304" pitchFamily="18" charset="0"/>
              </a:rPr>
              <a:t>7</a:t>
            </a:r>
            <a:r>
              <a:rPr lang="zh-CN" sz="1800" kern="100" dirty="0">
                <a:effectLst/>
                <a:ea typeface="DengXian" panose="02010600030101010101" pitchFamily="2" charset="-122"/>
                <a:cs typeface="Times New Roman" panose="02020603050405020304" pitchFamily="18" charset="0"/>
              </a:rPr>
              <a:t>年随访</a:t>
            </a:r>
            <a:r>
              <a:rPr lang="en-US" sz="1800" kern="100" dirty="0">
                <a:effectLst/>
                <a:ea typeface="DengXian" panose="02010600030101010101" pitchFamily="2" charset="-122"/>
                <a:cs typeface="Times New Roman" panose="02020603050405020304" pitchFamily="18" charset="0"/>
              </a:rPr>
              <a:t>[J].</a:t>
            </a:r>
            <a:r>
              <a:rPr lang="zh-CN" sz="1800" kern="100" dirty="0">
                <a:effectLst/>
                <a:ea typeface="DengXian" panose="02010600030101010101" pitchFamily="2" charset="-122"/>
                <a:cs typeface="Times New Roman" panose="02020603050405020304" pitchFamily="18" charset="0"/>
              </a:rPr>
              <a:t>中国临床康复</a:t>
            </a:r>
            <a:r>
              <a:rPr lang="en-US" sz="1800" kern="100" dirty="0">
                <a:effectLst/>
                <a:ea typeface="DengXian" panose="02010600030101010101" pitchFamily="2" charset="-122"/>
                <a:cs typeface="Times New Roman" panose="02020603050405020304" pitchFamily="18" charset="0"/>
              </a:rPr>
              <a:t>, 2005, (15):7-9.</a:t>
            </a:r>
            <a:endParaRPr lang="en-CN" sz="1800" kern="100" dirty="0">
              <a:effectLst/>
              <a:ea typeface="DengXian" panose="02010600030101010101" pitchFamily="2" charset="-122"/>
              <a:cs typeface="Times New Roman" panose="02020603050405020304" pitchFamily="18" charset="0"/>
            </a:endParaRPr>
          </a:p>
          <a:p>
            <a:pPr algn="just">
              <a:lnSpc>
                <a:spcPct val="150000"/>
              </a:lnSpc>
            </a:pPr>
            <a:r>
              <a:rPr lang="en-US" sz="1800" kern="100" dirty="0">
                <a:effectLst/>
                <a:ea typeface="DengXian" panose="02010600030101010101" pitchFamily="2" charset="-122"/>
                <a:cs typeface="Times New Roman" panose="02020603050405020304" pitchFamily="18" charset="0"/>
              </a:rPr>
              <a:t>[2]  Luo N, Shi RC, Dai RY, Miao HM. [Cholesterol Metabolism and Tumor Immunity]. </a:t>
            </a:r>
            <a:r>
              <a:rPr lang="es-ES" sz="1800" kern="100" dirty="0">
                <a:effectLst/>
                <a:ea typeface="DengXian" panose="02010600030101010101" pitchFamily="2" charset="-122"/>
                <a:cs typeface="Times New Roman" panose="02020603050405020304" pitchFamily="18" charset="0"/>
              </a:rPr>
              <a:t>Sichuan Da </a:t>
            </a:r>
            <a:r>
              <a:rPr lang="es-ES" sz="1800" kern="100" dirty="0" err="1">
                <a:effectLst/>
                <a:ea typeface="DengXian" panose="02010600030101010101" pitchFamily="2" charset="-122"/>
                <a:cs typeface="Times New Roman" panose="02020603050405020304" pitchFamily="18" charset="0"/>
              </a:rPr>
              <a:t>Xue</a:t>
            </a:r>
            <a:r>
              <a:rPr lang="es-ES" sz="1800" kern="100" dirty="0">
                <a:effectLst/>
                <a:ea typeface="DengXian" panose="02010600030101010101" pitchFamily="2" charset="-122"/>
                <a:cs typeface="Times New Roman" panose="02020603050405020304" pitchFamily="18" charset="0"/>
              </a:rPr>
              <a:t> </a:t>
            </a:r>
            <a:r>
              <a:rPr lang="es-ES" sz="1800" kern="100" dirty="0" err="1">
                <a:effectLst/>
                <a:ea typeface="DengXian" panose="02010600030101010101" pitchFamily="2" charset="-122"/>
                <a:cs typeface="Times New Roman" panose="02020603050405020304" pitchFamily="18" charset="0"/>
              </a:rPr>
              <a:t>Xue</a:t>
            </a:r>
            <a:r>
              <a:rPr lang="es-ES" sz="1800" kern="100" dirty="0">
                <a:effectLst/>
                <a:ea typeface="DengXian" panose="02010600030101010101" pitchFamily="2" charset="-122"/>
                <a:cs typeface="Times New Roman" panose="02020603050405020304" pitchFamily="18" charset="0"/>
              </a:rPr>
              <a:t> </a:t>
            </a:r>
            <a:r>
              <a:rPr lang="es-ES" sz="1800" kern="100" dirty="0" err="1">
                <a:effectLst/>
                <a:ea typeface="DengXian" panose="02010600030101010101" pitchFamily="2" charset="-122"/>
                <a:cs typeface="Times New Roman" panose="02020603050405020304" pitchFamily="18" charset="0"/>
              </a:rPr>
              <a:t>Bao</a:t>
            </a:r>
            <a:r>
              <a:rPr lang="es-ES" sz="1800" kern="100" dirty="0">
                <a:effectLst/>
                <a:ea typeface="DengXian" panose="02010600030101010101" pitchFamily="2" charset="-122"/>
                <a:cs typeface="Times New Roman" panose="02020603050405020304" pitchFamily="18" charset="0"/>
              </a:rPr>
              <a:t> </a:t>
            </a:r>
            <a:r>
              <a:rPr lang="es-ES" sz="1800" kern="100" dirty="0" err="1">
                <a:effectLst/>
                <a:ea typeface="DengXian" panose="02010600030101010101" pitchFamily="2" charset="-122"/>
                <a:cs typeface="Times New Roman" panose="02020603050405020304" pitchFamily="18" charset="0"/>
              </a:rPr>
              <a:t>Yi</a:t>
            </a:r>
            <a:r>
              <a:rPr lang="es-ES" sz="1800" kern="100" dirty="0">
                <a:effectLst/>
                <a:ea typeface="DengXian" panose="02010600030101010101" pitchFamily="2" charset="-122"/>
                <a:cs typeface="Times New Roman" panose="02020603050405020304" pitchFamily="18" charset="0"/>
              </a:rPr>
              <a:t> </a:t>
            </a:r>
            <a:r>
              <a:rPr lang="es-ES" sz="1800" kern="100" dirty="0" err="1">
                <a:effectLst/>
                <a:ea typeface="DengXian" panose="02010600030101010101" pitchFamily="2" charset="-122"/>
                <a:cs typeface="Times New Roman" panose="02020603050405020304" pitchFamily="18" charset="0"/>
              </a:rPr>
              <a:t>Xue</a:t>
            </a:r>
            <a:r>
              <a:rPr lang="es-ES" sz="1800" kern="100" dirty="0">
                <a:effectLst/>
                <a:ea typeface="DengXian" panose="02010600030101010101" pitchFamily="2" charset="-122"/>
                <a:cs typeface="Times New Roman" panose="02020603050405020304" pitchFamily="18" charset="0"/>
              </a:rPr>
              <a:t> </a:t>
            </a:r>
            <a:r>
              <a:rPr lang="es-ES" sz="1800" kern="100" dirty="0" err="1">
                <a:effectLst/>
                <a:ea typeface="DengXian" panose="02010600030101010101" pitchFamily="2" charset="-122"/>
                <a:cs typeface="Times New Roman" panose="02020603050405020304" pitchFamily="18" charset="0"/>
              </a:rPr>
              <a:t>Ban</a:t>
            </a:r>
            <a:r>
              <a:rPr lang="es-ES" sz="1800" kern="100" dirty="0">
                <a:effectLst/>
                <a:ea typeface="DengXian" panose="02010600030101010101" pitchFamily="2" charset="-122"/>
                <a:cs typeface="Times New Roman" panose="02020603050405020304" pitchFamily="18" charset="0"/>
              </a:rPr>
              <a:t>. 2022 Mar;53(2):335-341. </a:t>
            </a:r>
            <a:r>
              <a:rPr lang="es-ES" sz="1800" kern="100" dirty="0" err="1">
                <a:effectLst/>
                <a:ea typeface="DengXian" panose="02010600030101010101" pitchFamily="2" charset="-122"/>
                <a:cs typeface="Times New Roman" panose="02020603050405020304" pitchFamily="18" charset="0"/>
              </a:rPr>
              <a:t>Chinese</a:t>
            </a:r>
            <a:r>
              <a:rPr lang="es-ES" sz="1800" kern="100" dirty="0">
                <a:effectLst/>
                <a:ea typeface="DengXian" panose="02010600030101010101" pitchFamily="2" charset="-122"/>
                <a:cs typeface="Times New Roman" panose="02020603050405020304" pitchFamily="18" charset="0"/>
              </a:rPr>
              <a:t>. </a:t>
            </a:r>
            <a:r>
              <a:rPr lang="es-ES" sz="1800" kern="100" dirty="0" err="1">
                <a:effectLst/>
                <a:ea typeface="DengXian" panose="02010600030101010101" pitchFamily="2" charset="-122"/>
                <a:cs typeface="Times New Roman" panose="02020603050405020304" pitchFamily="18" charset="0"/>
              </a:rPr>
              <a:t>doi</a:t>
            </a:r>
            <a:r>
              <a:rPr lang="es-ES" sz="1800" kern="100" dirty="0">
                <a:effectLst/>
                <a:ea typeface="DengXian" panose="02010600030101010101" pitchFamily="2" charset="-122"/>
                <a:cs typeface="Times New Roman" panose="02020603050405020304" pitchFamily="18" charset="0"/>
              </a:rPr>
              <a:t>: 10.12182/20220360202. </a:t>
            </a:r>
            <a:r>
              <a:rPr lang="en-US" sz="1800" kern="100" dirty="0">
                <a:effectLst/>
                <a:ea typeface="DengXian" panose="02010600030101010101" pitchFamily="2" charset="-122"/>
                <a:cs typeface="Times New Roman" panose="02020603050405020304" pitchFamily="18" charset="0"/>
              </a:rPr>
              <a:t>PMID: 35332739; PMCID: PMC10409372.</a:t>
            </a:r>
            <a:endParaRPr lang="en-CN" sz="1800" kern="100" dirty="0">
              <a:effectLst/>
              <a:ea typeface="DengXian" panose="02010600030101010101" pitchFamily="2" charset="-122"/>
              <a:cs typeface="Times New Roman" panose="02020603050405020304" pitchFamily="18" charset="0"/>
            </a:endParaRPr>
          </a:p>
          <a:p>
            <a:pPr algn="just">
              <a:lnSpc>
                <a:spcPct val="150000"/>
              </a:lnSpc>
            </a:pPr>
            <a:r>
              <a:rPr lang="en-US" sz="1800" kern="100" dirty="0">
                <a:effectLst/>
                <a:ea typeface="DengXian" panose="02010600030101010101" pitchFamily="2" charset="-122"/>
                <a:cs typeface="Times New Roman" panose="02020603050405020304" pitchFamily="18" charset="0"/>
              </a:rPr>
              <a:t>[3] </a:t>
            </a:r>
            <a:r>
              <a:rPr lang="zh-CN" sz="1800" kern="100" dirty="0">
                <a:effectLst/>
                <a:ea typeface="DengXian" panose="02010600030101010101" pitchFamily="2" charset="-122"/>
                <a:cs typeface="Times New Roman" panose="02020603050405020304" pitchFamily="18" charset="0"/>
              </a:rPr>
              <a:t>顾申红</a:t>
            </a:r>
            <a:r>
              <a:rPr lang="en-US" sz="1800" kern="100" dirty="0">
                <a:effectLst/>
                <a:ea typeface="DengXian" panose="02010600030101010101" pitchFamily="2" charset="-122"/>
                <a:cs typeface="Times New Roman" panose="02020603050405020304" pitchFamily="18" charset="0"/>
              </a:rPr>
              <a:t>,</a:t>
            </a:r>
            <a:r>
              <a:rPr lang="zh-CN" sz="1800" kern="100" dirty="0">
                <a:effectLst/>
                <a:ea typeface="DengXian" panose="02010600030101010101" pitchFamily="2" charset="-122"/>
                <a:cs typeface="Times New Roman" panose="02020603050405020304" pitchFamily="18" charset="0"/>
              </a:rPr>
              <a:t>李莹</a:t>
            </a:r>
            <a:r>
              <a:rPr lang="en-US" sz="1800" kern="100" dirty="0">
                <a:effectLst/>
                <a:ea typeface="DengXian" panose="02010600030101010101" pitchFamily="2" charset="-122"/>
                <a:cs typeface="Times New Roman" panose="02020603050405020304" pitchFamily="18" charset="0"/>
              </a:rPr>
              <a:t>.</a:t>
            </a:r>
            <a:r>
              <a:rPr lang="zh-CN" sz="1800" kern="100" dirty="0">
                <a:effectLst/>
                <a:ea typeface="DengXian" panose="02010600030101010101" pitchFamily="2" charset="-122"/>
                <a:cs typeface="Times New Roman" panose="02020603050405020304" pitchFamily="18" charset="0"/>
              </a:rPr>
              <a:t>瘦素与动脉粥样硬化的相关性研究现状</a:t>
            </a:r>
            <a:r>
              <a:rPr lang="en-US" sz="1800" kern="100" dirty="0">
                <a:effectLst/>
                <a:ea typeface="DengXian" panose="02010600030101010101" pitchFamily="2" charset="-122"/>
                <a:cs typeface="Times New Roman" panose="02020603050405020304" pitchFamily="18" charset="0"/>
              </a:rPr>
              <a:t>[J].</a:t>
            </a:r>
            <a:r>
              <a:rPr lang="zh-CN" sz="1800" kern="100" dirty="0">
                <a:effectLst/>
                <a:ea typeface="DengXian" panose="02010600030101010101" pitchFamily="2" charset="-122"/>
                <a:cs typeface="Times New Roman" panose="02020603050405020304" pitchFamily="18" charset="0"/>
              </a:rPr>
              <a:t>现代预防医学</a:t>
            </a:r>
            <a:r>
              <a:rPr lang="en-US" sz="1800" kern="100" dirty="0">
                <a:effectLst/>
                <a:ea typeface="DengXian" panose="02010600030101010101" pitchFamily="2" charset="-122"/>
                <a:cs typeface="Times New Roman" panose="02020603050405020304" pitchFamily="18" charset="0"/>
              </a:rPr>
              <a:t>, 2012, 39(03):560-563.</a:t>
            </a:r>
            <a:endParaRPr lang="en-CN" sz="1800" kern="100" dirty="0">
              <a:effectLst/>
              <a:ea typeface="DengXian" panose="02010600030101010101" pitchFamily="2" charset="-122"/>
              <a:cs typeface="Times New Roman" panose="02020603050405020304" pitchFamily="18" charset="0"/>
            </a:endParaRPr>
          </a:p>
          <a:p>
            <a:pPr algn="just">
              <a:lnSpc>
                <a:spcPct val="150000"/>
              </a:lnSpc>
            </a:pPr>
            <a:r>
              <a:rPr lang="en-US" sz="1800" kern="100" dirty="0">
                <a:effectLst/>
                <a:ea typeface="DengXian" panose="02010600030101010101" pitchFamily="2" charset="-122"/>
                <a:cs typeface="Times New Roman" panose="02020603050405020304" pitchFamily="18" charset="0"/>
              </a:rPr>
              <a:t>[4] </a:t>
            </a:r>
            <a:r>
              <a:rPr lang="zh-CN" sz="1800" kern="100" dirty="0">
                <a:effectLst/>
                <a:ea typeface="DengXian" panose="02010600030101010101" pitchFamily="2" charset="-122"/>
                <a:cs typeface="Times New Roman" panose="02020603050405020304" pitchFamily="18" charset="0"/>
              </a:rPr>
              <a:t>郭玮</a:t>
            </a:r>
            <a:r>
              <a:rPr lang="en-US" sz="1800" kern="100" dirty="0">
                <a:effectLst/>
                <a:ea typeface="DengXian" panose="02010600030101010101" pitchFamily="2" charset="-122"/>
                <a:cs typeface="Times New Roman" panose="02020603050405020304" pitchFamily="18" charset="0"/>
              </a:rPr>
              <a:t>, </a:t>
            </a:r>
            <a:r>
              <a:rPr lang="zh-CN" sz="1800" kern="100" dirty="0">
                <a:effectLst/>
                <a:ea typeface="DengXian" panose="02010600030101010101" pitchFamily="2" charset="-122"/>
                <a:cs typeface="Times New Roman" panose="02020603050405020304" pitchFamily="18" charset="0"/>
              </a:rPr>
              <a:t>陈方俊</a:t>
            </a:r>
            <a:r>
              <a:rPr lang="en-US" sz="1800" kern="100" dirty="0">
                <a:effectLst/>
                <a:ea typeface="DengXian" panose="02010600030101010101" pitchFamily="2" charset="-122"/>
                <a:cs typeface="Times New Roman" panose="02020603050405020304" pitchFamily="18" charset="0"/>
              </a:rPr>
              <a:t>, </a:t>
            </a:r>
            <a:r>
              <a:rPr lang="zh-CN" sz="1800" kern="100" dirty="0">
                <a:effectLst/>
                <a:ea typeface="DengXian" panose="02010600030101010101" pitchFamily="2" charset="-122"/>
                <a:cs typeface="Times New Roman" panose="02020603050405020304" pitchFamily="18" charset="0"/>
              </a:rPr>
              <a:t>潘柏申</a:t>
            </a:r>
            <a:r>
              <a:rPr lang="en-US" sz="1800" kern="100" dirty="0">
                <a:effectLst/>
                <a:ea typeface="DengXian" panose="02010600030101010101" pitchFamily="2" charset="-122"/>
                <a:cs typeface="Times New Roman" panose="02020603050405020304" pitchFamily="18" charset="0"/>
              </a:rPr>
              <a:t>. </a:t>
            </a:r>
            <a:r>
              <a:rPr lang="zh-CN" sz="1800" kern="100" dirty="0">
                <a:effectLst/>
                <a:ea typeface="DengXian" panose="02010600030101010101" pitchFamily="2" charset="-122"/>
                <a:cs typeface="Times New Roman" panose="02020603050405020304" pitchFamily="18" charset="0"/>
              </a:rPr>
              <a:t>胆固醇检测方法的发展历史及标准化</a:t>
            </a:r>
            <a:r>
              <a:rPr lang="en-US" sz="1800" kern="100" dirty="0">
                <a:effectLst/>
                <a:ea typeface="DengXian" panose="02010600030101010101" pitchFamily="2" charset="-122"/>
                <a:cs typeface="Times New Roman" panose="02020603050405020304" pitchFamily="18" charset="0"/>
              </a:rPr>
              <a:t>. 28(11): 970-974.</a:t>
            </a:r>
            <a:endParaRPr lang="en-CN" sz="1800" kern="100" dirty="0">
              <a:effectLst/>
              <a:ea typeface="DengXian" panose="02010600030101010101" pitchFamily="2" charset="-122"/>
              <a:cs typeface="Times New Roman" panose="02020603050405020304" pitchFamily="18" charset="0"/>
            </a:endParaRPr>
          </a:p>
          <a:p>
            <a:pPr algn="just">
              <a:lnSpc>
                <a:spcPct val="150000"/>
              </a:lnSpc>
            </a:pPr>
            <a:r>
              <a:rPr lang="en-US" sz="1800" kern="100" dirty="0">
                <a:effectLst/>
                <a:ea typeface="DengXian" panose="02010600030101010101" pitchFamily="2" charset="-122"/>
                <a:cs typeface="Times New Roman" panose="02020603050405020304" pitchFamily="18" charset="0"/>
              </a:rPr>
              <a:t>[5]</a:t>
            </a:r>
            <a:r>
              <a:rPr lang="zh-CN" sz="1800" kern="100" dirty="0">
                <a:effectLst/>
                <a:ea typeface="DengXian" panose="02010600030101010101" pitchFamily="2" charset="-122"/>
                <a:cs typeface="Times New Roman" panose="02020603050405020304" pitchFamily="18" charset="0"/>
              </a:rPr>
              <a:t>《生物化学实验原理和方法》（第</a:t>
            </a:r>
            <a:r>
              <a:rPr lang="en-US" sz="1800" kern="100" dirty="0">
                <a:effectLst/>
                <a:ea typeface="DengXian" panose="02010600030101010101" pitchFamily="2" charset="-122"/>
                <a:cs typeface="Times New Roman" panose="02020603050405020304" pitchFamily="18" charset="0"/>
              </a:rPr>
              <a:t>2</a:t>
            </a:r>
            <a:r>
              <a:rPr lang="zh-CN" sz="1800" kern="100" dirty="0">
                <a:effectLst/>
                <a:ea typeface="DengXian" panose="02010600030101010101" pitchFamily="2" charset="-122"/>
                <a:cs typeface="Times New Roman" panose="02020603050405020304" pitchFamily="18" charset="0"/>
              </a:rPr>
              <a:t>版），萧能庚</a:t>
            </a:r>
            <a:r>
              <a:rPr lang="en-US" sz="1800" kern="100" dirty="0">
                <a:effectLst/>
                <a:ea typeface="DengXian" panose="02010600030101010101" pitchFamily="2" charset="-122"/>
                <a:cs typeface="Times New Roman" panose="02020603050405020304" pitchFamily="18" charset="0"/>
              </a:rPr>
              <a:t>,</a:t>
            </a:r>
            <a:r>
              <a:rPr lang="zh-CN" sz="1800" kern="100" dirty="0">
                <a:effectLst/>
                <a:ea typeface="DengXian" panose="02010600030101010101" pitchFamily="2" charset="-122"/>
                <a:cs typeface="Times New Roman" panose="02020603050405020304" pitchFamily="18" charset="0"/>
              </a:rPr>
              <a:t>余瑞元</a:t>
            </a:r>
            <a:r>
              <a:rPr lang="en-US" sz="1800" kern="100" dirty="0">
                <a:effectLst/>
                <a:ea typeface="DengXian" panose="02010600030101010101" pitchFamily="2" charset="-122"/>
                <a:cs typeface="Times New Roman" panose="02020603050405020304" pitchFamily="18" charset="0"/>
              </a:rPr>
              <a:t>,</a:t>
            </a:r>
            <a:r>
              <a:rPr lang="zh-CN" sz="1800" kern="100" dirty="0">
                <a:effectLst/>
                <a:ea typeface="DengXian" panose="02010600030101010101" pitchFamily="2" charset="-122"/>
                <a:cs typeface="Times New Roman" panose="02020603050405020304" pitchFamily="18" charset="0"/>
              </a:rPr>
              <a:t>袁明秀等</a:t>
            </a:r>
            <a:r>
              <a:rPr lang="en-US" sz="1800" kern="100" dirty="0">
                <a:effectLst/>
                <a:ea typeface="DengXian" panose="02010600030101010101" pitchFamily="2" charset="-122"/>
                <a:cs typeface="Times New Roman" panose="02020603050405020304" pitchFamily="18" charset="0"/>
              </a:rPr>
              <a:t>.</a:t>
            </a:r>
            <a:r>
              <a:rPr lang="zh-CN" sz="1800" kern="100" dirty="0">
                <a:effectLst/>
                <a:ea typeface="DengXian" panose="02010600030101010101" pitchFamily="2" charset="-122"/>
                <a:cs typeface="Times New Roman" panose="02020603050405020304" pitchFamily="18" charset="0"/>
              </a:rPr>
              <a:t>北京，北京大学出版社，</a:t>
            </a:r>
            <a:r>
              <a:rPr lang="en-US" sz="1800" kern="100" dirty="0">
                <a:effectLst/>
                <a:ea typeface="DengXian" panose="02010600030101010101" pitchFamily="2" charset="-122"/>
                <a:cs typeface="Times New Roman" panose="02020603050405020304" pitchFamily="18" charset="0"/>
              </a:rPr>
              <a:t>2005</a:t>
            </a:r>
            <a:r>
              <a:rPr lang="zh-CN" sz="1800" kern="100" dirty="0">
                <a:effectLst/>
                <a:ea typeface="DengXian" panose="02010600030101010101" pitchFamily="2" charset="-122"/>
                <a:cs typeface="Times New Roman" panose="02020603050405020304" pitchFamily="18" charset="0"/>
              </a:rPr>
              <a:t>：</a:t>
            </a:r>
            <a:r>
              <a:rPr lang="en-US" sz="1800" kern="100" dirty="0">
                <a:effectLst/>
                <a:ea typeface="DengXian" panose="02010600030101010101" pitchFamily="2" charset="-122"/>
                <a:cs typeface="Times New Roman" panose="02020603050405020304" pitchFamily="18" charset="0"/>
              </a:rPr>
              <a:t>209-211.</a:t>
            </a:r>
          </a:p>
          <a:p>
            <a:pPr algn="just">
              <a:lnSpc>
                <a:spcPct val="150000"/>
              </a:lnSpc>
            </a:pPr>
            <a:r>
              <a:rPr lang="en-US" kern="100" dirty="0">
                <a:ea typeface="DengXian" panose="02010600030101010101" pitchFamily="2" charset="-122"/>
                <a:cs typeface="Times New Roman" panose="02020603050405020304" pitchFamily="18" charset="0"/>
              </a:rPr>
              <a:t>[6] Clinical chemistry reference database for Wistar rats and C57/BL6 mice. Biological Chemistry 388(5):547-54, 2007.</a:t>
            </a:r>
          </a:p>
          <a:p>
            <a:pPr algn="just">
              <a:lnSpc>
                <a:spcPct val="150000"/>
              </a:lnSpc>
            </a:pPr>
            <a:endParaRPr lang="en-US" kern="100" dirty="0">
              <a:ea typeface="DengXian" panose="02010600030101010101" pitchFamily="2" charset="-122"/>
              <a:cs typeface="Times New Roman" panose="02020603050405020304" pitchFamily="18" charset="0"/>
            </a:endParaRPr>
          </a:p>
          <a:p>
            <a:pPr algn="just">
              <a:lnSpc>
                <a:spcPct val="150000"/>
              </a:lnSpc>
            </a:pPr>
            <a:endParaRPr lang="en-CN" sz="1800" kern="100" dirty="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1633462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6944AC3-E599-2349-876F-2BD18851E21E}"/>
              </a:ext>
            </a:extLst>
          </p:cNvPr>
          <p:cNvGrpSpPr/>
          <p:nvPr/>
        </p:nvGrpSpPr>
        <p:grpSpPr>
          <a:xfrm>
            <a:off x="2399176" y="2585468"/>
            <a:ext cx="7393647" cy="1687064"/>
            <a:chOff x="1641575" y="2677801"/>
            <a:chExt cx="7393647" cy="1687064"/>
          </a:xfrm>
        </p:grpSpPr>
        <p:sp>
          <p:nvSpPr>
            <p:cNvPr id="7" name="TextBox 6">
              <a:extLst>
                <a:ext uri="{FF2B5EF4-FFF2-40B4-BE49-F238E27FC236}">
                  <a16:creationId xmlns:a16="http://schemas.microsoft.com/office/drawing/2014/main" id="{989B2C29-6C36-CC44-A825-1EB7BA0CADF3}"/>
                </a:ext>
              </a:extLst>
            </p:cNvPr>
            <p:cNvSpPr txBox="1"/>
            <p:nvPr/>
          </p:nvSpPr>
          <p:spPr>
            <a:xfrm>
              <a:off x="1641575" y="2967335"/>
              <a:ext cx="5810050" cy="1107996"/>
            </a:xfrm>
            <a:prstGeom prst="rect">
              <a:avLst/>
            </a:prstGeom>
            <a:noFill/>
          </p:spPr>
          <p:txBody>
            <a:bodyPr wrap="square" rtlCol="0">
              <a:spAutoFit/>
            </a:bodyPr>
            <a:lstStyle/>
            <a:p>
              <a:pPr algn="ctr"/>
              <a:r>
                <a:rPr kumimoji="1" lang="en-US" altLang="zh-CN" sz="6600" dirty="0"/>
                <a:t>Thank</a:t>
              </a:r>
              <a:r>
                <a:rPr kumimoji="1" lang="zh-CN" altLang="en-US" sz="6600" dirty="0"/>
                <a:t> </a:t>
              </a:r>
              <a:r>
                <a:rPr kumimoji="1" lang="en-US" altLang="zh-CN" sz="6600" dirty="0"/>
                <a:t>you!</a:t>
              </a:r>
              <a:endParaRPr kumimoji="1" lang="zh-CN" altLang="en-US" sz="6600" dirty="0"/>
            </a:p>
          </p:txBody>
        </p:sp>
        <p:pic>
          <p:nvPicPr>
            <p:cNvPr id="3" name="图片 3">
              <a:extLst>
                <a:ext uri="{FF2B5EF4-FFF2-40B4-BE49-F238E27FC236}">
                  <a16:creationId xmlns:a16="http://schemas.microsoft.com/office/drawing/2014/main" id="{A2F7A61C-D60C-8F44-8D57-D33E1FE70A47}"/>
                </a:ext>
              </a:extLst>
            </p:cNvPr>
            <p:cNvPicPr>
              <a:picLocks noChangeAspect="1"/>
            </p:cNvPicPr>
            <p:nvPr/>
          </p:nvPicPr>
          <p:blipFill>
            <a:blip r:embed="rId2"/>
            <a:stretch>
              <a:fillRect/>
            </a:stretch>
          </p:blipFill>
          <p:spPr>
            <a:xfrm>
              <a:off x="7180335" y="2677801"/>
              <a:ext cx="1854887" cy="1687064"/>
            </a:xfrm>
            <a:prstGeom prst="rect">
              <a:avLst/>
            </a:prstGeom>
          </p:spPr>
        </p:pic>
      </p:grpSp>
    </p:spTree>
    <p:extLst>
      <p:ext uri="{BB962C8B-B14F-4D97-AF65-F5344CB8AC3E}">
        <p14:creationId xmlns:p14="http://schemas.microsoft.com/office/powerpoint/2010/main" val="359156577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383*200"/>
  <p:tag name="TABLE_ENDDRAG_RECT" val="576*115*383*200"/>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386*239"/>
  <p:tag name="TABLE_ENDDRAG_RECT" val="562*97*386*23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7584</TotalTime>
  <Words>2639</Words>
  <Application>Microsoft Macintosh PowerPoint</Application>
  <PresentationFormat>Widescreen</PresentationFormat>
  <Paragraphs>415</Paragraphs>
  <Slides>35</Slides>
  <Notes>33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DengXian</vt:lpstr>
      <vt:lpstr>DengXian</vt:lpstr>
      <vt:lpstr>KaiTi</vt:lpstr>
      <vt:lpstr>微软雅黑</vt:lpstr>
      <vt:lpstr>SimHei</vt:lpstr>
      <vt:lpstr>Arial</vt:lpstr>
      <vt:lpstr>Calibri</vt:lpstr>
      <vt:lpstr>Calibri Light</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刘 沛雨</dc:creator>
  <cp:lastModifiedBy>刘 沛雨</cp:lastModifiedBy>
  <cp:revision>257</cp:revision>
  <dcterms:created xsi:type="dcterms:W3CDTF">2024-09-08T14:28:50Z</dcterms:created>
  <dcterms:modified xsi:type="dcterms:W3CDTF">2024-12-06T05:29:20Z</dcterms:modified>
</cp:coreProperties>
</file>