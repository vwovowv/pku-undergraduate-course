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425" r:id="rId2"/>
    <p:sldId id="379" r:id="rId3"/>
    <p:sldId id="427" r:id="rId4"/>
    <p:sldId id="428" r:id="rId5"/>
    <p:sldId id="430" r:id="rId6"/>
    <p:sldId id="431" r:id="rId7"/>
    <p:sldId id="432" r:id="rId8"/>
    <p:sldId id="433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05"/>
    <p:restoredTop sz="91554"/>
  </p:normalViewPr>
  <p:slideViewPr>
    <p:cSldViewPr snapToGrid="0" snapToObjects="1">
      <p:cViewPr varScale="1">
        <p:scale>
          <a:sx n="130" d="100"/>
          <a:sy n="130" d="100"/>
        </p:scale>
        <p:origin x="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2024/10/27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胆固醇在体内大多与长链脂肪酸结合形成</a:t>
            </a:r>
            <a:r>
              <a:rPr lang="zh-CN" altLang="en-US" dirty="0">
                <a:solidFill>
                  <a:srgbClr val="FF0000"/>
                </a:solidFill>
              </a:rPr>
              <a:t>胆固醇酯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3628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9314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7936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478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454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454-CBC5-0844-8E76-C6E28BA84909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6404-DCAA-A44D-9657-B605F185714F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8B659-EDE0-AD4D-9A19-F97575D3A86B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67E15-EF90-A04C-9E8D-7D87F5B3144A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5F99-32E8-AE48-9E4E-C28EA4F528EC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96F4D-5BFF-3547-AC37-787533AFDFEE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F076-A352-7F4B-AE9D-7D5DD7B99B48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F480-957E-A74F-87D5-CE10A0880AFC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01469-409E-374F-A2C0-11933171BF7B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FEA7-8E1E-3748-B5F1-ACBF6673B8E4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FD00C-90CD-4E48-A64B-1F5FC61CCF5A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A9B15-69A7-A145-AC80-8CA66F579BF2}" type="datetime1">
              <a:rPr lang="en-US" altLang="zh-CN" smtClean="0"/>
              <a:t>10/27/24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2284"/>
            <a:ext cx="9144000" cy="2387600"/>
          </a:xfrm>
        </p:spPr>
        <p:txBody>
          <a:bodyPr>
            <a:noAutofit/>
          </a:bodyPr>
          <a:lstStyle/>
          <a:p>
            <a:endParaRPr lang="en-US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6C44D-EF52-3E45-B5A7-9F0C333C3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84287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Box 219">
            <a:extLst>
              <a:ext uri="{FF2B5EF4-FFF2-40B4-BE49-F238E27FC236}">
                <a16:creationId xmlns:a16="http://schemas.microsoft.com/office/drawing/2014/main" id="{A35E91FE-37B8-B946-8D8E-EDEF21409332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大纲</a:t>
            </a:r>
          </a:p>
        </p:txBody>
      </p:sp>
    </p:spTree>
    <p:extLst>
      <p:ext uri="{BB962C8B-B14F-4D97-AF65-F5344CB8AC3E}">
        <p14:creationId xmlns:p14="http://schemas.microsoft.com/office/powerpoint/2010/main" val="253648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B9688C-B9FC-1640-8AAE-EFF505E536B8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简介</a:t>
            </a:r>
          </a:p>
        </p:txBody>
      </p:sp>
      <p:sp>
        <p:nvSpPr>
          <p:cNvPr id="12" name="文本框 1">
            <a:extLst>
              <a:ext uri="{FF2B5EF4-FFF2-40B4-BE49-F238E27FC236}">
                <a16:creationId xmlns:a16="http://schemas.microsoft.com/office/drawing/2014/main" id="{9D18453B-1CC6-844B-8723-86A158610AA0}"/>
              </a:ext>
            </a:extLst>
          </p:cNvPr>
          <p:cNvSpPr txBox="1"/>
          <p:nvPr/>
        </p:nvSpPr>
        <p:spPr>
          <a:xfrm>
            <a:off x="298732" y="1093477"/>
            <a:ext cx="6320230" cy="522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胆固醇（</a:t>
            </a:r>
            <a:r>
              <a:rPr kumimoji="1" lang="en-US" altLang="zh-CN" sz="2000" dirty="0"/>
              <a:t>cholesterol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化学式：</a:t>
            </a:r>
            <a:r>
              <a:rPr lang="en-US" dirty="0"/>
              <a:t>C</a:t>
            </a:r>
            <a:r>
              <a:rPr lang="en-US" baseline="-25000" dirty="0"/>
              <a:t>27</a:t>
            </a:r>
            <a:r>
              <a:rPr lang="en-US" dirty="0"/>
              <a:t>H</a:t>
            </a:r>
            <a:r>
              <a:rPr lang="en-US" baseline="-25000" dirty="0"/>
              <a:t>46</a:t>
            </a:r>
            <a:r>
              <a:rPr lang="en-US" dirty="0"/>
              <a:t>O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结构与性质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极性头部基团（</a:t>
            </a:r>
            <a:r>
              <a:rPr lang="en-US" altLang="zh-CN" dirty="0"/>
              <a:t>polar head group</a:t>
            </a:r>
            <a:r>
              <a:rPr lang="zh-CN" altLang="en-US" dirty="0"/>
              <a:t>）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类固醇核（</a:t>
            </a:r>
            <a:r>
              <a:rPr kumimoji="1" lang="en-US" altLang="zh-CN" dirty="0">
                <a:solidFill>
                  <a:prstClr val="black"/>
                </a:solidFill>
              </a:rPr>
              <a:t>steroid nucleus</a:t>
            </a:r>
            <a:r>
              <a:rPr kumimoji="1" lang="zh-CN" altLang="en-US" dirty="0">
                <a:solidFill>
                  <a:prstClr val="black"/>
                </a:solidFill>
              </a:rPr>
              <a:t>）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烷基侧链（</a:t>
            </a:r>
            <a:r>
              <a:rPr kumimoji="1" lang="en-US" altLang="zh-CN" dirty="0">
                <a:solidFill>
                  <a:prstClr val="black"/>
                </a:solidFill>
              </a:rPr>
              <a:t>alkyl side chain</a:t>
            </a:r>
            <a:r>
              <a:rPr kumimoji="1" lang="zh-CN" altLang="en-US" dirty="0">
                <a:solidFill>
                  <a:prstClr val="black"/>
                </a:solidFill>
              </a:rPr>
              <a:t>）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CN" dirty="0">
                <a:solidFill>
                  <a:prstClr val="black"/>
                </a:solidFill>
              </a:rPr>
              <a:t>两亲性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功能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绝大多数真核生物的细胞质膜组分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多种化合物的合成前体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胆汁酸：胆固醇的极性衍生物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类固醇激素：性激素、肾上腺素等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97451B-9DB5-F545-85CB-B825F2715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745" y="1093477"/>
            <a:ext cx="4343400" cy="2311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8DA3CF-0BD7-A643-984A-C6CE7EC68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744" y="3661445"/>
            <a:ext cx="4343400" cy="2057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DB57EA-3482-224E-8834-191E068DF14A}"/>
              </a:ext>
            </a:extLst>
          </p:cNvPr>
          <p:cNvSpPr txBox="1"/>
          <p:nvPr/>
        </p:nvSpPr>
        <p:spPr>
          <a:xfrm>
            <a:off x="6318248" y="5975413"/>
            <a:ext cx="53443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Nelson, D. L., &amp; Cox, M. M. (2017). </a:t>
            </a:r>
            <a:r>
              <a:rPr lang="en-US" sz="1600" b="0" i="1" u="none" strike="noStrike" dirty="0" err="1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Lehninger</a:t>
            </a:r>
            <a:r>
              <a:rPr lang="en-US" sz="1600" b="0" i="1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 principles of biochemistry</a:t>
            </a:r>
            <a:r>
              <a:rPr lang="en-US" sz="1600" b="0" i="0" u="none" strike="noStrike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ircular"/>
              </a:rPr>
              <a:t> (7th ed.). W.H. Freeman.</a:t>
            </a:r>
            <a:endParaRPr lang="zh-CN" alt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546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胆固醇的定量测定原理</a:t>
            </a: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5B073984-C4EA-9B4C-BE92-D1C048425E05}"/>
              </a:ext>
            </a:extLst>
          </p:cNvPr>
          <p:cNvSpPr txBox="1"/>
          <p:nvPr/>
        </p:nvSpPr>
        <p:spPr>
          <a:xfrm>
            <a:off x="298731" y="958394"/>
            <a:ext cx="7442495" cy="5543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化学法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Abell-Kendall方法</a:t>
            </a:r>
            <a:endParaRPr kumimoji="1" lang="en-US" altLang="zh-CN" dirty="0"/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</a:rPr>
              <a:t>反应原理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提取胆固醇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用含醇氢氧化钾对</a:t>
            </a:r>
            <a:r>
              <a:rPr lang="zh-CN" altLang="en-US" dirty="0">
                <a:solidFill>
                  <a:srgbClr val="FF0000"/>
                </a:solidFill>
              </a:rPr>
              <a:t>胆固醇酯</a:t>
            </a:r>
            <a:r>
              <a:rPr lang="zh-CN" altLang="en-US" dirty="0"/>
              <a:t>进行皂化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用己烷提取水解后的游离胆固醇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/>
              <a:t>蒸发溶剂，得到胆固醇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</a:rPr>
              <a:t>显色反应</a:t>
            </a:r>
            <a:r>
              <a:rPr lang="zh-CN" altLang="en-US" dirty="0"/>
              <a:t>（</a:t>
            </a:r>
            <a:r>
              <a:rPr kumimoji="1" lang="en-US" altLang="zh-CN" dirty="0"/>
              <a:t>﻿Liebermann-Burchard (L – B)</a:t>
            </a:r>
            <a:r>
              <a:rPr kumimoji="1" lang="zh-CN" altLang="en-US" dirty="0"/>
              <a:t> 反应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SO</a:t>
            </a:r>
            <a:r>
              <a:rPr lang="en-US" altLang="zh-CN" baseline="-25000" dirty="0"/>
              <a:t>4</a:t>
            </a:r>
            <a:r>
              <a:rPr lang="zh-CN" altLang="en-US" dirty="0"/>
              <a:t>和</a:t>
            </a:r>
            <a:r>
              <a:rPr lang="en-US" altLang="zh-CN" dirty="0" err="1"/>
              <a:t>HOAc</a:t>
            </a:r>
            <a:r>
              <a:rPr lang="zh-CN" altLang="en-US" dirty="0"/>
              <a:t>作用下脱水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CN" dirty="0"/>
              <a:t>质子化</a:t>
            </a:r>
            <a:r>
              <a:rPr lang="zh-CN" altLang="en-US" dirty="0"/>
              <a:t>形成</a:t>
            </a:r>
            <a:r>
              <a:rPr lang="en-US" altLang="zh-CN" dirty="0"/>
              <a:t>3,5-</a:t>
            </a:r>
            <a:r>
              <a:rPr lang="zh-CN" altLang="en-US" dirty="0"/>
              <a:t>二烯碳正离子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/>
              <a:t>Ac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zh-CN" altLang="en-US" dirty="0"/>
              <a:t>和</a:t>
            </a:r>
            <a:r>
              <a:rPr lang="en-US" altLang="zh-CN" dirty="0"/>
              <a:t>SO</a:t>
            </a:r>
            <a:r>
              <a:rPr lang="en-US" altLang="zh-CN" baseline="-25000" dirty="0"/>
              <a:t>3</a:t>
            </a:r>
            <a:r>
              <a:rPr lang="zh-CN" altLang="en-US" dirty="0"/>
              <a:t>作用下形成五烯基正离子</a:t>
            </a:r>
            <a:endParaRPr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prstClr val="black"/>
                </a:solidFill>
              </a:rPr>
              <a:t>最终形成</a:t>
            </a:r>
            <a:r>
              <a:rPr lang="zh-CN" altLang="en-US" dirty="0"/>
              <a:t>胆甾烷磺酸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prstClr val="black"/>
                </a:solidFill>
              </a:rPr>
              <a:t>测定</a:t>
            </a:r>
            <a:r>
              <a:rPr lang="zh-CN" altLang="en-CN" dirty="0">
                <a:solidFill>
                  <a:prstClr val="black"/>
                </a:solidFill>
              </a:rPr>
              <a:t>反应终产物</a:t>
            </a:r>
            <a:r>
              <a:rPr lang="zh-CN" altLang="en-US" dirty="0">
                <a:solidFill>
                  <a:prstClr val="black"/>
                </a:solidFill>
              </a:rPr>
              <a:t>的吸光值，计算得到胆固醇含量</a:t>
            </a:r>
            <a:endParaRPr lang="en-US" altLang="zh-CN" dirty="0">
              <a:solidFill>
                <a:prstClr val="black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285E81-FBD4-1C42-8117-0C0C72F6E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962" y="1065099"/>
            <a:ext cx="5095009" cy="472780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50C49CF-CEAD-5A4E-98C8-C9681B0A8581}"/>
              </a:ext>
            </a:extLst>
          </p:cNvPr>
          <p:cNvSpPr/>
          <p:nvPr/>
        </p:nvSpPr>
        <p:spPr>
          <a:xfrm>
            <a:off x="7945557" y="2067790"/>
            <a:ext cx="2441818" cy="1059873"/>
          </a:xfrm>
          <a:prstGeom prst="roundRect">
            <a:avLst>
              <a:gd name="adj" fmla="val 25171"/>
            </a:avLst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反应原理简单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测定成本低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80062E-26A7-FA4E-90CB-784053EB7382}"/>
              </a:ext>
            </a:extLst>
          </p:cNvPr>
          <p:cNvSpPr/>
          <p:nvPr/>
        </p:nvSpPr>
        <p:spPr>
          <a:xfrm>
            <a:off x="7945557" y="3127663"/>
            <a:ext cx="2441818" cy="2297835"/>
          </a:xfrm>
          <a:prstGeom prst="roundRect">
            <a:avLst>
              <a:gd name="adj" fmla="val 8504"/>
            </a:avLst>
          </a:prstGeom>
          <a:solidFill>
            <a:srgbClr val="FF7E7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准确率较低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难以实现自动化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使用有毒有害试剂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反应产生有毒气体</a:t>
            </a:r>
          </a:p>
        </p:txBody>
      </p:sp>
    </p:spTree>
    <p:extLst>
      <p:ext uri="{BB962C8B-B14F-4D97-AF65-F5344CB8AC3E}">
        <p14:creationId xmlns:p14="http://schemas.microsoft.com/office/powerpoint/2010/main" val="682861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胆固醇的定量测定原理</a:t>
            </a: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5B073984-C4EA-9B4C-BE92-D1C048425E05}"/>
              </a:ext>
            </a:extLst>
          </p:cNvPr>
          <p:cNvSpPr txBox="1"/>
          <p:nvPr/>
        </p:nvSpPr>
        <p:spPr>
          <a:xfrm>
            <a:off x="298730" y="979176"/>
            <a:ext cx="4044669" cy="4297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酶法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基于酶联反应</a:t>
            </a:r>
            <a:endParaRPr kumimoji="1" lang="en-US" altLang="zh-CN" dirty="0"/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实验原理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酯酶</a:t>
            </a:r>
            <a:endParaRPr kumimoji="1"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氧化酶</a:t>
            </a:r>
            <a:endParaRPr kumimoji="1"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荧光探针</a:t>
            </a:r>
            <a:endParaRPr kumimoji="1" lang="en-US" altLang="zh-CN" dirty="0"/>
          </a:p>
          <a:p>
            <a:pPr marL="1257300" lvl="2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zh-CN" altLang="en-US" dirty="0"/>
              <a:t>在</a:t>
            </a:r>
            <a:r>
              <a:rPr kumimoji="1" lang="en-US" altLang="zh-CN" dirty="0"/>
              <a:t>HRP</a:t>
            </a:r>
            <a:r>
              <a:rPr kumimoji="1" lang="zh-CN" altLang="en-US" dirty="0"/>
              <a:t>催化下可与</a:t>
            </a:r>
            <a:r>
              <a:rPr kumimoji="1" lang="en-US" altLang="zh-CN" dirty="0"/>
              <a:t>H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O</a:t>
            </a:r>
            <a:r>
              <a:rPr kumimoji="1" lang="en-US" altLang="zh-CN" baseline="-25000" dirty="0"/>
              <a:t>2</a:t>
            </a:r>
            <a:r>
              <a:rPr kumimoji="1" lang="zh-CN" altLang="en-US" dirty="0"/>
              <a:t>反应形成荧光</a:t>
            </a:r>
            <a:r>
              <a:rPr kumimoji="1" lang="en-US" altLang="zh-CN" dirty="0"/>
              <a:t>/</a:t>
            </a:r>
            <a:r>
              <a:rPr kumimoji="1" lang="zh-CN" altLang="en-US" dirty="0"/>
              <a:t>有色产物</a:t>
            </a:r>
            <a:endParaRPr kumimoji="1"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测定荧光强度</a:t>
            </a:r>
            <a:r>
              <a:rPr kumimoji="1" lang="en-US" altLang="zh-CN" dirty="0">
                <a:solidFill>
                  <a:prstClr val="black"/>
                </a:solidFill>
              </a:rPr>
              <a:t>/</a:t>
            </a:r>
            <a:r>
              <a:rPr kumimoji="1" lang="zh-CN" altLang="en-US" dirty="0">
                <a:solidFill>
                  <a:prstClr val="black"/>
                </a:solidFill>
              </a:rPr>
              <a:t>终产物吸光值，计算得到胆固醇含量</a:t>
            </a:r>
            <a:endParaRPr kumimoji="1"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1CE6C9-21CA-0241-8C62-5E1ADF68DE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1" r="2229"/>
          <a:stretch/>
        </p:blipFill>
        <p:spPr>
          <a:xfrm>
            <a:off x="4419599" y="984352"/>
            <a:ext cx="7772401" cy="498815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F1E95BF-A65F-4B46-8829-B0941FA82681}"/>
              </a:ext>
            </a:extLst>
          </p:cNvPr>
          <p:cNvSpPr/>
          <p:nvPr/>
        </p:nvSpPr>
        <p:spPr>
          <a:xfrm>
            <a:off x="6811241" y="1823653"/>
            <a:ext cx="2989115" cy="2426229"/>
          </a:xfrm>
          <a:prstGeom prst="roundRect">
            <a:avLst>
              <a:gd name="adj" fmla="val 13554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﻿简单、快速、方便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易实现自动化（试剂盒）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反应条件温和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EE7F02D-8097-474D-8CDE-E6A939165447}"/>
              </a:ext>
            </a:extLst>
          </p:cNvPr>
          <p:cNvSpPr/>
          <p:nvPr/>
        </p:nvSpPr>
        <p:spPr>
          <a:xfrm>
            <a:off x="6811240" y="4255127"/>
            <a:ext cx="2989116" cy="915844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酶的成本相对较高</a:t>
            </a:r>
          </a:p>
        </p:txBody>
      </p:sp>
    </p:spTree>
    <p:extLst>
      <p:ext uri="{BB962C8B-B14F-4D97-AF65-F5344CB8AC3E}">
        <p14:creationId xmlns:p14="http://schemas.microsoft.com/office/powerpoint/2010/main" val="248456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胆固醇的定量测定原理</a:t>
            </a:r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FDFE43EC-F34F-5848-B253-508138F57E40}"/>
              </a:ext>
            </a:extLst>
          </p:cNvPr>
          <p:cNvSpPr txBox="1"/>
          <p:nvPr/>
        </p:nvSpPr>
        <p:spPr>
          <a:xfrm>
            <a:off x="298730" y="979176"/>
            <a:ext cx="4200534" cy="2219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层析法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一般通过气相层析完成</a:t>
            </a:r>
            <a:endParaRPr lang="en-US" altLang="zh-CN" dirty="0"/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实验原理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分离纯化胆固醇，</a:t>
            </a:r>
            <a:r>
              <a:rPr kumimoji="1" lang="zh-CN" altLang="en-CN" dirty="0">
                <a:solidFill>
                  <a:prstClr val="black"/>
                </a:solidFill>
              </a:rPr>
              <a:t>测定</a:t>
            </a:r>
            <a:r>
              <a:rPr kumimoji="1" lang="zh-CN" altLang="en-US" dirty="0">
                <a:solidFill>
                  <a:prstClr val="black"/>
                </a:solidFill>
              </a:rPr>
              <a:t>其浓度（与课上的实验类似）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5C94039-B683-7948-8A1C-6AF7BE13C986}"/>
              </a:ext>
            </a:extLst>
          </p:cNvPr>
          <p:cNvSpPr/>
          <p:nvPr/>
        </p:nvSpPr>
        <p:spPr>
          <a:xfrm>
            <a:off x="810490" y="3334033"/>
            <a:ext cx="3261015" cy="1995054"/>
          </a:xfrm>
          <a:prstGeom prst="roundRect">
            <a:avLst>
              <a:gd name="adj" fmla="val 19642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灵敏度高</a:t>
            </a:r>
            <a:endParaRPr lang="en-US" altLang="zh-CN" dirty="0">
              <a:solidFill>
                <a:srgbClr val="000000"/>
              </a:solidFill>
              <a:latin typeface="-webkit-standard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准确度高</a:t>
            </a:r>
            <a:endParaRPr lang="en-US" altLang="zh-C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-webkit-standard"/>
              </a:rPr>
              <a:t>只需少量样品即可实现测定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EB420A-576C-9A43-A143-EB1B8434A20F}"/>
              </a:ext>
            </a:extLst>
          </p:cNvPr>
          <p:cNvSpPr/>
          <p:nvPr/>
        </p:nvSpPr>
        <p:spPr>
          <a:xfrm>
            <a:off x="810490" y="5329087"/>
            <a:ext cx="3261016" cy="1368978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流程繁琐耗时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准确性高度依赖样品的制备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26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胆固醇的定量测定原理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5CF83C60-38C5-AE49-A37E-96CBCA6F3741}"/>
              </a:ext>
            </a:extLst>
          </p:cNvPr>
          <p:cNvSpPr txBox="1"/>
          <p:nvPr/>
        </p:nvSpPr>
        <p:spPr>
          <a:xfrm>
            <a:off x="288758" y="968716"/>
            <a:ext cx="6348845" cy="3050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质谱法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同位素稀释质谱法</a:t>
            </a:r>
            <a:endParaRPr lang="en-US" altLang="zh-CN" dirty="0"/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>
                <a:solidFill>
                  <a:prstClr val="black"/>
                </a:solidFill>
              </a:rPr>
              <a:t>实验原理</a:t>
            </a:r>
            <a:endParaRPr kumimoji="1" lang="en-US" altLang="zh-CN" sz="2000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prstClr val="black"/>
                </a:solidFill>
              </a:rPr>
              <a:t>添加一定量带有同位素标记的胆固醇</a:t>
            </a:r>
            <a:endParaRPr kumimoji="1" lang="en-US" altLang="zh-CN" dirty="0">
              <a:solidFill>
                <a:prstClr val="black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通过质谱仪测定带标记和未标记的胆固醇的信号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比较二者的质谱信号强度，根据添加的</a:t>
            </a:r>
            <a:r>
              <a:rPr kumimoji="1" lang="zh-CN" altLang="en-US" dirty="0">
                <a:solidFill>
                  <a:prstClr val="black"/>
                </a:solidFill>
              </a:rPr>
              <a:t>带有同位素标记的胆固醇的量</a:t>
            </a:r>
            <a:r>
              <a:rPr lang="zh-CN" altLang="en-US" dirty="0"/>
              <a:t>计算得到样品中胆固醇的含量</a:t>
            </a:r>
            <a:endParaRPr kumimoji="1" lang="en-US" altLang="zh-CN" dirty="0">
              <a:solidFill>
                <a:prstClr val="black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6D6975-7382-6343-8D53-989F872BB9CA}"/>
              </a:ext>
            </a:extLst>
          </p:cNvPr>
          <p:cNvSpPr/>
          <p:nvPr/>
        </p:nvSpPr>
        <p:spPr>
          <a:xfrm>
            <a:off x="7980217" y="1377930"/>
            <a:ext cx="3133376" cy="1600201"/>
          </a:xfrm>
          <a:prstGeom prst="roundRect">
            <a:avLst>
              <a:gd name="adj" fmla="val 20192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</a:t>
            </a:r>
            <a:r>
              <a:rPr kumimoji="1" lang="zh-CN" altLang="en-CN" dirty="0">
                <a:solidFill>
                  <a:schemeClr val="tx1"/>
                </a:solidFill>
              </a:rPr>
              <a:t>确</a:t>
            </a:r>
            <a:r>
              <a:rPr kumimoji="1" lang="zh-CN" altLang="en-US" dirty="0">
                <a:solidFill>
                  <a:schemeClr val="tx1"/>
                </a:solidFill>
              </a:rPr>
              <a:t>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﻿测量范围广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A62442-BA88-F64D-B01D-FE8F980AB7F5}"/>
              </a:ext>
            </a:extLst>
          </p:cNvPr>
          <p:cNvSpPr/>
          <p:nvPr/>
        </p:nvSpPr>
        <p:spPr>
          <a:xfrm>
            <a:off x="7980217" y="2978131"/>
            <a:ext cx="3133375" cy="1757507"/>
          </a:xfrm>
          <a:prstGeom prst="roundRect">
            <a:avLst>
              <a:gd name="adj" fmla="val 17964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设备复杂，价格昂贵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需要对样品进行更多预处理</a:t>
            </a:r>
          </a:p>
        </p:txBody>
      </p:sp>
    </p:spTree>
    <p:extLst>
      <p:ext uri="{BB962C8B-B14F-4D97-AF65-F5344CB8AC3E}">
        <p14:creationId xmlns:p14="http://schemas.microsoft.com/office/powerpoint/2010/main" val="1065194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8D646D-FE0A-6049-81BC-36208E1843EE}"/>
              </a:ext>
            </a:extLst>
          </p:cNvPr>
          <p:cNvSpPr txBox="1"/>
          <p:nvPr/>
        </p:nvSpPr>
        <p:spPr>
          <a:xfrm>
            <a:off x="288758" y="383941"/>
            <a:ext cx="68105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dirty="0"/>
              <a:t>各种方法的对比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6D6975-7382-6343-8D53-989F872BB9CA}"/>
              </a:ext>
            </a:extLst>
          </p:cNvPr>
          <p:cNvSpPr/>
          <p:nvPr/>
        </p:nvSpPr>
        <p:spPr>
          <a:xfrm>
            <a:off x="9332912" y="1683326"/>
            <a:ext cx="2705758" cy="1600201"/>
          </a:xfrm>
          <a:prstGeom prst="roundRect">
            <a:avLst>
              <a:gd name="adj" fmla="val 20192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</a:t>
            </a:r>
            <a:r>
              <a:rPr kumimoji="1" lang="zh-CN" altLang="en-CN" dirty="0">
                <a:solidFill>
                  <a:schemeClr val="tx1"/>
                </a:solidFill>
              </a:rPr>
              <a:t>确</a:t>
            </a:r>
            <a:r>
              <a:rPr kumimoji="1" lang="zh-CN" altLang="en-US" dirty="0">
                <a:solidFill>
                  <a:schemeClr val="tx1"/>
                </a:solidFill>
              </a:rPr>
              <a:t>度最高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﻿测量范围广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A62442-BA88-F64D-B01D-FE8F980AB7F5}"/>
              </a:ext>
            </a:extLst>
          </p:cNvPr>
          <p:cNvSpPr/>
          <p:nvPr/>
        </p:nvSpPr>
        <p:spPr>
          <a:xfrm>
            <a:off x="9332912" y="3283527"/>
            <a:ext cx="2705757" cy="1757507"/>
          </a:xfrm>
          <a:prstGeom prst="roundRect">
            <a:avLst>
              <a:gd name="adj" fmla="val 17964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设备复杂，价格昂贵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需要对样品较多预处理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A13FAF-B4C3-6645-9013-5554968585C8}"/>
              </a:ext>
            </a:extLst>
          </p:cNvPr>
          <p:cNvSpPr/>
          <p:nvPr/>
        </p:nvSpPr>
        <p:spPr>
          <a:xfrm>
            <a:off x="162763" y="1683326"/>
            <a:ext cx="2441818" cy="1059873"/>
          </a:xfrm>
          <a:prstGeom prst="roundRect">
            <a:avLst>
              <a:gd name="adj" fmla="val 25171"/>
            </a:avLst>
          </a:prstGeom>
          <a:solidFill>
            <a:schemeClr val="accent6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反应原理简单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测定成本低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D3978D-FDF6-2F4C-8D70-3022CBE6024C}"/>
              </a:ext>
            </a:extLst>
          </p:cNvPr>
          <p:cNvSpPr/>
          <p:nvPr/>
        </p:nvSpPr>
        <p:spPr>
          <a:xfrm>
            <a:off x="162763" y="2743199"/>
            <a:ext cx="2441818" cy="2297835"/>
          </a:xfrm>
          <a:prstGeom prst="roundRect">
            <a:avLst>
              <a:gd name="adj" fmla="val 8504"/>
            </a:avLst>
          </a:prstGeom>
          <a:solidFill>
            <a:srgbClr val="FF7E7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准确率较低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难以实现自动化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使用有毒有害试剂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反应产生有毒气体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5EC370-772F-7043-A1A8-AC13F266BA3B}"/>
              </a:ext>
            </a:extLst>
          </p:cNvPr>
          <p:cNvSpPr/>
          <p:nvPr/>
        </p:nvSpPr>
        <p:spPr>
          <a:xfrm>
            <a:off x="2763982" y="1683326"/>
            <a:ext cx="2989115" cy="2426229"/>
          </a:xfrm>
          <a:prstGeom prst="roundRect">
            <a:avLst>
              <a:gd name="adj" fmla="val 13554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灵敏度较高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准确度较高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﻿简单、快速、方便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易实现自动化（试剂盒）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反应条件温和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3F0E6B8-D39E-C44E-B77A-EAEB4554D771}"/>
              </a:ext>
            </a:extLst>
          </p:cNvPr>
          <p:cNvSpPr/>
          <p:nvPr/>
        </p:nvSpPr>
        <p:spPr>
          <a:xfrm>
            <a:off x="2763981" y="4114800"/>
            <a:ext cx="2989116" cy="915844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酶的成本相对较高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04243E-A47C-A940-BD35-077508B69ED4}"/>
              </a:ext>
            </a:extLst>
          </p:cNvPr>
          <p:cNvSpPr/>
          <p:nvPr/>
        </p:nvSpPr>
        <p:spPr>
          <a:xfrm>
            <a:off x="5912497" y="1666612"/>
            <a:ext cx="3261015" cy="1995054"/>
          </a:xfrm>
          <a:prstGeom prst="roundRect">
            <a:avLst>
              <a:gd name="adj" fmla="val 19642"/>
            </a:avLst>
          </a:prstGeom>
          <a:solidFill>
            <a:schemeClr val="accent6">
              <a:lumMod val="60000"/>
              <a:lumOff val="4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-webkit-standard"/>
              </a:rPr>
              <a:t>灵敏度高</a:t>
            </a:r>
            <a:endParaRPr lang="en-US" altLang="zh-CN" dirty="0">
              <a:solidFill>
                <a:srgbClr val="000000"/>
              </a:solidFill>
              <a:latin typeface="-webkit-standard"/>
            </a:endParaRPr>
          </a:p>
          <a:p>
            <a:pPr algn="ctr">
              <a:lnSpc>
                <a:spcPct val="150000"/>
              </a:lnSpc>
            </a:pPr>
            <a:r>
              <a:rPr lang="zh-CN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准确度高</a:t>
            </a:r>
            <a:endParaRPr lang="en-US" altLang="zh-CN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rgbClr val="000000"/>
                </a:solidFill>
                <a:latin typeface="-webkit-standard"/>
              </a:rPr>
              <a:t>只需少量样品即可实现测定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ABA8380-CA86-1B41-8941-DA6169BE6BE2}"/>
              </a:ext>
            </a:extLst>
          </p:cNvPr>
          <p:cNvSpPr/>
          <p:nvPr/>
        </p:nvSpPr>
        <p:spPr>
          <a:xfrm>
            <a:off x="5912497" y="3661666"/>
            <a:ext cx="3261016" cy="1368978"/>
          </a:xfrm>
          <a:prstGeom prst="roundRect">
            <a:avLst>
              <a:gd name="adj" fmla="val 28975"/>
            </a:avLst>
          </a:prstGeom>
          <a:solidFill>
            <a:srgbClr val="FF7E79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流程繁琐耗时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chemeClr val="tx1"/>
                </a:solidFill>
              </a:rPr>
              <a:t>准确性高度依赖样品的制备</a:t>
            </a:r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243FE-DC55-3640-985C-D8320CF4BA0B}"/>
              </a:ext>
            </a:extLst>
          </p:cNvPr>
          <p:cNvSpPr txBox="1"/>
          <p:nvPr/>
        </p:nvSpPr>
        <p:spPr>
          <a:xfrm>
            <a:off x="906618" y="1216129"/>
            <a:ext cx="9541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化学法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D6E86B-1EAF-E54E-8DF7-157AFCEF05BE}"/>
              </a:ext>
            </a:extLst>
          </p:cNvPr>
          <p:cNvSpPr txBox="1"/>
          <p:nvPr/>
        </p:nvSpPr>
        <p:spPr>
          <a:xfrm>
            <a:off x="3909725" y="1214682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酶法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E4C05D-7D17-C247-9A31-474628FD83B8}"/>
              </a:ext>
            </a:extLst>
          </p:cNvPr>
          <p:cNvSpPr txBox="1"/>
          <p:nvPr/>
        </p:nvSpPr>
        <p:spPr>
          <a:xfrm>
            <a:off x="7065950" y="121323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层析法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10A64-6031-2C49-8AD0-7F3AD7FF77D8}"/>
              </a:ext>
            </a:extLst>
          </p:cNvPr>
          <p:cNvSpPr txBox="1"/>
          <p:nvPr/>
        </p:nvSpPr>
        <p:spPr>
          <a:xfrm>
            <a:off x="10208736" y="121323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 dirty="0"/>
              <a:t>质谱法</a:t>
            </a:r>
          </a:p>
        </p:txBody>
      </p:sp>
      <p:sp>
        <p:nvSpPr>
          <p:cNvPr id="18" name="文本框 1">
            <a:extLst>
              <a:ext uri="{FF2B5EF4-FFF2-40B4-BE49-F238E27FC236}">
                <a16:creationId xmlns:a16="http://schemas.microsoft.com/office/drawing/2014/main" id="{1D432BEC-E277-8B41-BA7F-05DDEDC6F9D5}"/>
              </a:ext>
            </a:extLst>
          </p:cNvPr>
          <p:cNvSpPr txBox="1"/>
          <p:nvPr/>
        </p:nvSpPr>
        <p:spPr>
          <a:xfrm>
            <a:off x="288758" y="5244919"/>
            <a:ext cx="420053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酶法是目前最常用的检测方法</a:t>
            </a:r>
            <a:endParaRPr kumimoji="1" lang="en-US" altLang="zh-CN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zh-CN" altLang="en-US" sz="2000" dirty="0"/>
              <a:t>高精度测定一般使用质谱法</a:t>
            </a:r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2880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7096</TotalTime>
  <Words>560</Words>
  <Application>Microsoft Macintosh PowerPoint</Application>
  <PresentationFormat>Widescreen</PresentationFormat>
  <Paragraphs>110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-webkit-standard</vt:lpstr>
      <vt:lpstr>Circular</vt:lpstr>
      <vt:lpstr>KaiTi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216</cp:revision>
  <dcterms:created xsi:type="dcterms:W3CDTF">2024-09-08T14:28:50Z</dcterms:created>
  <dcterms:modified xsi:type="dcterms:W3CDTF">2024-10-27T11:18:16Z</dcterms:modified>
</cp:coreProperties>
</file>