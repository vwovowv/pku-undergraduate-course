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0"/>
  </p:notesMasterIdLst>
  <p:sldIdLst>
    <p:sldId id="256" r:id="rId2"/>
    <p:sldId id="257" r:id="rId3"/>
    <p:sldId id="269" r:id="rId4"/>
    <p:sldId id="271" r:id="rId5"/>
    <p:sldId id="278" r:id="rId6"/>
    <p:sldId id="258" r:id="rId7"/>
    <p:sldId id="307" r:id="rId8"/>
    <p:sldId id="275" r:id="rId9"/>
    <p:sldId id="277" r:id="rId10"/>
    <p:sldId id="276" r:id="rId11"/>
    <p:sldId id="260" r:id="rId12"/>
    <p:sldId id="314" r:id="rId13"/>
    <p:sldId id="283" r:id="rId14"/>
    <p:sldId id="285" r:id="rId15"/>
    <p:sldId id="286" r:id="rId16"/>
    <p:sldId id="287" r:id="rId17"/>
    <p:sldId id="288" r:id="rId18"/>
    <p:sldId id="315" r:id="rId19"/>
    <p:sldId id="261" r:id="rId20"/>
    <p:sldId id="316" r:id="rId21"/>
    <p:sldId id="289" r:id="rId22"/>
    <p:sldId id="291" r:id="rId23"/>
    <p:sldId id="292" r:id="rId24"/>
    <p:sldId id="293" r:id="rId25"/>
    <p:sldId id="294" r:id="rId26"/>
    <p:sldId id="354" r:id="rId27"/>
    <p:sldId id="262" r:id="rId28"/>
    <p:sldId id="317" r:id="rId29"/>
    <p:sldId id="295" r:id="rId30"/>
    <p:sldId id="296" r:id="rId31"/>
    <p:sldId id="297" r:id="rId32"/>
    <p:sldId id="300" r:id="rId33"/>
    <p:sldId id="298" r:id="rId34"/>
    <p:sldId id="301" r:id="rId35"/>
    <p:sldId id="321" r:id="rId36"/>
    <p:sldId id="322" r:id="rId37"/>
    <p:sldId id="324" r:id="rId38"/>
    <p:sldId id="325" r:id="rId39"/>
    <p:sldId id="326" r:id="rId40"/>
    <p:sldId id="351" r:id="rId41"/>
    <p:sldId id="352" r:id="rId42"/>
    <p:sldId id="353" r:id="rId43"/>
    <p:sldId id="302" r:id="rId44"/>
    <p:sldId id="318" r:id="rId45"/>
    <p:sldId id="303" r:id="rId46"/>
    <p:sldId id="304" r:id="rId47"/>
    <p:sldId id="305" r:id="rId48"/>
    <p:sldId id="264" r:id="rId49"/>
    <p:sldId id="330" r:id="rId50"/>
    <p:sldId id="331" r:id="rId51"/>
    <p:sldId id="332" r:id="rId52"/>
    <p:sldId id="333" r:id="rId53"/>
    <p:sldId id="267" r:id="rId54"/>
    <p:sldId id="335" r:id="rId55"/>
    <p:sldId id="339" r:id="rId56"/>
    <p:sldId id="338" r:id="rId57"/>
    <p:sldId id="340" r:id="rId58"/>
    <p:sldId id="341" r:id="rId59"/>
    <p:sldId id="342" r:id="rId60"/>
    <p:sldId id="343" r:id="rId61"/>
    <p:sldId id="344" r:id="rId62"/>
    <p:sldId id="345" r:id="rId63"/>
    <p:sldId id="347" r:id="rId64"/>
    <p:sldId id="348" r:id="rId65"/>
    <p:sldId id="349" r:id="rId66"/>
    <p:sldId id="350" r:id="rId67"/>
    <p:sldId id="272" r:id="rId68"/>
    <p:sldId id="265"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6512"/>
  </p:normalViewPr>
  <p:slideViewPr>
    <p:cSldViewPr snapToGrid="0" snapToObjects="1">
      <p:cViewPr varScale="1">
        <p:scale>
          <a:sx n="128" d="100"/>
          <a:sy n="128" d="100"/>
        </p:scale>
        <p:origin x="17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5F9415-B6AF-824A-80FA-B83C063D6988}" type="datetimeFigureOut">
              <a:rPr kumimoji="1" lang="zh-CN" altLang="en-US" smtClean="0"/>
              <a:t>2023/10/11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42315-4BD3-044E-ABF3-34B23DA06677}" type="slidenum">
              <a:rPr kumimoji="1" lang="zh-CN" altLang="en-US" smtClean="0"/>
              <a:t>‹#›</a:t>
            </a:fld>
            <a:endParaRPr kumimoji="1" lang="zh-CN" altLang="en-US"/>
          </a:p>
        </p:txBody>
      </p:sp>
    </p:spTree>
    <p:extLst>
      <p:ext uri="{BB962C8B-B14F-4D97-AF65-F5344CB8AC3E}">
        <p14:creationId xmlns:p14="http://schemas.microsoft.com/office/powerpoint/2010/main" val="2611428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A2864-58F6-244A-B28D-66C05204893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41E21C8-A115-AC45-AF77-8520771210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B3AD42-27ED-5240-9843-83851BF2F56B}"/>
              </a:ext>
            </a:extLst>
          </p:cNvPr>
          <p:cNvSpPr>
            <a:spLocks noGrp="1"/>
          </p:cNvSpPr>
          <p:nvPr>
            <p:ph type="dt" sz="half" idx="10"/>
          </p:nvPr>
        </p:nvSpPr>
        <p:spPr/>
        <p:txBody>
          <a:bodyPr/>
          <a:lstStyle/>
          <a:p>
            <a:fld id="{F1953231-08C0-B343-B505-5C0156ACE6D6}"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A558B065-4227-8E43-91E8-1C19E413946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C4B8397-8C5C-0748-A484-58DC694EBF5B}"/>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8254142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F4796-4804-6C4E-96BF-9A3FDE8E824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2CC407A-B1AA-BE4F-875D-086C9BF0DF6A}"/>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D695F02-C374-074D-BA16-B0F926111305}"/>
              </a:ext>
            </a:extLst>
          </p:cNvPr>
          <p:cNvSpPr>
            <a:spLocks noGrp="1"/>
          </p:cNvSpPr>
          <p:nvPr>
            <p:ph type="dt" sz="half" idx="10"/>
          </p:nvPr>
        </p:nvSpPr>
        <p:spPr/>
        <p:txBody>
          <a:bodyPr/>
          <a:lstStyle/>
          <a:p>
            <a:fld id="{52CA1F01-CD22-6D43-B4E2-3EC9FF4E9658}"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BDE11E63-81DF-6F49-9B02-A100F810DBC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A88C5-67C3-4647-ACAA-35A261DD216D}"/>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592341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D000C-A616-8943-8F5E-424940CE4C0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CCA9344-CBF5-6442-9A83-EFE0097DD0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ADF2C28-DCCB-6242-B67A-B80ECED18C87}"/>
              </a:ext>
            </a:extLst>
          </p:cNvPr>
          <p:cNvSpPr>
            <a:spLocks noGrp="1"/>
          </p:cNvSpPr>
          <p:nvPr>
            <p:ph type="dt" sz="half" idx="10"/>
          </p:nvPr>
        </p:nvSpPr>
        <p:spPr/>
        <p:txBody>
          <a:bodyPr/>
          <a:lstStyle/>
          <a:p>
            <a:fld id="{46F83A83-7E38-FB45-A246-590E49C54916}"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2EA92E1D-38A1-2440-976B-355D8855DC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E308FB5-C1E4-DE47-AAEA-25EDAE15815C}"/>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6325098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8EB9B3-2B7B-3740-B33F-D0B32B4BB9A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9E14549-B186-4348-814C-B33B427F899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C9393DC0-EA44-F84D-921C-1E04F62BD2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06598DB-622C-264B-BE6B-5594570534F4}"/>
              </a:ext>
            </a:extLst>
          </p:cNvPr>
          <p:cNvSpPr>
            <a:spLocks noGrp="1"/>
          </p:cNvSpPr>
          <p:nvPr>
            <p:ph type="dt" sz="half" idx="10"/>
          </p:nvPr>
        </p:nvSpPr>
        <p:spPr/>
        <p:txBody>
          <a:bodyPr/>
          <a:lstStyle/>
          <a:p>
            <a:fld id="{9BD092D6-8C78-B049-9D0B-9EF7DEFEA223}" type="datetime1">
              <a:rPr kumimoji="1" lang="zh-CN" altLang="en-US" smtClean="0"/>
              <a:t>2023/10/11</a:t>
            </a:fld>
            <a:endParaRPr kumimoji="1" lang="zh-CN" altLang="en-US"/>
          </a:p>
        </p:txBody>
      </p:sp>
      <p:sp>
        <p:nvSpPr>
          <p:cNvPr id="6" name="页脚占位符 5">
            <a:extLst>
              <a:ext uri="{FF2B5EF4-FFF2-40B4-BE49-F238E27FC236}">
                <a16:creationId xmlns:a16="http://schemas.microsoft.com/office/drawing/2014/main" id="{DC650BE5-4D2A-9243-B47D-23A1DBE52BD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22D0A91-1F8D-5F48-9FC6-F9114EA80139}"/>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8595502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FA21CE-580C-3C46-89A6-C8B6E4B756BD}"/>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5B52F9E-7A06-DF45-8E19-BB6BB42D4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46C10689-4750-F04B-9D0A-6E58FC5855B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E76AA1E-6326-F34C-BFEA-F36DCAB443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D1DDEEA-65B1-AB48-A270-74AB64AB3F10}"/>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A412243-9C54-2C48-B960-C48612FDB153}"/>
              </a:ext>
            </a:extLst>
          </p:cNvPr>
          <p:cNvSpPr>
            <a:spLocks noGrp="1"/>
          </p:cNvSpPr>
          <p:nvPr>
            <p:ph type="dt" sz="half" idx="10"/>
          </p:nvPr>
        </p:nvSpPr>
        <p:spPr/>
        <p:txBody>
          <a:bodyPr/>
          <a:lstStyle/>
          <a:p>
            <a:fld id="{BC4B46CA-AC6D-7D4A-947F-CC1407857414}" type="datetime1">
              <a:rPr kumimoji="1" lang="zh-CN" altLang="en-US" smtClean="0"/>
              <a:t>2023/10/11</a:t>
            </a:fld>
            <a:endParaRPr kumimoji="1" lang="zh-CN" altLang="en-US"/>
          </a:p>
        </p:txBody>
      </p:sp>
      <p:sp>
        <p:nvSpPr>
          <p:cNvPr id="8" name="页脚占位符 7">
            <a:extLst>
              <a:ext uri="{FF2B5EF4-FFF2-40B4-BE49-F238E27FC236}">
                <a16:creationId xmlns:a16="http://schemas.microsoft.com/office/drawing/2014/main" id="{3AFBA947-8EEB-4F44-B4D4-1C1CC24CCE5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3B0E5DF-E1DD-D74A-BACC-1407D58B4182}"/>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7346858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7D6FA-DCB9-D148-9061-6952A2256C0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490BFF4-044D-4E40-A606-DC7DC1492755}"/>
              </a:ext>
            </a:extLst>
          </p:cNvPr>
          <p:cNvSpPr>
            <a:spLocks noGrp="1"/>
          </p:cNvSpPr>
          <p:nvPr>
            <p:ph type="dt" sz="half" idx="10"/>
          </p:nvPr>
        </p:nvSpPr>
        <p:spPr/>
        <p:txBody>
          <a:bodyPr/>
          <a:lstStyle/>
          <a:p>
            <a:fld id="{3AEF60EE-5A58-DE45-88D3-586073E02BC8}" type="datetime1">
              <a:rPr kumimoji="1" lang="zh-CN" altLang="en-US" smtClean="0"/>
              <a:t>2023/10/11</a:t>
            </a:fld>
            <a:endParaRPr kumimoji="1" lang="zh-CN" altLang="en-US"/>
          </a:p>
        </p:txBody>
      </p:sp>
      <p:sp>
        <p:nvSpPr>
          <p:cNvPr id="4" name="页脚占位符 3">
            <a:extLst>
              <a:ext uri="{FF2B5EF4-FFF2-40B4-BE49-F238E27FC236}">
                <a16:creationId xmlns:a16="http://schemas.microsoft.com/office/drawing/2014/main" id="{ADA186C0-B828-3A4D-8202-B7AB21B15DA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07844E5-93E8-F446-94A4-17EE2E957447}"/>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26976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9AE6453-846E-224D-A9A6-7CAAB0B6B58D}"/>
              </a:ext>
            </a:extLst>
          </p:cNvPr>
          <p:cNvSpPr>
            <a:spLocks noGrp="1"/>
          </p:cNvSpPr>
          <p:nvPr>
            <p:ph type="dt" sz="half" idx="10"/>
          </p:nvPr>
        </p:nvSpPr>
        <p:spPr/>
        <p:txBody>
          <a:bodyPr/>
          <a:lstStyle/>
          <a:p>
            <a:fld id="{5C628270-B29D-4C46-B784-1BDC59379CC7}" type="datetime1">
              <a:rPr kumimoji="1" lang="zh-CN" altLang="en-US" smtClean="0"/>
              <a:t>2023/10/11</a:t>
            </a:fld>
            <a:endParaRPr kumimoji="1" lang="zh-CN" altLang="en-US"/>
          </a:p>
        </p:txBody>
      </p:sp>
      <p:sp>
        <p:nvSpPr>
          <p:cNvPr id="3" name="页脚占位符 2">
            <a:extLst>
              <a:ext uri="{FF2B5EF4-FFF2-40B4-BE49-F238E27FC236}">
                <a16:creationId xmlns:a16="http://schemas.microsoft.com/office/drawing/2014/main" id="{EE305405-17DC-794E-8BFE-31DC86F549D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50E520D-6CD8-C14B-A17A-5969D2C8CC29}"/>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28358711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E9DF1-8CD0-0E4D-8560-DD2DE594388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8EF696B-3E17-5C4B-9D60-D5F37CCA7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3440683-879F-DA4D-9034-481AB20310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F6E68A1-9C65-E14F-A10C-8010DF8BCB50}"/>
              </a:ext>
            </a:extLst>
          </p:cNvPr>
          <p:cNvSpPr>
            <a:spLocks noGrp="1"/>
          </p:cNvSpPr>
          <p:nvPr>
            <p:ph type="dt" sz="half" idx="10"/>
          </p:nvPr>
        </p:nvSpPr>
        <p:spPr/>
        <p:txBody>
          <a:bodyPr/>
          <a:lstStyle/>
          <a:p>
            <a:fld id="{63A624B5-DF2A-FD4F-AA09-F336AE3483B9}" type="datetime1">
              <a:rPr kumimoji="1" lang="zh-CN" altLang="en-US" smtClean="0"/>
              <a:t>2023/10/11</a:t>
            </a:fld>
            <a:endParaRPr kumimoji="1" lang="zh-CN" altLang="en-US"/>
          </a:p>
        </p:txBody>
      </p:sp>
      <p:sp>
        <p:nvSpPr>
          <p:cNvPr id="6" name="页脚占位符 5">
            <a:extLst>
              <a:ext uri="{FF2B5EF4-FFF2-40B4-BE49-F238E27FC236}">
                <a16:creationId xmlns:a16="http://schemas.microsoft.com/office/drawing/2014/main" id="{3F566655-272A-6A41-A800-E7040E121AD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9D79332-9D89-654C-8A22-F2E41080EB40}"/>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7725829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635E2B-BDC5-BE42-85CD-09B90FF4CE6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B9E7DEF-C2CA-D94D-9BF2-F9CA4C7881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BEC2D0-17F2-B14A-BFA4-6F5D8891E0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B560A25-4833-5D4E-AA32-FB5B0038F931}"/>
              </a:ext>
            </a:extLst>
          </p:cNvPr>
          <p:cNvSpPr>
            <a:spLocks noGrp="1"/>
          </p:cNvSpPr>
          <p:nvPr>
            <p:ph type="dt" sz="half" idx="10"/>
          </p:nvPr>
        </p:nvSpPr>
        <p:spPr/>
        <p:txBody>
          <a:bodyPr/>
          <a:lstStyle/>
          <a:p>
            <a:fld id="{7EB3DBC9-1654-BC4A-903B-7AA523BC2554}" type="datetime1">
              <a:rPr kumimoji="1" lang="zh-CN" altLang="en-US" smtClean="0"/>
              <a:t>2023/10/11</a:t>
            </a:fld>
            <a:endParaRPr kumimoji="1" lang="zh-CN" altLang="en-US"/>
          </a:p>
        </p:txBody>
      </p:sp>
      <p:sp>
        <p:nvSpPr>
          <p:cNvPr id="6" name="页脚占位符 5">
            <a:extLst>
              <a:ext uri="{FF2B5EF4-FFF2-40B4-BE49-F238E27FC236}">
                <a16:creationId xmlns:a16="http://schemas.microsoft.com/office/drawing/2014/main" id="{1BCA1774-E2B1-7F45-BA04-8643E19AB18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EF32FD3-4C75-C24E-8F26-3A8120F9D715}"/>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2721417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5240C-730F-C245-8B73-4734B409CDC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E0EEDC9-360A-4840-97AC-7577D17976C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C6E5952-924A-8741-B6B2-B9BF92664D6F}"/>
              </a:ext>
            </a:extLst>
          </p:cNvPr>
          <p:cNvSpPr>
            <a:spLocks noGrp="1"/>
          </p:cNvSpPr>
          <p:nvPr>
            <p:ph type="dt" sz="half" idx="10"/>
          </p:nvPr>
        </p:nvSpPr>
        <p:spPr/>
        <p:txBody>
          <a:bodyPr/>
          <a:lstStyle/>
          <a:p>
            <a:fld id="{5C9AAC0D-2E4B-EE42-954E-87DA7A99765B}"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2309F5FC-63A6-044E-BDDB-453AEA4F671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3D49203-2223-A444-AEC2-E96C34F8A367}"/>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10932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1F333BE-8A89-4B4B-80F3-57559D817B28}"/>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D60299A-1D27-1F4C-9A0E-0039A2FD1B5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BD9233-044D-AC49-A06D-4D874FB729C8}"/>
              </a:ext>
            </a:extLst>
          </p:cNvPr>
          <p:cNvSpPr>
            <a:spLocks noGrp="1"/>
          </p:cNvSpPr>
          <p:nvPr>
            <p:ph type="dt" sz="half" idx="10"/>
          </p:nvPr>
        </p:nvSpPr>
        <p:spPr/>
        <p:txBody>
          <a:bodyPr/>
          <a:lstStyle/>
          <a:p>
            <a:fld id="{282D54A0-F107-284F-A3F5-A123F80787EF}"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9E329F86-B3F6-A245-8BB7-D0074CFB703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832CA74-B859-D245-8E78-436C46A5B1FF}"/>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5575055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6A75C0-AE34-EC48-B324-084A20A681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250E574-4338-064A-8C26-05AFE12B8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5A5B80B-4A16-EB46-83FF-9112DC1DBD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CE3339-BF25-4647-91A3-DFA73E57C326}" type="datetime1">
              <a:rPr kumimoji="1" lang="zh-CN" altLang="en-US" smtClean="0"/>
              <a:t>2023/10/11</a:t>
            </a:fld>
            <a:endParaRPr kumimoji="1" lang="zh-CN" altLang="en-US"/>
          </a:p>
        </p:txBody>
      </p:sp>
      <p:sp>
        <p:nvSpPr>
          <p:cNvPr id="5" name="页脚占位符 4">
            <a:extLst>
              <a:ext uri="{FF2B5EF4-FFF2-40B4-BE49-F238E27FC236}">
                <a16:creationId xmlns:a16="http://schemas.microsoft.com/office/drawing/2014/main" id="{D8258892-E7C5-C645-B9B3-4D9B7E067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A0627C8-C012-ED48-B224-069A5B55C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633508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83F99-71D1-3A48-AF3D-AAA07747332B}"/>
              </a:ext>
            </a:extLst>
          </p:cNvPr>
          <p:cNvSpPr>
            <a:spLocks noGrp="1"/>
          </p:cNvSpPr>
          <p:nvPr>
            <p:ph type="ctrTitle"/>
          </p:nvPr>
        </p:nvSpPr>
        <p:spPr/>
        <p:txBody>
          <a:bodyPr/>
          <a:lstStyle/>
          <a:p>
            <a:r>
              <a:rPr kumimoji="1" lang="en-US" altLang="zh-CN" b="1" dirty="0" err="1">
                <a:latin typeface="Times New Roman" panose="02020603050405020304" pitchFamily="18" charset="0"/>
                <a:ea typeface="SimHei" panose="02010609060101010101" pitchFamily="49" charset="-122"/>
                <a:cs typeface="Times New Roman" panose="02020603050405020304" pitchFamily="18" charset="0"/>
              </a:rPr>
              <a:t>Bomblab</a:t>
            </a:r>
            <a:r>
              <a:rPr kumimoji="1" lang="en-US" altLang="zh-CN" b="1" dirty="0">
                <a:latin typeface="Times New Roman" panose="02020603050405020304" pitchFamily="18" charset="0"/>
                <a:ea typeface="SimHei" panose="02010609060101010101" pitchFamily="49" charset="-122"/>
                <a:cs typeface="Times New Roman" panose="02020603050405020304" pitchFamily="18" charset="0"/>
              </a:rPr>
              <a:t> Discussion</a:t>
            </a:r>
            <a:endParaRPr kumimoji="1" lang="zh-CN" altLang="en-US" b="1"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3" name="副标题 2">
            <a:extLst>
              <a:ext uri="{FF2B5EF4-FFF2-40B4-BE49-F238E27FC236}">
                <a16:creationId xmlns:a16="http://schemas.microsoft.com/office/drawing/2014/main" id="{3BF834B4-0709-004E-940D-9EEB437859AE}"/>
              </a:ext>
            </a:extLst>
          </p:cNvPr>
          <p:cNvSpPr>
            <a:spLocks noGrp="1"/>
          </p:cNvSpPr>
          <p:nvPr>
            <p:ph type="subTitle" idx="1"/>
          </p:nvPr>
        </p:nvSpPr>
        <p:spPr>
          <a:xfrm>
            <a:off x="1524000" y="4079875"/>
            <a:ext cx="9144000" cy="1655762"/>
          </a:xfrm>
        </p:spPr>
        <p:txBody>
          <a:bodyPr/>
          <a:lstStyle/>
          <a:p>
            <a:r>
              <a:rPr kumimoji="1" lang="zh-CN" altLang="en-US" dirty="0">
                <a:latin typeface="KaiTi" panose="02010609060101010101" pitchFamily="49" charset="-122"/>
                <a:ea typeface="KaiTi" panose="02010609060101010101" pitchFamily="49" charset="-122"/>
              </a:rPr>
              <a:t>刘沛雨</a:t>
            </a:r>
          </a:p>
        </p:txBody>
      </p:sp>
    </p:spTree>
    <p:extLst>
      <p:ext uri="{BB962C8B-B14F-4D97-AF65-F5344CB8AC3E}">
        <p14:creationId xmlns:p14="http://schemas.microsoft.com/office/powerpoint/2010/main" val="34473081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1636987"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Lab</a:t>
            </a:r>
            <a:r>
              <a:rPr kumimoji="1" lang="zh-CN" altLang="en-US" sz="3200" dirty="0">
                <a:latin typeface="Times New Roman" panose="02020603050405020304" pitchFamily="18" charset="0"/>
                <a:cs typeface="Times New Roman" panose="02020603050405020304" pitchFamily="18" charset="0"/>
              </a:rPr>
              <a:t>解读</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a:t>
            </a:fld>
            <a:endParaRPr kumimoji="1" lang="zh-CN" altLang="en-US"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3053133E-F187-4743-A897-EA219F330C92}"/>
              </a:ext>
            </a:extLst>
          </p:cNvPr>
          <p:cNvSpPr txBox="1"/>
          <p:nvPr/>
        </p:nvSpPr>
        <p:spPr>
          <a:xfrm>
            <a:off x="785191" y="1480929"/>
            <a:ext cx="8557592" cy="39140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需要修改的文件：无</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需要解决的问题：发现并拆除炸弹</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如何开始</a:t>
            </a:r>
            <a:r>
              <a:rPr kumimoji="1" lang="en-US" altLang="zh-CN" sz="2400" dirty="0">
                <a:latin typeface="Times New Roman" panose="02020603050405020304" pitchFamily="18" charset="0"/>
                <a:cs typeface="Times New Roman" panose="02020603050405020304" pitchFamily="18" charset="0"/>
              </a:rPr>
              <a:t>?</a:t>
            </a:r>
          </a:p>
          <a:p>
            <a:pPr>
              <a:lnSpc>
                <a:spcPct val="150000"/>
              </a:lnSpc>
            </a:pPr>
            <a:r>
              <a:rPr kumimoji="1" lang="en-US" altLang="zh-CN" sz="2400" dirty="0">
                <a:latin typeface="Times New Roman" panose="02020603050405020304" pitchFamily="18" charset="0"/>
                <a:cs typeface="Times New Roman" panose="02020603050405020304" pitchFamily="18" charset="0"/>
              </a:rPr>
              <a:t>	﻿tar  -xvf  bomb651.tar</a:t>
            </a:r>
          </a:p>
          <a:p>
            <a:pPr>
              <a:lnSpc>
                <a:spcPct val="150000"/>
              </a:lnSpc>
            </a:pPr>
            <a:r>
              <a:rPr kumimoji="1" lang="en-US" altLang="zh-CN" sz="2400" dirty="0">
                <a:latin typeface="Times New Roman" panose="02020603050405020304" pitchFamily="18" charset="0"/>
                <a:cs typeface="Times New Roman" panose="02020603050405020304" pitchFamily="18" charset="0"/>
              </a:rPr>
              <a:t>	cd ./bomb</a:t>
            </a:r>
          </a:p>
          <a:p>
            <a:pPr>
              <a:lnSpc>
                <a:spcPct val="150000"/>
              </a:lnSpc>
            </a:pPr>
            <a:r>
              <a:rPr kumimoji="1" lang="en-US" altLang="zh-CN" sz="2400" dirty="0">
                <a:latin typeface="Times New Roman" panose="02020603050405020304" pitchFamily="18" charset="0"/>
                <a:cs typeface="Times New Roman" panose="02020603050405020304" pitchFamily="18" charset="0"/>
              </a:rPr>
              <a:t>	</a:t>
            </a:r>
            <a:r>
              <a:rPr lang="es-ES" altLang="zh-CN" sz="2400" dirty="0" err="1">
                <a:latin typeface="Times New Roman" panose="02020603050405020304" pitchFamily="18" charset="0"/>
                <a:cs typeface="Times New Roman" panose="02020603050405020304" pitchFamily="18" charset="0"/>
              </a:rPr>
              <a:t>objdump</a:t>
            </a:r>
            <a:r>
              <a:rPr lang="es-ES" altLang="zh-CN" sz="2400" dirty="0">
                <a:latin typeface="Times New Roman" panose="02020603050405020304" pitchFamily="18" charset="0"/>
                <a:cs typeface="Times New Roman" panose="02020603050405020304" pitchFamily="18" charset="0"/>
              </a:rPr>
              <a:t> -d </a:t>
            </a:r>
            <a:r>
              <a:rPr lang="es-ES" altLang="zh-CN" sz="2400" dirty="0" err="1">
                <a:latin typeface="Times New Roman" panose="02020603050405020304" pitchFamily="18" charset="0"/>
                <a:cs typeface="Times New Roman" panose="02020603050405020304" pitchFamily="18" charset="0"/>
              </a:rPr>
              <a:t>bomb</a:t>
            </a:r>
            <a:r>
              <a:rPr lang="es-ES" altLang="zh-CN" sz="2400" dirty="0">
                <a:latin typeface="Times New Roman" panose="02020603050405020304" pitchFamily="18" charset="0"/>
                <a:cs typeface="Times New Roman" panose="02020603050405020304" pitchFamily="18" charset="0"/>
              </a:rPr>
              <a:t> &gt; </a:t>
            </a:r>
            <a:r>
              <a:rPr lang="es-ES" altLang="zh-CN" sz="2400" dirty="0" err="1">
                <a:latin typeface="Times New Roman" panose="02020603050405020304" pitchFamily="18" charset="0"/>
                <a:cs typeface="Times New Roman" panose="02020603050405020304" pitchFamily="18" charset="0"/>
              </a:rPr>
              <a:t>bomb.txt</a:t>
            </a:r>
            <a:r>
              <a:rPr lang="es-ES" altLang="zh-CN" sz="2400" dirty="0">
                <a:latin typeface="Times New Roman" panose="02020603050405020304" pitchFamily="18" charset="0"/>
                <a:cs typeface="Times New Roman" panose="02020603050405020304" pitchFamily="18" charset="0"/>
              </a:rPr>
              <a:t>        </a:t>
            </a:r>
            <a:r>
              <a:rPr lang="es-ES" altLang="zh-CN" sz="2400" dirty="0" err="1">
                <a:solidFill>
                  <a:schemeClr val="bg2">
                    <a:lumMod val="75000"/>
                  </a:schemeClr>
                </a:solidFill>
                <a:latin typeface="Times New Roman" panose="02020603050405020304" pitchFamily="18" charset="0"/>
                <a:cs typeface="Times New Roman" panose="02020603050405020304" pitchFamily="18" charset="0"/>
              </a:rPr>
              <a:t>ctrl</a:t>
            </a:r>
            <a:r>
              <a:rPr lang="es-ES" altLang="zh-CN" sz="2400" dirty="0">
                <a:solidFill>
                  <a:schemeClr val="bg2">
                    <a:lumMod val="75000"/>
                  </a:schemeClr>
                </a:solidFill>
                <a:latin typeface="Times New Roman" panose="02020603050405020304" pitchFamily="18" charset="0"/>
                <a:cs typeface="Times New Roman" panose="02020603050405020304" pitchFamily="18" charset="0"/>
              </a:rPr>
              <a:t>/</a:t>
            </a:r>
            <a:r>
              <a:rPr lang="en-US" altLang="zh-CN" sz="2400" dirty="0" err="1">
                <a:solidFill>
                  <a:schemeClr val="bg2">
                    <a:lumMod val="75000"/>
                  </a:schemeClr>
                </a:solidFill>
                <a:latin typeface="Times New Roman" panose="02020603050405020304" pitchFamily="18" charset="0"/>
                <a:cs typeface="Times New Roman" panose="02020603050405020304" pitchFamily="18" charset="0"/>
              </a:rPr>
              <a:t>command+f</a:t>
            </a:r>
            <a:endParaRPr lang="es-ES" altLang="zh-CN" sz="2400" dirty="0">
              <a:solidFill>
                <a:schemeClr val="bg2">
                  <a:lumMod val="75000"/>
                </a:schemeClr>
              </a:solidFill>
              <a:latin typeface="Times New Roman" panose="02020603050405020304" pitchFamily="18" charset="0"/>
              <a:cs typeface="Times New Roman" panose="02020603050405020304" pitchFamily="18" charset="0"/>
            </a:endParaRPr>
          </a:p>
          <a:p>
            <a:pPr>
              <a:lnSpc>
                <a:spcPct val="150000"/>
              </a:lnSpc>
            </a:pPr>
            <a:r>
              <a:rPr kumimoji="1" lang="es-ES" altLang="zh-CN" sz="2400" dirty="0">
                <a:latin typeface="Times New Roman" panose="02020603050405020304" pitchFamily="18" charset="0"/>
                <a:cs typeface="Times New Roman" panose="02020603050405020304" pitchFamily="18" charset="0"/>
              </a:rPr>
              <a:t>	</a:t>
            </a:r>
            <a:r>
              <a:rPr kumimoji="1" lang="es-ES" altLang="zh-CN" sz="2400" dirty="0" err="1">
                <a:latin typeface="Times New Roman" panose="02020603050405020304" pitchFamily="18" charset="0"/>
                <a:cs typeface="Times New Roman" panose="02020603050405020304" pitchFamily="18" charset="0"/>
              </a:rPr>
              <a:t>gdb</a:t>
            </a:r>
            <a:r>
              <a:rPr kumimoji="1" lang="es-ES" altLang="zh-CN" sz="2400" dirty="0">
                <a:latin typeface="Times New Roman" panose="02020603050405020304" pitchFamily="18" charset="0"/>
                <a:cs typeface="Times New Roman" panose="02020603050405020304" pitchFamily="18" charset="0"/>
              </a:rPr>
              <a:t> </a:t>
            </a:r>
            <a:r>
              <a:rPr kumimoji="1" lang="es-ES" altLang="zh-CN" sz="2400" dirty="0" err="1">
                <a:latin typeface="Times New Roman" panose="02020603050405020304" pitchFamily="18" charset="0"/>
                <a:cs typeface="Times New Roman" panose="02020603050405020304" pitchFamily="18" charset="0"/>
              </a:rPr>
              <a:t>bomb</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9113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1723549" cy="584775"/>
          </a:xfrm>
          <a:prstGeom prst="rect">
            <a:avLst/>
          </a:prstGeom>
          <a:noFill/>
        </p:spPr>
        <p:txBody>
          <a:bodyPr wrap="none" rtlCol="0">
            <a:spAutoFit/>
          </a:bodyPr>
          <a:lstStyle/>
          <a:p>
            <a:r>
              <a:rPr kumimoji="1" lang="en-US" altLang="zh-CN" sz="3200" dirty="0" err="1">
                <a:latin typeface="Times New Roman" panose="02020603050405020304" pitchFamily="18" charset="0"/>
                <a:cs typeface="Times New Roman" panose="02020603050405020304" pitchFamily="18" charset="0"/>
              </a:rPr>
              <a:t>gdb</a:t>
            </a:r>
            <a:r>
              <a:rPr kumimoji="1" lang="zh-CN" altLang="en-US" sz="3200" dirty="0">
                <a:latin typeface="Times New Roman" panose="02020603050405020304" pitchFamily="18" charset="0"/>
                <a:cs typeface="Times New Roman" panose="02020603050405020304" pitchFamily="18" charset="0"/>
              </a:rPr>
              <a:t> 调试</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a:t>
            </a:fld>
            <a:endParaRPr kumimoji="1"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15171442-DA14-CA42-9ACB-9F201250C727}"/>
              </a:ext>
            </a:extLst>
          </p:cNvPr>
          <p:cNvPicPr>
            <a:picLocks noChangeAspect="1"/>
          </p:cNvPicPr>
          <p:nvPr/>
        </p:nvPicPr>
        <p:blipFill>
          <a:blip r:embed="rId2"/>
          <a:stretch>
            <a:fillRect/>
          </a:stretch>
        </p:blipFill>
        <p:spPr>
          <a:xfrm>
            <a:off x="4863546" y="1320798"/>
            <a:ext cx="3670300" cy="2222500"/>
          </a:xfrm>
          <a:prstGeom prst="rect">
            <a:avLst/>
          </a:prstGeom>
        </p:spPr>
      </p:pic>
      <p:pic>
        <p:nvPicPr>
          <p:cNvPr id="14" name="图片 13">
            <a:extLst>
              <a:ext uri="{FF2B5EF4-FFF2-40B4-BE49-F238E27FC236}">
                <a16:creationId xmlns:a16="http://schemas.microsoft.com/office/drawing/2014/main" id="{A9A4D77C-FD16-CB47-A7DB-4723AFA03059}"/>
              </a:ext>
            </a:extLst>
          </p:cNvPr>
          <p:cNvPicPr>
            <a:picLocks noChangeAspect="1"/>
          </p:cNvPicPr>
          <p:nvPr/>
        </p:nvPicPr>
        <p:blipFill>
          <a:blip r:embed="rId3"/>
          <a:stretch>
            <a:fillRect/>
          </a:stretch>
        </p:blipFill>
        <p:spPr>
          <a:xfrm>
            <a:off x="1205946" y="1320800"/>
            <a:ext cx="3657600" cy="3975100"/>
          </a:xfrm>
          <a:prstGeom prst="rect">
            <a:avLst/>
          </a:prstGeom>
        </p:spPr>
      </p:pic>
      <p:sp>
        <p:nvSpPr>
          <p:cNvPr id="15" name="文本框 14">
            <a:extLst>
              <a:ext uri="{FF2B5EF4-FFF2-40B4-BE49-F238E27FC236}">
                <a16:creationId xmlns:a16="http://schemas.microsoft.com/office/drawing/2014/main" id="{63FEC3C3-5035-854B-9F6C-665C66B2EC67}"/>
              </a:ext>
            </a:extLst>
          </p:cNvPr>
          <p:cNvSpPr txBox="1"/>
          <p:nvPr/>
        </p:nvSpPr>
        <p:spPr>
          <a:xfrm>
            <a:off x="5411724" y="4151869"/>
            <a:ext cx="4296369" cy="1141851"/>
          </a:xfrm>
          <a:prstGeom prst="rect">
            <a:avLst/>
          </a:prstGeom>
          <a:noFill/>
        </p:spPr>
        <p:txBody>
          <a:bodyPr wrap="none" rtlCol="0">
            <a:spAutoFit/>
          </a:bodyPr>
          <a:lstStyle/>
          <a:p>
            <a:pPr>
              <a:lnSpc>
                <a:spcPct val="150000"/>
              </a:lnSpc>
            </a:pPr>
            <a:r>
              <a:rPr kumimoji="1" lang="zh-CN" altLang="en-US" sz="2400" dirty="0">
                <a:latin typeface="Times New Roman" panose="02020603050405020304" pitchFamily="18" charset="0"/>
                <a:cs typeface="Times New Roman" panose="02020603050405020304" pitchFamily="18" charset="0"/>
              </a:rPr>
              <a:t>一条好用的指令：</a:t>
            </a:r>
            <a:r>
              <a:rPr kumimoji="1" lang="es-ES" altLang="zh-CN" sz="2400" b="1" dirty="0" err="1">
                <a:latin typeface="Times New Roman" panose="02020603050405020304" pitchFamily="18" charset="0"/>
                <a:cs typeface="Times New Roman" panose="02020603050405020304" pitchFamily="18" charset="0"/>
              </a:rPr>
              <a:t>display</a:t>
            </a:r>
            <a:r>
              <a:rPr kumimoji="1" lang="es-ES" altLang="zh-CN" sz="2400" b="1" dirty="0">
                <a:latin typeface="Times New Roman" panose="02020603050405020304" pitchFamily="18" charset="0"/>
                <a:cs typeface="Times New Roman" panose="02020603050405020304" pitchFamily="18" charset="0"/>
              </a:rPr>
              <a:t>/i $pc</a:t>
            </a:r>
          </a:p>
          <a:p>
            <a:pPr>
              <a:lnSpc>
                <a:spcPct val="150000"/>
              </a:lnSpc>
            </a:pPr>
            <a:r>
              <a:rPr kumimoji="1" lang="zh-CN" altLang="es-ES" sz="2400" dirty="0">
                <a:latin typeface="Times New Roman" panose="02020603050405020304" pitchFamily="18" charset="0"/>
                <a:cs typeface="Times New Roman" panose="02020603050405020304" pitchFamily="18" charset="0"/>
              </a:rPr>
              <a:t>显示</a:t>
            </a:r>
            <a:r>
              <a:rPr kumimoji="1" lang="zh-CN" altLang="en-US" sz="2400" dirty="0">
                <a:latin typeface="Times New Roman" panose="02020603050405020304" pitchFamily="18" charset="0"/>
                <a:cs typeface="Times New Roman" panose="02020603050405020304" pitchFamily="18" charset="0"/>
              </a:rPr>
              <a:t>下一步将要执行的指令</a:t>
            </a:r>
          </a:p>
        </p:txBody>
      </p:sp>
    </p:spTree>
    <p:extLst>
      <p:ext uri="{BB962C8B-B14F-4D97-AF65-F5344CB8AC3E}">
        <p14:creationId xmlns:p14="http://schemas.microsoft.com/office/powerpoint/2010/main" val="8765950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3688830"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main </a:t>
            </a:r>
            <a:r>
              <a:rPr kumimoji="1" lang="zh-CN" altLang="en-US" sz="3200" dirty="0">
                <a:latin typeface="Times New Roman" panose="02020603050405020304" pitchFamily="18" charset="0"/>
                <a:cs typeface="Times New Roman" panose="02020603050405020304" pitchFamily="18" charset="0"/>
              </a:rPr>
              <a:t>函数中的信息</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9E2123F8-5D75-884E-925E-77B96F18D351}"/>
              </a:ext>
            </a:extLst>
          </p:cNvPr>
          <p:cNvPicPr>
            <a:picLocks noChangeAspect="1"/>
          </p:cNvPicPr>
          <p:nvPr/>
        </p:nvPicPr>
        <p:blipFill>
          <a:blip r:embed="rId2"/>
          <a:stretch>
            <a:fillRect/>
          </a:stretch>
        </p:blipFill>
        <p:spPr>
          <a:xfrm>
            <a:off x="953736" y="2289175"/>
            <a:ext cx="10284528" cy="2279650"/>
          </a:xfrm>
          <a:prstGeom prst="rect">
            <a:avLst/>
          </a:prstGeom>
        </p:spPr>
      </p:pic>
    </p:spTree>
    <p:extLst>
      <p:ext uri="{BB962C8B-B14F-4D97-AF65-F5344CB8AC3E}">
        <p14:creationId xmlns:p14="http://schemas.microsoft.com/office/powerpoint/2010/main" val="3001350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305724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其他需要的信息</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a:t>
            </a:fld>
            <a:endParaRPr kumimoji="1"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C88FC743-1CCA-0C4D-A94D-289EA4473DE8}"/>
              </a:ext>
            </a:extLst>
          </p:cNvPr>
          <p:cNvPicPr>
            <a:picLocks noChangeAspect="1"/>
          </p:cNvPicPr>
          <p:nvPr/>
        </p:nvPicPr>
        <p:blipFill>
          <a:blip r:embed="rId2"/>
          <a:stretch>
            <a:fillRect/>
          </a:stretch>
        </p:blipFill>
        <p:spPr>
          <a:xfrm>
            <a:off x="405257" y="1372428"/>
            <a:ext cx="5690743" cy="3370246"/>
          </a:xfrm>
          <a:prstGeom prst="rect">
            <a:avLst/>
          </a:prstGeom>
        </p:spPr>
      </p:pic>
      <p:pic>
        <p:nvPicPr>
          <p:cNvPr id="14" name="图片 13">
            <a:extLst>
              <a:ext uri="{FF2B5EF4-FFF2-40B4-BE49-F238E27FC236}">
                <a16:creationId xmlns:a16="http://schemas.microsoft.com/office/drawing/2014/main" id="{9D714B79-8161-7941-8D5D-5475C43894BD}"/>
              </a:ext>
            </a:extLst>
          </p:cNvPr>
          <p:cNvPicPr>
            <a:picLocks noChangeAspect="1"/>
          </p:cNvPicPr>
          <p:nvPr/>
        </p:nvPicPr>
        <p:blipFill>
          <a:blip r:embed="rId3"/>
          <a:stretch>
            <a:fillRect/>
          </a:stretch>
        </p:blipFill>
        <p:spPr>
          <a:xfrm>
            <a:off x="6164290" y="1591553"/>
            <a:ext cx="5659487" cy="3220695"/>
          </a:xfrm>
          <a:prstGeom prst="rect">
            <a:avLst/>
          </a:prstGeom>
        </p:spPr>
      </p:pic>
    </p:spTree>
    <p:extLst>
      <p:ext uri="{BB962C8B-B14F-4D97-AF65-F5344CB8AC3E}">
        <p14:creationId xmlns:p14="http://schemas.microsoft.com/office/powerpoint/2010/main" val="23946725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2488095" y="2041068"/>
            <a:ext cx="7215809" cy="2020490"/>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phase_1</a:t>
            </a:r>
          </a:p>
          <a:p>
            <a:pPr algn="ctr">
              <a:lnSpc>
                <a:spcPct val="150000"/>
              </a:lnSpc>
            </a:pPr>
            <a:r>
              <a:rPr kumimoji="1" lang="en-US" altLang="zh-CN" sz="4400" dirty="0">
                <a:latin typeface="Times New Roman" panose="02020603050405020304" pitchFamily="18" charset="0"/>
                <a:ea typeface="KaiTi" panose="02010609060101010101" pitchFamily="49" charset="-122"/>
                <a:cs typeface="Times New Roman" panose="02020603050405020304" pitchFamily="18" charset="0"/>
              </a:rPr>
              <a:t>String Search </a:t>
            </a:r>
            <a:endParaRPr kumimoji="1" lang="zh-CN" altLang="en-US" sz="4400" dirty="0">
              <a:latin typeface="Times New Roman" panose="02020603050405020304" pitchFamily="18" charset="0"/>
              <a:ea typeface="KaiTi" panose="02010609060101010101" pitchFamily="49" charset="-122"/>
              <a:cs typeface="Times New Roman" panose="02020603050405020304" pitchFamily="18" charset="0"/>
            </a:endParaRPr>
          </a:p>
        </p:txBody>
      </p:sp>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a:t>
            </a:fld>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67010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7</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7814049" cy="225202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t>从内存中找到目标字符串</a:t>
            </a:r>
            <a:endParaRPr kumimoji="1" lang="en-US" altLang="zh-CN" sz="2400" dirty="0"/>
          </a:p>
          <a:p>
            <a:pPr marL="342900" indent="-342900">
              <a:lnSpc>
                <a:spcPct val="150000"/>
              </a:lnSpc>
              <a:buFont typeface="Arial" panose="020B0604020202020204" pitchFamily="34" charset="0"/>
              <a:buChar char="•"/>
            </a:pPr>
            <a:r>
              <a:rPr kumimoji="1" lang="zh-CN" altLang="en-US" sz="2400" dirty="0"/>
              <a:t>与输入字符串比较</a:t>
            </a:r>
            <a:endParaRPr kumimoji="1" lang="en-US" altLang="zh-CN" sz="2400" dirty="0"/>
          </a:p>
          <a:p>
            <a:pPr marL="342900" indent="-342900">
              <a:lnSpc>
                <a:spcPct val="150000"/>
              </a:lnSpc>
              <a:buFont typeface="Arial" panose="020B0604020202020204" pitchFamily="34" charset="0"/>
              <a:buChar char="•"/>
            </a:pPr>
            <a:r>
              <a:rPr kumimoji="1" lang="zh-CN" altLang="en-US" sz="2400" dirty="0"/>
              <a:t>若二者相同则拆除炸弹，否则炸弹爆炸</a:t>
            </a:r>
            <a:endParaRPr kumimoji="1" lang="en-US" altLang="zh-CN" sz="2400" dirty="0"/>
          </a:p>
          <a:p>
            <a:pPr marL="342900" indent="-342900">
              <a:lnSpc>
                <a:spcPct val="150000"/>
              </a:lnSpc>
              <a:buFont typeface="Arial" panose="020B0604020202020204" pitchFamily="34" charset="0"/>
              <a:buChar char="•"/>
            </a:pPr>
            <a:r>
              <a:rPr kumimoji="1" lang="zh-CN" altLang="en-US" sz="2400" dirty="0"/>
              <a:t>因此输入字符串应当与内存中存放的目标字符串相同</a:t>
            </a:r>
          </a:p>
        </p:txBody>
      </p:sp>
    </p:spTree>
    <p:extLst>
      <p:ext uri="{BB962C8B-B14F-4D97-AF65-F5344CB8AC3E}">
        <p14:creationId xmlns:p14="http://schemas.microsoft.com/office/powerpoint/2010/main" val="5189111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8</a:t>
            </a:fld>
            <a:endParaRPr kumimoji="1" lang="zh-CN" altLang="en-US" dirty="0">
              <a:latin typeface="Times New Roman" panose="02020603050405020304" pitchFamily="18" charset="0"/>
              <a:cs typeface="Times New Roman" panose="02020603050405020304" pitchFamily="18" charset="0"/>
            </a:endParaRPr>
          </a:p>
        </p:txBody>
      </p:sp>
      <p:pic>
        <p:nvPicPr>
          <p:cNvPr id="18" name="图片 17">
            <a:extLst>
              <a:ext uri="{FF2B5EF4-FFF2-40B4-BE49-F238E27FC236}">
                <a16:creationId xmlns:a16="http://schemas.microsoft.com/office/drawing/2014/main" id="{F21F6ACD-1B2B-6D49-A7B4-2B0E6FC74EC0}"/>
              </a:ext>
            </a:extLst>
          </p:cNvPr>
          <p:cNvPicPr>
            <a:picLocks noChangeAspect="1"/>
          </p:cNvPicPr>
          <p:nvPr/>
        </p:nvPicPr>
        <p:blipFill>
          <a:blip r:embed="rId2"/>
          <a:stretch>
            <a:fillRect/>
          </a:stretch>
        </p:blipFill>
        <p:spPr>
          <a:xfrm>
            <a:off x="1463261" y="1395868"/>
            <a:ext cx="8661398" cy="2496886"/>
          </a:xfrm>
          <a:prstGeom prst="rect">
            <a:avLst/>
          </a:prstGeom>
        </p:spPr>
      </p:pic>
      <p:sp>
        <p:nvSpPr>
          <p:cNvPr id="19" name="矩形 18">
            <a:extLst>
              <a:ext uri="{FF2B5EF4-FFF2-40B4-BE49-F238E27FC236}">
                <a16:creationId xmlns:a16="http://schemas.microsoft.com/office/drawing/2014/main" id="{84165EB2-B4DD-6942-895B-FA19F1144DF2}"/>
              </a:ext>
            </a:extLst>
          </p:cNvPr>
          <p:cNvSpPr/>
          <p:nvPr/>
        </p:nvSpPr>
        <p:spPr>
          <a:xfrm>
            <a:off x="4509052" y="1977886"/>
            <a:ext cx="2457806" cy="3081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73056A8C-0B56-D549-B6B0-6DFCC578F1AB}"/>
              </a:ext>
            </a:extLst>
          </p:cNvPr>
          <p:cNvCxnSpPr>
            <a:cxnSpLocks/>
          </p:cNvCxnSpPr>
          <p:nvPr/>
        </p:nvCxnSpPr>
        <p:spPr>
          <a:xfrm flipV="1">
            <a:off x="6506817" y="1182752"/>
            <a:ext cx="1045428" cy="7903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DEA3B7D-ED0B-1C42-8624-266D62A21CEE}"/>
              </a:ext>
            </a:extLst>
          </p:cNvPr>
          <p:cNvSpPr txBox="1"/>
          <p:nvPr/>
        </p:nvSpPr>
        <p:spPr>
          <a:xfrm>
            <a:off x="4979504" y="703364"/>
            <a:ext cx="4290541" cy="461665"/>
          </a:xfrm>
          <a:prstGeom prst="rect">
            <a:avLst/>
          </a:prstGeom>
          <a:noFill/>
          <a:ln w="31750">
            <a:solidFill>
              <a:schemeClr val="accent1"/>
            </a:solidFill>
          </a:ln>
        </p:spPr>
        <p:txBody>
          <a:bodyPr wrap="square" rtlCol="0">
            <a:spAutoFit/>
          </a:bodyPr>
          <a:lstStyle/>
          <a:p>
            <a:pPr algn="ctr"/>
            <a:r>
              <a:rPr kumimoji="1" lang="zh-CN" altLang="en-US" sz="2400" dirty="0">
                <a:latin typeface="Times New Roman" panose="02020603050405020304" pitchFamily="18" charset="0"/>
                <a:cs typeface="Times New Roman" panose="02020603050405020304" pitchFamily="18" charset="0"/>
              </a:rPr>
              <a:t>将一个内存地址送入了</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endParaRPr kumimoji="1" lang="zh-CN" altLang="en-US" sz="2400" dirty="0">
              <a:latin typeface="Times New Roman" panose="02020603050405020304" pitchFamily="18" charset="0"/>
              <a:cs typeface="Times New Roman" panose="02020603050405020304" pitchFamily="18" charset="0"/>
            </a:endParaRPr>
          </a:p>
        </p:txBody>
      </p:sp>
      <p:pic>
        <p:nvPicPr>
          <p:cNvPr id="23" name="图片 22">
            <a:extLst>
              <a:ext uri="{FF2B5EF4-FFF2-40B4-BE49-F238E27FC236}">
                <a16:creationId xmlns:a16="http://schemas.microsoft.com/office/drawing/2014/main" id="{A854676A-0275-9547-97AC-9A7364831695}"/>
              </a:ext>
            </a:extLst>
          </p:cNvPr>
          <p:cNvPicPr>
            <a:picLocks noChangeAspect="1"/>
          </p:cNvPicPr>
          <p:nvPr/>
        </p:nvPicPr>
        <p:blipFill rotWithShape="1">
          <a:blip r:embed="rId3"/>
          <a:srcRect t="56427"/>
          <a:stretch/>
        </p:blipFill>
        <p:spPr>
          <a:xfrm>
            <a:off x="1443532" y="4424447"/>
            <a:ext cx="9484869" cy="860122"/>
          </a:xfrm>
          <a:prstGeom prst="rect">
            <a:avLst/>
          </a:prstGeom>
        </p:spPr>
      </p:pic>
      <p:sp>
        <p:nvSpPr>
          <p:cNvPr id="17" name="文本框 16">
            <a:extLst>
              <a:ext uri="{FF2B5EF4-FFF2-40B4-BE49-F238E27FC236}">
                <a16:creationId xmlns:a16="http://schemas.microsoft.com/office/drawing/2014/main" id="{DF9C153B-1C7F-4448-8523-386C6D64B77B}"/>
              </a:ext>
            </a:extLst>
          </p:cNvPr>
          <p:cNvSpPr txBox="1"/>
          <p:nvPr/>
        </p:nvSpPr>
        <p:spPr>
          <a:xfrm>
            <a:off x="1342730" y="5284569"/>
            <a:ext cx="3047999" cy="579967"/>
          </a:xfrm>
          <a:prstGeom prst="rect">
            <a:avLst/>
          </a:prstGeom>
          <a:noFill/>
        </p:spPr>
        <p:txBody>
          <a:bodyPr wrap="square">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answer_string</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9906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9</a:t>
            </a:fld>
            <a:endParaRPr kumimoji="1" lang="zh-CN" altLang="en-US" dirty="0">
              <a:latin typeface="Times New Roman" panose="02020603050405020304" pitchFamily="18" charset="0"/>
              <a:cs typeface="Times New Roman" panose="02020603050405020304" pitchFamily="18" charset="0"/>
            </a:endParaRPr>
          </a:p>
        </p:txBody>
      </p:sp>
      <p:pic>
        <p:nvPicPr>
          <p:cNvPr id="18" name="图片 17">
            <a:extLst>
              <a:ext uri="{FF2B5EF4-FFF2-40B4-BE49-F238E27FC236}">
                <a16:creationId xmlns:a16="http://schemas.microsoft.com/office/drawing/2014/main" id="{F21F6ACD-1B2B-6D49-A7B4-2B0E6FC74EC0}"/>
              </a:ext>
            </a:extLst>
          </p:cNvPr>
          <p:cNvPicPr>
            <a:picLocks noChangeAspect="1"/>
          </p:cNvPicPr>
          <p:nvPr/>
        </p:nvPicPr>
        <p:blipFill>
          <a:blip r:embed="rId2"/>
          <a:stretch>
            <a:fillRect/>
          </a:stretch>
        </p:blipFill>
        <p:spPr>
          <a:xfrm>
            <a:off x="1463261" y="1395868"/>
            <a:ext cx="8654162" cy="2494800"/>
          </a:xfrm>
          <a:prstGeom prst="rect">
            <a:avLst/>
          </a:prstGeom>
        </p:spPr>
      </p:pic>
      <p:sp>
        <p:nvSpPr>
          <p:cNvPr id="19" name="矩形 18">
            <a:extLst>
              <a:ext uri="{FF2B5EF4-FFF2-40B4-BE49-F238E27FC236}">
                <a16:creationId xmlns:a16="http://schemas.microsoft.com/office/drawing/2014/main" id="{84165EB2-B4DD-6942-895B-FA19F1144DF2}"/>
              </a:ext>
            </a:extLst>
          </p:cNvPr>
          <p:cNvSpPr/>
          <p:nvPr/>
        </p:nvSpPr>
        <p:spPr>
          <a:xfrm>
            <a:off x="4509052" y="1977886"/>
            <a:ext cx="2457806" cy="3081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73056A8C-0B56-D549-B6B0-6DFCC578F1AB}"/>
              </a:ext>
            </a:extLst>
          </p:cNvPr>
          <p:cNvCxnSpPr>
            <a:cxnSpLocks/>
          </p:cNvCxnSpPr>
          <p:nvPr/>
        </p:nvCxnSpPr>
        <p:spPr>
          <a:xfrm flipV="1">
            <a:off x="6506817" y="1182752"/>
            <a:ext cx="1045428" cy="7903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DEA3B7D-ED0B-1C42-8624-266D62A21CEE}"/>
              </a:ext>
            </a:extLst>
          </p:cNvPr>
          <p:cNvSpPr txBox="1"/>
          <p:nvPr/>
        </p:nvSpPr>
        <p:spPr>
          <a:xfrm>
            <a:off x="4979504" y="703364"/>
            <a:ext cx="4290541" cy="461665"/>
          </a:xfrm>
          <a:prstGeom prst="rect">
            <a:avLst/>
          </a:prstGeom>
          <a:noFill/>
          <a:ln w="31750">
            <a:solidFill>
              <a:schemeClr val="accent1"/>
            </a:solidFill>
          </a:ln>
        </p:spPr>
        <p:txBody>
          <a:bodyPr wrap="square" rtlCol="0">
            <a:spAutoFit/>
          </a:bodyPr>
          <a:lstStyle/>
          <a:p>
            <a:pPr algn="ctr"/>
            <a:r>
              <a:rPr kumimoji="1" lang="zh-CN" altLang="en-US" sz="2400" dirty="0">
                <a:latin typeface="Times New Roman" panose="02020603050405020304" pitchFamily="18" charset="0"/>
                <a:cs typeface="Times New Roman" panose="02020603050405020304" pitchFamily="18" charset="0"/>
              </a:rPr>
              <a:t>将一个内存地址送入了</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endParaRPr kumimoji="1" lang="zh-CN" altLang="en-US" sz="24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5465EB5F-8781-BF40-8B38-AE354D2853F0}"/>
              </a:ext>
            </a:extLst>
          </p:cNvPr>
          <p:cNvPicPr>
            <a:picLocks noChangeAspect="1"/>
          </p:cNvPicPr>
          <p:nvPr/>
        </p:nvPicPr>
        <p:blipFill>
          <a:blip r:embed="rId3"/>
          <a:stretch>
            <a:fillRect/>
          </a:stretch>
        </p:blipFill>
        <p:spPr>
          <a:xfrm>
            <a:off x="1463261" y="4049648"/>
            <a:ext cx="5168900" cy="1625600"/>
          </a:xfrm>
          <a:prstGeom prst="rect">
            <a:avLst/>
          </a:prstGeom>
        </p:spPr>
      </p:pic>
      <p:sp>
        <p:nvSpPr>
          <p:cNvPr id="2" name="文本框 1">
            <a:extLst>
              <a:ext uri="{FF2B5EF4-FFF2-40B4-BE49-F238E27FC236}">
                <a16:creationId xmlns:a16="http://schemas.microsoft.com/office/drawing/2014/main" id="{324F951D-3B31-9049-9578-13CEECBA0C48}"/>
              </a:ext>
            </a:extLst>
          </p:cNvPr>
          <p:cNvSpPr txBox="1"/>
          <p:nvPr/>
        </p:nvSpPr>
        <p:spPr>
          <a:xfrm>
            <a:off x="6836228" y="4572464"/>
            <a:ext cx="2743201" cy="579967"/>
          </a:xfrm>
          <a:prstGeom prst="rect">
            <a:avLst/>
          </a:prstGeom>
          <a:noFill/>
        </p:spPr>
        <p:txBody>
          <a:bodyPr wrap="square" rtlCol="0">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rdi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input_string</a:t>
            </a:r>
            <a:endParaRPr kumimoji="1" lang="en-US" altLang="zh-CN" sz="240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A8E71E0A-CA4E-C44A-81FD-05365F256A16}"/>
              </a:ext>
            </a:extLst>
          </p:cNvPr>
          <p:cNvSpPr txBox="1"/>
          <p:nvPr/>
        </p:nvSpPr>
        <p:spPr>
          <a:xfrm>
            <a:off x="1798037" y="585062"/>
            <a:ext cx="3047999" cy="579967"/>
          </a:xfrm>
          <a:prstGeom prst="rect">
            <a:avLst/>
          </a:prstGeom>
          <a:noFill/>
        </p:spPr>
        <p:txBody>
          <a:bodyPr wrap="square">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answer_string</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633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C4C6FFA1-4F78-804C-B9CD-1FC76773D4E0}"/>
              </a:ext>
            </a:extLst>
          </p:cNvPr>
          <p:cNvPicPr>
            <a:picLocks noChangeAspect="1"/>
          </p:cNvPicPr>
          <p:nvPr/>
        </p:nvPicPr>
        <p:blipFill>
          <a:blip r:embed="rId2"/>
          <a:stretch>
            <a:fillRect/>
          </a:stretch>
        </p:blipFill>
        <p:spPr>
          <a:xfrm>
            <a:off x="-1" y="-14498"/>
            <a:ext cx="12192001" cy="6410825"/>
          </a:xfrm>
          <a:prstGeom prst="rect">
            <a:avLst/>
          </a:prstGeom>
        </p:spPr>
      </p:pic>
      <p:sp>
        <p:nvSpPr>
          <p:cNvPr id="19" name="文本框 18">
            <a:extLst>
              <a:ext uri="{FF2B5EF4-FFF2-40B4-BE49-F238E27FC236}">
                <a16:creationId xmlns:a16="http://schemas.microsoft.com/office/drawing/2014/main" id="{EB59071E-B376-054F-BD4E-9AB192AB0873}"/>
              </a:ext>
            </a:extLst>
          </p:cNvPr>
          <p:cNvSpPr txBox="1"/>
          <p:nvPr/>
        </p:nvSpPr>
        <p:spPr>
          <a:xfrm>
            <a:off x="6802151" y="1485612"/>
            <a:ext cx="4272879" cy="646331"/>
          </a:xfrm>
          <a:prstGeom prst="rect">
            <a:avLst/>
          </a:prstGeom>
          <a:noFill/>
          <a:ln w="31750">
            <a:solidFill>
              <a:schemeClr val="accent1"/>
            </a:solidFill>
          </a:ln>
        </p:spPr>
        <p:txBody>
          <a:bodyPr wrap="square" rtlCol="0">
            <a:spAutoFit/>
          </a:bodyPr>
          <a:lstStyle/>
          <a:p>
            <a:r>
              <a:rPr kumimoji="1" lang="zh-CN" altLang="en-US" dirty="0">
                <a:solidFill>
                  <a:schemeClr val="bg2"/>
                </a:solidFill>
                <a:latin typeface="Times New Roman" panose="02020603050405020304" pitchFamily="18" charset="0"/>
                <a:cs typeface="Times New Roman" panose="02020603050405020304" pitchFamily="18" charset="0"/>
              </a:rPr>
              <a:t>写代码时对变量和函数进行清晰有意义地命名可以很好地提升代码可读性</a:t>
            </a:r>
          </a:p>
        </p:txBody>
      </p:sp>
      <p:sp>
        <p:nvSpPr>
          <p:cNvPr id="20" name="矩形 19">
            <a:extLst>
              <a:ext uri="{FF2B5EF4-FFF2-40B4-BE49-F238E27FC236}">
                <a16:creationId xmlns:a16="http://schemas.microsoft.com/office/drawing/2014/main" id="{63BD41EE-5444-B54A-98D9-E8EDA3300B62}"/>
              </a:ext>
            </a:extLst>
          </p:cNvPr>
          <p:cNvSpPr/>
          <p:nvPr/>
        </p:nvSpPr>
        <p:spPr>
          <a:xfrm>
            <a:off x="4403035" y="1470991"/>
            <a:ext cx="1401417" cy="25841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5A0FA02B-847F-F340-8F9D-4B3732A15FEE}"/>
              </a:ext>
            </a:extLst>
          </p:cNvPr>
          <p:cNvSpPr/>
          <p:nvPr/>
        </p:nvSpPr>
        <p:spPr>
          <a:xfrm>
            <a:off x="1550504" y="-14506"/>
            <a:ext cx="1932925" cy="25841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9024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11</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DC33BF97-7872-4742-890D-C388740A066D}"/>
              </a:ext>
            </a:extLst>
          </p:cNvPr>
          <p:cNvSpPr txBox="1"/>
          <p:nvPr/>
        </p:nvSpPr>
        <p:spPr>
          <a:xfrm>
            <a:off x="3293255" y="2428021"/>
            <a:ext cx="5605489" cy="2001958"/>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phase_2</a:t>
            </a:r>
          </a:p>
          <a:p>
            <a:pPr algn="ctr">
              <a:lnSpc>
                <a:spcPct val="150000"/>
              </a:lnSpc>
            </a:pPr>
            <a:r>
              <a:rPr kumimoji="1" lang="en-US" altLang="zh-CN" sz="4400" dirty="0">
                <a:latin typeface="Times New Roman" panose="02020603050405020304" pitchFamily="18" charset="0"/>
                <a:ea typeface="KaiTi" panose="02010609060101010101" pitchFamily="49" charset="-122"/>
                <a:cs typeface="Times New Roman" panose="02020603050405020304" pitchFamily="18" charset="0"/>
              </a:rPr>
              <a:t>Array and Stack</a:t>
            </a:r>
          </a:p>
        </p:txBody>
      </p:sp>
    </p:spTree>
    <p:extLst>
      <p:ext uri="{BB962C8B-B14F-4D97-AF65-F5344CB8AC3E}">
        <p14:creationId xmlns:p14="http://schemas.microsoft.com/office/powerpoint/2010/main" val="35709523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12</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28038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CN" sz="2400" dirty="0" err="1">
                <a:latin typeface="Times New Roman" panose="02020603050405020304" pitchFamily="18" charset="0"/>
                <a:cs typeface="Times New Roman" panose="02020603050405020304" pitchFamily="18" charset="0"/>
              </a:rPr>
              <a:t>read_six_numbers</a:t>
            </a:r>
            <a:r>
              <a:rPr kumimoji="1" lang="zh-CN" altLang="en-US" sz="2400" dirty="0">
                <a:latin typeface="Times New Roman" panose="02020603050405020304" pitchFamily="18" charset="0"/>
                <a:cs typeface="Times New Roman" panose="02020603050405020304" pitchFamily="18" charset="0"/>
              </a:rPr>
              <a:t> 将输入的字符串格式化为</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个整数，并将这</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个整数</a:t>
            </a:r>
            <a:r>
              <a:rPr kumimoji="1" lang="zh-CN" altLang="en-US" sz="2400" b="1" dirty="0">
                <a:latin typeface="Times New Roman" panose="02020603050405020304" pitchFamily="18" charset="0"/>
                <a:cs typeface="Times New Roman" panose="02020603050405020304" pitchFamily="18" charset="0"/>
              </a:rPr>
              <a:t>存放在在一个临时数组变量中</a:t>
            </a:r>
            <a:endParaRPr kumimoji="1"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通过汇编代码发现栈顶的前</a:t>
            </a:r>
            <a:r>
              <a:rPr kumimoji="1" lang="en-US" altLang="zh-CN" sz="2400" dirty="0">
                <a:latin typeface="Times New Roman" panose="02020603050405020304" pitchFamily="18" charset="0"/>
                <a:cs typeface="Times New Roman" panose="02020603050405020304" pitchFamily="18" charset="0"/>
              </a:rPr>
              <a:t>2</a:t>
            </a:r>
            <a:r>
              <a:rPr kumimoji="1" lang="zh-CN" altLang="en-US" sz="2400" dirty="0">
                <a:latin typeface="Times New Roman" panose="02020603050405020304" pitchFamily="18" charset="0"/>
                <a:cs typeface="Times New Roman" panose="02020603050405020304" pitchFamily="18" charset="0"/>
              </a:rPr>
              <a:t>个整数分别为</a:t>
            </a:r>
            <a:r>
              <a:rPr kumimoji="1" lang="en-US" altLang="zh-CN" sz="2400" dirty="0">
                <a:latin typeface="Times New Roman" panose="02020603050405020304" pitchFamily="18" charset="0"/>
                <a:cs typeface="Times New Roman" panose="02020603050405020304" pitchFamily="18" charset="0"/>
              </a:rPr>
              <a:t>0</a:t>
            </a:r>
            <a:r>
              <a:rPr kumimoji="1" lang="zh-CN" altLang="en-US" sz="2400" dirty="0">
                <a:latin typeface="Times New Roman" panose="02020603050405020304" pitchFamily="18" charset="0"/>
                <a:cs typeface="Times New Roman" panose="02020603050405020304" pitchFamily="18" charset="0"/>
              </a:rPr>
              <a:t>和</a:t>
            </a:r>
            <a:r>
              <a:rPr kumimoji="1" lang="en-US" altLang="zh-CN" sz="2400" dirty="0">
                <a:latin typeface="Times New Roman" panose="02020603050405020304" pitchFamily="18" charset="0"/>
                <a:cs typeface="Times New Roman" panose="02020603050405020304" pitchFamily="18" charset="0"/>
              </a:rPr>
              <a:t>1</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汇编代码通过循环递推计算出后续</a:t>
            </a:r>
            <a:r>
              <a:rPr kumimoji="1" lang="en-US" altLang="zh-CN" sz="2400" dirty="0">
                <a:latin typeface="Times New Roman" panose="02020603050405020304" pitchFamily="18" charset="0"/>
                <a:cs typeface="Times New Roman" panose="02020603050405020304" pitchFamily="18" charset="0"/>
              </a:rPr>
              <a:t>4</a:t>
            </a:r>
            <a:r>
              <a:rPr kumimoji="1" lang="zh-CN" altLang="en-US" sz="2400" dirty="0">
                <a:latin typeface="Times New Roman" panose="02020603050405020304" pitchFamily="18" charset="0"/>
                <a:cs typeface="Times New Roman" panose="02020603050405020304" pitchFamily="18" charset="0"/>
              </a:rPr>
              <a:t>个整数值</a:t>
            </a:r>
            <a:r>
              <a:rPr kumimoji="1" lang="en-US" altLang="zh-CN" sz="2400" dirty="0">
                <a:latin typeface="Times New Roman" panose="02020603050405020304" pitchFamily="18" charset="0"/>
                <a:cs typeface="Times New Roman" panose="02020603050405020304" pitchFamily="18" charset="0"/>
              </a:rPr>
              <a:t>1</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3</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5</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11</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从而我们输入的字符串为</a:t>
            </a:r>
            <a:r>
              <a:rPr kumimoji="1" lang="en-US" altLang="zh-CN" sz="2400" dirty="0">
                <a:latin typeface="Times New Roman" panose="02020603050405020304" pitchFamily="18" charset="0"/>
                <a:cs typeface="Times New Roman" panose="02020603050405020304" pitchFamily="18" charset="0"/>
              </a:rPr>
              <a:t>0 1 1 3 5 11</a:t>
            </a:r>
          </a:p>
        </p:txBody>
      </p:sp>
    </p:spTree>
    <p:extLst>
      <p:ext uri="{BB962C8B-B14F-4D97-AF65-F5344CB8AC3E}">
        <p14:creationId xmlns:p14="http://schemas.microsoft.com/office/powerpoint/2010/main" val="28331426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13</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AE01B8F8-390F-B948-B694-BC26F0D8D2B1}"/>
              </a:ext>
            </a:extLst>
          </p:cNvPr>
          <p:cNvPicPr>
            <a:picLocks noChangeAspect="1"/>
          </p:cNvPicPr>
          <p:nvPr/>
        </p:nvPicPr>
        <p:blipFill>
          <a:blip r:embed="rId2"/>
          <a:stretch>
            <a:fillRect/>
          </a:stretch>
        </p:blipFill>
        <p:spPr>
          <a:xfrm>
            <a:off x="514350" y="461673"/>
            <a:ext cx="5500464" cy="5086354"/>
          </a:xfrm>
          <a:prstGeom prst="rect">
            <a:avLst/>
          </a:prstGeom>
        </p:spPr>
      </p:pic>
      <p:pic>
        <p:nvPicPr>
          <p:cNvPr id="16" name="图片 15">
            <a:extLst>
              <a:ext uri="{FF2B5EF4-FFF2-40B4-BE49-F238E27FC236}">
                <a16:creationId xmlns:a16="http://schemas.microsoft.com/office/drawing/2014/main" id="{D90EE0BF-98BA-9643-8007-C05900F523E2}"/>
              </a:ext>
            </a:extLst>
          </p:cNvPr>
          <p:cNvPicPr>
            <a:picLocks noChangeAspect="1"/>
          </p:cNvPicPr>
          <p:nvPr/>
        </p:nvPicPr>
        <p:blipFill>
          <a:blip r:embed="rId3"/>
          <a:stretch>
            <a:fillRect/>
          </a:stretch>
        </p:blipFill>
        <p:spPr>
          <a:xfrm>
            <a:off x="6014814" y="461665"/>
            <a:ext cx="5726793" cy="2591139"/>
          </a:xfrm>
          <a:prstGeom prst="rect">
            <a:avLst/>
          </a:prstGeom>
        </p:spPr>
      </p:pic>
    </p:spTree>
    <p:extLst>
      <p:ext uri="{BB962C8B-B14F-4D97-AF65-F5344CB8AC3E}">
        <p14:creationId xmlns:p14="http://schemas.microsoft.com/office/powerpoint/2010/main" val="8969412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14</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pic>
        <p:nvPicPr>
          <p:cNvPr id="17" name="图片 16">
            <a:extLst>
              <a:ext uri="{FF2B5EF4-FFF2-40B4-BE49-F238E27FC236}">
                <a16:creationId xmlns:a16="http://schemas.microsoft.com/office/drawing/2014/main" id="{78F5F1CC-D558-7746-918C-179AC48A36FC}"/>
              </a:ext>
            </a:extLst>
          </p:cNvPr>
          <p:cNvPicPr>
            <a:picLocks noChangeAspect="1"/>
          </p:cNvPicPr>
          <p:nvPr/>
        </p:nvPicPr>
        <p:blipFill rotWithShape="1">
          <a:blip r:embed="rId4"/>
          <a:srcRect l="62109"/>
          <a:stretch/>
        </p:blipFill>
        <p:spPr>
          <a:xfrm>
            <a:off x="7572375" y="2308715"/>
            <a:ext cx="4619625" cy="1718197"/>
          </a:xfrm>
          <a:prstGeom prst="rect">
            <a:avLst/>
          </a:prstGeom>
        </p:spPr>
      </p:pic>
      <p:pic>
        <p:nvPicPr>
          <p:cNvPr id="18" name="图片 17">
            <a:extLst>
              <a:ext uri="{FF2B5EF4-FFF2-40B4-BE49-F238E27FC236}">
                <a16:creationId xmlns:a16="http://schemas.microsoft.com/office/drawing/2014/main" id="{6806BCA5-B353-E843-8153-E26328ABCED2}"/>
              </a:ext>
            </a:extLst>
          </p:cNvPr>
          <p:cNvPicPr>
            <a:picLocks noChangeAspect="1"/>
          </p:cNvPicPr>
          <p:nvPr/>
        </p:nvPicPr>
        <p:blipFill rotWithShape="1">
          <a:blip r:embed="rId4"/>
          <a:srcRect l="-3555" r="58165"/>
          <a:stretch/>
        </p:blipFill>
        <p:spPr>
          <a:xfrm>
            <a:off x="2038350" y="2308713"/>
            <a:ext cx="5534025" cy="1718197"/>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86570" y="70338"/>
            <a:ext cx="2261652" cy="5785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10584699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15</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1" y="656126"/>
            <a:ext cx="2261652" cy="172549"/>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CFF99271-9AD9-534B-AAF7-41768F952EFE}"/>
              </a:ext>
            </a:extLst>
          </p:cNvPr>
          <p:cNvPicPr>
            <a:picLocks noChangeAspect="1"/>
          </p:cNvPicPr>
          <p:nvPr/>
        </p:nvPicPr>
        <p:blipFill rotWithShape="1">
          <a:blip r:embed="rId4"/>
          <a:srcRect r="37347" b="5406"/>
          <a:stretch/>
        </p:blipFill>
        <p:spPr>
          <a:xfrm>
            <a:off x="2601814" y="194461"/>
            <a:ext cx="5948835" cy="461665"/>
          </a:xfrm>
          <a:prstGeom prst="rect">
            <a:avLst/>
          </a:prstGeom>
        </p:spPr>
      </p:pic>
      <p:pic>
        <p:nvPicPr>
          <p:cNvPr id="3" name="图片 2">
            <a:extLst>
              <a:ext uri="{FF2B5EF4-FFF2-40B4-BE49-F238E27FC236}">
                <a16:creationId xmlns:a16="http://schemas.microsoft.com/office/drawing/2014/main" id="{19049F9B-837C-9E47-BB76-8FEB37AB2B6E}"/>
              </a:ext>
            </a:extLst>
          </p:cNvPr>
          <p:cNvPicPr>
            <a:picLocks noChangeAspect="1"/>
          </p:cNvPicPr>
          <p:nvPr/>
        </p:nvPicPr>
        <p:blipFill rotWithShape="1">
          <a:blip r:embed="rId4"/>
          <a:srcRect l="82589"/>
          <a:stretch/>
        </p:blipFill>
        <p:spPr>
          <a:xfrm>
            <a:off x="8550649" y="194461"/>
            <a:ext cx="1563736" cy="461665"/>
          </a:xfrm>
          <a:prstGeom prst="rect">
            <a:avLst/>
          </a:prstGeom>
        </p:spPr>
      </p:pic>
      <p:pic>
        <p:nvPicPr>
          <p:cNvPr id="21" name="图片 20">
            <a:extLst>
              <a:ext uri="{FF2B5EF4-FFF2-40B4-BE49-F238E27FC236}">
                <a16:creationId xmlns:a16="http://schemas.microsoft.com/office/drawing/2014/main" id="{1CAF3910-AF00-1A40-A010-2286D001326E}"/>
              </a:ext>
            </a:extLst>
          </p:cNvPr>
          <p:cNvPicPr>
            <a:picLocks noChangeAspect="1"/>
          </p:cNvPicPr>
          <p:nvPr/>
        </p:nvPicPr>
        <p:blipFill>
          <a:blip r:embed="rId5"/>
          <a:stretch>
            <a:fillRect/>
          </a:stretch>
        </p:blipFill>
        <p:spPr>
          <a:xfrm>
            <a:off x="2601814" y="715270"/>
            <a:ext cx="9027202" cy="4243385"/>
          </a:xfrm>
          <a:prstGeom prst="rect">
            <a:avLst/>
          </a:prstGeom>
        </p:spPr>
      </p:pic>
      <p:sp>
        <p:nvSpPr>
          <p:cNvPr id="22" name="矩形 21">
            <a:extLst>
              <a:ext uri="{FF2B5EF4-FFF2-40B4-BE49-F238E27FC236}">
                <a16:creationId xmlns:a16="http://schemas.microsoft.com/office/drawing/2014/main" id="{18C6B82A-91B6-D54B-9857-04663C7A1436}"/>
              </a:ext>
            </a:extLst>
          </p:cNvPr>
          <p:cNvSpPr/>
          <p:nvPr/>
        </p:nvSpPr>
        <p:spPr>
          <a:xfrm>
            <a:off x="5576231" y="3068765"/>
            <a:ext cx="2244578" cy="19198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3" name="直线箭头连接符 22">
            <a:extLst>
              <a:ext uri="{FF2B5EF4-FFF2-40B4-BE49-F238E27FC236}">
                <a16:creationId xmlns:a16="http://schemas.microsoft.com/office/drawing/2014/main" id="{55945156-BF8F-9942-BE92-7358554D61EC}"/>
              </a:ext>
            </a:extLst>
          </p:cNvPr>
          <p:cNvCxnSpPr>
            <a:cxnSpLocks/>
            <a:stCxn id="22" idx="3"/>
          </p:cNvCxnSpPr>
          <p:nvPr/>
        </p:nvCxnSpPr>
        <p:spPr>
          <a:xfrm flipV="1">
            <a:off x="7820809" y="2774186"/>
            <a:ext cx="181199" cy="3905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3D9419B-6087-F048-9453-A55C5F2727C8}"/>
              </a:ext>
            </a:extLst>
          </p:cNvPr>
          <p:cNvSpPr txBox="1"/>
          <p:nvPr/>
        </p:nvSpPr>
        <p:spPr>
          <a:xfrm>
            <a:off x="7793334" y="2356453"/>
            <a:ext cx="2656952" cy="400110"/>
          </a:xfrm>
          <a:prstGeom prst="rect">
            <a:avLst/>
          </a:prstGeom>
          <a:noFill/>
          <a:ln w="31750">
            <a:solidFill>
              <a:schemeClr val="accent1"/>
            </a:solidFill>
          </a:ln>
        </p:spPr>
        <p:txBody>
          <a:bodyPr wrap="square" rtlCol="0">
            <a:spAutoFit/>
          </a:bodyPr>
          <a:lstStyle/>
          <a:p>
            <a:pPr algn="ctr"/>
            <a:r>
              <a:rPr kumimoji="1" lang="en-US" altLang="zh-CN" sz="2000" dirty="0">
                <a:solidFill>
                  <a:schemeClr val="bg1"/>
                </a:solidFill>
                <a:latin typeface="Times New Roman" panose="02020603050405020304" pitchFamily="18" charset="0"/>
                <a:cs typeface="Times New Roman" panose="02020603050405020304" pitchFamily="18" charset="0"/>
              </a:rPr>
              <a:t>“%d %d %d %d %d %d”</a:t>
            </a:r>
            <a:endParaRPr kumimoji="1"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467E50F4-4154-0848-B632-B1D5F52BF0E9}"/>
              </a:ext>
            </a:extLst>
          </p:cNvPr>
          <p:cNvSpPr/>
          <p:nvPr/>
        </p:nvSpPr>
        <p:spPr>
          <a:xfrm>
            <a:off x="5576231" y="3426923"/>
            <a:ext cx="2974418" cy="27695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6"/>
          <a:srcRect r="26459"/>
          <a:stretch/>
        </p:blipFill>
        <p:spPr>
          <a:xfrm>
            <a:off x="79481" y="3458096"/>
            <a:ext cx="2450491" cy="1813825"/>
          </a:xfrm>
          <a:prstGeom prst="rect">
            <a:avLst/>
          </a:prstGeom>
        </p:spPr>
      </p:pic>
      <p:pic>
        <p:nvPicPr>
          <p:cNvPr id="14" name="图片 13">
            <a:extLst>
              <a:ext uri="{FF2B5EF4-FFF2-40B4-BE49-F238E27FC236}">
                <a16:creationId xmlns:a16="http://schemas.microsoft.com/office/drawing/2014/main" id="{F7ADFBAD-88EC-E943-B469-91E1EC1A32E1}"/>
              </a:ext>
            </a:extLst>
          </p:cNvPr>
          <p:cNvPicPr>
            <a:picLocks noChangeAspect="1"/>
          </p:cNvPicPr>
          <p:nvPr/>
        </p:nvPicPr>
        <p:blipFill>
          <a:blip r:embed="rId7"/>
          <a:stretch>
            <a:fillRect/>
          </a:stretch>
        </p:blipFill>
        <p:spPr>
          <a:xfrm>
            <a:off x="2601814" y="5001477"/>
            <a:ext cx="5816600" cy="381000"/>
          </a:xfrm>
          <a:prstGeom prst="rect">
            <a:avLst/>
          </a:prstGeom>
        </p:spPr>
      </p:pic>
      <p:sp>
        <p:nvSpPr>
          <p:cNvPr id="17" name="文本框 16">
            <a:extLst>
              <a:ext uri="{FF2B5EF4-FFF2-40B4-BE49-F238E27FC236}">
                <a16:creationId xmlns:a16="http://schemas.microsoft.com/office/drawing/2014/main" id="{51968A44-861E-F44F-8FB4-5F5FDDAD81AF}"/>
              </a:ext>
            </a:extLst>
          </p:cNvPr>
          <p:cNvSpPr txBox="1"/>
          <p:nvPr/>
        </p:nvSpPr>
        <p:spPr>
          <a:xfrm>
            <a:off x="8769554" y="5018974"/>
            <a:ext cx="1449436" cy="369332"/>
          </a:xfrm>
          <a:prstGeom prst="rect">
            <a:avLst/>
          </a:prstGeom>
          <a:noFill/>
        </p:spPr>
        <p:txBody>
          <a:bodyPr wrap="none" rtlCol="0">
            <a:spAutoFit/>
          </a:bodyPr>
          <a:lstStyle/>
          <a:p>
            <a:r>
              <a:rPr kumimoji="1" lang="en-US" altLang="zh-CN" dirty="0"/>
              <a:t>&gt;man </a:t>
            </a:r>
            <a:r>
              <a:rPr kumimoji="1" lang="en-US" altLang="zh-CN" dirty="0" err="1"/>
              <a:t>sccanf</a:t>
            </a:r>
            <a:endParaRPr kumimoji="1" lang="zh-CN" altLang="en-US" dirty="0"/>
          </a:p>
        </p:txBody>
      </p:sp>
      <p:sp>
        <p:nvSpPr>
          <p:cNvPr id="20" name="文本框 19">
            <a:extLst>
              <a:ext uri="{FF2B5EF4-FFF2-40B4-BE49-F238E27FC236}">
                <a16:creationId xmlns:a16="http://schemas.microsoft.com/office/drawing/2014/main" id="{EDC030E9-F339-094F-96BB-AF9AA71F36D1}"/>
              </a:ext>
            </a:extLst>
          </p:cNvPr>
          <p:cNvSpPr txBox="1"/>
          <p:nvPr/>
        </p:nvSpPr>
        <p:spPr>
          <a:xfrm>
            <a:off x="2529972" y="5594183"/>
            <a:ext cx="3198311" cy="369332"/>
          </a:xfrm>
          <a:prstGeom prst="rect">
            <a:avLst/>
          </a:prstGeom>
          <a:noFill/>
        </p:spPr>
        <p:txBody>
          <a:bodyPr wrap="none" rtlCol="0">
            <a:spAutoFit/>
          </a:bodyPr>
          <a:lstStyle/>
          <a:p>
            <a:r>
              <a:rPr kumimoji="1" lang="zh-CN" altLang="en-US" dirty="0"/>
              <a:t>第</a:t>
            </a:r>
            <a:r>
              <a:rPr kumimoji="1" lang="en-US" altLang="zh-CN" dirty="0"/>
              <a:t>7</a:t>
            </a:r>
            <a:r>
              <a:rPr kumimoji="1" lang="zh-CN" altLang="en-US" dirty="0"/>
              <a:t>，</a:t>
            </a:r>
            <a:r>
              <a:rPr kumimoji="1" lang="en-US" altLang="zh-CN" dirty="0"/>
              <a:t>8</a:t>
            </a:r>
            <a:r>
              <a:rPr kumimoji="1" lang="zh-CN" altLang="en-US" dirty="0"/>
              <a:t>个参数通过栈进行传递</a:t>
            </a:r>
          </a:p>
        </p:txBody>
      </p:sp>
    </p:spTree>
    <p:extLst>
      <p:ext uri="{BB962C8B-B14F-4D97-AF65-F5344CB8AC3E}">
        <p14:creationId xmlns:p14="http://schemas.microsoft.com/office/powerpoint/2010/main" val="39094324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16</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0" y="814039"/>
            <a:ext cx="2261652" cy="42374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4"/>
          <a:srcRect r="26459"/>
          <a:stretch/>
        </p:blipFill>
        <p:spPr>
          <a:xfrm>
            <a:off x="-14939" y="3881804"/>
            <a:ext cx="2450491" cy="1813825"/>
          </a:xfrm>
          <a:prstGeom prst="rect">
            <a:avLst/>
          </a:prstGeom>
        </p:spPr>
      </p:pic>
      <p:pic>
        <p:nvPicPr>
          <p:cNvPr id="2" name="图片 1">
            <a:extLst>
              <a:ext uri="{FF2B5EF4-FFF2-40B4-BE49-F238E27FC236}">
                <a16:creationId xmlns:a16="http://schemas.microsoft.com/office/drawing/2014/main" id="{D959C73E-B305-2441-88C9-7101C80FD614}"/>
              </a:ext>
            </a:extLst>
          </p:cNvPr>
          <p:cNvPicPr>
            <a:picLocks noChangeAspect="1"/>
          </p:cNvPicPr>
          <p:nvPr/>
        </p:nvPicPr>
        <p:blipFill>
          <a:blip r:embed="rId5"/>
          <a:stretch>
            <a:fillRect/>
          </a:stretch>
        </p:blipFill>
        <p:spPr>
          <a:xfrm>
            <a:off x="2800902" y="1376289"/>
            <a:ext cx="9055100" cy="1409700"/>
          </a:xfrm>
          <a:prstGeom prst="rect">
            <a:avLst/>
          </a:prstGeom>
        </p:spPr>
      </p:pic>
    </p:spTree>
    <p:extLst>
      <p:ext uri="{BB962C8B-B14F-4D97-AF65-F5344CB8AC3E}">
        <p14:creationId xmlns:p14="http://schemas.microsoft.com/office/powerpoint/2010/main" val="11539808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17</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0" y="1237785"/>
            <a:ext cx="2261652" cy="14351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4"/>
          <a:srcRect r="26459"/>
          <a:stretch/>
        </p:blipFill>
        <p:spPr>
          <a:xfrm>
            <a:off x="-14939" y="3881804"/>
            <a:ext cx="2450491" cy="1813825"/>
          </a:xfrm>
          <a:prstGeom prst="rect">
            <a:avLst/>
          </a:prstGeom>
        </p:spPr>
      </p:pic>
      <p:pic>
        <p:nvPicPr>
          <p:cNvPr id="14" name="图片 13">
            <a:extLst>
              <a:ext uri="{FF2B5EF4-FFF2-40B4-BE49-F238E27FC236}">
                <a16:creationId xmlns:a16="http://schemas.microsoft.com/office/drawing/2014/main" id="{048E930A-4647-1E48-BF0C-56596F95FC5A}"/>
              </a:ext>
            </a:extLst>
          </p:cNvPr>
          <p:cNvPicPr>
            <a:picLocks noChangeAspect="1"/>
          </p:cNvPicPr>
          <p:nvPr/>
        </p:nvPicPr>
        <p:blipFill>
          <a:blip r:embed="rId5"/>
          <a:stretch>
            <a:fillRect/>
          </a:stretch>
        </p:blipFill>
        <p:spPr>
          <a:xfrm>
            <a:off x="2500095" y="382114"/>
            <a:ext cx="3745312" cy="2700451"/>
          </a:xfrm>
          <a:prstGeom prst="rect">
            <a:avLst/>
          </a:prstGeom>
        </p:spPr>
      </p:pic>
      <p:sp>
        <p:nvSpPr>
          <p:cNvPr id="20" name="矩形 19">
            <a:extLst>
              <a:ext uri="{FF2B5EF4-FFF2-40B4-BE49-F238E27FC236}">
                <a16:creationId xmlns:a16="http://schemas.microsoft.com/office/drawing/2014/main" id="{3C9CBF3A-D9B3-6B4C-8947-F640DCD83B20}"/>
              </a:ext>
            </a:extLst>
          </p:cNvPr>
          <p:cNvSpPr/>
          <p:nvPr/>
        </p:nvSpPr>
        <p:spPr>
          <a:xfrm>
            <a:off x="4524866" y="2238375"/>
            <a:ext cx="1641058" cy="32571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4EF7A75-FE68-AC4E-A25B-7EA1F65FFE90}"/>
                  </a:ext>
                </a:extLst>
              </p:cNvPr>
              <p:cNvSpPr txBox="1"/>
              <p:nvPr/>
            </p:nvSpPr>
            <p:spPr>
              <a:xfrm>
                <a:off x="3902697" y="3409643"/>
                <a:ext cx="5558381" cy="2308324"/>
              </a:xfrm>
              <a:prstGeom prst="rect">
                <a:avLst/>
              </a:prstGeom>
              <a:noFill/>
            </p:spPr>
            <p:txBody>
              <a:bodyPr wrap="none"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𝑎</m:t>
                      </m:r>
                      <m:r>
                        <a:rPr kumimoji="1" lang="en-US" altLang="zh-CN" sz="2400" i="1" dirty="0" smtClean="0">
                          <a:latin typeface="Cambria Math" panose="02040503050406030204" pitchFamily="18" charset="0"/>
                        </a:rPr>
                        <m:t>[6]=[0,1,</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2</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3</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4</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5</m:t>
                          </m:r>
                        </m:sub>
                      </m:sSub>
                      <m:r>
                        <a:rPr kumimoji="1" lang="en-US" altLang="zh-CN" sz="2400" i="1" dirty="0" smtClean="0">
                          <a:latin typeface="Cambria Math" panose="02040503050406030204" pitchFamily="18" charset="0"/>
                        </a:rPr>
                        <m:t>]</m:t>
                      </m:r>
                    </m:oMath>
                  </m:oMathPara>
                </a14:m>
                <a:endParaRPr kumimoji="1" lang="en-US" altLang="zh-CN" sz="2400" dirty="0"/>
              </a:p>
              <a:p>
                <a:pPr>
                  <a:lnSpc>
                    <a:spcPct val="150000"/>
                  </a:lnSpc>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err="1" smtClean="0">
                              <a:latin typeface="Cambria Math" panose="02040503050406030204" pitchFamily="18" charset="0"/>
                            </a:rPr>
                            <m:t>𝑖</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2∗</m:t>
                      </m:r>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𝑖</m:t>
                          </m:r>
                          <m:r>
                            <a:rPr kumimoji="1" lang="en-US" altLang="zh-CN" sz="2400" i="1" dirty="0" smtClean="0">
                              <a:latin typeface="Cambria Math" panose="02040503050406030204" pitchFamily="18" charset="0"/>
                            </a:rPr>
                            <m:t>−2</m:t>
                          </m:r>
                        </m:e>
                      </m:d>
                      <m:r>
                        <a:rPr kumimoji="1" lang="en-US" altLang="zh-CN" sz="2400" i="1" dirty="0" smtClean="0">
                          <a:latin typeface="Cambria Math" panose="02040503050406030204" pitchFamily="18" charset="0"/>
                        </a:rPr>
                        <m:t>+</m:t>
                      </m:r>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𝑖</m:t>
                          </m:r>
                          <m:r>
                            <a:rPr kumimoji="1" lang="en-US" altLang="zh-CN" sz="2400" i="1" dirty="0" smtClean="0">
                              <a:latin typeface="Cambria Math" panose="02040503050406030204" pitchFamily="18" charset="0"/>
                            </a:rPr>
                            <m:t>−1</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 </m:t>
                      </m:r>
                      <m:r>
                        <a:rPr kumimoji="1" lang="en-US" altLang="zh-CN" sz="2400" b="0" i="1" dirty="0" smtClean="0">
                          <a:latin typeface="Cambria Math" panose="02040503050406030204" pitchFamily="18" charset="0"/>
                        </a:rPr>
                        <m:t>𝑖</m:t>
                      </m:r>
                      <m:r>
                        <a:rPr kumimoji="1" lang="en-US" altLang="zh-CN" sz="2400" b="0" i="1" dirty="0" smtClean="0">
                          <a:latin typeface="Cambria Math" panose="02040503050406030204" pitchFamily="18" charset="0"/>
                        </a:rPr>
                        <m:t>=2,3,4,5</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𝑎</m:t>
                      </m:r>
                      <m:d>
                        <m:dPr>
                          <m:begChr m:val="["/>
                          <m:endChr m:val="]"/>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𝑖</m:t>
                          </m:r>
                        </m:e>
                      </m:d>
                      <m:r>
                        <a:rPr kumimoji="1" lang="en-US" altLang="zh-CN" sz="2400" b="0" i="1" smtClean="0">
                          <a:latin typeface="Cambria Math" panose="02040503050406030204" pitchFamily="18" charset="0"/>
                        </a:rPr>
                        <m:t>=[0,1,1,3,5,11]</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𝑎𝑟𝑔</m:t>
                          </m:r>
                        </m:e>
                        <m:sub>
                          <m:r>
                            <a:rPr kumimoji="1" lang="en-US" altLang="zh-CN" sz="2400" b="0" i="1" smtClean="0">
                              <a:latin typeface="Cambria Math" panose="02040503050406030204" pitchFamily="18" charset="0"/>
                            </a:rPr>
                            <m:t>𝑘</m:t>
                          </m:r>
                        </m:sub>
                      </m:sSub>
                      <m:r>
                        <a:rPr kumimoji="1" lang="en-US" altLang="zh-CN" sz="2400" b="0" i="0" smtClean="0">
                          <a:latin typeface="Cambria Math" panose="02040503050406030204" pitchFamily="18" charset="0"/>
                        </a:rPr>
                        <m:t>=</m:t>
                      </m:r>
                      <m:r>
                        <a:rPr kumimoji="1" lang="en-US" altLang="zh-CN" sz="2400" b="0" i="1" smtClean="0">
                          <a:latin typeface="Cambria Math" panose="02040503050406030204" pitchFamily="18" charset="0"/>
                        </a:rPr>
                        <m:t>𝑎</m:t>
                      </m:r>
                      <m:d>
                        <m:dPr>
                          <m:begChr m:val="["/>
                          <m:endChr m:val="]"/>
                          <m:ctrlPr>
                            <a:rPr kumimoji="1" lang="en-US" altLang="zh-CN" sz="2400" b="0" i="1" smtClean="0">
                              <a:latin typeface="Cambria Math" panose="02040503050406030204" pitchFamily="18" charset="0"/>
                            </a:rPr>
                          </m:ctrlPr>
                        </m:dPr>
                        <m:e>
                          <m:r>
                            <m:rPr>
                              <m:sty m:val="p"/>
                            </m:rPr>
                            <a:rPr kumimoji="1" lang="en-US" altLang="zh-CN" sz="2400" b="0" i="0" smtClean="0">
                              <a:latin typeface="Cambria Math" panose="02040503050406030204" pitchFamily="18" charset="0"/>
                            </a:rPr>
                            <m:t>k</m:t>
                          </m:r>
                          <m:r>
                            <a:rPr kumimoji="1" lang="en-US" altLang="zh-CN" sz="2400" b="0" i="0" smtClean="0">
                              <a:latin typeface="Cambria Math" panose="02040503050406030204" pitchFamily="18" charset="0"/>
                            </a:rPr>
                            <m:t>−3</m:t>
                          </m:r>
                        </m:e>
                      </m:d>
                      <m:r>
                        <a:rPr kumimoji="1" lang="en-US" altLang="zh-CN" sz="2400" b="0" i="0" smtClean="0">
                          <a:latin typeface="Cambria Math" panose="02040503050406030204" pitchFamily="18" charset="0"/>
                        </a:rPr>
                        <m:t>,</m:t>
                      </m:r>
                      <m:r>
                        <m:rPr>
                          <m:sty m:val="p"/>
                        </m:rPr>
                        <a:rPr kumimoji="1" lang="en-US" altLang="zh-CN" sz="2400" b="0" i="0" smtClean="0">
                          <a:latin typeface="Cambria Math" panose="02040503050406030204" pitchFamily="18" charset="0"/>
                        </a:rPr>
                        <m:t>k</m:t>
                      </m:r>
                      <m:r>
                        <a:rPr kumimoji="1" lang="en-US" altLang="zh-CN" sz="2400" b="0" i="0" smtClean="0">
                          <a:latin typeface="Cambria Math" panose="02040503050406030204" pitchFamily="18" charset="0"/>
                        </a:rPr>
                        <m:t>=3,4,5,6,7,8</m:t>
                      </m:r>
                    </m:oMath>
                  </m:oMathPara>
                </a14:m>
                <a:endParaRPr kumimoji="1" lang="zh-CN" altLang="en-US" sz="2400" dirty="0"/>
              </a:p>
            </p:txBody>
          </p:sp>
        </mc:Choice>
        <mc:Fallback xmlns="">
          <p:sp>
            <p:nvSpPr>
              <p:cNvPr id="18" name="文本框 17">
                <a:extLst>
                  <a:ext uri="{FF2B5EF4-FFF2-40B4-BE49-F238E27FC236}">
                    <a16:creationId xmlns:a16="http://schemas.microsoft.com/office/drawing/2014/main" id="{A4EF7A75-FE68-AC4E-A25B-7EA1F65FFE90}"/>
                  </a:ext>
                </a:extLst>
              </p:cNvPr>
              <p:cNvSpPr txBox="1">
                <a:spLocks noRot="1" noChangeAspect="1" noMove="1" noResize="1" noEditPoints="1" noAdjustHandles="1" noChangeArrowheads="1" noChangeShapeType="1" noTextEdit="1"/>
              </p:cNvSpPr>
              <p:nvPr/>
            </p:nvSpPr>
            <p:spPr>
              <a:xfrm>
                <a:off x="3902697" y="3409643"/>
                <a:ext cx="5558381" cy="2308324"/>
              </a:xfrm>
              <a:prstGeom prst="rect">
                <a:avLst/>
              </a:prstGeom>
              <a:blipFill>
                <a:blip r:embed="rId6"/>
                <a:stretch>
                  <a:fillRect l="-228"/>
                </a:stretch>
              </a:blipFill>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CBA1B7D1-FC95-6941-97D9-BDFF63BB8947}"/>
              </a:ext>
            </a:extLst>
          </p:cNvPr>
          <p:cNvPicPr>
            <a:picLocks noChangeAspect="1"/>
          </p:cNvPicPr>
          <p:nvPr/>
        </p:nvPicPr>
        <p:blipFill>
          <a:blip r:embed="rId7"/>
          <a:stretch>
            <a:fillRect/>
          </a:stretch>
        </p:blipFill>
        <p:spPr>
          <a:xfrm>
            <a:off x="6245407" y="382106"/>
            <a:ext cx="5430407" cy="2379948"/>
          </a:xfrm>
          <a:prstGeom prst="rect">
            <a:avLst/>
          </a:prstGeom>
        </p:spPr>
      </p:pic>
    </p:spTree>
    <p:extLst>
      <p:ext uri="{BB962C8B-B14F-4D97-AF65-F5344CB8AC3E}">
        <p14:creationId xmlns:p14="http://schemas.microsoft.com/office/powerpoint/2010/main" val="37100564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18</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50FFB6B2-353F-C449-BC76-4CC51801E3EA}"/>
              </a:ext>
            </a:extLst>
          </p:cNvPr>
          <p:cNvSpPr txBox="1"/>
          <p:nvPr/>
        </p:nvSpPr>
        <p:spPr>
          <a:xfrm>
            <a:off x="506895" y="467139"/>
            <a:ext cx="3057247" cy="584775"/>
          </a:xfrm>
          <a:prstGeom prst="rect">
            <a:avLst/>
          </a:prstGeom>
          <a:noFill/>
        </p:spPr>
        <p:txBody>
          <a:bodyPr wrap="none" rtlCol="0">
            <a:spAutoFit/>
          </a:bodyPr>
          <a:lstStyle/>
          <a:p>
            <a:r>
              <a:rPr kumimoji="1" lang="zh-CN" altLang="en-US" sz="3200" dirty="0"/>
              <a:t>局部变量的存储</a:t>
            </a:r>
          </a:p>
        </p:txBody>
      </p:sp>
      <p:grpSp>
        <p:nvGrpSpPr>
          <p:cNvPr id="4" name="组合 3">
            <a:extLst>
              <a:ext uri="{FF2B5EF4-FFF2-40B4-BE49-F238E27FC236}">
                <a16:creationId xmlns:a16="http://schemas.microsoft.com/office/drawing/2014/main" id="{DB9CE705-A605-E345-AAF9-765DE3F89902}"/>
              </a:ext>
            </a:extLst>
          </p:cNvPr>
          <p:cNvGrpSpPr/>
          <p:nvPr/>
        </p:nvGrpSpPr>
        <p:grpSpPr>
          <a:xfrm>
            <a:off x="9005860" y="0"/>
            <a:ext cx="2888849" cy="2518715"/>
            <a:chOff x="8103829" y="1774989"/>
            <a:chExt cx="3584462" cy="3114842"/>
          </a:xfrm>
        </p:grpSpPr>
        <p:pic>
          <p:nvPicPr>
            <p:cNvPr id="22" name="图片 21">
              <a:extLst>
                <a:ext uri="{FF2B5EF4-FFF2-40B4-BE49-F238E27FC236}">
                  <a16:creationId xmlns:a16="http://schemas.microsoft.com/office/drawing/2014/main" id="{8F32D513-C995-2A49-AE50-95A2B6827A3A}"/>
                </a:ext>
              </a:extLst>
            </p:cNvPr>
            <p:cNvPicPr>
              <a:picLocks noChangeAspect="1"/>
            </p:cNvPicPr>
            <p:nvPr/>
          </p:nvPicPr>
          <p:blipFill rotWithShape="1">
            <a:blip r:embed="rId2"/>
            <a:srcRect r="26459"/>
            <a:stretch/>
          </p:blipFill>
          <p:spPr>
            <a:xfrm>
              <a:off x="8103829" y="1774989"/>
              <a:ext cx="3584462" cy="2653177"/>
            </a:xfrm>
            <a:prstGeom prst="rect">
              <a:avLst/>
            </a:prstGeom>
          </p:spPr>
        </p:pic>
        <p:pic>
          <p:nvPicPr>
            <p:cNvPr id="23" name="图片 22">
              <a:extLst>
                <a:ext uri="{FF2B5EF4-FFF2-40B4-BE49-F238E27FC236}">
                  <a16:creationId xmlns:a16="http://schemas.microsoft.com/office/drawing/2014/main" id="{ABBF436C-BDFA-4445-A2B0-A5D9B0A68C00}"/>
                </a:ext>
              </a:extLst>
            </p:cNvPr>
            <p:cNvPicPr>
              <a:picLocks noChangeAspect="1"/>
            </p:cNvPicPr>
            <p:nvPr/>
          </p:nvPicPr>
          <p:blipFill rotWithShape="1">
            <a:blip r:embed="rId3"/>
            <a:srcRect l="53496" t="67803" b="22873"/>
            <a:stretch/>
          </p:blipFill>
          <p:spPr>
            <a:xfrm>
              <a:off x="8299321" y="4428166"/>
              <a:ext cx="3193477" cy="461665"/>
            </a:xfrm>
            <a:prstGeom prst="rect">
              <a:avLst/>
            </a:prstGeom>
          </p:spPr>
        </p:pic>
      </p:grpSp>
      <p:sp>
        <p:nvSpPr>
          <p:cNvPr id="3" name="文本框 2">
            <a:extLst>
              <a:ext uri="{FF2B5EF4-FFF2-40B4-BE49-F238E27FC236}">
                <a16:creationId xmlns:a16="http://schemas.microsoft.com/office/drawing/2014/main" id="{A221072A-9B0C-294C-BE6D-99BB738D4F26}"/>
              </a:ext>
            </a:extLst>
          </p:cNvPr>
          <p:cNvSpPr txBox="1"/>
          <p:nvPr/>
        </p:nvSpPr>
        <p:spPr>
          <a:xfrm>
            <a:off x="606287" y="1242391"/>
            <a:ext cx="9591087" cy="18920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sz="2000" dirty="0"/>
              <a:t>在栈中</a:t>
            </a:r>
            <a:endParaRPr kumimoji="1" lang="en-US" altLang="zh-CN" sz="2000" dirty="0"/>
          </a:p>
          <a:p>
            <a:pPr marL="742950" lvl="1" indent="-285750">
              <a:lnSpc>
                <a:spcPct val="150000"/>
              </a:lnSpc>
              <a:buFont typeface="Wingdings" pitchFamily="2" charset="2"/>
              <a:buChar char="Ø"/>
            </a:pPr>
            <a:r>
              <a:rPr kumimoji="1" lang="zh-CN" altLang="en-US" sz="2000" dirty="0"/>
              <a:t>寄存器不足够存放所有的本地数据</a:t>
            </a:r>
            <a:endParaRPr kumimoji="1" lang="en-US" altLang="zh-CN" sz="2000" dirty="0"/>
          </a:p>
          <a:p>
            <a:pPr marL="742950" lvl="1" indent="-285750">
              <a:lnSpc>
                <a:spcPct val="150000"/>
              </a:lnSpc>
              <a:buFont typeface="Wingdings" pitchFamily="2" charset="2"/>
              <a:buChar char="Ø"/>
            </a:pPr>
            <a:r>
              <a:rPr kumimoji="1" lang="zh-CN" altLang="en-US" sz="2000" dirty="0"/>
              <a:t>对一个局部变量使用了地址运算‘</a:t>
            </a:r>
            <a:r>
              <a:rPr kumimoji="1" lang="en-US" altLang="zh-CN" sz="2000" dirty="0"/>
              <a:t>&amp;</a:t>
            </a:r>
            <a:r>
              <a:rPr kumimoji="1" lang="zh-CN" altLang="en-US" sz="2000" dirty="0"/>
              <a:t>’</a:t>
            </a:r>
            <a:endParaRPr kumimoji="1" lang="en-US" altLang="zh-CN" sz="2000" dirty="0"/>
          </a:p>
          <a:p>
            <a:pPr marL="742950" lvl="1" indent="-285750">
              <a:lnSpc>
                <a:spcPct val="150000"/>
              </a:lnSpc>
              <a:buFont typeface="Wingdings" pitchFamily="2" charset="2"/>
              <a:buChar char="Ø"/>
            </a:pPr>
            <a:r>
              <a:rPr kumimoji="1" lang="zh-CN" altLang="en-US" sz="2000" dirty="0"/>
              <a:t>局部变量是</a:t>
            </a:r>
            <a:r>
              <a:rPr kumimoji="1" lang="zh-CN" altLang="en-US" sz="2000" b="1" dirty="0"/>
              <a:t>数组</a:t>
            </a:r>
            <a:r>
              <a:rPr kumimoji="1" lang="en-US" altLang="zh-CN" sz="2000" dirty="0"/>
              <a:t>/</a:t>
            </a:r>
            <a:r>
              <a:rPr kumimoji="1" lang="zh-CN" altLang="en-US" sz="2000" dirty="0"/>
              <a:t>结构，必须能够通过数组</a:t>
            </a:r>
            <a:r>
              <a:rPr kumimoji="1" lang="en-US" altLang="zh-CN" sz="2000" dirty="0"/>
              <a:t>/</a:t>
            </a:r>
            <a:r>
              <a:rPr kumimoji="1" lang="zh-CN" altLang="en-US" sz="2000" dirty="0"/>
              <a:t>结构引用被访问到（本题的情况）</a:t>
            </a:r>
            <a:endParaRPr kumimoji="1" lang="en-US" altLang="zh-CN" sz="2000" dirty="0"/>
          </a:p>
        </p:txBody>
      </p:sp>
      <p:sp>
        <p:nvSpPr>
          <p:cNvPr id="24" name="文本框 23">
            <a:extLst>
              <a:ext uri="{FF2B5EF4-FFF2-40B4-BE49-F238E27FC236}">
                <a16:creationId xmlns:a16="http://schemas.microsoft.com/office/drawing/2014/main" id="{56E9EDA6-12C9-F74B-ABC7-873933806919}"/>
              </a:ext>
            </a:extLst>
          </p:cNvPr>
          <p:cNvSpPr txBox="1"/>
          <p:nvPr/>
        </p:nvSpPr>
        <p:spPr>
          <a:xfrm>
            <a:off x="651663" y="3324924"/>
            <a:ext cx="10110460" cy="189026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sz="2000" dirty="0">
                <a:latin typeface="Times New Roman" panose="02020603050405020304" pitchFamily="18" charset="0"/>
                <a:cs typeface="Times New Roman" panose="02020603050405020304" pitchFamily="18" charset="0"/>
              </a:rPr>
              <a:t>在寄存器中</a:t>
            </a:r>
            <a:endParaRPr kumimoji="1" lang="en-US" altLang="zh-CN" sz="2000" dirty="0">
              <a:latin typeface="Times New Roman" panose="02020603050405020304" pitchFamily="18" charset="0"/>
              <a:cs typeface="Times New Roman" panose="02020603050405020304" pitchFamily="18" charset="0"/>
            </a:endParaRP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寄存器是唯一被所有过程共享的资源</a:t>
            </a:r>
            <a:endParaRPr kumimoji="1" lang="en-US" altLang="zh-CN" sz="2000" dirty="0">
              <a:latin typeface="Times New Roman" panose="02020603050405020304" pitchFamily="18" charset="0"/>
              <a:cs typeface="Times New Roman" panose="02020603050405020304" pitchFamily="18" charset="0"/>
            </a:endParaRP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被调用者保存（</a:t>
            </a:r>
            <a:r>
              <a:rPr kumimoji="1" lang="en-US" altLang="zh-CN" sz="2000" dirty="0">
                <a:latin typeface="Times New Roman" panose="02020603050405020304" pitchFamily="18" charset="0"/>
                <a:cs typeface="Times New Roman" panose="02020603050405020304" pitchFamily="18" charset="0"/>
              </a:rPr>
              <a:t>callee saved</a:t>
            </a:r>
            <a:r>
              <a:rPr kumimoji="1" lang="zh-CN" altLang="en-US" sz="2000" dirty="0">
                <a:latin typeface="Times New Roman" panose="02020603050405020304" pitchFamily="18" charset="0"/>
                <a:cs typeface="Times New Roman" panose="02020603050405020304" pitchFamily="18" charset="0"/>
              </a:rPr>
              <a:t>）寄存器：</a:t>
            </a:r>
            <a:r>
              <a:rPr kumimoji="1" lang="en-US" altLang="zh-CN" sz="2000" dirty="0">
                <a:latin typeface="Times New Roman" panose="02020603050405020304" pitchFamily="18" charset="0"/>
                <a:cs typeface="Times New Roman" panose="02020603050405020304" pitchFamily="18" charset="0"/>
              </a:rPr>
              <a:t>%rbx,%rbp,%r12~%r15</a:t>
            </a: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调用者保存（</a:t>
            </a:r>
            <a:r>
              <a:rPr kumimoji="1" lang="en-US" altLang="zh-CN" sz="2000" dirty="0">
                <a:latin typeface="Times New Roman" panose="02020603050405020304" pitchFamily="18" charset="0"/>
                <a:cs typeface="Times New Roman" panose="02020603050405020304" pitchFamily="18" charset="0"/>
              </a:rPr>
              <a:t>caller saved</a:t>
            </a:r>
            <a:r>
              <a:rPr kumimoji="1" lang="zh-CN" altLang="en-US" sz="2000" dirty="0">
                <a:latin typeface="Times New Roman" panose="02020603050405020304" pitchFamily="18" charset="0"/>
                <a:cs typeface="Times New Roman" panose="02020603050405020304" pitchFamily="18" charset="0"/>
              </a:rPr>
              <a:t>）寄存器：除被调用者寄存器以及</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dirty="0" err="1">
                <a:solidFill>
                  <a:srgbClr val="FF0000"/>
                </a:solidFill>
                <a:latin typeface="Times New Roman" panose="02020603050405020304" pitchFamily="18" charset="0"/>
                <a:cs typeface="Times New Roman" panose="02020603050405020304" pitchFamily="18" charset="0"/>
              </a:rPr>
              <a:t>rsp</a:t>
            </a:r>
            <a:r>
              <a:rPr kumimoji="1" lang="zh-CN" altLang="en-US" sz="2000" dirty="0">
                <a:latin typeface="Times New Roman" panose="02020603050405020304" pitchFamily="18" charset="0"/>
                <a:cs typeface="Times New Roman" panose="02020603050405020304" pitchFamily="18" charset="0"/>
              </a:rPr>
              <a:t>以外的其他寄存器</a:t>
            </a:r>
            <a:endParaRPr kumimoji="1"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3706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19</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CB7E0E8D-125D-1E41-910C-6F84A7B85695}"/>
              </a:ext>
            </a:extLst>
          </p:cNvPr>
          <p:cNvSpPr txBox="1"/>
          <p:nvPr/>
        </p:nvSpPr>
        <p:spPr>
          <a:xfrm>
            <a:off x="2965510" y="2421448"/>
            <a:ext cx="6260980" cy="201510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phase_3</a:t>
            </a:r>
          </a:p>
          <a:p>
            <a:pPr algn="ctr">
              <a:lnSpc>
                <a:spcPct val="150000"/>
              </a:lnSpc>
            </a:pPr>
            <a:r>
              <a:rPr kumimoji="1" lang="es-ES" altLang="zh-CN" sz="4400" dirty="0">
                <a:latin typeface="Times New Roman" panose="02020603050405020304" pitchFamily="18" charset="0"/>
                <a:cs typeface="Times New Roman" panose="02020603050405020304" pitchFamily="18" charset="0"/>
              </a:rPr>
              <a:t>﻿</a:t>
            </a:r>
            <a:r>
              <a:rPr kumimoji="1" lang="es-ES" altLang="zh-CN" sz="4400" dirty="0" err="1">
                <a:latin typeface="Times New Roman" panose="02020603050405020304" pitchFamily="18" charset="0"/>
                <a:cs typeface="Times New Roman" panose="02020603050405020304" pitchFamily="18" charset="0"/>
              </a:rPr>
              <a:t>Switch</a:t>
            </a:r>
            <a:r>
              <a:rPr kumimoji="1" lang="es-ES" altLang="zh-CN" sz="4400" dirty="0">
                <a:latin typeface="Times New Roman" panose="02020603050405020304" pitchFamily="18" charset="0"/>
                <a:cs typeface="Times New Roman" panose="02020603050405020304" pitchFamily="18" charset="0"/>
              </a:rPr>
              <a:t> and </a:t>
            </a:r>
            <a:r>
              <a:rPr kumimoji="1" lang="es-ES" altLang="zh-CN" sz="4400" dirty="0" err="1">
                <a:latin typeface="Times New Roman" panose="02020603050405020304" pitchFamily="18" charset="0"/>
                <a:cs typeface="Times New Roman" panose="02020603050405020304" pitchFamily="18" charset="0"/>
              </a:rPr>
              <a:t>Jmp</a:t>
            </a:r>
            <a:r>
              <a:rPr kumimoji="1" lang="es-ES" altLang="zh-CN" sz="4400" dirty="0">
                <a:latin typeface="Times New Roman" panose="02020603050405020304" pitchFamily="18" charset="0"/>
                <a:cs typeface="Times New Roman" panose="02020603050405020304" pitchFamily="18" charset="0"/>
              </a:rPr>
              <a:t> </a:t>
            </a:r>
            <a:r>
              <a:rPr kumimoji="1" lang="es-ES" altLang="zh-CN" sz="4400" dirty="0" err="1">
                <a:latin typeface="Times New Roman" panose="02020603050405020304" pitchFamily="18" charset="0"/>
                <a:cs typeface="Times New Roman" panose="02020603050405020304" pitchFamily="18" charset="0"/>
              </a:rPr>
              <a:t>Table</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50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20</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根据汇编代码易知输入的格式为</a:t>
            </a:r>
            <a:r>
              <a:rPr kumimoji="1" lang="en-US" altLang="zh-CN" sz="2400" dirty="0">
                <a:latin typeface="Times New Roman" panose="02020603050405020304" pitchFamily="18" charset="0"/>
                <a:cs typeface="Dubai" panose="020B0503030403030204" pitchFamily="34" charset="-78"/>
              </a:rPr>
              <a:t>%d %d</a:t>
            </a:r>
            <a:r>
              <a:rPr kumimoji="1" lang="zh-CN" altLang="en-US" sz="2400" dirty="0">
                <a:latin typeface="Times New Roman" panose="02020603050405020304" pitchFamily="18" charset="0"/>
                <a:cs typeface="Dubai" panose="020B0503030403030204" pitchFamily="34" charset="-78"/>
              </a:rPr>
              <a:t>，且第一个整数为</a:t>
            </a:r>
            <a:r>
              <a:rPr kumimoji="1" lang="en-US" altLang="zh-CN" sz="2400" dirty="0">
                <a:latin typeface="Times New Roman" panose="02020603050405020304" pitchFamily="18" charset="0"/>
                <a:cs typeface="Dubai" panose="020B0503030403030204" pitchFamily="34" charset="-78"/>
              </a:rPr>
              <a:t>0</a:t>
            </a:r>
            <a:r>
              <a:rPr kumimoji="1" lang="zh-CN" altLang="en-US" sz="2400" dirty="0">
                <a:latin typeface="Times New Roman" panose="02020603050405020304" pitchFamily="18" charset="0"/>
                <a:cs typeface="Dubai" panose="020B0503030403030204" pitchFamily="34" charset="-78"/>
              </a:rPr>
              <a:t>到</a:t>
            </a:r>
            <a:r>
              <a:rPr kumimoji="1" lang="en-US" altLang="zh-CN" sz="2400" dirty="0">
                <a:latin typeface="Times New Roman" panose="02020603050405020304" pitchFamily="18" charset="0"/>
                <a:cs typeface="Dubai" panose="020B0503030403030204" pitchFamily="34" charset="-78"/>
              </a:rPr>
              <a:t>7</a:t>
            </a:r>
            <a:r>
              <a:rPr kumimoji="1" lang="zh-CN" altLang="en-US" sz="2400" dirty="0">
                <a:latin typeface="Times New Roman" panose="02020603050405020304" pitchFamily="18" charset="0"/>
                <a:cs typeface="Dubai" panose="020B0503030403030204" pitchFamily="34" charset="-78"/>
              </a:rPr>
              <a:t>之间的数</a:t>
            </a:r>
            <a:endParaRPr kumimoji="1" lang="en-US" altLang="zh-CN" sz="2400" dirty="0">
              <a:latin typeface="Times New Roman" panose="02020603050405020304" pitchFamily="18" charset="0"/>
              <a:cs typeface="Dubai" panose="020B0503030403030204" pitchFamily="34" charset="-78"/>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第一个整数不同，跳转到的位置也不同，对应</a:t>
            </a:r>
            <a:r>
              <a:rPr kumimoji="1" lang="en-US" altLang="zh-CN" sz="2400" dirty="0">
                <a:latin typeface="Times New Roman" panose="02020603050405020304" pitchFamily="18" charset="0"/>
                <a:cs typeface="Times New Roman" panose="02020603050405020304" pitchFamily="18" charset="0"/>
              </a:rPr>
              <a:t>C</a:t>
            </a:r>
            <a:r>
              <a:rPr kumimoji="1" lang="zh-CN" altLang="en-US" sz="2400" dirty="0">
                <a:latin typeface="Times New Roman" panose="02020603050405020304" pitchFamily="18" charset="0"/>
                <a:cs typeface="Times New Roman" panose="02020603050405020304" pitchFamily="18" charset="0"/>
              </a:rPr>
              <a:t>中</a:t>
            </a:r>
            <a:r>
              <a:rPr kumimoji="1" lang="en-US" altLang="zh-CN" sz="2400" dirty="0">
                <a:latin typeface="Times New Roman" panose="02020603050405020304" pitchFamily="18" charset="0"/>
                <a:cs typeface="Times New Roman" panose="02020603050405020304" pitchFamily="18" charset="0"/>
              </a:rPr>
              <a:t>switch</a:t>
            </a:r>
            <a:r>
              <a:rPr kumimoji="1" lang="zh-CN" altLang="en-US" sz="2400" dirty="0">
                <a:latin typeface="Times New Roman" panose="02020603050405020304" pitchFamily="18" charset="0"/>
                <a:cs typeface="Times New Roman" panose="02020603050405020304" pitchFamily="18" charset="0"/>
              </a:rPr>
              <a:t>语句不同的</a:t>
            </a:r>
            <a:r>
              <a:rPr kumimoji="1" lang="en-US" altLang="zh-CN" sz="2400" dirty="0">
                <a:latin typeface="Times New Roman" panose="02020603050405020304" pitchFamily="18" charset="0"/>
                <a:cs typeface="Times New Roman" panose="02020603050405020304" pitchFamily="18" charset="0"/>
              </a:rPr>
              <a:t>case</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根据不同的</a:t>
            </a:r>
            <a:r>
              <a:rPr kumimoji="1" lang="en-US" altLang="zh-CN" sz="2400" dirty="0">
                <a:latin typeface="Times New Roman" panose="02020603050405020304" pitchFamily="18" charset="0"/>
                <a:cs typeface="Times New Roman" panose="02020603050405020304" pitchFamily="18" charset="0"/>
              </a:rPr>
              <a:t>case</a:t>
            </a:r>
            <a:r>
              <a:rPr kumimoji="1" lang="zh-CN" altLang="en-US" sz="2400" dirty="0">
                <a:latin typeface="Times New Roman" panose="02020603050405020304" pitchFamily="18" charset="0"/>
                <a:cs typeface="Times New Roman" panose="02020603050405020304" pitchFamily="18" charset="0"/>
              </a:rPr>
              <a:t>计算得到与输入的第一个整数对应的第二个整数</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8780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21</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395925" y="162442"/>
            <a:ext cx="5401559" cy="342616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5869103" y="166200"/>
            <a:ext cx="6021829" cy="4350290"/>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5869103" y="4516496"/>
            <a:ext cx="6021829" cy="951954"/>
          </a:xfrm>
          <a:prstGeom prst="rect">
            <a:avLst/>
          </a:prstGeom>
        </p:spPr>
      </p:pic>
    </p:spTree>
    <p:extLst>
      <p:ext uri="{BB962C8B-B14F-4D97-AF65-F5344CB8AC3E}">
        <p14:creationId xmlns:p14="http://schemas.microsoft.com/office/powerpoint/2010/main" val="3709237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22</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60256" y="94268"/>
            <a:ext cx="2111604" cy="5279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6E0FC186-0EF8-3C41-8B28-3860A515250C}"/>
              </a:ext>
            </a:extLst>
          </p:cNvPr>
          <p:cNvGrpSpPr/>
          <p:nvPr/>
        </p:nvGrpSpPr>
        <p:grpSpPr>
          <a:xfrm>
            <a:off x="4200939" y="1886343"/>
            <a:ext cx="7167787" cy="1922086"/>
            <a:chOff x="3612758" y="1820356"/>
            <a:chExt cx="5376712" cy="1400484"/>
          </a:xfrm>
        </p:grpSpPr>
        <p:pic>
          <p:nvPicPr>
            <p:cNvPr id="3" name="图片 2">
              <a:extLst>
                <a:ext uri="{FF2B5EF4-FFF2-40B4-BE49-F238E27FC236}">
                  <a16:creationId xmlns:a16="http://schemas.microsoft.com/office/drawing/2014/main" id="{7EBD2F1F-6583-3149-9629-10EFBF4BBE47}"/>
                </a:ext>
              </a:extLst>
            </p:cNvPr>
            <p:cNvPicPr>
              <a:picLocks noChangeAspect="1"/>
            </p:cNvPicPr>
            <p:nvPr/>
          </p:nvPicPr>
          <p:blipFill rotWithShape="1">
            <a:blip r:embed="rId5"/>
            <a:srcRect r="47151"/>
            <a:stretch/>
          </p:blipFill>
          <p:spPr>
            <a:xfrm>
              <a:off x="3612758" y="1820356"/>
              <a:ext cx="4522574" cy="1400484"/>
            </a:xfrm>
            <a:prstGeom prst="rect">
              <a:avLst/>
            </a:prstGeom>
          </p:spPr>
        </p:pic>
        <p:pic>
          <p:nvPicPr>
            <p:cNvPr id="4" name="图片 3">
              <a:extLst>
                <a:ext uri="{FF2B5EF4-FFF2-40B4-BE49-F238E27FC236}">
                  <a16:creationId xmlns:a16="http://schemas.microsoft.com/office/drawing/2014/main" id="{CE9F50E5-7F5A-3047-A2EE-C7772B84B5F7}"/>
                </a:ext>
              </a:extLst>
            </p:cNvPr>
            <p:cNvPicPr>
              <a:picLocks noChangeAspect="1"/>
            </p:cNvPicPr>
            <p:nvPr/>
          </p:nvPicPr>
          <p:blipFill rotWithShape="1">
            <a:blip r:embed="rId5"/>
            <a:srcRect l="90019"/>
            <a:stretch/>
          </p:blipFill>
          <p:spPr>
            <a:xfrm>
              <a:off x="8135332" y="1820356"/>
              <a:ext cx="854138" cy="1400484"/>
            </a:xfrm>
            <a:prstGeom prst="rect">
              <a:avLst/>
            </a:prstGeom>
          </p:spPr>
        </p:pic>
      </p:grpSp>
    </p:spTree>
    <p:extLst>
      <p:ext uri="{BB962C8B-B14F-4D97-AF65-F5344CB8AC3E}">
        <p14:creationId xmlns:p14="http://schemas.microsoft.com/office/powerpoint/2010/main" val="21760541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23</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49" y="612743"/>
            <a:ext cx="3223966" cy="13857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19" name="图片 18">
            <a:extLst>
              <a:ext uri="{FF2B5EF4-FFF2-40B4-BE49-F238E27FC236}">
                <a16:creationId xmlns:a16="http://schemas.microsoft.com/office/drawing/2014/main" id="{01237158-ECEF-EA40-883A-65FF115FCA67}"/>
              </a:ext>
            </a:extLst>
          </p:cNvPr>
          <p:cNvPicPr>
            <a:picLocks noChangeAspect="1"/>
          </p:cNvPicPr>
          <p:nvPr/>
        </p:nvPicPr>
        <p:blipFill>
          <a:blip r:embed="rId5"/>
          <a:stretch>
            <a:fillRect/>
          </a:stretch>
        </p:blipFill>
        <p:spPr>
          <a:xfrm>
            <a:off x="3537343" y="1134439"/>
            <a:ext cx="8532107" cy="2771113"/>
          </a:xfrm>
          <a:prstGeom prst="rect">
            <a:avLst/>
          </a:prstGeom>
        </p:spPr>
      </p:pic>
      <p:sp>
        <p:nvSpPr>
          <p:cNvPr id="20" name="矩形 19">
            <a:extLst>
              <a:ext uri="{FF2B5EF4-FFF2-40B4-BE49-F238E27FC236}">
                <a16:creationId xmlns:a16="http://schemas.microsoft.com/office/drawing/2014/main" id="{607B287B-39A4-5A4B-B39F-AB32A29D6255}"/>
              </a:ext>
            </a:extLst>
          </p:cNvPr>
          <p:cNvSpPr/>
          <p:nvPr/>
        </p:nvSpPr>
        <p:spPr>
          <a:xfrm>
            <a:off x="5783394" y="2831690"/>
            <a:ext cx="1895599"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3CADEF15-111E-BF4C-95C3-0FEFFFBD830E}"/>
              </a:ext>
            </a:extLst>
          </p:cNvPr>
          <p:cNvSpPr/>
          <p:nvPr/>
        </p:nvSpPr>
        <p:spPr>
          <a:xfrm>
            <a:off x="5783394" y="2505246"/>
            <a:ext cx="233948"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14FB2183-1EA3-8941-BAFD-A77A920C1B7D}"/>
              </a:ext>
            </a:extLst>
          </p:cNvPr>
          <p:cNvSpPr/>
          <p:nvPr/>
        </p:nvSpPr>
        <p:spPr>
          <a:xfrm>
            <a:off x="5783395" y="3368621"/>
            <a:ext cx="1305664" cy="15132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A976A876-B4AD-A545-A692-FD1F21A0ADBE}"/>
              </a:ext>
            </a:extLst>
          </p:cNvPr>
          <p:cNvCxnSpPr>
            <a:cxnSpLocks/>
          </p:cNvCxnSpPr>
          <p:nvPr/>
        </p:nvCxnSpPr>
        <p:spPr>
          <a:xfrm>
            <a:off x="7089059" y="3519948"/>
            <a:ext cx="973393" cy="5920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4B469B7-B6FE-EA40-A207-279F9A9EC8BC}"/>
              </a:ext>
            </a:extLst>
          </p:cNvPr>
          <p:cNvSpPr txBox="1"/>
          <p:nvPr/>
        </p:nvSpPr>
        <p:spPr>
          <a:xfrm>
            <a:off x="6274218" y="4127001"/>
            <a:ext cx="5106085" cy="1141851"/>
          </a:xfrm>
          <a:prstGeom prst="rect">
            <a:avLst/>
          </a:prstGeom>
          <a:noFill/>
          <a:ln w="31750">
            <a:solidFill>
              <a:schemeClr val="accent1"/>
            </a:solidFill>
          </a:ln>
        </p:spPr>
        <p:txBody>
          <a:bodyPr wrap="square" rtlCol="0">
            <a:spAutoFit/>
          </a:bodyPr>
          <a:lstStyle/>
          <a:p>
            <a:pPr algn="ct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rax</a:t>
            </a:r>
            <a:r>
              <a:rPr kumimoji="1" lang="en-US" altLang="zh-CN" sz="2400" dirty="0">
                <a:latin typeface="Times New Roman" panose="02020603050405020304" pitchFamily="18" charset="0"/>
                <a:cs typeface="Times New Roman" panose="02020603050405020304" pitchFamily="18" charset="0"/>
              </a:rPr>
              <a:t>=M[%rdx+4*%</a:t>
            </a:r>
            <a:r>
              <a:rPr kumimoji="1" lang="en-US" altLang="zh-CN" sz="2400" dirty="0" err="1">
                <a:latin typeface="Times New Roman" panose="02020603050405020304" pitchFamily="18" charset="0"/>
                <a:cs typeface="Times New Roman" panose="02020603050405020304" pitchFamily="18" charset="0"/>
              </a:rPr>
              <a:t>rax</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rdx</a:t>
            </a:r>
            <a:endParaRPr kumimoji="1" lang="en-US" altLang="zh-CN" sz="2400" dirty="0">
              <a:latin typeface="Times New Roman" panose="02020603050405020304" pitchFamily="18" charset="0"/>
              <a:cs typeface="Times New Roman" panose="02020603050405020304" pitchFamily="18" charset="0"/>
            </a:endParaRPr>
          </a:p>
          <a:p>
            <a:pPr algn="ctr">
              <a:lnSpc>
                <a:spcPct val="150000"/>
              </a:lnSpc>
            </a:pPr>
            <a:r>
              <a:rPr kumimoji="1" lang="zh-CN" altLang="en-US" sz="2400" dirty="0">
                <a:latin typeface="Times New Roman" panose="02020603050405020304" pitchFamily="18" charset="0"/>
                <a:cs typeface="Times New Roman" panose="02020603050405020304" pitchFamily="18" charset="0"/>
              </a:rPr>
              <a:t>基地址</a:t>
            </a:r>
            <a:r>
              <a:rPr kumimoji="1" lang="en-US" altLang="zh-CN" sz="2400"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存放在内存数组中的偏移量</a:t>
            </a:r>
          </a:p>
        </p:txBody>
      </p:sp>
    </p:spTree>
    <p:extLst>
      <p:ext uri="{BB962C8B-B14F-4D97-AF65-F5344CB8AC3E}">
        <p14:creationId xmlns:p14="http://schemas.microsoft.com/office/powerpoint/2010/main" val="19544020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50" y="2003855"/>
            <a:ext cx="3223966" cy="26290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4" name="图片 3">
            <a:extLst>
              <a:ext uri="{FF2B5EF4-FFF2-40B4-BE49-F238E27FC236}">
                <a16:creationId xmlns:a16="http://schemas.microsoft.com/office/drawing/2014/main" id="{1C64A4A0-4605-BD47-A14C-73D60869C17F}"/>
              </a:ext>
            </a:extLst>
          </p:cNvPr>
          <p:cNvPicPr>
            <a:picLocks noChangeAspect="1"/>
          </p:cNvPicPr>
          <p:nvPr/>
        </p:nvPicPr>
        <p:blipFill>
          <a:blip r:embed="rId5"/>
          <a:stretch>
            <a:fillRect/>
          </a:stretch>
        </p:blipFill>
        <p:spPr>
          <a:xfrm>
            <a:off x="4086742" y="0"/>
            <a:ext cx="7844212" cy="6031198"/>
          </a:xfrm>
          <a:prstGeom prst="rect">
            <a:avLst/>
          </a:prstGeom>
        </p:spPr>
      </p:pic>
    </p:spTree>
    <p:extLst>
      <p:ext uri="{BB962C8B-B14F-4D97-AF65-F5344CB8AC3E}">
        <p14:creationId xmlns:p14="http://schemas.microsoft.com/office/powerpoint/2010/main" val="17937359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25</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50" y="2003855"/>
            <a:ext cx="3223966" cy="26290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aphicFrame>
        <p:nvGraphicFramePr>
          <p:cNvPr id="4" name="表格 14">
            <a:extLst>
              <a:ext uri="{FF2B5EF4-FFF2-40B4-BE49-F238E27FC236}">
                <a16:creationId xmlns:a16="http://schemas.microsoft.com/office/drawing/2014/main" id="{1091E5C4-F470-824A-A4D0-A90AA07CD224}"/>
              </a:ext>
            </a:extLst>
          </p:cNvPr>
          <p:cNvGraphicFramePr>
            <a:graphicFrameLocks noGrp="1"/>
          </p:cNvGraphicFramePr>
          <p:nvPr>
            <p:extLst>
              <p:ext uri="{D42A27DB-BD31-4B8C-83A1-F6EECF244321}">
                <p14:modId xmlns:p14="http://schemas.microsoft.com/office/powerpoint/2010/main" val="1552951811"/>
              </p:ext>
            </p:extLst>
          </p:nvPr>
        </p:nvGraphicFramePr>
        <p:xfrm>
          <a:off x="4539226" y="678425"/>
          <a:ext cx="7003846" cy="4346811"/>
        </p:xfrm>
        <a:graphic>
          <a:graphicData uri="http://schemas.openxmlformats.org/drawingml/2006/table">
            <a:tbl>
              <a:tblPr firstRow="1" bandRow="1">
                <a:tableStyleId>{5C22544A-7EE6-4342-B048-85BDC9FD1C3A}</a:tableStyleId>
              </a:tblPr>
              <a:tblGrid>
                <a:gridCol w="3501923">
                  <a:extLst>
                    <a:ext uri="{9D8B030D-6E8A-4147-A177-3AD203B41FA5}">
                      <a16:colId xmlns:a16="http://schemas.microsoft.com/office/drawing/2014/main" val="971276763"/>
                    </a:ext>
                  </a:extLst>
                </a:gridCol>
                <a:gridCol w="3501923">
                  <a:extLst>
                    <a:ext uri="{9D8B030D-6E8A-4147-A177-3AD203B41FA5}">
                      <a16:colId xmlns:a16="http://schemas.microsoft.com/office/drawing/2014/main" val="2025307650"/>
                    </a:ext>
                  </a:extLst>
                </a:gridCol>
              </a:tblGrid>
              <a:tr h="482979">
                <a:tc>
                  <a:txBody>
                    <a:bodyPr/>
                    <a:lstStyle/>
                    <a:p>
                      <a:pPr algn="ctr"/>
                      <a:r>
                        <a:rPr lang="zh-CN" altLang="en-US" dirty="0"/>
                        <a:t>输入的第一个数</a:t>
                      </a:r>
                    </a:p>
                  </a:txBody>
                  <a:tcPr/>
                </a:tc>
                <a:tc>
                  <a:txBody>
                    <a:bodyPr/>
                    <a:lstStyle/>
                    <a:p>
                      <a:pPr algn="ctr"/>
                      <a:r>
                        <a:rPr lang="zh-CN" altLang="en-US" dirty="0"/>
                        <a:t>输入的第二个数</a:t>
                      </a:r>
                    </a:p>
                  </a:txBody>
                  <a:tcPr/>
                </a:tc>
                <a:extLst>
                  <a:ext uri="{0D108BD9-81ED-4DB2-BD59-A6C34878D82A}">
                    <a16:rowId xmlns:a16="http://schemas.microsoft.com/office/drawing/2014/main" val="2395880289"/>
                  </a:ext>
                </a:extLst>
              </a:tr>
              <a:tr h="482979">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0x682</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0x2cf</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947</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8605615"/>
                  </a:ext>
                </a:extLst>
              </a:tr>
              <a:tr h="482979">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0x682 - 0xf2 = 1424</a:t>
                      </a:r>
                      <a:r>
                        <a:rPr lang="en-US" altLang="zh-CN" baseline="-25000"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5195272"/>
                  </a:ext>
                </a:extLst>
              </a:tr>
              <a:tr h="482979">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0x682 - 0x104 = 1406</a:t>
                      </a:r>
                      <a:r>
                        <a:rPr lang="en-US" altLang="zh-CN" baseline="-25000"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8470766"/>
                  </a:ext>
                </a:extLst>
              </a:tr>
              <a:tr h="482979">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0x682 - 0x178 = 1290</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6369211"/>
                  </a:ext>
                </a:extLst>
              </a:tr>
              <a:tr h="48297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0x682 - 0x19b = 1255</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431122"/>
                  </a:ext>
                </a:extLst>
              </a:tr>
              <a:tr h="482979">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0x682 - 0x1ad = 1237</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7266689"/>
                  </a:ext>
                </a:extLst>
              </a:tr>
              <a:tr h="482979">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0x682 - 0x341 = 833</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9297981"/>
                  </a:ext>
                </a:extLst>
              </a:tr>
              <a:tr h="482979">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0x682 - 0xce = 1460</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3740971"/>
                  </a:ext>
                </a:extLst>
              </a:tr>
            </a:tbl>
          </a:graphicData>
        </a:graphic>
      </p:graphicFrame>
    </p:spTree>
    <p:extLst>
      <p:ext uri="{BB962C8B-B14F-4D97-AF65-F5344CB8AC3E}">
        <p14:creationId xmlns:p14="http://schemas.microsoft.com/office/powerpoint/2010/main" val="7830842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26</a:t>
            </a:fld>
            <a:endParaRPr kumimoji="1" lang="zh-CN" altLang="en-US"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23E2E359-8E76-6442-A601-D12DCCBC406E}"/>
              </a:ext>
            </a:extLst>
          </p:cNvPr>
          <p:cNvSpPr txBox="1"/>
          <p:nvPr/>
        </p:nvSpPr>
        <p:spPr>
          <a:xfrm>
            <a:off x="496957" y="536713"/>
            <a:ext cx="2646878"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跳转表的存储</a:t>
            </a:r>
          </a:p>
        </p:txBody>
      </p:sp>
      <p:pic>
        <p:nvPicPr>
          <p:cNvPr id="18" name="图片 17">
            <a:extLst>
              <a:ext uri="{FF2B5EF4-FFF2-40B4-BE49-F238E27FC236}">
                <a16:creationId xmlns:a16="http://schemas.microsoft.com/office/drawing/2014/main" id="{DA9C3D91-6E3F-6C4C-8F3D-3FC602CB2D52}"/>
              </a:ext>
            </a:extLst>
          </p:cNvPr>
          <p:cNvPicPr>
            <a:picLocks noChangeAspect="1"/>
          </p:cNvPicPr>
          <p:nvPr/>
        </p:nvPicPr>
        <p:blipFill>
          <a:blip r:embed="rId2"/>
          <a:stretch>
            <a:fillRect/>
          </a:stretch>
        </p:blipFill>
        <p:spPr>
          <a:xfrm>
            <a:off x="557833" y="1219463"/>
            <a:ext cx="4421671" cy="2077653"/>
          </a:xfrm>
          <a:prstGeom prst="rect">
            <a:avLst/>
          </a:prstGeom>
        </p:spPr>
      </p:pic>
      <p:sp>
        <p:nvSpPr>
          <p:cNvPr id="19" name="矩形 18">
            <a:extLst>
              <a:ext uri="{FF2B5EF4-FFF2-40B4-BE49-F238E27FC236}">
                <a16:creationId xmlns:a16="http://schemas.microsoft.com/office/drawing/2014/main" id="{8A17BBE5-3768-D246-BA5E-BA4F72F2F6D1}"/>
              </a:ext>
            </a:extLst>
          </p:cNvPr>
          <p:cNvSpPr/>
          <p:nvPr/>
        </p:nvSpPr>
        <p:spPr>
          <a:xfrm>
            <a:off x="2375452" y="1292087"/>
            <a:ext cx="894522" cy="24847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3A284AB1-C00B-794B-A8AF-4DDF8C405622}"/>
              </a:ext>
            </a:extLst>
          </p:cNvPr>
          <p:cNvCxnSpPr>
            <a:cxnSpLocks/>
          </p:cNvCxnSpPr>
          <p:nvPr/>
        </p:nvCxnSpPr>
        <p:spPr>
          <a:xfrm>
            <a:off x="3269974" y="1416326"/>
            <a:ext cx="229096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F4452FF-3F56-A348-AFD9-D1D8848CE80D}"/>
              </a:ext>
            </a:extLst>
          </p:cNvPr>
          <p:cNvSpPr txBox="1"/>
          <p:nvPr/>
        </p:nvSpPr>
        <p:spPr>
          <a:xfrm>
            <a:off x="557833" y="3878267"/>
            <a:ext cx="4388712" cy="879408"/>
          </a:xfrm>
          <a:prstGeom prst="rect">
            <a:avLst/>
          </a:prstGeom>
          <a:noFill/>
          <a:ln w="31750">
            <a:solidFill>
              <a:schemeClr val="accent1"/>
            </a:solidFill>
          </a:ln>
        </p:spPr>
        <p:txBody>
          <a:bodyPr wrap="square" rtlCol="0">
            <a:spAutoFit/>
          </a:bodyPr>
          <a:lstStyle/>
          <a:p>
            <a:pPr algn="ctr">
              <a:lnSpc>
                <a:spcPct val="150000"/>
              </a:lnSpc>
            </a:pP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rax</a:t>
            </a:r>
            <a:r>
              <a:rPr kumimoji="1" lang="en-US" altLang="zh-CN" dirty="0">
                <a:latin typeface="Times New Roman" panose="02020603050405020304" pitchFamily="18" charset="0"/>
                <a:cs typeface="Times New Roman" panose="02020603050405020304" pitchFamily="18" charset="0"/>
              </a:rPr>
              <a:t>=M[%rdx+4*%</a:t>
            </a:r>
            <a:r>
              <a:rPr kumimoji="1" lang="en-US" altLang="zh-CN" dirty="0" err="1">
                <a:latin typeface="Times New Roman" panose="02020603050405020304" pitchFamily="18" charset="0"/>
                <a:cs typeface="Times New Roman" panose="02020603050405020304" pitchFamily="18" charset="0"/>
              </a:rPr>
              <a:t>rax</a:t>
            </a: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rdx</a:t>
            </a:r>
            <a:endParaRPr kumimoji="1" lang="en-US" altLang="zh-CN" dirty="0">
              <a:latin typeface="Times New Roman" panose="02020603050405020304" pitchFamily="18" charset="0"/>
              <a:cs typeface="Times New Roman" panose="02020603050405020304" pitchFamily="18" charset="0"/>
            </a:endParaRPr>
          </a:p>
          <a:p>
            <a:pPr algn="ctr">
              <a:lnSpc>
                <a:spcPct val="150000"/>
              </a:lnSpc>
            </a:pPr>
            <a:r>
              <a:rPr kumimoji="1" lang="zh-CN" altLang="en-US" dirty="0">
                <a:latin typeface="Times New Roman" panose="02020603050405020304" pitchFamily="18" charset="0"/>
                <a:cs typeface="Times New Roman" panose="02020603050405020304" pitchFamily="18" charset="0"/>
              </a:rPr>
              <a:t>基地址</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存放在内存数组中的偏移量</a:t>
            </a:r>
          </a:p>
        </p:txBody>
      </p:sp>
      <p:sp>
        <p:nvSpPr>
          <p:cNvPr id="24" name="矩形 23">
            <a:extLst>
              <a:ext uri="{FF2B5EF4-FFF2-40B4-BE49-F238E27FC236}">
                <a16:creationId xmlns:a16="http://schemas.microsoft.com/office/drawing/2014/main" id="{DE40EA39-8F44-0A40-8FE6-EC91C3BBD448}"/>
              </a:ext>
            </a:extLst>
          </p:cNvPr>
          <p:cNvSpPr/>
          <p:nvPr/>
        </p:nvSpPr>
        <p:spPr>
          <a:xfrm>
            <a:off x="5560942" y="524822"/>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CB2C69B4-2C27-E041-9964-02F93C48D09C}"/>
              </a:ext>
            </a:extLst>
          </p:cNvPr>
          <p:cNvSpPr/>
          <p:nvPr/>
        </p:nvSpPr>
        <p:spPr>
          <a:xfrm>
            <a:off x="5560942" y="845928"/>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&amp;.L8</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BB0FE401-A4F2-564F-864A-B71F91F09F54}"/>
              </a:ext>
            </a:extLst>
          </p:cNvPr>
          <p:cNvSpPr/>
          <p:nvPr/>
        </p:nvSpPr>
        <p:spPr>
          <a:xfrm>
            <a:off x="5554799" y="1167034"/>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766C441B-5C82-E446-AF1F-0A5896387492}"/>
              </a:ext>
            </a:extLst>
          </p:cNvPr>
          <p:cNvSpPr/>
          <p:nvPr/>
        </p:nvSpPr>
        <p:spPr>
          <a:xfrm>
            <a:off x="5554799" y="1488140"/>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76D7DDF8-21E8-D643-93A6-372320EE7FE1}"/>
              </a:ext>
            </a:extLst>
          </p:cNvPr>
          <p:cNvSpPr/>
          <p:nvPr/>
        </p:nvSpPr>
        <p:spPr>
          <a:xfrm>
            <a:off x="5554326" y="1809246"/>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&amp;.L7</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E433294B-B843-3246-B2D9-DF3A3D7FF762}"/>
              </a:ext>
            </a:extLst>
          </p:cNvPr>
          <p:cNvSpPr/>
          <p:nvPr/>
        </p:nvSpPr>
        <p:spPr>
          <a:xfrm>
            <a:off x="5553853" y="2129625"/>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&amp;.L8</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id="{7B446EC8-07FE-714D-8EC5-EABFF72241AA}"/>
              </a:ext>
            </a:extLst>
          </p:cNvPr>
          <p:cNvSpPr/>
          <p:nvPr/>
        </p:nvSpPr>
        <p:spPr>
          <a:xfrm>
            <a:off x="5554326" y="2450004"/>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&amp;.L7</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右大括号 36">
            <a:extLst>
              <a:ext uri="{FF2B5EF4-FFF2-40B4-BE49-F238E27FC236}">
                <a16:creationId xmlns:a16="http://schemas.microsoft.com/office/drawing/2014/main" id="{41D439C6-1EB2-7549-B461-A2E2F5FC1486}"/>
              </a:ext>
            </a:extLst>
          </p:cNvPr>
          <p:cNvSpPr/>
          <p:nvPr/>
        </p:nvSpPr>
        <p:spPr>
          <a:xfrm>
            <a:off x="7543800" y="524822"/>
            <a:ext cx="268357" cy="2246288"/>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D5EE06E2-C40C-F648-9DA8-23A46F182EAE}"/>
              </a:ext>
            </a:extLst>
          </p:cNvPr>
          <p:cNvSpPr txBox="1"/>
          <p:nvPr/>
        </p:nvSpPr>
        <p:spPr>
          <a:xfrm>
            <a:off x="7951305" y="1439914"/>
            <a:ext cx="1436612"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8</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7=56</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bytes</a:t>
            </a:r>
            <a:endParaRPr kumimoji="1" lang="zh-CN" altLang="en-US" dirty="0">
              <a:latin typeface="Times New Roman" panose="02020603050405020304" pitchFamily="18" charset="0"/>
              <a:cs typeface="Times New Roman" panose="02020603050405020304" pitchFamily="18" charset="0"/>
            </a:endParaRPr>
          </a:p>
        </p:txBody>
      </p:sp>
      <p:sp>
        <p:nvSpPr>
          <p:cNvPr id="39" name="矩形 38">
            <a:extLst>
              <a:ext uri="{FF2B5EF4-FFF2-40B4-BE49-F238E27FC236}">
                <a16:creationId xmlns:a16="http://schemas.microsoft.com/office/drawing/2014/main" id="{65A154E0-DBFD-014F-A965-6F1EC4C3E01A}"/>
              </a:ext>
            </a:extLst>
          </p:cNvPr>
          <p:cNvSpPr/>
          <p:nvPr/>
        </p:nvSpPr>
        <p:spPr>
          <a:xfrm>
            <a:off x="5553853" y="3717714"/>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DC8B7947-3275-FC4C-9198-9B2296681DA3}"/>
              </a:ext>
            </a:extLst>
          </p:cNvPr>
          <p:cNvSpPr/>
          <p:nvPr/>
        </p:nvSpPr>
        <p:spPr>
          <a:xfrm>
            <a:off x="6482797" y="3717714"/>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75D397C8-5396-A043-8DF4-1FD08BA5BEF7}"/>
              </a:ext>
            </a:extLst>
          </p:cNvPr>
          <p:cNvSpPr/>
          <p:nvPr/>
        </p:nvSpPr>
        <p:spPr>
          <a:xfrm>
            <a:off x="5553853" y="4038820"/>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BC1DAE37-B1ED-A243-A893-DBF6F3D3BF45}"/>
              </a:ext>
            </a:extLst>
          </p:cNvPr>
          <p:cNvSpPr/>
          <p:nvPr/>
        </p:nvSpPr>
        <p:spPr>
          <a:xfrm>
            <a:off x="6482797" y="4038820"/>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B0C8DF30-4EA9-4149-9BC3-6C080BAD4C8E}"/>
              </a:ext>
            </a:extLst>
          </p:cNvPr>
          <p:cNvSpPr/>
          <p:nvPr/>
        </p:nvSpPr>
        <p:spPr>
          <a:xfrm>
            <a:off x="5553853" y="4358472"/>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CF68D192-0308-3240-92CA-9E9D56465EBA}"/>
              </a:ext>
            </a:extLst>
          </p:cNvPr>
          <p:cNvSpPr/>
          <p:nvPr/>
        </p:nvSpPr>
        <p:spPr>
          <a:xfrm>
            <a:off x="6482797" y="4358472"/>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5" name="矩形 44">
            <a:extLst>
              <a:ext uri="{FF2B5EF4-FFF2-40B4-BE49-F238E27FC236}">
                <a16:creationId xmlns:a16="http://schemas.microsoft.com/office/drawing/2014/main" id="{071D469D-22A8-604D-A5DD-A19235B129EC}"/>
              </a:ext>
            </a:extLst>
          </p:cNvPr>
          <p:cNvSpPr/>
          <p:nvPr/>
        </p:nvSpPr>
        <p:spPr>
          <a:xfrm>
            <a:off x="5553853" y="4679578"/>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7" name="右大括号 46">
            <a:extLst>
              <a:ext uri="{FF2B5EF4-FFF2-40B4-BE49-F238E27FC236}">
                <a16:creationId xmlns:a16="http://schemas.microsoft.com/office/drawing/2014/main" id="{EC0E66C9-6FA2-2545-9E17-11E530059B00}"/>
              </a:ext>
            </a:extLst>
          </p:cNvPr>
          <p:cNvSpPr/>
          <p:nvPr/>
        </p:nvSpPr>
        <p:spPr>
          <a:xfrm>
            <a:off x="7543800" y="3717714"/>
            <a:ext cx="268357" cy="1282970"/>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45EC434F-694B-F242-AA91-6AA6264D52B9}"/>
              </a:ext>
            </a:extLst>
          </p:cNvPr>
          <p:cNvSpPr txBox="1"/>
          <p:nvPr/>
        </p:nvSpPr>
        <p:spPr>
          <a:xfrm>
            <a:off x="7960600" y="4148317"/>
            <a:ext cx="1436612"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4</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7=28</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bytes</a:t>
            </a:r>
            <a:endParaRPr kumimoji="1" lang="zh-CN" altLang="en-US" dirty="0">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C92C7094-C959-C74E-B01B-9B959B383544}"/>
              </a:ext>
            </a:extLst>
          </p:cNvPr>
          <p:cNvSpPr txBox="1"/>
          <p:nvPr/>
        </p:nvSpPr>
        <p:spPr>
          <a:xfrm>
            <a:off x="496957" y="5344883"/>
            <a:ext cx="4801314"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节省了存储空间，但增加了计算量</a:t>
            </a:r>
            <a:endParaRPr kumimoji="1" lang="en-US" altLang="zh-CN" sz="2400" dirty="0">
              <a:latin typeface="Times New Roman" panose="02020603050405020304" pitchFamily="18" charset="0"/>
              <a:cs typeface="Times New Roman" panose="02020603050405020304" pitchFamily="18" charset="0"/>
            </a:endParaRPr>
          </a:p>
        </p:txBody>
      </p:sp>
      <p:pic>
        <p:nvPicPr>
          <p:cNvPr id="52" name="图片 51">
            <a:extLst>
              <a:ext uri="{FF2B5EF4-FFF2-40B4-BE49-F238E27FC236}">
                <a16:creationId xmlns:a16="http://schemas.microsoft.com/office/drawing/2014/main" id="{BD2C2E19-27BC-3E40-9346-903CDADFB843}"/>
              </a:ext>
            </a:extLst>
          </p:cNvPr>
          <p:cNvPicPr>
            <a:picLocks noChangeAspect="1"/>
          </p:cNvPicPr>
          <p:nvPr/>
        </p:nvPicPr>
        <p:blipFill>
          <a:blip r:embed="rId3"/>
          <a:stretch>
            <a:fillRect/>
          </a:stretch>
        </p:blipFill>
        <p:spPr>
          <a:xfrm>
            <a:off x="8271214" y="2372937"/>
            <a:ext cx="2616429" cy="320379"/>
          </a:xfrm>
          <a:prstGeom prst="rect">
            <a:avLst/>
          </a:prstGeom>
        </p:spPr>
      </p:pic>
      <p:sp>
        <p:nvSpPr>
          <p:cNvPr id="53" name="矩形 52">
            <a:extLst>
              <a:ext uri="{FF2B5EF4-FFF2-40B4-BE49-F238E27FC236}">
                <a16:creationId xmlns:a16="http://schemas.microsoft.com/office/drawing/2014/main" id="{EA7A4E19-1973-FB4B-B9C1-23287A63AC16}"/>
              </a:ext>
            </a:extLst>
          </p:cNvPr>
          <p:cNvSpPr/>
          <p:nvPr/>
        </p:nvSpPr>
        <p:spPr>
          <a:xfrm>
            <a:off x="3196642" y="515535"/>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L4</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54" name="直线箭头连接符 53">
            <a:extLst>
              <a:ext uri="{FF2B5EF4-FFF2-40B4-BE49-F238E27FC236}">
                <a16:creationId xmlns:a16="http://schemas.microsoft.com/office/drawing/2014/main" id="{741EB883-B7EF-6B43-B53C-5BB557A4DCC6}"/>
              </a:ext>
            </a:extLst>
          </p:cNvPr>
          <p:cNvCxnSpPr>
            <a:cxnSpLocks/>
            <a:endCxn id="24" idx="1"/>
          </p:cNvCxnSpPr>
          <p:nvPr/>
        </p:nvCxnSpPr>
        <p:spPr>
          <a:xfrm>
            <a:off x="5040352" y="676088"/>
            <a:ext cx="520590" cy="92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7D0E7CA9-1718-8F4A-93A2-6185CFBA73AF}"/>
              </a:ext>
            </a:extLst>
          </p:cNvPr>
          <p:cNvSpPr/>
          <p:nvPr/>
        </p:nvSpPr>
        <p:spPr>
          <a:xfrm>
            <a:off x="5553853" y="3091969"/>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rdx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57" name="直线箭头连接符 56">
            <a:extLst>
              <a:ext uri="{FF2B5EF4-FFF2-40B4-BE49-F238E27FC236}">
                <a16:creationId xmlns:a16="http://schemas.microsoft.com/office/drawing/2014/main" id="{F31C3A84-001F-F844-9BCC-222A47423804}"/>
              </a:ext>
            </a:extLst>
          </p:cNvPr>
          <p:cNvCxnSpPr>
            <a:cxnSpLocks/>
            <a:endCxn id="39" idx="0"/>
          </p:cNvCxnSpPr>
          <p:nvPr/>
        </p:nvCxnSpPr>
        <p:spPr>
          <a:xfrm>
            <a:off x="6012113" y="3412348"/>
            <a:ext cx="1" cy="3053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48649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27</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A0163FFB-0322-A643-8508-2A8537ECF701}"/>
              </a:ext>
            </a:extLst>
          </p:cNvPr>
          <p:cNvSpPr txBox="1"/>
          <p:nvPr/>
        </p:nvSpPr>
        <p:spPr>
          <a:xfrm>
            <a:off x="4729336" y="2427988"/>
            <a:ext cx="2733328"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phase_4</a:t>
            </a:r>
          </a:p>
          <a:p>
            <a:pPr algn="ctr">
              <a:lnSpc>
                <a:spcPct val="150000"/>
              </a:lnSpc>
            </a:pPr>
            <a:r>
              <a:rPr kumimoji="1" lang="en-US" altLang="zh-CN" sz="4400" dirty="0">
                <a:latin typeface="Times New Roman" panose="02020603050405020304" pitchFamily="18" charset="0"/>
                <a:cs typeface="Times New Roman" panose="02020603050405020304" pitchFamily="18" charset="0"/>
              </a:rPr>
              <a:t>Recursion</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3303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28</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286354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根据汇编代码易知输入字符串的格式为</a:t>
                </a:r>
                <a:r>
                  <a:rPr kumimoji="1" lang="en-US" altLang="zh-CN" sz="2400" dirty="0">
                    <a:latin typeface="Times New Roman" panose="02020603050405020304" pitchFamily="18" charset="0"/>
                    <a:cs typeface="Times New Roman" panose="02020603050405020304" pitchFamily="18" charset="0"/>
                  </a:rPr>
                  <a:t>%d %d</a:t>
                </a:r>
                <a:r>
                  <a:rPr kumimoji="1" lang="zh-CN" altLang="en-US" sz="2400" dirty="0">
                    <a:latin typeface="Times New Roman" panose="02020603050405020304" pitchFamily="18" charset="0"/>
                    <a:cs typeface="Times New Roman" panose="02020603050405020304" pitchFamily="18" charset="0"/>
                  </a:rPr>
                  <a:t>，且输入的第一个整数为</a:t>
                </a:r>
                <a:r>
                  <a:rPr kumimoji="1" lang="en-US" altLang="zh-CN" sz="2400" dirty="0">
                    <a:latin typeface="Times New Roman" panose="02020603050405020304" pitchFamily="18" charset="0"/>
                    <a:cs typeface="Times New Roman" panose="02020603050405020304" pitchFamily="18" charset="0"/>
                  </a:rPr>
                  <a:t>4</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观察</a:t>
                </a:r>
                <a:r>
                  <a:rPr kumimoji="1" lang="en-US" altLang="zh-CN" sz="2400" dirty="0">
                    <a:latin typeface="Times New Roman" panose="02020603050405020304" pitchFamily="18" charset="0"/>
                    <a:cs typeface="Times New Roman" panose="02020603050405020304" pitchFamily="18" charset="0"/>
                  </a:rPr>
                  <a:t>func4</a:t>
                </a:r>
                <a:r>
                  <a:rPr kumimoji="1" lang="zh-CN" altLang="en-US" sz="2400" dirty="0">
                    <a:latin typeface="Times New Roman" panose="02020603050405020304" pitchFamily="18" charset="0"/>
                    <a:cs typeface="Times New Roman" panose="02020603050405020304" pitchFamily="18" charset="0"/>
                  </a:rPr>
                  <a:t>的递归调用，将递归转化为递推可以更快地解决问题</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根据递推公式可以手动计算需要的值</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汇编代码通过循环计算</a:t>
                </a:r>
                <a14:m>
                  <m:oMath xmlns:m="http://schemas.openxmlformats.org/officeDocument/2006/math">
                    <m:nary>
                      <m:naryPr>
                        <m:chr m:val="∑"/>
                        <m:ctrlPr>
                          <a:rPr kumimoji="1" lang="zh-CN" altLang="en-US" sz="2400" i="1" smtClean="0">
                            <a:latin typeface="Cambria Math" panose="02040503050406030204" pitchFamily="18" charset="0"/>
                            <a:cs typeface="Times New Roman" panose="02020603050405020304" pitchFamily="18" charset="0"/>
                          </a:rPr>
                        </m:ctrlPr>
                      </m:naryPr>
                      <m:sub>
                        <m:r>
                          <m:rPr>
                            <m:brk m:alnAt="23"/>
                          </m:rP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=0</m:t>
                        </m:r>
                      </m:sub>
                      <m:sup>
                        <m:r>
                          <a:rPr kumimoji="1" lang="en-US" altLang="zh-CN" sz="2400" b="0" i="1" smtClean="0">
                            <a:latin typeface="Cambria Math" panose="02040503050406030204" pitchFamily="18" charset="0"/>
                            <a:cs typeface="Times New Roman" panose="02020603050405020304" pitchFamily="18" charset="0"/>
                          </a:rPr>
                          <m:t>3</m:t>
                        </m:r>
                      </m:sup>
                      <m:e>
                        <m:r>
                          <a:rPr kumimoji="1" lang="en-US" altLang="zh-CN" sz="2400" b="0" i="1" smtClean="0">
                            <a:latin typeface="Cambria Math" panose="02040503050406030204" pitchFamily="18" charset="0"/>
                            <a:cs typeface="Times New Roman" panose="02020603050405020304" pitchFamily="18" charset="0"/>
                          </a:rPr>
                          <m:t>𝑓𝑢𝑛𝑐</m:t>
                        </m:r>
                        <m:r>
                          <a:rPr kumimoji="1" lang="en-US" altLang="zh-CN" sz="2400" b="0" i="1" smtClean="0">
                            <a:latin typeface="Cambria Math" panose="02040503050406030204" pitchFamily="18" charset="0"/>
                            <a:cs typeface="Times New Roman" panose="02020603050405020304" pitchFamily="18" charset="0"/>
                          </a:rPr>
                          <m:t>4(</m:t>
                        </m:r>
                        <m: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m:t>
                        </m:r>
                      </m:e>
                    </m:nary>
                  </m:oMath>
                </a14:m>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输入的第二个整数即为</a:t>
                </a:r>
                <a14:m>
                  <m:oMath xmlns:m="http://schemas.openxmlformats.org/officeDocument/2006/math">
                    <m:nary>
                      <m:naryPr>
                        <m:chr m:val="∑"/>
                        <m:ctrlPr>
                          <a:rPr kumimoji="1" lang="zh-CN" altLang="en-US" sz="2400" i="1" smtClean="0">
                            <a:latin typeface="Cambria Math" panose="02040503050406030204" pitchFamily="18" charset="0"/>
                            <a:cs typeface="Times New Roman" panose="02020603050405020304" pitchFamily="18" charset="0"/>
                          </a:rPr>
                        </m:ctrlPr>
                      </m:naryPr>
                      <m:sub>
                        <m:r>
                          <m:rPr>
                            <m:brk m:alnAt="23"/>
                          </m:rP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=0</m:t>
                        </m:r>
                      </m:sub>
                      <m:sup>
                        <m:r>
                          <a:rPr kumimoji="1" lang="en-US" altLang="zh-CN" sz="2400" b="0" i="1" smtClean="0">
                            <a:latin typeface="Cambria Math" panose="02040503050406030204" pitchFamily="18" charset="0"/>
                            <a:cs typeface="Times New Roman" panose="02020603050405020304" pitchFamily="18" charset="0"/>
                          </a:rPr>
                          <m:t>3</m:t>
                        </m:r>
                      </m:sup>
                      <m:e>
                        <m:r>
                          <a:rPr kumimoji="1" lang="en-US" altLang="zh-CN" sz="2400" b="0" i="1" smtClean="0">
                            <a:latin typeface="Cambria Math" panose="02040503050406030204" pitchFamily="18" charset="0"/>
                            <a:cs typeface="Times New Roman" panose="02020603050405020304" pitchFamily="18" charset="0"/>
                          </a:rPr>
                          <m:t>𝑓𝑢𝑛𝑐</m:t>
                        </m:r>
                        <m:r>
                          <a:rPr kumimoji="1" lang="en-US" altLang="zh-CN" sz="2400" b="0" i="1" smtClean="0">
                            <a:latin typeface="Cambria Math" panose="02040503050406030204" pitchFamily="18" charset="0"/>
                            <a:cs typeface="Times New Roman" panose="02020603050405020304" pitchFamily="18" charset="0"/>
                          </a:rPr>
                          <m:t>4(</m:t>
                        </m:r>
                        <m: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m:t>
                        </m:r>
                      </m:e>
                    </m:nary>
                  </m:oMath>
                </a14:m>
                <a:endParaRPr kumimoji="1" lang="en-US" altLang="zh-CN" sz="2400" dirty="0">
                  <a:latin typeface="Times New Roman" panose="02020603050405020304" pitchFamily="18"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21F4A14A-AF60-DA41-A669-DB5438AC6F4C}"/>
                  </a:ext>
                </a:extLst>
              </p:cNvPr>
              <p:cNvSpPr txBox="1">
                <a:spLocks noRot="1" noChangeAspect="1" noMove="1" noResize="1" noEditPoints="1" noAdjustHandles="1" noChangeArrowheads="1" noChangeShapeType="1" noTextEdit="1"/>
              </p:cNvSpPr>
              <p:nvPr/>
            </p:nvSpPr>
            <p:spPr>
              <a:xfrm>
                <a:off x="894522" y="1540565"/>
                <a:ext cx="10654747" cy="2863541"/>
              </a:xfrm>
              <a:prstGeom prst="rect">
                <a:avLst/>
              </a:prstGeom>
              <a:blipFill>
                <a:blip r:embed="rId2"/>
                <a:stretch>
                  <a:fillRect l="-833" b="-309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86805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29</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8325C0C1-661F-3348-9FCD-857F0A87926D}"/>
              </a:ext>
            </a:extLst>
          </p:cNvPr>
          <p:cNvPicPr>
            <a:picLocks noChangeAspect="1"/>
          </p:cNvPicPr>
          <p:nvPr/>
        </p:nvPicPr>
        <p:blipFill>
          <a:blip r:embed="rId2"/>
          <a:stretch>
            <a:fillRect/>
          </a:stretch>
        </p:blipFill>
        <p:spPr>
          <a:xfrm>
            <a:off x="6813755" y="1012722"/>
            <a:ext cx="4155743" cy="4031226"/>
          </a:xfrm>
          <a:prstGeom prst="rect">
            <a:avLst/>
          </a:prstGeom>
        </p:spPr>
      </p:pic>
      <p:grpSp>
        <p:nvGrpSpPr>
          <p:cNvPr id="15" name="组合 14">
            <a:extLst>
              <a:ext uri="{FF2B5EF4-FFF2-40B4-BE49-F238E27FC236}">
                <a16:creationId xmlns:a16="http://schemas.microsoft.com/office/drawing/2014/main" id="{8BB90C6E-DB65-DA4C-A1D9-44D613E99FD0}"/>
              </a:ext>
            </a:extLst>
          </p:cNvPr>
          <p:cNvGrpSpPr/>
          <p:nvPr/>
        </p:nvGrpSpPr>
        <p:grpSpPr>
          <a:xfrm>
            <a:off x="858683" y="206478"/>
            <a:ext cx="5237317" cy="5575335"/>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3"/>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4"/>
            <a:stretch>
              <a:fillRect/>
            </a:stretch>
          </p:blipFill>
          <p:spPr>
            <a:xfrm>
              <a:off x="4911383" y="4444180"/>
              <a:ext cx="5237315" cy="1131155"/>
            </a:xfrm>
            <a:prstGeom prst="rect">
              <a:avLst/>
            </a:prstGeom>
          </p:spPr>
        </p:pic>
      </p:grpSp>
    </p:spTree>
    <p:extLst>
      <p:ext uri="{BB962C8B-B14F-4D97-AF65-F5344CB8AC3E}">
        <p14:creationId xmlns:p14="http://schemas.microsoft.com/office/powerpoint/2010/main" val="39361841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30</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93913" y="90801"/>
            <a:ext cx="3239221" cy="76601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F62C2C50-9F78-4843-ACE9-744EE2F17BE5}"/>
              </a:ext>
            </a:extLst>
          </p:cNvPr>
          <p:cNvGrpSpPr/>
          <p:nvPr/>
        </p:nvGrpSpPr>
        <p:grpSpPr>
          <a:xfrm>
            <a:off x="4416199" y="1504788"/>
            <a:ext cx="6843029" cy="2209162"/>
            <a:chOff x="4572223" y="1219838"/>
            <a:chExt cx="5878062" cy="1789737"/>
          </a:xfrm>
        </p:grpSpPr>
        <p:pic>
          <p:nvPicPr>
            <p:cNvPr id="14" name="图片 13">
              <a:extLst>
                <a:ext uri="{FF2B5EF4-FFF2-40B4-BE49-F238E27FC236}">
                  <a16:creationId xmlns:a16="http://schemas.microsoft.com/office/drawing/2014/main" id="{0EBA79DF-B23F-414C-B9DC-BC9736C70E29}"/>
                </a:ext>
              </a:extLst>
            </p:cNvPr>
            <p:cNvPicPr>
              <a:picLocks noChangeAspect="1"/>
            </p:cNvPicPr>
            <p:nvPr/>
          </p:nvPicPr>
          <p:blipFill rotWithShape="1">
            <a:blip r:embed="rId4"/>
            <a:srcRect r="46017"/>
            <a:stretch/>
          </p:blipFill>
          <p:spPr>
            <a:xfrm>
              <a:off x="4572223" y="1219838"/>
              <a:ext cx="4719483" cy="1789737"/>
            </a:xfrm>
            <a:prstGeom prst="rect">
              <a:avLst/>
            </a:prstGeom>
          </p:spPr>
        </p:pic>
        <p:pic>
          <p:nvPicPr>
            <p:cNvPr id="17" name="图片 16">
              <a:extLst>
                <a:ext uri="{FF2B5EF4-FFF2-40B4-BE49-F238E27FC236}">
                  <a16:creationId xmlns:a16="http://schemas.microsoft.com/office/drawing/2014/main" id="{8E80980D-4B96-E847-AD45-4D442D873E87}"/>
                </a:ext>
              </a:extLst>
            </p:cNvPr>
            <p:cNvPicPr>
              <a:picLocks noChangeAspect="1"/>
            </p:cNvPicPr>
            <p:nvPr/>
          </p:nvPicPr>
          <p:blipFill rotWithShape="1">
            <a:blip r:embed="rId4"/>
            <a:srcRect l="86748"/>
            <a:stretch/>
          </p:blipFill>
          <p:spPr>
            <a:xfrm>
              <a:off x="9291707" y="1219838"/>
              <a:ext cx="1158578" cy="1789737"/>
            </a:xfrm>
            <a:prstGeom prst="rect">
              <a:avLst/>
            </a:prstGeom>
          </p:spPr>
        </p:pic>
      </p:grpSp>
    </p:spTree>
    <p:extLst>
      <p:ext uri="{BB962C8B-B14F-4D97-AF65-F5344CB8AC3E}">
        <p14:creationId xmlns:p14="http://schemas.microsoft.com/office/powerpoint/2010/main" val="37831408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31</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86286" y="838052"/>
            <a:ext cx="3239221" cy="8530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CDA21B3F-E753-1E45-9818-6D1270526084}"/>
              </a:ext>
            </a:extLst>
          </p:cNvPr>
          <p:cNvPicPr>
            <a:picLocks noChangeAspect="1"/>
          </p:cNvPicPr>
          <p:nvPr/>
        </p:nvPicPr>
        <p:blipFill>
          <a:blip r:embed="rId4"/>
          <a:stretch>
            <a:fillRect/>
          </a:stretch>
        </p:blipFill>
        <p:spPr>
          <a:xfrm>
            <a:off x="3508008" y="1976284"/>
            <a:ext cx="8452932" cy="1799303"/>
          </a:xfrm>
          <a:prstGeom prst="rect">
            <a:avLst/>
          </a:prstGeom>
        </p:spPr>
      </p:pic>
    </p:spTree>
    <p:extLst>
      <p:ext uri="{BB962C8B-B14F-4D97-AF65-F5344CB8AC3E}">
        <p14:creationId xmlns:p14="http://schemas.microsoft.com/office/powerpoint/2010/main" val="1952598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32</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18" name="图片 17">
            <a:extLst>
              <a:ext uri="{FF2B5EF4-FFF2-40B4-BE49-F238E27FC236}">
                <a16:creationId xmlns:a16="http://schemas.microsoft.com/office/drawing/2014/main" id="{109F0B7D-0B3F-1549-AE0B-528DB86FA436}"/>
              </a:ext>
            </a:extLst>
          </p:cNvPr>
          <p:cNvPicPr>
            <a:picLocks noChangeAspect="1"/>
          </p:cNvPicPr>
          <p:nvPr/>
        </p:nvPicPr>
        <p:blipFill>
          <a:blip r:embed="rId4"/>
          <a:stretch>
            <a:fillRect/>
          </a:stretch>
        </p:blipFill>
        <p:spPr>
          <a:xfrm>
            <a:off x="122104" y="4005834"/>
            <a:ext cx="4376175" cy="2024412"/>
          </a:xfrm>
          <a:prstGeom prst="rect">
            <a:avLst/>
          </a:prstGeom>
        </p:spPr>
      </p:pic>
      <p:pic>
        <p:nvPicPr>
          <p:cNvPr id="19" name="图片 18">
            <a:extLst>
              <a:ext uri="{FF2B5EF4-FFF2-40B4-BE49-F238E27FC236}">
                <a16:creationId xmlns:a16="http://schemas.microsoft.com/office/drawing/2014/main" id="{C39A9DDC-CE01-5548-A557-730CFCC10F8B}"/>
              </a:ext>
            </a:extLst>
          </p:cNvPr>
          <p:cNvPicPr>
            <a:picLocks noChangeAspect="1"/>
          </p:cNvPicPr>
          <p:nvPr/>
        </p:nvPicPr>
        <p:blipFill>
          <a:blip r:embed="rId5"/>
          <a:stretch>
            <a:fillRect/>
          </a:stretch>
        </p:blipFill>
        <p:spPr>
          <a:xfrm>
            <a:off x="4498279" y="4005834"/>
            <a:ext cx="6998929" cy="2024412"/>
          </a:xfrm>
          <a:prstGeom prst="rect">
            <a:avLst/>
          </a:prstGeom>
        </p:spPr>
      </p:pic>
      <p:sp>
        <p:nvSpPr>
          <p:cNvPr id="20" name="矩形 19">
            <a:extLst>
              <a:ext uri="{FF2B5EF4-FFF2-40B4-BE49-F238E27FC236}">
                <a16:creationId xmlns:a16="http://schemas.microsoft.com/office/drawing/2014/main" id="{C797EFD7-EE60-5244-A7CB-DF439E89EE90}"/>
              </a:ext>
            </a:extLst>
          </p:cNvPr>
          <p:cNvSpPr/>
          <p:nvPr/>
        </p:nvSpPr>
        <p:spPr>
          <a:xfrm>
            <a:off x="2276480" y="4960372"/>
            <a:ext cx="1895599"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21809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33</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BC8627A5-AF21-444E-BF95-5AF99222D3EE}"/>
              </a:ext>
            </a:extLst>
          </p:cNvPr>
          <p:cNvPicPr>
            <a:picLocks noChangeAspect="1"/>
          </p:cNvPicPr>
          <p:nvPr/>
        </p:nvPicPr>
        <p:blipFill>
          <a:blip r:embed="rId4"/>
          <a:stretch>
            <a:fillRect/>
          </a:stretch>
        </p:blipFill>
        <p:spPr>
          <a:xfrm>
            <a:off x="4476388" y="308717"/>
            <a:ext cx="7670563" cy="4221274"/>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2E75AB2-8F4E-504C-B46C-A9C6C3C164E3}"/>
                  </a:ext>
                </a:extLst>
              </p:cNvPr>
              <p:cNvSpPr txBox="1"/>
              <p:nvPr/>
            </p:nvSpPr>
            <p:spPr>
              <a:xfrm>
                <a:off x="4895060" y="4596715"/>
                <a:ext cx="7022756" cy="1661993"/>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0</m:t>
                          </m:r>
                        </m:e>
                      </m:d>
                      <m:r>
                        <a:rPr kumimoji="1" lang="en-US" altLang="zh-CN" sz="2400" b="0" i="1" smtClean="0">
                          <a:latin typeface="Cambria Math" panose="02040503050406030204" pitchFamily="18" charset="0"/>
                        </a:rPr>
                        <m:t>=0,</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=1</m:t>
                      </m:r>
                    </m:oMath>
                  </m:oMathPara>
                </a14:m>
                <a:endParaRPr kumimoji="1" lang="en-US" altLang="zh-CN" sz="240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3</m:t>
                          </m:r>
                        </m:e>
                      </m:d>
                      <m:r>
                        <a:rPr kumimoji="1" lang="en-US" altLang="zh-CN" sz="2400" b="0" i="1" smtClean="0">
                          <a:latin typeface="Cambria Math" panose="02040503050406030204" pitchFamily="18" charset="0"/>
                        </a:rPr>
                        <m:t>=5</m:t>
                      </m:r>
                    </m:oMath>
                  </m:oMathPara>
                </a14:m>
                <a:endParaRPr kumimoji="1" lang="en-US" altLang="zh-CN" sz="2400" dirty="0"/>
              </a:p>
            </p:txBody>
          </p:sp>
        </mc:Choice>
        <mc:Fallback xmlns="">
          <p:sp>
            <p:nvSpPr>
              <p:cNvPr id="14" name="文本框 13">
                <a:extLst>
                  <a:ext uri="{FF2B5EF4-FFF2-40B4-BE49-F238E27FC236}">
                    <a16:creationId xmlns:a16="http://schemas.microsoft.com/office/drawing/2014/main" id="{72E75AB2-8F4E-504C-B46C-A9C6C3C164E3}"/>
                  </a:ext>
                </a:extLst>
              </p:cNvPr>
              <p:cNvSpPr txBox="1">
                <a:spLocks noRot="1" noChangeAspect="1" noMove="1" noResize="1" noEditPoints="1" noAdjustHandles="1" noChangeArrowheads="1" noChangeShapeType="1" noTextEdit="1"/>
              </p:cNvSpPr>
              <p:nvPr/>
            </p:nvSpPr>
            <p:spPr>
              <a:xfrm>
                <a:off x="4895060" y="4596715"/>
                <a:ext cx="7022756" cy="1661993"/>
              </a:xfrm>
              <a:prstGeom prst="rect">
                <a:avLst/>
              </a:prstGeom>
              <a:blipFill>
                <a:blip r:embed="rId5"/>
                <a:stretch>
                  <a:fillRect l="-1986" b="-3788"/>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B6D5118B-C2D0-D746-BC07-F1B62D400A13}"/>
              </a:ext>
            </a:extLst>
          </p:cNvPr>
          <p:cNvSpPr/>
          <p:nvPr/>
        </p:nvSpPr>
        <p:spPr>
          <a:xfrm>
            <a:off x="6966857" y="1391264"/>
            <a:ext cx="2064774" cy="174031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1273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34</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F984A29-68CE-A749-ADC6-C449EB862314}"/>
                  </a:ext>
                </a:extLst>
              </p:cNvPr>
              <p:cNvSpPr txBox="1"/>
              <p:nvPr/>
            </p:nvSpPr>
            <p:spPr>
              <a:xfrm>
                <a:off x="4298386" y="765815"/>
                <a:ext cx="7014741" cy="2703625"/>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oMath>
                  </m:oMathPara>
                </a14:m>
                <a:endParaRPr kumimoji="1" lang="en-US" altLang="zh-CN" sz="2400" b="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0</m:t>
                          </m:r>
                        </m:e>
                      </m:d>
                      <m:r>
                        <a:rPr kumimoji="1" lang="en-US" altLang="zh-CN" sz="2400" b="0" i="1" smtClean="0">
                          <a:latin typeface="Cambria Math" panose="02040503050406030204" pitchFamily="18" charset="0"/>
                        </a:rPr>
                        <m:t>=0,</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=1</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3</m:t>
                          </m:r>
                        </m:e>
                      </m:d>
                      <m:r>
                        <a:rPr kumimoji="1" lang="en-US" altLang="zh-CN" sz="2400" b="0" i="1" smtClean="0">
                          <a:latin typeface="Cambria Math" panose="02040503050406030204" pitchFamily="18" charset="0"/>
                        </a:rPr>
                        <m:t>=5</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r>
                  <a:rPr kumimoji="1" lang="zh-CN" altLang="en-US" sz="2400" dirty="0">
                    <a:latin typeface="Times New Roman" panose="02020603050405020304" pitchFamily="18" charset="0"/>
                    <a:cs typeface="Times New Roman" panose="02020603050405020304" pitchFamily="18" charset="0"/>
                  </a:rPr>
                  <a:t>输入的第二个数</a:t>
                </a:r>
                <a:r>
                  <a:rPr kumimoji="1" lang="en-US" altLang="zh-CN" sz="2400" dirty="0">
                    <a:latin typeface="Times New Roman" panose="02020603050405020304" pitchFamily="18" charset="0"/>
                    <a:cs typeface="Times New Roman" panose="02020603050405020304" pitchFamily="18" charset="0"/>
                  </a:rPr>
                  <a:t>=0+1+2+5=8</a:t>
                </a:r>
              </a:p>
              <a:p>
                <a:pPr>
                  <a:lnSpc>
                    <a:spcPct val="150000"/>
                  </a:lnSpc>
                </a:pPr>
                <a:r>
                  <a:rPr kumimoji="1" lang="zh-CN" altLang="en-US" sz="2400" dirty="0">
                    <a:latin typeface="Times New Roman" panose="02020603050405020304" pitchFamily="18" charset="0"/>
                    <a:cs typeface="Times New Roman" panose="02020603050405020304" pitchFamily="18" charset="0"/>
                  </a:rPr>
                  <a:t>答案：</a:t>
                </a:r>
                <a:r>
                  <a:rPr kumimoji="1" lang="en-US" altLang="zh-CN" sz="2400" dirty="0">
                    <a:latin typeface="Times New Roman" panose="02020603050405020304" pitchFamily="18" charset="0"/>
                    <a:cs typeface="Times New Roman" panose="02020603050405020304" pitchFamily="18" charset="0"/>
                  </a:rPr>
                  <a:t>4</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8</a:t>
                </a:r>
              </a:p>
            </p:txBody>
          </p:sp>
        </mc:Choice>
        <mc:Fallback xmlns="">
          <p:sp>
            <p:nvSpPr>
              <p:cNvPr id="19" name="文本框 18">
                <a:extLst>
                  <a:ext uri="{FF2B5EF4-FFF2-40B4-BE49-F238E27FC236}">
                    <a16:creationId xmlns:a16="http://schemas.microsoft.com/office/drawing/2014/main" id="{BF984A29-68CE-A749-ADC6-C449EB862314}"/>
                  </a:ext>
                </a:extLst>
              </p:cNvPr>
              <p:cNvSpPr txBox="1">
                <a:spLocks noRot="1" noChangeAspect="1" noMove="1" noResize="1" noEditPoints="1" noAdjustHandles="1" noChangeArrowheads="1" noChangeShapeType="1" noTextEdit="1"/>
              </p:cNvSpPr>
              <p:nvPr/>
            </p:nvSpPr>
            <p:spPr>
              <a:xfrm>
                <a:off x="4298386" y="765815"/>
                <a:ext cx="7014741" cy="2703625"/>
              </a:xfrm>
              <a:prstGeom prst="rect">
                <a:avLst/>
              </a:prstGeom>
              <a:blipFill>
                <a:blip r:embed="rId4"/>
                <a:stretch>
                  <a:fillRect l="-2712" b="-6075"/>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A6E4704F-BF12-4443-9293-FF453AB8E1FC}"/>
              </a:ext>
            </a:extLst>
          </p:cNvPr>
          <p:cNvPicPr>
            <a:picLocks noChangeAspect="1"/>
          </p:cNvPicPr>
          <p:nvPr/>
        </p:nvPicPr>
        <p:blipFill>
          <a:blip r:embed="rId5"/>
          <a:stretch>
            <a:fillRect/>
          </a:stretch>
        </p:blipFill>
        <p:spPr>
          <a:xfrm>
            <a:off x="122104" y="4005834"/>
            <a:ext cx="4376175" cy="2024412"/>
          </a:xfrm>
          <a:prstGeom prst="rect">
            <a:avLst/>
          </a:prstGeom>
        </p:spPr>
      </p:pic>
      <p:pic>
        <p:nvPicPr>
          <p:cNvPr id="21" name="图片 20">
            <a:extLst>
              <a:ext uri="{FF2B5EF4-FFF2-40B4-BE49-F238E27FC236}">
                <a16:creationId xmlns:a16="http://schemas.microsoft.com/office/drawing/2014/main" id="{17E1819E-F2BF-9F4D-AAE2-9C611D24114A}"/>
              </a:ext>
            </a:extLst>
          </p:cNvPr>
          <p:cNvPicPr>
            <a:picLocks noChangeAspect="1"/>
          </p:cNvPicPr>
          <p:nvPr/>
        </p:nvPicPr>
        <p:blipFill>
          <a:blip r:embed="rId6"/>
          <a:stretch>
            <a:fillRect/>
          </a:stretch>
        </p:blipFill>
        <p:spPr>
          <a:xfrm>
            <a:off x="4498279" y="4005834"/>
            <a:ext cx="6998929" cy="2024412"/>
          </a:xfrm>
          <a:prstGeom prst="rect">
            <a:avLst/>
          </a:prstGeom>
        </p:spPr>
      </p:pic>
      <p:sp>
        <p:nvSpPr>
          <p:cNvPr id="22" name="矩形 21">
            <a:extLst>
              <a:ext uri="{FF2B5EF4-FFF2-40B4-BE49-F238E27FC236}">
                <a16:creationId xmlns:a16="http://schemas.microsoft.com/office/drawing/2014/main" id="{34192BDA-63BB-3B4D-AD7A-CDC7B898D0E6}"/>
              </a:ext>
            </a:extLst>
          </p:cNvPr>
          <p:cNvSpPr/>
          <p:nvPr/>
        </p:nvSpPr>
        <p:spPr>
          <a:xfrm>
            <a:off x="2310191" y="5102947"/>
            <a:ext cx="1674391" cy="18680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11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35</a:t>
            </a:fld>
            <a:endParaRPr kumimoji="1" lang="zh-CN" altLang="en-US"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040BC8F9-721F-B543-9B01-470AA215460D}"/>
              </a:ext>
            </a:extLst>
          </p:cNvPr>
          <p:cNvPicPr>
            <a:picLocks noChangeAspect="1"/>
          </p:cNvPicPr>
          <p:nvPr/>
        </p:nvPicPr>
        <p:blipFill>
          <a:blip r:embed="rId2"/>
          <a:stretch>
            <a:fillRect/>
          </a:stretch>
        </p:blipFill>
        <p:spPr>
          <a:xfrm>
            <a:off x="8092671" y="461673"/>
            <a:ext cx="3237938" cy="5554216"/>
          </a:xfrm>
          <a:prstGeom prst="rect">
            <a:avLst/>
          </a:prstGeom>
        </p:spPr>
      </p:pic>
      <p:pic>
        <p:nvPicPr>
          <p:cNvPr id="17" name="图片 16">
            <a:extLst>
              <a:ext uri="{FF2B5EF4-FFF2-40B4-BE49-F238E27FC236}">
                <a16:creationId xmlns:a16="http://schemas.microsoft.com/office/drawing/2014/main" id="{05CE16DE-5BE7-F447-8693-3F25A2781A6F}"/>
              </a:ext>
            </a:extLst>
          </p:cNvPr>
          <p:cNvPicPr>
            <a:picLocks noChangeAspect="1"/>
          </p:cNvPicPr>
          <p:nvPr/>
        </p:nvPicPr>
        <p:blipFill>
          <a:blip r:embed="rId3"/>
          <a:stretch>
            <a:fillRect/>
          </a:stretch>
        </p:blipFill>
        <p:spPr>
          <a:xfrm>
            <a:off x="318053" y="2210990"/>
            <a:ext cx="6526310" cy="3591567"/>
          </a:xfrm>
          <a:prstGeom prst="rect">
            <a:avLst/>
          </a:prstGeom>
        </p:spPr>
      </p:pic>
      <p:sp>
        <p:nvSpPr>
          <p:cNvPr id="18" name="文本框 17">
            <a:extLst>
              <a:ext uri="{FF2B5EF4-FFF2-40B4-BE49-F238E27FC236}">
                <a16:creationId xmlns:a16="http://schemas.microsoft.com/office/drawing/2014/main" id="{E53B138A-AAF8-8E48-812B-56971B078BCC}"/>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pic>
        <p:nvPicPr>
          <p:cNvPr id="19" name="图片 18">
            <a:extLst>
              <a:ext uri="{FF2B5EF4-FFF2-40B4-BE49-F238E27FC236}">
                <a16:creationId xmlns:a16="http://schemas.microsoft.com/office/drawing/2014/main" id="{502C57E4-91AD-0041-B71D-7373C6FFA29E}"/>
              </a:ext>
            </a:extLst>
          </p:cNvPr>
          <p:cNvPicPr>
            <a:picLocks noChangeAspect="1"/>
          </p:cNvPicPr>
          <p:nvPr/>
        </p:nvPicPr>
        <p:blipFill>
          <a:blip r:embed="rId4"/>
          <a:stretch>
            <a:fillRect/>
          </a:stretch>
        </p:blipFill>
        <p:spPr>
          <a:xfrm>
            <a:off x="318053" y="1804366"/>
            <a:ext cx="6526310" cy="406623"/>
          </a:xfrm>
          <a:prstGeom prst="rect">
            <a:avLst/>
          </a:prstGeom>
        </p:spPr>
      </p:pic>
      <p:sp>
        <p:nvSpPr>
          <p:cNvPr id="21" name="文本框 20">
            <a:extLst>
              <a:ext uri="{FF2B5EF4-FFF2-40B4-BE49-F238E27FC236}">
                <a16:creationId xmlns:a16="http://schemas.microsoft.com/office/drawing/2014/main" id="{090C2C05-8718-044A-8755-D5013F84F2DE}"/>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218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36</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47" name="文本框 46">
            <a:extLst>
              <a:ext uri="{FF2B5EF4-FFF2-40B4-BE49-F238E27FC236}">
                <a16:creationId xmlns:a16="http://schemas.microsoft.com/office/drawing/2014/main" id="{1915BDFC-42B0-8142-9CCE-BDD6874DB80D}"/>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60420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37</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6400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38</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B6F959E0-55E5-9F45-B2DB-F5AAF41798D4}"/>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0290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39</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6A87A583-FE04-5D4D-A630-E1BD6C838ACF}"/>
              </a:ext>
            </a:extLst>
          </p:cNvPr>
          <p:cNvSpPr/>
          <p:nvPr/>
        </p:nvSpPr>
        <p:spPr>
          <a:xfrm>
            <a:off x="7677294" y="403742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BFF3477-6F9D-9044-BDB3-B74D1B17E8A6}"/>
              </a:ext>
            </a:extLst>
          </p:cNvPr>
          <p:cNvSpPr/>
          <p:nvPr/>
        </p:nvSpPr>
        <p:spPr>
          <a:xfrm>
            <a:off x="7677294" y="440255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650F110-3466-FC47-B0AB-84AFEF63E60C}"/>
              </a:ext>
            </a:extLst>
          </p:cNvPr>
          <p:cNvSpPr/>
          <p:nvPr/>
        </p:nvSpPr>
        <p:spPr>
          <a:xfrm>
            <a:off x="7677294" y="4767679"/>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右大括号 33">
            <a:extLst>
              <a:ext uri="{FF2B5EF4-FFF2-40B4-BE49-F238E27FC236}">
                <a16:creationId xmlns:a16="http://schemas.microsoft.com/office/drawing/2014/main" id="{1A24A162-7F07-CE45-BE2E-7AA7ED864699}"/>
              </a:ext>
            </a:extLst>
          </p:cNvPr>
          <p:cNvSpPr/>
          <p:nvPr/>
        </p:nvSpPr>
        <p:spPr>
          <a:xfrm>
            <a:off x="10282628" y="4064538"/>
            <a:ext cx="237117" cy="1077556"/>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10E0777E-172A-3F46-ABD6-C592FDEAA16A}"/>
              </a:ext>
            </a:extLst>
          </p:cNvPr>
          <p:cNvSpPr txBox="1"/>
          <p:nvPr/>
        </p:nvSpPr>
        <p:spPr>
          <a:xfrm>
            <a:off x="10519745" y="4418650"/>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func4(1)</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0118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06826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2946422"/>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81953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41</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6A87A583-FE04-5D4D-A630-E1BD6C838ACF}"/>
              </a:ext>
            </a:extLst>
          </p:cNvPr>
          <p:cNvSpPr/>
          <p:nvPr/>
        </p:nvSpPr>
        <p:spPr>
          <a:xfrm>
            <a:off x="7677294" y="403742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BFF3477-6F9D-9044-BDB3-B74D1B17E8A6}"/>
              </a:ext>
            </a:extLst>
          </p:cNvPr>
          <p:cNvSpPr/>
          <p:nvPr/>
        </p:nvSpPr>
        <p:spPr>
          <a:xfrm>
            <a:off x="7677294" y="440255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650F110-3466-FC47-B0AB-84AFEF63E60C}"/>
              </a:ext>
            </a:extLst>
          </p:cNvPr>
          <p:cNvSpPr/>
          <p:nvPr/>
        </p:nvSpPr>
        <p:spPr>
          <a:xfrm>
            <a:off x="7677294" y="4767679"/>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右大括号 33">
            <a:extLst>
              <a:ext uri="{FF2B5EF4-FFF2-40B4-BE49-F238E27FC236}">
                <a16:creationId xmlns:a16="http://schemas.microsoft.com/office/drawing/2014/main" id="{1A24A162-7F07-CE45-BE2E-7AA7ED864699}"/>
              </a:ext>
            </a:extLst>
          </p:cNvPr>
          <p:cNvSpPr/>
          <p:nvPr/>
        </p:nvSpPr>
        <p:spPr>
          <a:xfrm>
            <a:off x="10282628" y="4064538"/>
            <a:ext cx="237117" cy="1077556"/>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10E0777E-172A-3F46-ABD6-C592FDEAA16A}"/>
              </a:ext>
            </a:extLst>
          </p:cNvPr>
          <p:cNvSpPr txBox="1"/>
          <p:nvPr/>
        </p:nvSpPr>
        <p:spPr>
          <a:xfrm>
            <a:off x="10519745" y="4418650"/>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func4(0)</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8068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42</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9708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43</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572AB4C-DF20-4645-AFCB-497E7982FA10}"/>
              </a:ext>
            </a:extLst>
          </p:cNvPr>
          <p:cNvSpPr txBox="1"/>
          <p:nvPr/>
        </p:nvSpPr>
        <p:spPr>
          <a:xfrm>
            <a:off x="4847343" y="2427988"/>
            <a:ext cx="2497314"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phase_5</a:t>
            </a:r>
          </a:p>
          <a:p>
            <a:pPr algn="ctr">
              <a:lnSpc>
                <a:spcPct val="150000"/>
              </a:lnSpc>
            </a:pPr>
            <a:r>
              <a:rPr kumimoji="1" lang="en-US" altLang="zh-CN" sz="4400" dirty="0">
                <a:latin typeface="Times New Roman" panose="02020603050405020304" pitchFamily="18" charset="0"/>
                <a:cs typeface="Times New Roman" panose="02020603050405020304" pitchFamily="18" charset="0"/>
              </a:rPr>
              <a:t>Array</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6492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44</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70857" y="1381539"/>
            <a:ext cx="10654747" cy="446583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根据汇编代码易知输入的字符串长度为</a:t>
            </a:r>
            <a:r>
              <a:rPr kumimoji="1" lang="en-US" altLang="zh-CN" sz="2400" dirty="0">
                <a:latin typeface="Times New Roman" panose="02020603050405020304" pitchFamily="18" charset="0"/>
                <a:cs typeface="Times New Roman" panose="02020603050405020304" pitchFamily="18" charset="0"/>
              </a:rPr>
              <a:t>6</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可以观察到汇编代码访问了储存在内存中的数组（</a:t>
            </a:r>
            <a:r>
              <a:rPr kumimoji="1" lang="zh-CN" altLang="en-US" sz="2400" b="1" dirty="0">
                <a:latin typeface="Times New Roman" panose="02020603050405020304" pitchFamily="18" charset="0"/>
                <a:cs typeface="Times New Roman" panose="02020603050405020304" pitchFamily="18" charset="0"/>
              </a:rPr>
              <a:t>全局变量</a:t>
            </a:r>
            <a:r>
              <a:rPr kumimoji="1" lang="zh-CN" altLang="en-US" sz="2400" dirty="0">
                <a:latin typeface="Times New Roman" panose="02020603050405020304" pitchFamily="18" charset="0"/>
                <a:cs typeface="Times New Roman" panose="02020603050405020304" pitchFamily="18" charset="0"/>
              </a:rPr>
              <a:t>）</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并且通过循环对该数组的某些元素求和，其中每个元素的数组下标与我们输入的字符串有关</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查看该数组，可发现数组的前</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个元素和第</a:t>
            </a:r>
            <a:r>
              <a:rPr kumimoji="1" lang="en-US" altLang="zh-CN" sz="2400" dirty="0">
                <a:latin typeface="Times New Roman" panose="02020603050405020304" pitchFamily="18" charset="0"/>
                <a:cs typeface="Times New Roman" panose="02020603050405020304" pitchFamily="18" charset="0"/>
              </a:rPr>
              <a:t>3</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8</a:t>
            </a:r>
            <a:r>
              <a:rPr kumimoji="1" lang="zh-CN" altLang="en-US" sz="2400" dirty="0">
                <a:latin typeface="Times New Roman" panose="02020603050405020304" pitchFamily="18" charset="0"/>
                <a:cs typeface="Times New Roman" panose="02020603050405020304" pitchFamily="18" charset="0"/>
              </a:rPr>
              <a:t>个元素的和均为</a:t>
            </a:r>
            <a:r>
              <a:rPr kumimoji="1" lang="en-US" altLang="zh-CN" sz="2400" dirty="0">
                <a:latin typeface="Times New Roman" panose="02020603050405020304" pitchFamily="18" charset="0"/>
                <a:cs typeface="Times New Roman" panose="02020603050405020304" pitchFamily="18" charset="0"/>
              </a:rPr>
              <a:t>0x2f</a:t>
            </a:r>
            <a:r>
              <a:rPr kumimoji="1" lang="zh-CN" altLang="en-US" sz="2400" dirty="0">
                <a:latin typeface="Times New Roman" panose="02020603050405020304" pitchFamily="18" charset="0"/>
                <a:cs typeface="Times New Roman" panose="02020603050405020304" pitchFamily="18" charset="0"/>
              </a:rPr>
              <a:t>，满足要求</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我们可以根据以上条件构造出符合要求的字符串</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知道字符</a:t>
            </a:r>
            <a:r>
              <a:rPr kumimoji="1" lang="zh-CN" altLang="en-US" sz="2400" b="1" dirty="0">
                <a:latin typeface="Times New Roman" panose="02020603050405020304" pitchFamily="18" charset="0"/>
                <a:cs typeface="Times New Roman" panose="02020603050405020304" pitchFamily="18" charset="0"/>
              </a:rPr>
              <a:t>‘</a:t>
            </a:r>
            <a:r>
              <a:rPr kumimoji="1" lang="en-US" altLang="zh-CN" sz="2400" b="1" i="1" dirty="0">
                <a:latin typeface="Times New Roman" panose="02020603050405020304" pitchFamily="18" charset="0"/>
                <a:cs typeface="Times New Roman" panose="02020603050405020304" pitchFamily="18" charset="0"/>
              </a:rPr>
              <a:t>x</a:t>
            </a:r>
            <a:r>
              <a:rPr kumimoji="1" lang="zh-CN" altLang="en-US" sz="2400" b="1" dirty="0">
                <a:latin typeface="Times New Roman" panose="02020603050405020304" pitchFamily="18" charset="0"/>
                <a:cs typeface="Times New Roman" panose="02020603050405020304" pitchFamily="18" charset="0"/>
              </a:rPr>
              <a:t>’的</a:t>
            </a:r>
            <a:r>
              <a:rPr kumimoji="1" lang="en-US" altLang="zh-CN" sz="2400" b="1" dirty="0">
                <a:latin typeface="Times New Roman" panose="02020603050405020304" pitchFamily="18" charset="0"/>
                <a:cs typeface="Times New Roman" panose="02020603050405020304" pitchFamily="18" charset="0"/>
              </a:rPr>
              <a:t>ascii</a:t>
            </a:r>
            <a:r>
              <a:rPr kumimoji="1" lang="zh-CN" altLang="en-US" sz="2400" b="1" dirty="0">
                <a:latin typeface="Times New Roman" panose="02020603050405020304" pitchFamily="18" charset="0"/>
                <a:cs typeface="Times New Roman" panose="02020603050405020304" pitchFamily="18" charset="0"/>
              </a:rPr>
              <a:t>码为</a:t>
            </a:r>
            <a:r>
              <a:rPr kumimoji="1" lang="en-US" altLang="zh-CN" sz="2400" b="1" dirty="0">
                <a:latin typeface="Times New Roman" panose="02020603050405020304" pitchFamily="18" charset="0"/>
                <a:cs typeface="Times New Roman" panose="02020603050405020304" pitchFamily="18" charset="0"/>
              </a:rPr>
              <a:t>0x3</a:t>
            </a:r>
            <a:r>
              <a:rPr kumimoji="1" lang="en-US" altLang="zh-CN" sz="2400" b="1" i="1" dirty="0">
                <a:latin typeface="Times New Roman" panose="02020603050405020304" pitchFamily="18" charset="0"/>
                <a:cs typeface="Times New Roman" panose="02020603050405020304" pitchFamily="18" charset="0"/>
              </a:rPr>
              <a:t>x</a:t>
            </a:r>
            <a:r>
              <a:rPr kumimoji="1" lang="zh-CN" altLang="en-US" sz="2400" b="1" dirty="0">
                <a:latin typeface="Times New Roman" panose="02020603050405020304" pitchFamily="18" charset="0"/>
                <a:cs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x=0,1,2,3,4,5,6,7,8,9</a:t>
            </a:r>
            <a:r>
              <a:rPr kumimoji="1" lang="zh-CN" altLang="en-US" sz="2400" b="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对解题有帮助</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876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45</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70967647-CA43-E343-805F-8113C277AB93}"/>
              </a:ext>
            </a:extLst>
          </p:cNvPr>
          <p:cNvPicPr>
            <a:picLocks noChangeAspect="1"/>
          </p:cNvPicPr>
          <p:nvPr/>
        </p:nvPicPr>
        <p:blipFill>
          <a:blip r:embed="rId2"/>
          <a:stretch>
            <a:fillRect/>
          </a:stretch>
        </p:blipFill>
        <p:spPr>
          <a:xfrm>
            <a:off x="1836609" y="0"/>
            <a:ext cx="8518781" cy="6307283"/>
          </a:xfrm>
          <a:prstGeom prst="rect">
            <a:avLst/>
          </a:prstGeom>
        </p:spPr>
      </p:pic>
    </p:spTree>
    <p:extLst>
      <p:ext uri="{BB962C8B-B14F-4D97-AF65-F5344CB8AC3E}">
        <p14:creationId xmlns:p14="http://schemas.microsoft.com/office/powerpoint/2010/main" val="6379829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46</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CA7A6FDD-36B9-1342-85A9-983DDED67128}"/>
              </a:ext>
            </a:extLst>
          </p:cNvPr>
          <p:cNvPicPr>
            <a:picLocks noChangeAspect="1"/>
          </p:cNvPicPr>
          <p:nvPr/>
        </p:nvPicPr>
        <p:blipFill>
          <a:blip r:embed="rId2"/>
          <a:stretch>
            <a:fillRect/>
          </a:stretch>
        </p:blipFill>
        <p:spPr>
          <a:xfrm>
            <a:off x="0" y="0"/>
            <a:ext cx="4150906" cy="3073320"/>
          </a:xfrm>
          <a:prstGeom prst="rect">
            <a:avLst/>
          </a:prstGeom>
        </p:spPr>
      </p:pic>
      <p:sp>
        <p:nvSpPr>
          <p:cNvPr id="14" name="矩形 13">
            <a:extLst>
              <a:ext uri="{FF2B5EF4-FFF2-40B4-BE49-F238E27FC236}">
                <a16:creationId xmlns:a16="http://schemas.microsoft.com/office/drawing/2014/main" id="{F039AC6A-C656-DF4A-B341-F822EE854133}"/>
              </a:ext>
            </a:extLst>
          </p:cNvPr>
          <p:cNvSpPr/>
          <p:nvPr/>
        </p:nvSpPr>
        <p:spPr>
          <a:xfrm>
            <a:off x="228600" y="129209"/>
            <a:ext cx="2842591" cy="71561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4" name="图片 3">
            <a:extLst>
              <a:ext uri="{FF2B5EF4-FFF2-40B4-BE49-F238E27FC236}">
                <a16:creationId xmlns:a16="http://schemas.microsoft.com/office/drawing/2014/main" id="{81906675-AD50-AA4E-B2C7-B2C3F10BF6FB}"/>
              </a:ext>
            </a:extLst>
          </p:cNvPr>
          <p:cNvPicPr>
            <a:picLocks noChangeAspect="1"/>
          </p:cNvPicPr>
          <p:nvPr/>
        </p:nvPicPr>
        <p:blipFill rotWithShape="1">
          <a:blip r:embed="rId3"/>
          <a:srcRect b="22975"/>
          <a:stretch/>
        </p:blipFill>
        <p:spPr>
          <a:xfrm>
            <a:off x="1333500" y="3429000"/>
            <a:ext cx="9525000" cy="1858617"/>
          </a:xfrm>
          <a:prstGeom prst="rect">
            <a:avLst/>
          </a:prstGeom>
        </p:spPr>
      </p:pic>
    </p:spTree>
    <p:extLst>
      <p:ext uri="{BB962C8B-B14F-4D97-AF65-F5344CB8AC3E}">
        <p14:creationId xmlns:p14="http://schemas.microsoft.com/office/powerpoint/2010/main" val="42481878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47</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CA7A6FDD-36B9-1342-85A9-983DDED67128}"/>
              </a:ext>
            </a:extLst>
          </p:cNvPr>
          <p:cNvPicPr>
            <a:picLocks noChangeAspect="1"/>
          </p:cNvPicPr>
          <p:nvPr/>
        </p:nvPicPr>
        <p:blipFill>
          <a:blip r:embed="rId2"/>
          <a:stretch>
            <a:fillRect/>
          </a:stretch>
        </p:blipFill>
        <p:spPr>
          <a:xfrm>
            <a:off x="0" y="0"/>
            <a:ext cx="4150906" cy="3073320"/>
          </a:xfrm>
          <a:prstGeom prst="rect">
            <a:avLst/>
          </a:prstGeom>
        </p:spPr>
      </p:pic>
      <p:sp>
        <p:nvSpPr>
          <p:cNvPr id="14" name="矩形 13">
            <a:extLst>
              <a:ext uri="{FF2B5EF4-FFF2-40B4-BE49-F238E27FC236}">
                <a16:creationId xmlns:a16="http://schemas.microsoft.com/office/drawing/2014/main" id="{F039AC6A-C656-DF4A-B341-F822EE854133}"/>
              </a:ext>
            </a:extLst>
          </p:cNvPr>
          <p:cNvSpPr/>
          <p:nvPr/>
        </p:nvSpPr>
        <p:spPr>
          <a:xfrm>
            <a:off x="238540" y="834887"/>
            <a:ext cx="2842591" cy="174928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grpSp>
        <p:nvGrpSpPr>
          <p:cNvPr id="16" name="组合 15">
            <a:extLst>
              <a:ext uri="{FF2B5EF4-FFF2-40B4-BE49-F238E27FC236}">
                <a16:creationId xmlns:a16="http://schemas.microsoft.com/office/drawing/2014/main" id="{B883F204-9704-E24E-89D3-FEECA593687A}"/>
              </a:ext>
            </a:extLst>
          </p:cNvPr>
          <p:cNvGrpSpPr/>
          <p:nvPr/>
        </p:nvGrpSpPr>
        <p:grpSpPr>
          <a:xfrm>
            <a:off x="76198" y="3168728"/>
            <a:ext cx="12115800" cy="2862470"/>
            <a:chOff x="0" y="3113069"/>
            <a:chExt cx="11776229" cy="2651627"/>
          </a:xfrm>
        </p:grpSpPr>
        <p:pic>
          <p:nvPicPr>
            <p:cNvPr id="4" name="图片 3">
              <a:extLst>
                <a:ext uri="{FF2B5EF4-FFF2-40B4-BE49-F238E27FC236}">
                  <a16:creationId xmlns:a16="http://schemas.microsoft.com/office/drawing/2014/main" id="{27DD6992-B379-1140-BF36-E7D2B0F04D06}"/>
                </a:ext>
              </a:extLst>
            </p:cNvPr>
            <p:cNvPicPr>
              <a:picLocks noChangeAspect="1"/>
            </p:cNvPicPr>
            <p:nvPr/>
          </p:nvPicPr>
          <p:blipFill>
            <a:blip r:embed="rId3"/>
            <a:stretch>
              <a:fillRect/>
            </a:stretch>
          </p:blipFill>
          <p:spPr>
            <a:xfrm>
              <a:off x="0" y="3113077"/>
              <a:ext cx="5913863" cy="2651619"/>
            </a:xfrm>
            <a:prstGeom prst="rect">
              <a:avLst/>
            </a:prstGeom>
          </p:spPr>
        </p:pic>
        <p:pic>
          <p:nvPicPr>
            <p:cNvPr id="15" name="图片 14">
              <a:extLst>
                <a:ext uri="{FF2B5EF4-FFF2-40B4-BE49-F238E27FC236}">
                  <a16:creationId xmlns:a16="http://schemas.microsoft.com/office/drawing/2014/main" id="{D14BE8B5-F8D8-E444-854A-1E47403E7149}"/>
                </a:ext>
              </a:extLst>
            </p:cNvPr>
            <p:cNvPicPr>
              <a:picLocks noChangeAspect="1"/>
            </p:cNvPicPr>
            <p:nvPr/>
          </p:nvPicPr>
          <p:blipFill>
            <a:blip r:embed="rId4"/>
            <a:stretch>
              <a:fillRect/>
            </a:stretch>
          </p:blipFill>
          <p:spPr>
            <a:xfrm>
              <a:off x="5913863" y="3113069"/>
              <a:ext cx="5862366" cy="2651619"/>
            </a:xfrm>
            <a:prstGeom prst="rect">
              <a:avLst/>
            </a:prstGeom>
          </p:spPr>
        </p:pic>
      </p:grpSp>
      <p:sp>
        <p:nvSpPr>
          <p:cNvPr id="17" name="矩形 16">
            <a:extLst>
              <a:ext uri="{FF2B5EF4-FFF2-40B4-BE49-F238E27FC236}">
                <a16:creationId xmlns:a16="http://schemas.microsoft.com/office/drawing/2014/main" id="{0B4589BA-C4C1-D249-A539-91E230E0369B}"/>
              </a:ext>
            </a:extLst>
          </p:cNvPr>
          <p:cNvSpPr/>
          <p:nvPr/>
        </p:nvSpPr>
        <p:spPr>
          <a:xfrm>
            <a:off x="2285931" y="4502426"/>
            <a:ext cx="3874658" cy="1888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19" name="图片 18">
            <a:extLst>
              <a:ext uri="{FF2B5EF4-FFF2-40B4-BE49-F238E27FC236}">
                <a16:creationId xmlns:a16="http://schemas.microsoft.com/office/drawing/2014/main" id="{D836E3DC-D719-FE4F-8C99-B6A59D975084}"/>
              </a:ext>
            </a:extLst>
          </p:cNvPr>
          <p:cNvPicPr>
            <a:picLocks noChangeAspect="1"/>
          </p:cNvPicPr>
          <p:nvPr/>
        </p:nvPicPr>
        <p:blipFill>
          <a:blip r:embed="rId5"/>
          <a:stretch>
            <a:fillRect/>
          </a:stretch>
        </p:blipFill>
        <p:spPr>
          <a:xfrm>
            <a:off x="4269196" y="283778"/>
            <a:ext cx="7684264" cy="1622620"/>
          </a:xfrm>
          <a:prstGeom prst="rect">
            <a:avLst/>
          </a:prstGeom>
        </p:spPr>
      </p:pic>
      <p:sp>
        <p:nvSpPr>
          <p:cNvPr id="20" name="文本框 19">
            <a:extLst>
              <a:ext uri="{FF2B5EF4-FFF2-40B4-BE49-F238E27FC236}">
                <a16:creationId xmlns:a16="http://schemas.microsoft.com/office/drawing/2014/main" id="{7B1B417A-9E58-BE4E-AF6B-0E2A36B757A8}"/>
              </a:ext>
            </a:extLst>
          </p:cNvPr>
          <p:cNvSpPr txBox="1"/>
          <p:nvPr/>
        </p:nvSpPr>
        <p:spPr>
          <a:xfrm>
            <a:off x="4223260" y="2017520"/>
            <a:ext cx="7879080" cy="968727"/>
          </a:xfrm>
          <a:prstGeom prst="rect">
            <a:avLst/>
          </a:prstGeom>
          <a:noFill/>
        </p:spPr>
        <p:txBody>
          <a:bodyPr wrap="none" rtlCol="0">
            <a:spAutoFit/>
          </a:bodyPr>
          <a:lstStyle/>
          <a:p>
            <a:pPr>
              <a:lnSpc>
                <a:spcPct val="150000"/>
              </a:lnSpc>
            </a:pP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 小端法存储整型数据</a:t>
            </a:r>
            <a:endParaRPr kumimoji="1" lang="en-US" altLang="zh-CN" sz="2000" dirty="0">
              <a:latin typeface="Times New Roman" panose="02020603050405020304" pitchFamily="18" charset="0"/>
              <a:cs typeface="Times New Roman" panose="02020603050405020304" pitchFamily="18" charset="0"/>
            </a:endParaRPr>
          </a:p>
          <a:p>
            <a:pPr>
              <a:lnSpc>
                <a:spcPct val="150000"/>
              </a:lnSpc>
            </a:pPr>
            <a:r>
              <a:rPr kumimoji="1" lang="zh-CN" altLang="en-US" sz="2000" dirty="0">
                <a:latin typeface="Times New Roman" panose="02020603050405020304" pitchFamily="18" charset="0"/>
                <a:cs typeface="Times New Roman" panose="02020603050405020304" pitchFamily="18" charset="0"/>
              </a:rPr>
              <a:t>本步骤为一个</a:t>
            </a:r>
            <a:r>
              <a:rPr kumimoji="1" lang="zh-CN" altLang="en-US" sz="2000" b="1" dirty="0">
                <a:latin typeface="Times New Roman" panose="02020603050405020304" pitchFamily="18" charset="0"/>
                <a:cs typeface="Times New Roman" panose="02020603050405020304" pitchFamily="18" charset="0"/>
              </a:rPr>
              <a:t>全局数组变量</a:t>
            </a:r>
            <a:r>
              <a:rPr kumimoji="1" lang="zh-CN" altLang="en-US" sz="2000" dirty="0">
                <a:latin typeface="Times New Roman" panose="02020603050405020304" pitchFamily="18" charset="0"/>
                <a:cs typeface="Times New Roman" panose="02020603050405020304" pitchFamily="18" charset="0"/>
              </a:rPr>
              <a:t>创建了地址，为接下来的数组引用做准备</a:t>
            </a:r>
          </a:p>
        </p:txBody>
      </p:sp>
    </p:spTree>
    <p:extLst>
      <p:ext uri="{BB962C8B-B14F-4D97-AF65-F5344CB8AC3E}">
        <p14:creationId xmlns:p14="http://schemas.microsoft.com/office/powerpoint/2010/main" val="35493883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48</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08CD1625-1C8B-E145-8293-F7CA3EC259B2}"/>
              </a:ext>
            </a:extLst>
          </p:cNvPr>
          <p:cNvSpPr txBox="1"/>
          <p:nvPr/>
        </p:nvSpPr>
        <p:spPr>
          <a:xfrm>
            <a:off x="3786899" y="2427988"/>
            <a:ext cx="4618202"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phase_6</a:t>
            </a:r>
          </a:p>
          <a:p>
            <a:pPr algn="ctr">
              <a:lnSpc>
                <a:spcPct val="150000"/>
              </a:lnSpc>
            </a:pPr>
            <a:r>
              <a:rPr kumimoji="1" lang="es-ES" altLang="zh-CN" sz="4400" dirty="0">
                <a:latin typeface="Times New Roman" panose="02020603050405020304" pitchFamily="18" charset="0"/>
                <a:cs typeface="Times New Roman" panose="02020603050405020304" pitchFamily="18" charset="0"/>
              </a:rPr>
              <a:t>Single </a:t>
            </a:r>
            <a:r>
              <a:rPr kumimoji="1" lang="es-ES" altLang="zh-CN" sz="4400" dirty="0" err="1">
                <a:latin typeface="Times New Roman" panose="02020603050405020304" pitchFamily="18" charset="0"/>
                <a:cs typeface="Times New Roman" panose="02020603050405020304" pitchFamily="18" charset="0"/>
              </a:rPr>
              <a:t>Linked</a:t>
            </a:r>
            <a:r>
              <a:rPr kumimoji="1" lang="es-ES" altLang="zh-CN" sz="4400" dirty="0">
                <a:latin typeface="Times New Roman" panose="02020603050405020304" pitchFamily="18" charset="0"/>
                <a:cs typeface="Times New Roman" panose="02020603050405020304" pitchFamily="18" charset="0"/>
              </a:rPr>
              <a:t> </a:t>
            </a:r>
            <a:r>
              <a:rPr kumimoji="1" lang="es-ES" altLang="zh-CN" sz="4400" dirty="0" err="1">
                <a:latin typeface="Times New Roman" panose="02020603050405020304" pitchFamily="18" charset="0"/>
                <a:cs typeface="Times New Roman" panose="02020603050405020304" pitchFamily="18" charset="0"/>
              </a:rPr>
              <a:t>List</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6786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49</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885DC44-FBE5-2741-815B-73D77AB9423F}"/>
              </a:ext>
            </a:extLst>
          </p:cNvPr>
          <p:cNvPicPr>
            <a:picLocks noChangeAspect="1"/>
          </p:cNvPicPr>
          <p:nvPr/>
        </p:nvPicPr>
        <p:blipFill>
          <a:blip r:embed="rId2"/>
          <a:stretch>
            <a:fillRect/>
          </a:stretch>
        </p:blipFill>
        <p:spPr>
          <a:xfrm>
            <a:off x="7281890" y="1955939"/>
            <a:ext cx="4333819" cy="2293753"/>
          </a:xfrm>
          <a:prstGeom prst="rect">
            <a:avLst/>
          </a:prstGeom>
        </p:spPr>
      </p:pic>
      <p:pic>
        <p:nvPicPr>
          <p:cNvPr id="4" name="图片 3">
            <a:extLst>
              <a:ext uri="{FF2B5EF4-FFF2-40B4-BE49-F238E27FC236}">
                <a16:creationId xmlns:a16="http://schemas.microsoft.com/office/drawing/2014/main" id="{23A5DE5D-84CD-1746-9DAB-26608F998C2C}"/>
              </a:ext>
            </a:extLst>
          </p:cNvPr>
          <p:cNvPicPr>
            <a:picLocks noChangeAspect="1"/>
          </p:cNvPicPr>
          <p:nvPr/>
        </p:nvPicPr>
        <p:blipFill>
          <a:blip r:embed="rId3"/>
          <a:stretch>
            <a:fillRect/>
          </a:stretch>
        </p:blipFill>
        <p:spPr>
          <a:xfrm>
            <a:off x="288055" y="203199"/>
            <a:ext cx="5188405" cy="1074125"/>
          </a:xfrm>
          <a:prstGeom prst="rect">
            <a:avLst/>
          </a:prstGeom>
        </p:spPr>
      </p:pic>
      <p:pic>
        <p:nvPicPr>
          <p:cNvPr id="15" name="图片 14">
            <a:extLst>
              <a:ext uri="{FF2B5EF4-FFF2-40B4-BE49-F238E27FC236}">
                <a16:creationId xmlns:a16="http://schemas.microsoft.com/office/drawing/2014/main" id="{CE460BFA-06A2-A34E-BAA8-279BAF2C458D}"/>
              </a:ext>
            </a:extLst>
          </p:cNvPr>
          <p:cNvPicPr>
            <a:picLocks noChangeAspect="1"/>
          </p:cNvPicPr>
          <p:nvPr/>
        </p:nvPicPr>
        <p:blipFill>
          <a:blip r:embed="rId4"/>
          <a:stretch>
            <a:fillRect/>
          </a:stretch>
        </p:blipFill>
        <p:spPr>
          <a:xfrm>
            <a:off x="288055" y="1679713"/>
            <a:ext cx="6728988" cy="3848376"/>
          </a:xfrm>
          <a:prstGeom prst="rect">
            <a:avLst/>
          </a:prstGeom>
        </p:spPr>
      </p:pic>
    </p:spTree>
    <p:extLst>
      <p:ext uri="{BB962C8B-B14F-4D97-AF65-F5344CB8AC3E}">
        <p14:creationId xmlns:p14="http://schemas.microsoft.com/office/powerpoint/2010/main" val="12276687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88093CFC-A266-6346-B596-7C34A7AC8702}"/>
              </a:ext>
            </a:extLst>
          </p:cNvPr>
          <p:cNvPicPr>
            <a:picLocks noChangeAspect="1"/>
          </p:cNvPicPr>
          <p:nvPr/>
        </p:nvPicPr>
        <p:blipFill>
          <a:blip r:embed="rId2"/>
          <a:stretch>
            <a:fillRect/>
          </a:stretch>
        </p:blipFill>
        <p:spPr>
          <a:xfrm>
            <a:off x="526774" y="477354"/>
            <a:ext cx="6188669" cy="2206211"/>
          </a:xfrm>
          <a:prstGeom prst="rect">
            <a:avLst/>
          </a:prstGeom>
        </p:spPr>
      </p:pic>
      <p:pic>
        <p:nvPicPr>
          <p:cNvPr id="16" name="图片 15">
            <a:extLst>
              <a:ext uri="{FF2B5EF4-FFF2-40B4-BE49-F238E27FC236}">
                <a16:creationId xmlns:a16="http://schemas.microsoft.com/office/drawing/2014/main" id="{F725F556-F252-DC47-A197-6E6FEA93CBC4}"/>
              </a:ext>
            </a:extLst>
          </p:cNvPr>
          <p:cNvPicPr>
            <a:picLocks noChangeAspect="1"/>
          </p:cNvPicPr>
          <p:nvPr/>
        </p:nvPicPr>
        <p:blipFill rotWithShape="1">
          <a:blip r:embed="rId3"/>
          <a:srcRect l="11322" t="5358" r="14583" b="13549"/>
          <a:stretch/>
        </p:blipFill>
        <p:spPr>
          <a:xfrm>
            <a:off x="7759147" y="40839"/>
            <a:ext cx="4432853" cy="5564645"/>
          </a:xfrm>
          <a:prstGeom prst="rect">
            <a:avLst/>
          </a:prstGeom>
        </p:spPr>
      </p:pic>
      <p:sp>
        <p:nvSpPr>
          <p:cNvPr id="17" name="矩形 16">
            <a:extLst>
              <a:ext uri="{FF2B5EF4-FFF2-40B4-BE49-F238E27FC236}">
                <a16:creationId xmlns:a16="http://schemas.microsoft.com/office/drawing/2014/main" id="{2BA826FF-F5A4-1F45-9BFA-939FEC53AFEA}"/>
              </a:ext>
            </a:extLst>
          </p:cNvPr>
          <p:cNvSpPr/>
          <p:nvPr/>
        </p:nvSpPr>
        <p:spPr>
          <a:xfrm>
            <a:off x="2416957" y="1580459"/>
            <a:ext cx="2808187" cy="23840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061AE3AA-3A17-DC4F-9C5A-14750A1D4950}"/>
              </a:ext>
            </a:extLst>
          </p:cNvPr>
          <p:cNvSpPr/>
          <p:nvPr/>
        </p:nvSpPr>
        <p:spPr>
          <a:xfrm>
            <a:off x="2416957" y="2191025"/>
            <a:ext cx="1449366" cy="23840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24" name="图片 23">
            <a:extLst>
              <a:ext uri="{FF2B5EF4-FFF2-40B4-BE49-F238E27FC236}">
                <a16:creationId xmlns:a16="http://schemas.microsoft.com/office/drawing/2014/main" id="{BEACFDC3-87F0-3043-BBB6-4031E62D217B}"/>
              </a:ext>
            </a:extLst>
          </p:cNvPr>
          <p:cNvPicPr>
            <a:picLocks noChangeAspect="1"/>
          </p:cNvPicPr>
          <p:nvPr/>
        </p:nvPicPr>
        <p:blipFill>
          <a:blip r:embed="rId4"/>
          <a:stretch>
            <a:fillRect/>
          </a:stretch>
        </p:blipFill>
        <p:spPr>
          <a:xfrm>
            <a:off x="526774" y="2801591"/>
            <a:ext cx="6883400" cy="1828800"/>
          </a:xfrm>
          <a:prstGeom prst="rect">
            <a:avLst/>
          </a:prstGeom>
        </p:spPr>
      </p:pic>
      <p:sp>
        <p:nvSpPr>
          <p:cNvPr id="25" name="矩形 24">
            <a:extLst>
              <a:ext uri="{FF2B5EF4-FFF2-40B4-BE49-F238E27FC236}">
                <a16:creationId xmlns:a16="http://schemas.microsoft.com/office/drawing/2014/main" id="{8C29273F-BC6C-5343-9F68-3FCD3355518C}"/>
              </a:ext>
            </a:extLst>
          </p:cNvPr>
          <p:cNvSpPr/>
          <p:nvPr/>
        </p:nvSpPr>
        <p:spPr>
          <a:xfrm>
            <a:off x="526774"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B3B1CFCC-4A2E-F842-AC2B-03FDA6F5399E}"/>
              </a:ext>
            </a:extLst>
          </p:cNvPr>
          <p:cNvSpPr/>
          <p:nvPr/>
        </p:nvSpPr>
        <p:spPr>
          <a:xfrm>
            <a:off x="1172817"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7" name="直线箭头连接符 26">
            <a:extLst>
              <a:ext uri="{FF2B5EF4-FFF2-40B4-BE49-F238E27FC236}">
                <a16:creationId xmlns:a16="http://schemas.microsoft.com/office/drawing/2014/main" id="{19508844-DFBD-464E-B8AA-4B46C7723E6D}"/>
              </a:ext>
            </a:extLst>
          </p:cNvPr>
          <p:cNvCxnSpPr/>
          <p:nvPr/>
        </p:nvCxnSpPr>
        <p:spPr>
          <a:xfrm>
            <a:off x="1491271"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矩形 27">
            <a:extLst>
              <a:ext uri="{FF2B5EF4-FFF2-40B4-BE49-F238E27FC236}">
                <a16:creationId xmlns:a16="http://schemas.microsoft.com/office/drawing/2014/main" id="{04CCA8B7-3B3B-194F-B388-9EDFFF7AEC54}"/>
              </a:ext>
            </a:extLst>
          </p:cNvPr>
          <p:cNvSpPr/>
          <p:nvPr/>
        </p:nvSpPr>
        <p:spPr>
          <a:xfrm>
            <a:off x="2221562"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DB631038-6DBC-8B47-8DF7-679D30BB9029}"/>
              </a:ext>
            </a:extLst>
          </p:cNvPr>
          <p:cNvSpPr/>
          <p:nvPr/>
        </p:nvSpPr>
        <p:spPr>
          <a:xfrm>
            <a:off x="2867605"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0" name="直线箭头连接符 29">
            <a:extLst>
              <a:ext uri="{FF2B5EF4-FFF2-40B4-BE49-F238E27FC236}">
                <a16:creationId xmlns:a16="http://schemas.microsoft.com/office/drawing/2014/main" id="{C6DA2FC9-646A-9E41-ADCD-519D4131D690}"/>
              </a:ext>
            </a:extLst>
          </p:cNvPr>
          <p:cNvCxnSpPr/>
          <p:nvPr/>
        </p:nvCxnSpPr>
        <p:spPr>
          <a:xfrm>
            <a:off x="3186059"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矩形 30">
            <a:extLst>
              <a:ext uri="{FF2B5EF4-FFF2-40B4-BE49-F238E27FC236}">
                <a16:creationId xmlns:a16="http://schemas.microsoft.com/office/drawing/2014/main" id="{41502680-3C2F-7240-BBAE-3AB30462D82F}"/>
              </a:ext>
            </a:extLst>
          </p:cNvPr>
          <p:cNvSpPr/>
          <p:nvPr/>
        </p:nvSpPr>
        <p:spPr>
          <a:xfrm>
            <a:off x="3931494"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AD410D75-1185-3B43-A2E8-8C5198484B1A}"/>
              </a:ext>
            </a:extLst>
          </p:cNvPr>
          <p:cNvSpPr/>
          <p:nvPr/>
        </p:nvSpPr>
        <p:spPr>
          <a:xfrm>
            <a:off x="4577537"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3" name="直线箭头连接符 32">
            <a:extLst>
              <a:ext uri="{FF2B5EF4-FFF2-40B4-BE49-F238E27FC236}">
                <a16:creationId xmlns:a16="http://schemas.microsoft.com/office/drawing/2014/main" id="{2B6B641B-12DA-CB40-9D2C-E16E99AA776D}"/>
              </a:ext>
            </a:extLst>
          </p:cNvPr>
          <p:cNvCxnSpPr/>
          <p:nvPr/>
        </p:nvCxnSpPr>
        <p:spPr>
          <a:xfrm>
            <a:off x="4895991"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33">
            <a:extLst>
              <a:ext uri="{FF2B5EF4-FFF2-40B4-BE49-F238E27FC236}">
                <a16:creationId xmlns:a16="http://schemas.microsoft.com/office/drawing/2014/main" id="{BE1302F0-A227-8146-BB98-C97239179C89}"/>
              </a:ext>
            </a:extLst>
          </p:cNvPr>
          <p:cNvSpPr/>
          <p:nvPr/>
        </p:nvSpPr>
        <p:spPr>
          <a:xfrm>
            <a:off x="5641949"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ADE40821-54E5-164C-B72D-F8A23820BAD4}"/>
              </a:ext>
            </a:extLst>
          </p:cNvPr>
          <p:cNvSpPr/>
          <p:nvPr/>
        </p:nvSpPr>
        <p:spPr>
          <a:xfrm>
            <a:off x="6287992"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6" name="直线箭头连接符 35">
            <a:extLst>
              <a:ext uri="{FF2B5EF4-FFF2-40B4-BE49-F238E27FC236}">
                <a16:creationId xmlns:a16="http://schemas.microsoft.com/office/drawing/2014/main" id="{516049B5-F175-D749-A8ED-2040A9BB9547}"/>
              </a:ext>
            </a:extLst>
          </p:cNvPr>
          <p:cNvCxnSpPr/>
          <p:nvPr/>
        </p:nvCxnSpPr>
        <p:spPr>
          <a:xfrm>
            <a:off x="6606446"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矩形 36">
            <a:extLst>
              <a:ext uri="{FF2B5EF4-FFF2-40B4-BE49-F238E27FC236}">
                <a16:creationId xmlns:a16="http://schemas.microsoft.com/office/drawing/2014/main" id="{9CD3EC98-4083-7540-B4B9-BF24EBC13817}"/>
              </a:ext>
            </a:extLst>
          </p:cNvPr>
          <p:cNvSpPr/>
          <p:nvPr/>
        </p:nvSpPr>
        <p:spPr>
          <a:xfrm>
            <a:off x="7351479"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A42FBEFD-C2EE-8240-9E71-D883BA2ED390}"/>
              </a:ext>
            </a:extLst>
          </p:cNvPr>
          <p:cNvSpPr/>
          <p:nvPr/>
        </p:nvSpPr>
        <p:spPr>
          <a:xfrm>
            <a:off x="7997522"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9" name="直线箭头连接符 38">
            <a:extLst>
              <a:ext uri="{FF2B5EF4-FFF2-40B4-BE49-F238E27FC236}">
                <a16:creationId xmlns:a16="http://schemas.microsoft.com/office/drawing/2014/main" id="{A7327867-7176-5C4B-BA3D-739E0621007D}"/>
              </a:ext>
            </a:extLst>
          </p:cNvPr>
          <p:cNvCxnSpPr/>
          <p:nvPr/>
        </p:nvCxnSpPr>
        <p:spPr>
          <a:xfrm>
            <a:off x="8315976"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矩形 39">
            <a:extLst>
              <a:ext uri="{FF2B5EF4-FFF2-40B4-BE49-F238E27FC236}">
                <a16:creationId xmlns:a16="http://schemas.microsoft.com/office/drawing/2014/main" id="{E0147431-0784-5A4A-9BCB-6984925E87AE}"/>
              </a:ext>
            </a:extLst>
          </p:cNvPr>
          <p:cNvSpPr/>
          <p:nvPr/>
        </p:nvSpPr>
        <p:spPr>
          <a:xfrm>
            <a:off x="9061811"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BF2CA7B0-DDD9-5A43-98FF-FEE5EF0F604E}"/>
              </a:ext>
            </a:extLst>
          </p:cNvPr>
          <p:cNvSpPr/>
          <p:nvPr/>
        </p:nvSpPr>
        <p:spPr>
          <a:xfrm>
            <a:off x="9707854"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2559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51</a:t>
            </a:fld>
            <a:endParaRPr kumimoji="1" lang="zh-CN" altLang="en-US"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C19D1ECD-0AC6-D741-A6EB-C3CCF1139335}"/>
              </a:ext>
            </a:extLst>
          </p:cNvPr>
          <p:cNvSpPr/>
          <p:nvPr/>
        </p:nvSpPr>
        <p:spPr>
          <a:xfrm>
            <a:off x="49655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EEFE148-C0E3-9C4F-A691-ECA5A13E4C46}"/>
              </a:ext>
            </a:extLst>
          </p:cNvPr>
          <p:cNvSpPr/>
          <p:nvPr/>
        </p:nvSpPr>
        <p:spPr>
          <a:xfrm>
            <a:off x="114259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4F5B3A0-D453-1B4F-BB3F-8F3F044714B7}"/>
              </a:ext>
            </a:extLst>
          </p:cNvPr>
          <p:cNvPicPr>
            <a:picLocks noChangeAspect="1"/>
          </p:cNvPicPr>
          <p:nvPr/>
        </p:nvPicPr>
        <p:blipFill>
          <a:blip r:embed="rId2"/>
          <a:stretch>
            <a:fillRect/>
          </a:stretch>
        </p:blipFill>
        <p:spPr>
          <a:xfrm>
            <a:off x="8933542" y="1789043"/>
            <a:ext cx="2387600" cy="1054100"/>
          </a:xfrm>
          <a:prstGeom prst="rect">
            <a:avLst/>
          </a:prstGeom>
        </p:spPr>
      </p:pic>
      <p:cxnSp>
        <p:nvCxnSpPr>
          <p:cNvPr id="19" name="直线箭头连接符 18">
            <a:extLst>
              <a:ext uri="{FF2B5EF4-FFF2-40B4-BE49-F238E27FC236}">
                <a16:creationId xmlns:a16="http://schemas.microsoft.com/office/drawing/2014/main" id="{9C56023D-1FA7-7546-BAF4-683B9E20A145}"/>
              </a:ext>
            </a:extLst>
          </p:cNvPr>
          <p:cNvCxnSpPr/>
          <p:nvPr/>
        </p:nvCxnSpPr>
        <p:spPr>
          <a:xfrm>
            <a:off x="146105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矩形 22">
            <a:extLst>
              <a:ext uri="{FF2B5EF4-FFF2-40B4-BE49-F238E27FC236}">
                <a16:creationId xmlns:a16="http://schemas.microsoft.com/office/drawing/2014/main" id="{D98F1066-8F86-1A4F-962F-CB09137C1668}"/>
              </a:ext>
            </a:extLst>
          </p:cNvPr>
          <p:cNvSpPr/>
          <p:nvPr/>
        </p:nvSpPr>
        <p:spPr>
          <a:xfrm>
            <a:off x="2191343"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1BECC915-0A44-CC45-B352-4B9B47768A4A}"/>
              </a:ext>
            </a:extLst>
          </p:cNvPr>
          <p:cNvSpPr/>
          <p:nvPr/>
        </p:nvSpPr>
        <p:spPr>
          <a:xfrm>
            <a:off x="2837386"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 name="直线箭头连接符 24">
            <a:extLst>
              <a:ext uri="{FF2B5EF4-FFF2-40B4-BE49-F238E27FC236}">
                <a16:creationId xmlns:a16="http://schemas.microsoft.com/office/drawing/2014/main" id="{C06E91E1-6B34-374D-8ACC-7BB368F8001E}"/>
              </a:ext>
            </a:extLst>
          </p:cNvPr>
          <p:cNvCxnSpPr/>
          <p:nvPr/>
        </p:nvCxnSpPr>
        <p:spPr>
          <a:xfrm>
            <a:off x="3155840"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矩形 25">
            <a:extLst>
              <a:ext uri="{FF2B5EF4-FFF2-40B4-BE49-F238E27FC236}">
                <a16:creationId xmlns:a16="http://schemas.microsoft.com/office/drawing/2014/main" id="{15E2261A-1BBE-4448-B8A0-9EE2A5A98F1B}"/>
              </a:ext>
            </a:extLst>
          </p:cNvPr>
          <p:cNvSpPr/>
          <p:nvPr/>
        </p:nvSpPr>
        <p:spPr>
          <a:xfrm>
            <a:off x="390127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14F58DC1-C434-E544-9044-91B2A91D097C}"/>
              </a:ext>
            </a:extLst>
          </p:cNvPr>
          <p:cNvSpPr/>
          <p:nvPr/>
        </p:nvSpPr>
        <p:spPr>
          <a:xfrm>
            <a:off x="454731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8" name="直线箭头连接符 27">
            <a:extLst>
              <a:ext uri="{FF2B5EF4-FFF2-40B4-BE49-F238E27FC236}">
                <a16:creationId xmlns:a16="http://schemas.microsoft.com/office/drawing/2014/main" id="{B4BFBA18-D945-244B-9C7C-20084420B3B4}"/>
              </a:ext>
            </a:extLst>
          </p:cNvPr>
          <p:cNvCxnSpPr/>
          <p:nvPr/>
        </p:nvCxnSpPr>
        <p:spPr>
          <a:xfrm>
            <a:off x="486577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矩形 28">
            <a:extLst>
              <a:ext uri="{FF2B5EF4-FFF2-40B4-BE49-F238E27FC236}">
                <a16:creationId xmlns:a16="http://schemas.microsoft.com/office/drawing/2014/main" id="{C81645F0-CFA6-104B-98A9-1FB2206C5F32}"/>
              </a:ext>
            </a:extLst>
          </p:cNvPr>
          <p:cNvSpPr/>
          <p:nvPr/>
        </p:nvSpPr>
        <p:spPr>
          <a:xfrm>
            <a:off x="561173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758A3053-F04E-8642-9A46-F4C2058C01FE}"/>
              </a:ext>
            </a:extLst>
          </p:cNvPr>
          <p:cNvSpPr/>
          <p:nvPr/>
        </p:nvSpPr>
        <p:spPr>
          <a:xfrm>
            <a:off x="625777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1" name="直线箭头连接符 30">
            <a:extLst>
              <a:ext uri="{FF2B5EF4-FFF2-40B4-BE49-F238E27FC236}">
                <a16:creationId xmlns:a16="http://schemas.microsoft.com/office/drawing/2014/main" id="{BB553C7B-0A4F-AE40-91EE-7BB38A1EF4EA}"/>
              </a:ext>
            </a:extLst>
          </p:cNvPr>
          <p:cNvCxnSpPr/>
          <p:nvPr/>
        </p:nvCxnSpPr>
        <p:spPr>
          <a:xfrm>
            <a:off x="657622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矩形 31">
            <a:extLst>
              <a:ext uri="{FF2B5EF4-FFF2-40B4-BE49-F238E27FC236}">
                <a16:creationId xmlns:a16="http://schemas.microsoft.com/office/drawing/2014/main" id="{F2F9B633-BB39-EE45-9B19-36B2F1442A54}"/>
              </a:ext>
            </a:extLst>
          </p:cNvPr>
          <p:cNvSpPr/>
          <p:nvPr/>
        </p:nvSpPr>
        <p:spPr>
          <a:xfrm>
            <a:off x="732126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543B17E0-6793-5E45-A325-11A4B3CCF7F7}"/>
              </a:ext>
            </a:extLst>
          </p:cNvPr>
          <p:cNvSpPr/>
          <p:nvPr/>
        </p:nvSpPr>
        <p:spPr>
          <a:xfrm>
            <a:off x="796730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4" name="直线箭头连接符 33">
            <a:extLst>
              <a:ext uri="{FF2B5EF4-FFF2-40B4-BE49-F238E27FC236}">
                <a16:creationId xmlns:a16="http://schemas.microsoft.com/office/drawing/2014/main" id="{0182DA16-172C-2846-B56D-86D4341FB492}"/>
              </a:ext>
            </a:extLst>
          </p:cNvPr>
          <p:cNvCxnSpPr/>
          <p:nvPr/>
        </p:nvCxnSpPr>
        <p:spPr>
          <a:xfrm>
            <a:off x="828575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矩形 34">
            <a:extLst>
              <a:ext uri="{FF2B5EF4-FFF2-40B4-BE49-F238E27FC236}">
                <a16:creationId xmlns:a16="http://schemas.microsoft.com/office/drawing/2014/main" id="{791C1801-18CA-204D-8B7F-CFF774968E77}"/>
              </a:ext>
            </a:extLst>
          </p:cNvPr>
          <p:cNvSpPr/>
          <p:nvPr/>
        </p:nvSpPr>
        <p:spPr>
          <a:xfrm>
            <a:off x="9031592"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82DE2052-3605-224A-A19C-082DA1623883}"/>
              </a:ext>
            </a:extLst>
          </p:cNvPr>
          <p:cNvSpPr/>
          <p:nvPr/>
        </p:nvSpPr>
        <p:spPr>
          <a:xfrm>
            <a:off x="9677635"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39" name="图片 38">
            <a:extLst>
              <a:ext uri="{FF2B5EF4-FFF2-40B4-BE49-F238E27FC236}">
                <a16:creationId xmlns:a16="http://schemas.microsoft.com/office/drawing/2014/main" id="{00BB9400-7652-9145-83FA-7699DAF9AA5F}"/>
              </a:ext>
            </a:extLst>
          </p:cNvPr>
          <p:cNvPicPr>
            <a:picLocks noChangeAspect="1"/>
          </p:cNvPicPr>
          <p:nvPr/>
        </p:nvPicPr>
        <p:blipFill>
          <a:blip r:embed="rId3"/>
          <a:stretch>
            <a:fillRect/>
          </a:stretch>
        </p:blipFill>
        <p:spPr>
          <a:xfrm>
            <a:off x="496555" y="846263"/>
            <a:ext cx="8006287" cy="2909578"/>
          </a:xfrm>
          <a:prstGeom prst="rect">
            <a:avLst/>
          </a:prstGeom>
        </p:spPr>
      </p:pic>
    </p:spTree>
    <p:extLst>
      <p:ext uri="{BB962C8B-B14F-4D97-AF65-F5344CB8AC3E}">
        <p14:creationId xmlns:p14="http://schemas.microsoft.com/office/powerpoint/2010/main" val="6721140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52</a:t>
            </a:fld>
            <a:endParaRPr kumimoji="1" lang="zh-CN" altLang="en-US"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C19D1ECD-0AC6-D741-A6EB-C3CCF1139335}"/>
              </a:ext>
            </a:extLst>
          </p:cNvPr>
          <p:cNvSpPr/>
          <p:nvPr/>
        </p:nvSpPr>
        <p:spPr>
          <a:xfrm>
            <a:off x="49655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EEFE148-C0E3-9C4F-A691-ECA5A13E4C46}"/>
              </a:ext>
            </a:extLst>
          </p:cNvPr>
          <p:cNvSpPr/>
          <p:nvPr/>
        </p:nvSpPr>
        <p:spPr>
          <a:xfrm>
            <a:off x="114259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19" name="直线箭头连接符 18">
            <a:extLst>
              <a:ext uri="{FF2B5EF4-FFF2-40B4-BE49-F238E27FC236}">
                <a16:creationId xmlns:a16="http://schemas.microsoft.com/office/drawing/2014/main" id="{9C56023D-1FA7-7546-BAF4-683B9E20A145}"/>
              </a:ext>
            </a:extLst>
          </p:cNvPr>
          <p:cNvCxnSpPr/>
          <p:nvPr/>
        </p:nvCxnSpPr>
        <p:spPr>
          <a:xfrm>
            <a:off x="146105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矩形 22">
            <a:extLst>
              <a:ext uri="{FF2B5EF4-FFF2-40B4-BE49-F238E27FC236}">
                <a16:creationId xmlns:a16="http://schemas.microsoft.com/office/drawing/2014/main" id="{D98F1066-8F86-1A4F-962F-CB09137C1668}"/>
              </a:ext>
            </a:extLst>
          </p:cNvPr>
          <p:cNvSpPr/>
          <p:nvPr/>
        </p:nvSpPr>
        <p:spPr>
          <a:xfrm>
            <a:off x="2191343"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1BECC915-0A44-CC45-B352-4B9B47768A4A}"/>
              </a:ext>
            </a:extLst>
          </p:cNvPr>
          <p:cNvSpPr/>
          <p:nvPr/>
        </p:nvSpPr>
        <p:spPr>
          <a:xfrm>
            <a:off x="2837386"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 name="直线箭头连接符 24">
            <a:extLst>
              <a:ext uri="{FF2B5EF4-FFF2-40B4-BE49-F238E27FC236}">
                <a16:creationId xmlns:a16="http://schemas.microsoft.com/office/drawing/2014/main" id="{C06E91E1-6B34-374D-8ACC-7BB368F8001E}"/>
              </a:ext>
            </a:extLst>
          </p:cNvPr>
          <p:cNvCxnSpPr/>
          <p:nvPr/>
        </p:nvCxnSpPr>
        <p:spPr>
          <a:xfrm>
            <a:off x="3155840"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矩形 25">
            <a:extLst>
              <a:ext uri="{FF2B5EF4-FFF2-40B4-BE49-F238E27FC236}">
                <a16:creationId xmlns:a16="http://schemas.microsoft.com/office/drawing/2014/main" id="{15E2261A-1BBE-4448-B8A0-9EE2A5A98F1B}"/>
              </a:ext>
            </a:extLst>
          </p:cNvPr>
          <p:cNvSpPr/>
          <p:nvPr/>
        </p:nvSpPr>
        <p:spPr>
          <a:xfrm>
            <a:off x="390127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14F58DC1-C434-E544-9044-91B2A91D097C}"/>
              </a:ext>
            </a:extLst>
          </p:cNvPr>
          <p:cNvSpPr/>
          <p:nvPr/>
        </p:nvSpPr>
        <p:spPr>
          <a:xfrm>
            <a:off x="454731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8" name="直线箭头连接符 27">
            <a:extLst>
              <a:ext uri="{FF2B5EF4-FFF2-40B4-BE49-F238E27FC236}">
                <a16:creationId xmlns:a16="http://schemas.microsoft.com/office/drawing/2014/main" id="{B4BFBA18-D945-244B-9C7C-20084420B3B4}"/>
              </a:ext>
            </a:extLst>
          </p:cNvPr>
          <p:cNvCxnSpPr/>
          <p:nvPr/>
        </p:nvCxnSpPr>
        <p:spPr>
          <a:xfrm>
            <a:off x="486577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矩形 28">
            <a:extLst>
              <a:ext uri="{FF2B5EF4-FFF2-40B4-BE49-F238E27FC236}">
                <a16:creationId xmlns:a16="http://schemas.microsoft.com/office/drawing/2014/main" id="{C81645F0-CFA6-104B-98A9-1FB2206C5F32}"/>
              </a:ext>
            </a:extLst>
          </p:cNvPr>
          <p:cNvSpPr/>
          <p:nvPr/>
        </p:nvSpPr>
        <p:spPr>
          <a:xfrm>
            <a:off x="561173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758A3053-F04E-8642-9A46-F4C2058C01FE}"/>
              </a:ext>
            </a:extLst>
          </p:cNvPr>
          <p:cNvSpPr/>
          <p:nvPr/>
        </p:nvSpPr>
        <p:spPr>
          <a:xfrm>
            <a:off x="625777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1" name="直线箭头连接符 30">
            <a:extLst>
              <a:ext uri="{FF2B5EF4-FFF2-40B4-BE49-F238E27FC236}">
                <a16:creationId xmlns:a16="http://schemas.microsoft.com/office/drawing/2014/main" id="{BB553C7B-0A4F-AE40-91EE-7BB38A1EF4EA}"/>
              </a:ext>
            </a:extLst>
          </p:cNvPr>
          <p:cNvCxnSpPr/>
          <p:nvPr/>
        </p:nvCxnSpPr>
        <p:spPr>
          <a:xfrm>
            <a:off x="657622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矩形 31">
            <a:extLst>
              <a:ext uri="{FF2B5EF4-FFF2-40B4-BE49-F238E27FC236}">
                <a16:creationId xmlns:a16="http://schemas.microsoft.com/office/drawing/2014/main" id="{F2F9B633-BB39-EE45-9B19-36B2F1442A54}"/>
              </a:ext>
            </a:extLst>
          </p:cNvPr>
          <p:cNvSpPr/>
          <p:nvPr/>
        </p:nvSpPr>
        <p:spPr>
          <a:xfrm>
            <a:off x="732126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543B17E0-6793-5E45-A325-11A4B3CCF7F7}"/>
              </a:ext>
            </a:extLst>
          </p:cNvPr>
          <p:cNvSpPr/>
          <p:nvPr/>
        </p:nvSpPr>
        <p:spPr>
          <a:xfrm>
            <a:off x="796730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4" name="直线箭头连接符 33">
            <a:extLst>
              <a:ext uri="{FF2B5EF4-FFF2-40B4-BE49-F238E27FC236}">
                <a16:creationId xmlns:a16="http://schemas.microsoft.com/office/drawing/2014/main" id="{0182DA16-172C-2846-B56D-86D4341FB492}"/>
              </a:ext>
            </a:extLst>
          </p:cNvPr>
          <p:cNvCxnSpPr/>
          <p:nvPr/>
        </p:nvCxnSpPr>
        <p:spPr>
          <a:xfrm>
            <a:off x="828575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矩形 34">
            <a:extLst>
              <a:ext uri="{FF2B5EF4-FFF2-40B4-BE49-F238E27FC236}">
                <a16:creationId xmlns:a16="http://schemas.microsoft.com/office/drawing/2014/main" id="{791C1801-18CA-204D-8B7F-CFF774968E77}"/>
              </a:ext>
            </a:extLst>
          </p:cNvPr>
          <p:cNvSpPr/>
          <p:nvPr/>
        </p:nvSpPr>
        <p:spPr>
          <a:xfrm>
            <a:off x="9031592"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82DE2052-3605-224A-A19C-082DA1623883}"/>
              </a:ext>
            </a:extLst>
          </p:cNvPr>
          <p:cNvSpPr/>
          <p:nvPr/>
        </p:nvSpPr>
        <p:spPr>
          <a:xfrm>
            <a:off x="9677635"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24C4C66-BFBD-AC46-8171-E2C54BB23CB1}"/>
              </a:ext>
            </a:extLst>
          </p:cNvPr>
          <p:cNvPicPr>
            <a:picLocks noChangeAspect="1"/>
          </p:cNvPicPr>
          <p:nvPr/>
        </p:nvPicPr>
        <p:blipFill>
          <a:blip r:embed="rId2"/>
          <a:stretch>
            <a:fillRect/>
          </a:stretch>
        </p:blipFill>
        <p:spPr>
          <a:xfrm>
            <a:off x="496555" y="302648"/>
            <a:ext cx="6729193" cy="2251372"/>
          </a:xfrm>
          <a:prstGeom prst="rect">
            <a:avLst/>
          </a:prstGeom>
        </p:spPr>
      </p:pic>
      <p:pic>
        <p:nvPicPr>
          <p:cNvPr id="37" name="图片 36">
            <a:extLst>
              <a:ext uri="{FF2B5EF4-FFF2-40B4-BE49-F238E27FC236}">
                <a16:creationId xmlns:a16="http://schemas.microsoft.com/office/drawing/2014/main" id="{86BC0B7E-B760-8A41-9BAC-BFF1E197B5AD}"/>
              </a:ext>
            </a:extLst>
          </p:cNvPr>
          <p:cNvPicPr>
            <a:picLocks noChangeAspect="1"/>
          </p:cNvPicPr>
          <p:nvPr/>
        </p:nvPicPr>
        <p:blipFill>
          <a:blip r:embed="rId3"/>
          <a:stretch>
            <a:fillRect/>
          </a:stretch>
        </p:blipFill>
        <p:spPr>
          <a:xfrm>
            <a:off x="496555" y="2733262"/>
            <a:ext cx="6883400" cy="1828800"/>
          </a:xfrm>
          <a:prstGeom prst="rect">
            <a:avLst/>
          </a:prstGeom>
        </p:spPr>
      </p:pic>
      <p:sp>
        <p:nvSpPr>
          <p:cNvPr id="14" name="文本框 13">
            <a:extLst>
              <a:ext uri="{FF2B5EF4-FFF2-40B4-BE49-F238E27FC236}">
                <a16:creationId xmlns:a16="http://schemas.microsoft.com/office/drawing/2014/main" id="{2310732F-E00A-6345-B9EB-802087BCA1F8}"/>
              </a:ext>
            </a:extLst>
          </p:cNvPr>
          <p:cNvSpPr txBox="1"/>
          <p:nvPr/>
        </p:nvSpPr>
        <p:spPr>
          <a:xfrm>
            <a:off x="733671" y="5508451"/>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node3</a:t>
            </a:r>
            <a:endParaRPr kumimoji="1" lang="zh-CN" altLang="en-US"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25E6EC99-103C-9D44-AA74-0079FD16D5FC}"/>
              </a:ext>
            </a:extLst>
          </p:cNvPr>
          <p:cNvSpPr txBox="1"/>
          <p:nvPr/>
        </p:nvSpPr>
        <p:spPr>
          <a:xfrm>
            <a:off x="2428459" y="5504986"/>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node4</a:t>
            </a:r>
            <a:endParaRPr kumimoji="1" lang="zh-CN" altLang="en-US"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2439669A-FA4A-454E-8611-3126D43764D6}"/>
              </a:ext>
            </a:extLst>
          </p:cNvPr>
          <p:cNvSpPr txBox="1"/>
          <p:nvPr/>
        </p:nvSpPr>
        <p:spPr>
          <a:xfrm>
            <a:off x="4138391" y="5512112"/>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node5</a:t>
            </a:r>
            <a:endParaRPr kumimoji="1" lang="zh-CN" altLang="en-US"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2E3448DF-B9CE-B14C-B8D2-8F613A1502E9}"/>
              </a:ext>
            </a:extLst>
          </p:cNvPr>
          <p:cNvSpPr txBox="1"/>
          <p:nvPr/>
        </p:nvSpPr>
        <p:spPr>
          <a:xfrm>
            <a:off x="5848323" y="5514213"/>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node6</a:t>
            </a:r>
            <a:endParaRPr kumimoji="1" lang="zh-CN" altLang="en-US"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FB81AD28-FA72-3C44-AA30-DA826020129E}"/>
              </a:ext>
            </a:extLst>
          </p:cNvPr>
          <p:cNvSpPr txBox="1"/>
          <p:nvPr/>
        </p:nvSpPr>
        <p:spPr>
          <a:xfrm>
            <a:off x="7560009" y="5513768"/>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node2</a:t>
            </a:r>
            <a:endParaRPr kumimoji="1" lang="zh-CN" altLang="en-US"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E7FC84AF-1433-EA4C-A816-11BC73BF927D}"/>
              </a:ext>
            </a:extLst>
          </p:cNvPr>
          <p:cNvSpPr txBox="1"/>
          <p:nvPr/>
        </p:nvSpPr>
        <p:spPr>
          <a:xfrm>
            <a:off x="9269941" y="5504984"/>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node1</a:t>
            </a:r>
            <a:endParaRPr kumimoji="1" lang="zh-CN" altLang="en-US"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40CCADD7-25E9-754F-B94D-8B789085F828}"/>
              </a:ext>
            </a:extLst>
          </p:cNvPr>
          <p:cNvSpPr/>
          <p:nvPr/>
        </p:nvSpPr>
        <p:spPr>
          <a:xfrm>
            <a:off x="3588026" y="2733262"/>
            <a:ext cx="765313" cy="18288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55F4932E-BAC6-E141-AD77-74446D145CEB}"/>
              </a:ext>
            </a:extLst>
          </p:cNvPr>
          <p:cNvSpPr txBox="1"/>
          <p:nvPr/>
        </p:nvSpPr>
        <p:spPr>
          <a:xfrm>
            <a:off x="8706678" y="3776870"/>
            <a:ext cx="1920719"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答案：</a:t>
            </a:r>
            <a:r>
              <a:rPr kumimoji="1" lang="en-US" altLang="zh-CN" dirty="0">
                <a:latin typeface="Times New Roman" panose="02020603050405020304" pitchFamily="18" charset="0"/>
                <a:cs typeface="Times New Roman" panose="02020603050405020304" pitchFamily="18" charset="0"/>
              </a:rPr>
              <a:t>3</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4</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5</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6</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2</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1</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2751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53</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DEBE2A31-401D-A342-95E4-CDFBE4FFACE6}"/>
              </a:ext>
            </a:extLst>
          </p:cNvPr>
          <p:cNvSpPr txBox="1"/>
          <p:nvPr/>
        </p:nvSpPr>
        <p:spPr>
          <a:xfrm>
            <a:off x="4292228" y="3044279"/>
            <a:ext cx="3607544" cy="769441"/>
          </a:xfrm>
          <a:prstGeom prst="rect">
            <a:avLst/>
          </a:prstGeom>
          <a:noFill/>
        </p:spPr>
        <p:txBody>
          <a:bodyPr wrap="square" rtlCol="0">
            <a:spAutoFit/>
          </a:bodyPr>
          <a:lstStyle/>
          <a:p>
            <a:pPr algn="ctr"/>
            <a:r>
              <a:rPr kumimoji="1" lang="en-US" altLang="zh-CN" sz="4400" b="1" dirty="0" err="1">
                <a:latin typeface="Times New Roman" panose="02020603050405020304" pitchFamily="18" charset="0"/>
                <a:cs typeface="Times New Roman" panose="02020603050405020304" pitchFamily="18" charset="0"/>
              </a:rPr>
              <a:t>secret_phase</a:t>
            </a:r>
            <a:endParaRPr kumimoji="1" lang="en-US" altLang="zh-C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0518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49F7476A-5CD6-9546-9887-178527E4BDA1}"/>
              </a:ext>
            </a:extLst>
          </p:cNvPr>
          <p:cNvPicPr>
            <a:picLocks noChangeAspect="1"/>
          </p:cNvPicPr>
          <p:nvPr/>
        </p:nvPicPr>
        <p:blipFill>
          <a:blip r:embed="rId2"/>
          <a:stretch>
            <a:fillRect/>
          </a:stretch>
        </p:blipFill>
        <p:spPr>
          <a:xfrm>
            <a:off x="564322" y="1121488"/>
            <a:ext cx="8311322" cy="2639824"/>
          </a:xfrm>
          <a:prstGeom prst="rect">
            <a:avLst/>
          </a:prstGeom>
        </p:spPr>
      </p:pic>
      <p:pic>
        <p:nvPicPr>
          <p:cNvPr id="3" name="图片 2">
            <a:extLst>
              <a:ext uri="{FF2B5EF4-FFF2-40B4-BE49-F238E27FC236}">
                <a16:creationId xmlns:a16="http://schemas.microsoft.com/office/drawing/2014/main" id="{199FD9AA-6677-9947-911B-DA4CD6EDEF07}"/>
              </a:ext>
            </a:extLst>
          </p:cNvPr>
          <p:cNvPicPr>
            <a:picLocks noChangeAspect="1"/>
          </p:cNvPicPr>
          <p:nvPr/>
        </p:nvPicPr>
        <p:blipFill>
          <a:blip r:embed="rId3"/>
          <a:stretch>
            <a:fillRect/>
          </a:stretch>
        </p:blipFill>
        <p:spPr>
          <a:xfrm>
            <a:off x="564322" y="3840825"/>
            <a:ext cx="5288722" cy="2567589"/>
          </a:xfrm>
          <a:prstGeom prst="rect">
            <a:avLst/>
          </a:prstGeom>
        </p:spPr>
      </p:pic>
      <p:sp>
        <p:nvSpPr>
          <p:cNvPr id="5" name="文本框 4">
            <a:extLst>
              <a:ext uri="{FF2B5EF4-FFF2-40B4-BE49-F238E27FC236}">
                <a16:creationId xmlns:a16="http://schemas.microsoft.com/office/drawing/2014/main" id="{14C4CD7F-758E-F242-BA11-E435422D4BE5}"/>
              </a:ext>
            </a:extLst>
          </p:cNvPr>
          <p:cNvSpPr txBox="1"/>
          <p:nvPr/>
        </p:nvSpPr>
        <p:spPr>
          <a:xfrm>
            <a:off x="6629400" y="4870174"/>
            <a:ext cx="4838184"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注意到</a:t>
            </a:r>
            <a:r>
              <a:rPr kumimoji="1" lang="en-US" altLang="zh-CN" sz="2400" dirty="0">
                <a:latin typeface="Times New Roman" panose="02020603050405020304" pitchFamily="18" charset="0"/>
                <a:cs typeface="Times New Roman" panose="02020603050405020304" pitchFamily="18" charset="0"/>
              </a:rPr>
              <a:t>main</a:t>
            </a:r>
            <a:r>
              <a:rPr kumimoji="1" lang="zh-CN" altLang="en-US" sz="2400" dirty="0">
                <a:latin typeface="Times New Roman" panose="02020603050405020304" pitchFamily="18" charset="0"/>
                <a:cs typeface="Times New Roman" panose="02020603050405020304" pitchFamily="18" charset="0"/>
              </a:rPr>
              <a:t>函数以外的字符串输出</a:t>
            </a:r>
          </a:p>
        </p:txBody>
      </p:sp>
      <p:sp>
        <p:nvSpPr>
          <p:cNvPr id="6" name="矩形 5">
            <a:extLst>
              <a:ext uri="{FF2B5EF4-FFF2-40B4-BE49-F238E27FC236}">
                <a16:creationId xmlns:a16="http://schemas.microsoft.com/office/drawing/2014/main" id="{527FEA38-D2FE-BA4F-8023-02B8E8C8E45C}"/>
              </a:ext>
            </a:extLst>
          </p:cNvPr>
          <p:cNvSpPr/>
          <p:nvPr/>
        </p:nvSpPr>
        <p:spPr>
          <a:xfrm>
            <a:off x="564322" y="3021496"/>
            <a:ext cx="5448852" cy="487017"/>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F9C69DD0-97F2-C548-954D-60CB5CEF84EF}"/>
              </a:ext>
            </a:extLst>
          </p:cNvPr>
          <p:cNvSpPr/>
          <p:nvPr/>
        </p:nvSpPr>
        <p:spPr>
          <a:xfrm>
            <a:off x="564322" y="5635487"/>
            <a:ext cx="1393687" cy="208722"/>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6956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55</a:t>
            </a:fld>
            <a:endParaRPr kumimoji="1" lang="zh-CN" altLang="en-US"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97873E99-8CE3-D648-A334-D38AF587374C}"/>
              </a:ext>
            </a:extLst>
          </p:cNvPr>
          <p:cNvPicPr>
            <a:picLocks noChangeAspect="1"/>
          </p:cNvPicPr>
          <p:nvPr/>
        </p:nvPicPr>
        <p:blipFill>
          <a:blip r:embed="rId2"/>
          <a:stretch>
            <a:fillRect/>
          </a:stretch>
        </p:blipFill>
        <p:spPr>
          <a:xfrm>
            <a:off x="550517" y="1302026"/>
            <a:ext cx="8285370" cy="4512751"/>
          </a:xfrm>
          <a:prstGeom prst="rect">
            <a:avLst/>
          </a:prstGeom>
        </p:spPr>
      </p:pic>
      <p:sp>
        <p:nvSpPr>
          <p:cNvPr id="8" name="矩形 7">
            <a:extLst>
              <a:ext uri="{FF2B5EF4-FFF2-40B4-BE49-F238E27FC236}">
                <a16:creationId xmlns:a16="http://schemas.microsoft.com/office/drawing/2014/main" id="{59C6D133-00F1-ED4B-826D-CB6346065484}"/>
              </a:ext>
            </a:extLst>
          </p:cNvPr>
          <p:cNvSpPr/>
          <p:nvPr/>
        </p:nvSpPr>
        <p:spPr>
          <a:xfrm>
            <a:off x="3667539" y="3429000"/>
            <a:ext cx="5088835" cy="24847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FD9B2D2F-02C0-CE4E-9E2F-801250F94710}"/>
              </a:ext>
            </a:extLst>
          </p:cNvPr>
          <p:cNvSpPr txBox="1"/>
          <p:nvPr/>
        </p:nvSpPr>
        <p:spPr>
          <a:xfrm>
            <a:off x="550517" y="6032664"/>
            <a:ext cx="5620449"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当前</a:t>
            </a:r>
            <a:r>
              <a:rPr kumimoji="1" lang="en-US" altLang="zh-CN" sz="2400" dirty="0">
                <a:latin typeface="Times New Roman" panose="02020603050405020304" pitchFamily="18" charset="0"/>
                <a:cs typeface="Times New Roman" panose="02020603050405020304" pitchFamily="18" charset="0"/>
              </a:rPr>
              <a:t>phase</a:t>
            </a:r>
            <a:r>
              <a:rPr kumimoji="1" lang="zh-CN" altLang="en-US" sz="2400" dirty="0">
                <a:latin typeface="Times New Roman" panose="02020603050405020304" pitchFamily="18" charset="0"/>
                <a:cs typeface="Times New Roman" panose="02020603050405020304" pitchFamily="18" charset="0"/>
              </a:rPr>
              <a:t>为</a:t>
            </a:r>
            <a:r>
              <a:rPr kumimoji="1" lang="en-US" altLang="zh-CN" sz="2400" dirty="0">
                <a:latin typeface="Times New Roman" panose="02020603050405020304" pitchFamily="18" charset="0"/>
                <a:cs typeface="Times New Roman" panose="02020603050405020304" pitchFamily="18" charset="0"/>
              </a:rPr>
              <a:t>phase_6</a:t>
            </a:r>
            <a:r>
              <a:rPr kumimoji="1" lang="zh-CN" altLang="en-US" sz="2400" dirty="0">
                <a:latin typeface="Times New Roman" panose="02020603050405020304" pitchFamily="18" charset="0"/>
                <a:cs typeface="Times New Roman" panose="02020603050405020304" pitchFamily="18" charset="0"/>
              </a:rPr>
              <a:t>时会调用函数</a:t>
            </a:r>
            <a:r>
              <a:rPr kumimoji="1" lang="en-US" altLang="zh-CN" sz="2400" dirty="0" err="1">
                <a:latin typeface="Times New Roman" panose="02020603050405020304" pitchFamily="18" charset="0"/>
                <a:cs typeface="Times New Roman" panose="02020603050405020304" pitchFamily="18" charset="0"/>
              </a:rPr>
              <a:t>genshin</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4419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56</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FE2CA8C-AF04-2141-B034-E943E3EE4BC8}"/>
              </a:ext>
            </a:extLst>
          </p:cNvPr>
          <p:cNvPicPr>
            <a:picLocks noChangeAspect="1"/>
          </p:cNvPicPr>
          <p:nvPr/>
        </p:nvPicPr>
        <p:blipFill>
          <a:blip r:embed="rId2"/>
          <a:stretch>
            <a:fillRect/>
          </a:stretch>
        </p:blipFill>
        <p:spPr>
          <a:xfrm>
            <a:off x="585510" y="5346700"/>
            <a:ext cx="4216400" cy="736600"/>
          </a:xfrm>
          <a:prstGeom prst="rect">
            <a:avLst/>
          </a:prstGeom>
        </p:spPr>
      </p:pic>
      <p:pic>
        <p:nvPicPr>
          <p:cNvPr id="3" name="图片 2">
            <a:extLst>
              <a:ext uri="{FF2B5EF4-FFF2-40B4-BE49-F238E27FC236}">
                <a16:creationId xmlns:a16="http://schemas.microsoft.com/office/drawing/2014/main" id="{069455D8-0844-9945-B227-9479B1856898}"/>
              </a:ext>
            </a:extLst>
          </p:cNvPr>
          <p:cNvPicPr>
            <a:picLocks noChangeAspect="1"/>
          </p:cNvPicPr>
          <p:nvPr/>
        </p:nvPicPr>
        <p:blipFill>
          <a:blip r:embed="rId3"/>
          <a:stretch>
            <a:fillRect/>
          </a:stretch>
        </p:blipFill>
        <p:spPr>
          <a:xfrm>
            <a:off x="585510" y="1756139"/>
            <a:ext cx="9863483" cy="3590561"/>
          </a:xfrm>
          <a:prstGeom prst="rect">
            <a:avLst/>
          </a:prstGeom>
        </p:spPr>
      </p:pic>
      <p:sp>
        <p:nvSpPr>
          <p:cNvPr id="5" name="矩形 4">
            <a:extLst>
              <a:ext uri="{FF2B5EF4-FFF2-40B4-BE49-F238E27FC236}">
                <a16:creationId xmlns:a16="http://schemas.microsoft.com/office/drawing/2014/main" id="{8DC47506-A3D5-5045-9490-23EC810D9E1B}"/>
              </a:ext>
            </a:extLst>
          </p:cNvPr>
          <p:cNvSpPr/>
          <p:nvPr/>
        </p:nvSpPr>
        <p:spPr>
          <a:xfrm>
            <a:off x="3786809" y="4200525"/>
            <a:ext cx="2309191" cy="47707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D67AAEC-1E4A-574E-8DB8-36599BAFBD17}"/>
              </a:ext>
            </a:extLst>
          </p:cNvPr>
          <p:cNvSpPr txBox="1"/>
          <p:nvPr/>
        </p:nvSpPr>
        <p:spPr>
          <a:xfrm>
            <a:off x="5834269" y="5534017"/>
            <a:ext cx="3898824" cy="400110"/>
          </a:xfrm>
          <a:prstGeom prst="rect">
            <a:avLst/>
          </a:prstGeom>
          <a:noFill/>
        </p:spPr>
        <p:txBody>
          <a:bodyPr wrap="none" rtlCol="0">
            <a:spAutoFit/>
          </a:bodyPr>
          <a:lstStyle/>
          <a:p>
            <a:r>
              <a:rPr kumimoji="1" lang="en-US" altLang="zh-CN" sz="2000" dirty="0">
                <a:latin typeface="Times New Roman" panose="02020603050405020304" pitchFamily="18" charset="0"/>
                <a:cs typeface="Times New Roman" panose="02020603050405020304" pitchFamily="18" charset="0"/>
              </a:rPr>
              <a:t>phase_4</a:t>
            </a:r>
            <a:r>
              <a:rPr kumimoji="1" lang="zh-CN" altLang="en-US" sz="2000" dirty="0">
                <a:latin typeface="Times New Roman" panose="02020603050405020304" pitchFamily="18" charset="0"/>
                <a:cs typeface="Times New Roman" panose="02020603050405020304" pitchFamily="18" charset="0"/>
              </a:rPr>
              <a:t>还需要多输入一个字符串</a:t>
            </a:r>
          </a:p>
        </p:txBody>
      </p:sp>
      <p:sp>
        <p:nvSpPr>
          <p:cNvPr id="10" name="文本框 9">
            <a:extLst>
              <a:ext uri="{FF2B5EF4-FFF2-40B4-BE49-F238E27FC236}">
                <a16:creationId xmlns:a16="http://schemas.microsoft.com/office/drawing/2014/main" id="{F4954A77-C59D-E94F-82DC-FB27BE158861}"/>
              </a:ext>
            </a:extLst>
          </p:cNvPr>
          <p:cNvSpPr txBox="1"/>
          <p:nvPr/>
        </p:nvSpPr>
        <p:spPr>
          <a:xfrm>
            <a:off x="457200" y="1305122"/>
            <a:ext cx="1885453"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进入函数</a:t>
            </a:r>
            <a:r>
              <a:rPr kumimoji="1" lang="en-US" altLang="zh-CN" dirty="0" err="1">
                <a:latin typeface="Times New Roman" panose="02020603050405020304" pitchFamily="18" charset="0"/>
                <a:cs typeface="Times New Roman" panose="02020603050405020304" pitchFamily="18" charset="0"/>
              </a:rPr>
              <a:t>genshin</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076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57</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44E432C8-990C-E243-8535-6BAFA0AC8CA6}"/>
              </a:ext>
            </a:extLst>
          </p:cNvPr>
          <p:cNvPicPr>
            <a:picLocks noChangeAspect="1"/>
          </p:cNvPicPr>
          <p:nvPr/>
        </p:nvPicPr>
        <p:blipFill>
          <a:blip r:embed="rId2"/>
          <a:stretch>
            <a:fillRect/>
          </a:stretch>
        </p:blipFill>
        <p:spPr>
          <a:xfrm>
            <a:off x="566529" y="4195437"/>
            <a:ext cx="6917637" cy="523041"/>
          </a:xfrm>
          <a:prstGeom prst="rect">
            <a:avLst/>
          </a:prstGeom>
        </p:spPr>
      </p:pic>
      <p:pic>
        <p:nvPicPr>
          <p:cNvPr id="5" name="图片 4">
            <a:extLst>
              <a:ext uri="{FF2B5EF4-FFF2-40B4-BE49-F238E27FC236}">
                <a16:creationId xmlns:a16="http://schemas.microsoft.com/office/drawing/2014/main" id="{E98F1A02-C661-C04A-BD26-B8639E3BB980}"/>
              </a:ext>
            </a:extLst>
          </p:cNvPr>
          <p:cNvPicPr>
            <a:picLocks noChangeAspect="1"/>
          </p:cNvPicPr>
          <p:nvPr/>
        </p:nvPicPr>
        <p:blipFill>
          <a:blip r:embed="rId3"/>
          <a:stretch>
            <a:fillRect/>
          </a:stretch>
        </p:blipFill>
        <p:spPr>
          <a:xfrm>
            <a:off x="566529" y="1498259"/>
            <a:ext cx="11235167" cy="1968864"/>
          </a:xfrm>
          <a:prstGeom prst="rect">
            <a:avLst/>
          </a:prstGeom>
          <a:ln>
            <a:solidFill>
              <a:schemeClr val="accent1">
                <a:shade val="50000"/>
              </a:schemeClr>
            </a:solidFill>
          </a:ln>
        </p:spPr>
      </p:pic>
      <p:sp>
        <p:nvSpPr>
          <p:cNvPr id="6" name="矩形 5">
            <a:extLst>
              <a:ext uri="{FF2B5EF4-FFF2-40B4-BE49-F238E27FC236}">
                <a16:creationId xmlns:a16="http://schemas.microsoft.com/office/drawing/2014/main" id="{B116B5F0-7E75-874E-BCFC-611125D160DA}"/>
              </a:ext>
            </a:extLst>
          </p:cNvPr>
          <p:cNvSpPr/>
          <p:nvPr/>
        </p:nvSpPr>
        <p:spPr>
          <a:xfrm>
            <a:off x="2922104" y="1689652"/>
            <a:ext cx="2484783" cy="258417"/>
          </a:xfrm>
          <a:prstGeom prst="rect">
            <a:avLst/>
          </a:prstGeom>
          <a:no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2D86AEE-A439-CA45-BE2C-E2438C8F5970}"/>
              </a:ext>
            </a:extLst>
          </p:cNvPr>
          <p:cNvSpPr txBox="1"/>
          <p:nvPr/>
        </p:nvSpPr>
        <p:spPr>
          <a:xfrm>
            <a:off x="457199" y="5215959"/>
            <a:ext cx="9203635"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phase_4</a:t>
            </a:r>
            <a:r>
              <a:rPr kumimoji="1" lang="zh-CN" altLang="en-US" sz="2400" dirty="0">
                <a:latin typeface="Times New Roman" panose="02020603050405020304" pitchFamily="18" charset="0"/>
                <a:cs typeface="Times New Roman" panose="02020603050405020304" pitchFamily="18" charset="0"/>
              </a:rPr>
              <a:t>多输入的字符串是 </a:t>
            </a:r>
            <a:r>
              <a:rPr lang="es-ES" altLang="zh-CN" sz="2400" dirty="0">
                <a:effectLst/>
                <a:latin typeface="Times New Roman" panose="02020603050405020304" pitchFamily="18" charset="0"/>
                <a:cs typeface="Times New Roman" panose="02020603050405020304" pitchFamily="18" charset="0"/>
              </a:rPr>
              <a:t>DoUKnowThatTheHarderThing2DoAnd...</a:t>
            </a:r>
          </a:p>
        </p:txBody>
      </p:sp>
    </p:spTree>
    <p:extLst>
      <p:ext uri="{BB962C8B-B14F-4D97-AF65-F5344CB8AC3E}">
        <p14:creationId xmlns:p14="http://schemas.microsoft.com/office/powerpoint/2010/main" val="2527272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58</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146E394-7405-4349-AC8B-EB57C7CE42AE}"/>
              </a:ext>
            </a:extLst>
          </p:cNvPr>
          <p:cNvPicPr>
            <a:picLocks noChangeAspect="1"/>
          </p:cNvPicPr>
          <p:nvPr/>
        </p:nvPicPr>
        <p:blipFill>
          <a:blip r:embed="rId2"/>
          <a:stretch>
            <a:fillRect/>
          </a:stretch>
        </p:blipFill>
        <p:spPr>
          <a:xfrm>
            <a:off x="532848" y="1497219"/>
            <a:ext cx="10599984" cy="3313320"/>
          </a:xfrm>
          <a:prstGeom prst="rect">
            <a:avLst/>
          </a:prstGeom>
        </p:spPr>
      </p:pic>
      <p:sp>
        <p:nvSpPr>
          <p:cNvPr id="8" name="矩形 7">
            <a:extLst>
              <a:ext uri="{FF2B5EF4-FFF2-40B4-BE49-F238E27FC236}">
                <a16:creationId xmlns:a16="http://schemas.microsoft.com/office/drawing/2014/main" id="{CA58C011-D0E3-2246-B93B-41F0A67CAF5C}"/>
              </a:ext>
            </a:extLst>
          </p:cNvPr>
          <p:cNvSpPr/>
          <p:nvPr/>
        </p:nvSpPr>
        <p:spPr>
          <a:xfrm>
            <a:off x="546652" y="3846443"/>
            <a:ext cx="6758609" cy="268357"/>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5CF3186A-14BC-1341-8D50-C67865C88CD4}"/>
              </a:ext>
            </a:extLst>
          </p:cNvPr>
          <p:cNvSpPr txBox="1"/>
          <p:nvPr/>
        </p:nvSpPr>
        <p:spPr>
          <a:xfrm>
            <a:off x="532848" y="5102678"/>
            <a:ext cx="5881738"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多了一行输出，仍然无法进入</a:t>
            </a:r>
            <a:r>
              <a:rPr kumimoji="1" lang="en-US" altLang="zh-CN" sz="2400" dirty="0" err="1">
                <a:latin typeface="Times New Roman" panose="02020603050405020304" pitchFamily="18" charset="0"/>
                <a:cs typeface="Times New Roman" panose="02020603050405020304" pitchFamily="18" charset="0"/>
              </a:rPr>
              <a:t>secret_phase</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65441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59</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273344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回到函数</a:t>
            </a:r>
            <a:r>
              <a:rPr kumimoji="1" lang="en-US" altLang="zh-CN" sz="2000" dirty="0" err="1">
                <a:latin typeface="Times New Roman" panose="02020603050405020304" pitchFamily="18" charset="0"/>
                <a:cs typeface="Times New Roman" panose="02020603050405020304" pitchFamily="18" charset="0"/>
              </a:rPr>
              <a:t>phase_dufused</a:t>
            </a:r>
            <a:endParaRPr kumimoji="1" lang="zh-CN" altLang="en-US" sz="2000"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BFD6432-982A-EC40-A705-60872D53A58C}"/>
              </a:ext>
            </a:extLst>
          </p:cNvPr>
          <p:cNvPicPr>
            <a:picLocks noChangeAspect="1"/>
          </p:cNvPicPr>
          <p:nvPr/>
        </p:nvPicPr>
        <p:blipFill>
          <a:blip r:embed="rId2"/>
          <a:stretch>
            <a:fillRect/>
          </a:stretch>
        </p:blipFill>
        <p:spPr>
          <a:xfrm>
            <a:off x="584752" y="2109210"/>
            <a:ext cx="11022496" cy="2306278"/>
          </a:xfrm>
          <a:prstGeom prst="rect">
            <a:avLst/>
          </a:prstGeom>
        </p:spPr>
      </p:pic>
    </p:spTree>
    <p:extLst>
      <p:ext uri="{BB962C8B-B14F-4D97-AF65-F5344CB8AC3E}">
        <p14:creationId xmlns:p14="http://schemas.microsoft.com/office/powerpoint/2010/main" val="4468367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60</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192232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进入函数</a:t>
            </a:r>
            <a:r>
              <a:rPr kumimoji="1" lang="en-US" altLang="zh-CN" sz="2000" dirty="0" err="1">
                <a:latin typeface="Times New Roman" panose="02020603050405020304" pitchFamily="18" charset="0"/>
                <a:cs typeface="Times New Roman" panose="02020603050405020304" pitchFamily="18" charset="0"/>
              </a:rPr>
              <a:t>qidong</a:t>
            </a:r>
            <a:endParaRPr kumimoji="1" lang="zh-CN" altLang="en-US" sz="200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341E2249-94F1-124D-99AB-8ACD58DC955C}"/>
              </a:ext>
            </a:extLst>
          </p:cNvPr>
          <p:cNvPicPr>
            <a:picLocks noChangeAspect="1"/>
          </p:cNvPicPr>
          <p:nvPr/>
        </p:nvPicPr>
        <p:blipFill>
          <a:blip r:embed="rId2"/>
          <a:stretch>
            <a:fillRect/>
          </a:stretch>
        </p:blipFill>
        <p:spPr>
          <a:xfrm>
            <a:off x="594306" y="2109210"/>
            <a:ext cx="9994900" cy="1917700"/>
          </a:xfrm>
          <a:prstGeom prst="rect">
            <a:avLst/>
          </a:prstGeom>
        </p:spPr>
      </p:pic>
      <p:pic>
        <p:nvPicPr>
          <p:cNvPr id="3" name="图片 2">
            <a:extLst>
              <a:ext uri="{FF2B5EF4-FFF2-40B4-BE49-F238E27FC236}">
                <a16:creationId xmlns:a16="http://schemas.microsoft.com/office/drawing/2014/main" id="{0A30917A-DBAF-BB4D-A7F4-AF1A43D53A24}"/>
              </a:ext>
            </a:extLst>
          </p:cNvPr>
          <p:cNvPicPr>
            <a:picLocks noChangeAspect="1"/>
          </p:cNvPicPr>
          <p:nvPr/>
        </p:nvPicPr>
        <p:blipFill>
          <a:blip r:embed="rId3"/>
          <a:stretch>
            <a:fillRect/>
          </a:stretch>
        </p:blipFill>
        <p:spPr>
          <a:xfrm>
            <a:off x="594305" y="4421256"/>
            <a:ext cx="5481507" cy="400110"/>
          </a:xfrm>
          <a:prstGeom prst="rect">
            <a:avLst/>
          </a:prstGeom>
        </p:spPr>
      </p:pic>
      <p:sp>
        <p:nvSpPr>
          <p:cNvPr id="8" name="矩形 7">
            <a:extLst>
              <a:ext uri="{FF2B5EF4-FFF2-40B4-BE49-F238E27FC236}">
                <a16:creationId xmlns:a16="http://schemas.microsoft.com/office/drawing/2014/main" id="{C2552C7E-EA76-AF42-80A5-30050D6F214F}"/>
              </a:ext>
            </a:extLst>
          </p:cNvPr>
          <p:cNvSpPr/>
          <p:nvPr/>
        </p:nvSpPr>
        <p:spPr>
          <a:xfrm>
            <a:off x="3945835" y="2325758"/>
            <a:ext cx="3011557" cy="33793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4B79EBBF-77F6-7141-A8B0-BD89CC8763D3}"/>
              </a:ext>
            </a:extLst>
          </p:cNvPr>
          <p:cNvSpPr txBox="1"/>
          <p:nvPr/>
        </p:nvSpPr>
        <p:spPr>
          <a:xfrm>
            <a:off x="594305" y="5168348"/>
            <a:ext cx="5041182"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可能还需要输入一个字符串</a:t>
            </a:r>
          </a:p>
        </p:txBody>
      </p:sp>
    </p:spTree>
    <p:extLst>
      <p:ext uri="{BB962C8B-B14F-4D97-AF65-F5344CB8AC3E}">
        <p14:creationId xmlns:p14="http://schemas.microsoft.com/office/powerpoint/2010/main" val="29574086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61</a:t>
            </a:fld>
            <a:endParaRPr kumimoji="1"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F951F69-22AB-7A40-A01F-BEC7B34F9BCB}"/>
              </a:ext>
            </a:extLst>
          </p:cNvPr>
          <p:cNvPicPr>
            <a:picLocks noChangeAspect="1"/>
          </p:cNvPicPr>
          <p:nvPr/>
        </p:nvPicPr>
        <p:blipFill>
          <a:blip r:embed="rId2"/>
          <a:stretch>
            <a:fillRect/>
          </a:stretch>
        </p:blipFill>
        <p:spPr>
          <a:xfrm>
            <a:off x="556591" y="1388165"/>
            <a:ext cx="9906000" cy="3505200"/>
          </a:xfrm>
          <a:prstGeom prst="rect">
            <a:avLst/>
          </a:prstGeom>
        </p:spPr>
      </p:pic>
    </p:spTree>
    <p:extLst>
      <p:ext uri="{BB962C8B-B14F-4D97-AF65-F5344CB8AC3E}">
        <p14:creationId xmlns:p14="http://schemas.microsoft.com/office/powerpoint/2010/main" val="28866041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62</a:t>
            </a:fld>
            <a:endParaRPr kumimoji="1"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4A24316B-5CFE-C84E-8C22-047556025E59}"/>
              </a:ext>
            </a:extLst>
          </p:cNvPr>
          <p:cNvPicPr>
            <a:picLocks noChangeAspect="1"/>
          </p:cNvPicPr>
          <p:nvPr/>
        </p:nvPicPr>
        <p:blipFill>
          <a:blip r:embed="rId2"/>
          <a:stretch>
            <a:fillRect/>
          </a:stretch>
        </p:blipFill>
        <p:spPr>
          <a:xfrm>
            <a:off x="538922" y="1282700"/>
            <a:ext cx="10160000" cy="4292600"/>
          </a:xfrm>
          <a:prstGeom prst="rect">
            <a:avLst/>
          </a:prstGeom>
        </p:spPr>
      </p:pic>
      <p:sp>
        <p:nvSpPr>
          <p:cNvPr id="2" name="矩形 1">
            <a:extLst>
              <a:ext uri="{FF2B5EF4-FFF2-40B4-BE49-F238E27FC236}">
                <a16:creationId xmlns:a16="http://schemas.microsoft.com/office/drawing/2014/main" id="{B1CBBA27-E8D0-2445-BC33-743C8D0534DD}"/>
              </a:ext>
            </a:extLst>
          </p:cNvPr>
          <p:cNvSpPr/>
          <p:nvPr/>
        </p:nvSpPr>
        <p:spPr>
          <a:xfrm>
            <a:off x="3985591" y="1759226"/>
            <a:ext cx="2792896" cy="35780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62E5B030-6799-0E4B-9612-E51410D63BFA}"/>
              </a:ext>
            </a:extLst>
          </p:cNvPr>
          <p:cNvPicPr>
            <a:picLocks noChangeAspect="1"/>
          </p:cNvPicPr>
          <p:nvPr/>
        </p:nvPicPr>
        <p:blipFill>
          <a:blip r:embed="rId3"/>
          <a:stretch>
            <a:fillRect/>
          </a:stretch>
        </p:blipFill>
        <p:spPr>
          <a:xfrm>
            <a:off x="538921" y="5640386"/>
            <a:ext cx="6025591" cy="411439"/>
          </a:xfrm>
          <a:prstGeom prst="rect">
            <a:avLst/>
          </a:prstGeom>
        </p:spPr>
      </p:pic>
      <p:sp>
        <p:nvSpPr>
          <p:cNvPr id="9" name="文本框 8">
            <a:extLst>
              <a:ext uri="{FF2B5EF4-FFF2-40B4-BE49-F238E27FC236}">
                <a16:creationId xmlns:a16="http://schemas.microsoft.com/office/drawing/2014/main" id="{52E3CE33-52D2-4C46-A018-D78DEC65E350}"/>
              </a:ext>
            </a:extLst>
          </p:cNvPr>
          <p:cNvSpPr txBox="1"/>
          <p:nvPr/>
        </p:nvSpPr>
        <p:spPr>
          <a:xfrm>
            <a:off x="457199" y="6174268"/>
            <a:ext cx="11022497"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需要多输入的字符串是</a:t>
            </a:r>
            <a:r>
              <a:rPr lang="es-ES" altLang="zh-CN" sz="2400" dirty="0">
                <a:effectLst/>
                <a:latin typeface="Times New Roman" panose="02020603050405020304" pitchFamily="18" charset="0"/>
                <a:cs typeface="Times New Roman" panose="02020603050405020304" pitchFamily="18" charset="0"/>
              </a:rPr>
              <a:t>...TheRightThing2DoAreUsuallyThe3ameThing?</a:t>
            </a:r>
          </a:p>
        </p:txBody>
      </p:sp>
    </p:spTree>
    <p:extLst>
      <p:ext uri="{BB962C8B-B14F-4D97-AF65-F5344CB8AC3E}">
        <p14:creationId xmlns:p14="http://schemas.microsoft.com/office/powerpoint/2010/main" val="20226394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63</a:t>
            </a:fld>
            <a:endParaRPr kumimoji="1"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4A24316B-5CFE-C84E-8C22-047556025E59}"/>
              </a:ext>
            </a:extLst>
          </p:cNvPr>
          <p:cNvPicPr>
            <a:picLocks noChangeAspect="1"/>
          </p:cNvPicPr>
          <p:nvPr/>
        </p:nvPicPr>
        <p:blipFill>
          <a:blip r:embed="rId2"/>
          <a:stretch>
            <a:fillRect/>
          </a:stretch>
        </p:blipFill>
        <p:spPr>
          <a:xfrm>
            <a:off x="538922" y="1282700"/>
            <a:ext cx="10160000" cy="4292600"/>
          </a:xfrm>
          <a:prstGeom prst="rect">
            <a:avLst/>
          </a:prstGeom>
        </p:spPr>
      </p:pic>
      <p:sp>
        <p:nvSpPr>
          <p:cNvPr id="2" name="矩形 1">
            <a:extLst>
              <a:ext uri="{FF2B5EF4-FFF2-40B4-BE49-F238E27FC236}">
                <a16:creationId xmlns:a16="http://schemas.microsoft.com/office/drawing/2014/main" id="{B1CBBA27-E8D0-2445-BC33-743C8D0534DD}"/>
              </a:ext>
            </a:extLst>
          </p:cNvPr>
          <p:cNvSpPr/>
          <p:nvPr/>
        </p:nvSpPr>
        <p:spPr>
          <a:xfrm>
            <a:off x="3985591" y="1759226"/>
            <a:ext cx="2792896" cy="35780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62E5B030-6799-0E4B-9612-E51410D63BFA}"/>
              </a:ext>
            </a:extLst>
          </p:cNvPr>
          <p:cNvPicPr>
            <a:picLocks noChangeAspect="1"/>
          </p:cNvPicPr>
          <p:nvPr/>
        </p:nvPicPr>
        <p:blipFill>
          <a:blip r:embed="rId3"/>
          <a:stretch>
            <a:fillRect/>
          </a:stretch>
        </p:blipFill>
        <p:spPr>
          <a:xfrm>
            <a:off x="538921" y="5640386"/>
            <a:ext cx="6025591" cy="411439"/>
          </a:xfrm>
          <a:prstGeom prst="rect">
            <a:avLst/>
          </a:prstGeom>
        </p:spPr>
      </p:pic>
      <p:sp>
        <p:nvSpPr>
          <p:cNvPr id="9" name="文本框 8">
            <a:extLst>
              <a:ext uri="{FF2B5EF4-FFF2-40B4-BE49-F238E27FC236}">
                <a16:creationId xmlns:a16="http://schemas.microsoft.com/office/drawing/2014/main" id="{52E3CE33-52D2-4C46-A018-D78DEC65E350}"/>
              </a:ext>
            </a:extLst>
          </p:cNvPr>
          <p:cNvSpPr txBox="1"/>
          <p:nvPr/>
        </p:nvSpPr>
        <p:spPr>
          <a:xfrm>
            <a:off x="457199" y="6174268"/>
            <a:ext cx="11022497"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需要多输入的字符串是</a:t>
            </a:r>
            <a:r>
              <a:rPr lang="es-ES" altLang="zh-CN" sz="2400" dirty="0">
                <a:effectLst/>
                <a:latin typeface="Times New Roman" panose="02020603050405020304" pitchFamily="18" charset="0"/>
                <a:cs typeface="Times New Roman" panose="02020603050405020304" pitchFamily="18" charset="0"/>
              </a:rPr>
              <a:t>...TheRightThing2DoAreUsuallyThe3ameThing?</a:t>
            </a:r>
          </a:p>
        </p:txBody>
      </p:sp>
    </p:spTree>
    <p:extLst>
      <p:ext uri="{BB962C8B-B14F-4D97-AF65-F5344CB8AC3E}">
        <p14:creationId xmlns:p14="http://schemas.microsoft.com/office/powerpoint/2010/main" val="37538936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64</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273344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回到函数</a:t>
            </a:r>
            <a:r>
              <a:rPr kumimoji="1" lang="en-US" altLang="zh-CN" sz="2000" dirty="0" err="1">
                <a:latin typeface="Times New Roman" panose="02020603050405020304" pitchFamily="18" charset="0"/>
                <a:cs typeface="Times New Roman" panose="02020603050405020304" pitchFamily="18" charset="0"/>
              </a:rPr>
              <a:t>phase_dufused</a:t>
            </a:r>
            <a:endParaRPr kumimoji="1" lang="zh-CN" altLang="en-US" sz="200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6B9BB47C-48BB-5447-A9D8-6E1D23972BD9}"/>
              </a:ext>
            </a:extLst>
          </p:cNvPr>
          <p:cNvPicPr>
            <a:picLocks noChangeAspect="1"/>
          </p:cNvPicPr>
          <p:nvPr/>
        </p:nvPicPr>
        <p:blipFill>
          <a:blip r:embed="rId2"/>
          <a:stretch>
            <a:fillRect/>
          </a:stretch>
        </p:blipFill>
        <p:spPr>
          <a:xfrm>
            <a:off x="549137" y="1888158"/>
            <a:ext cx="10477500" cy="3340100"/>
          </a:xfrm>
          <a:prstGeom prst="rect">
            <a:avLst/>
          </a:prstGeom>
        </p:spPr>
      </p:pic>
    </p:spTree>
    <p:extLst>
      <p:ext uri="{BB962C8B-B14F-4D97-AF65-F5344CB8AC3E}">
        <p14:creationId xmlns:p14="http://schemas.microsoft.com/office/powerpoint/2010/main" val="26538410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65</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EB04169A-7B49-064A-B9D1-18B6C7E3A52A}"/>
              </a:ext>
            </a:extLst>
          </p:cNvPr>
          <p:cNvPicPr>
            <a:picLocks noChangeAspect="1"/>
          </p:cNvPicPr>
          <p:nvPr/>
        </p:nvPicPr>
        <p:blipFill>
          <a:blip r:embed="rId2"/>
          <a:stretch>
            <a:fillRect/>
          </a:stretch>
        </p:blipFill>
        <p:spPr>
          <a:xfrm>
            <a:off x="619539" y="1393135"/>
            <a:ext cx="10134600" cy="2362200"/>
          </a:xfrm>
          <a:prstGeom prst="rect">
            <a:avLst/>
          </a:prstGeom>
        </p:spPr>
      </p:pic>
      <p:pic>
        <p:nvPicPr>
          <p:cNvPr id="5" name="图片 4">
            <a:extLst>
              <a:ext uri="{FF2B5EF4-FFF2-40B4-BE49-F238E27FC236}">
                <a16:creationId xmlns:a16="http://schemas.microsoft.com/office/drawing/2014/main" id="{237ABDE5-9E5F-5C4A-ADC4-9D4C700D446D}"/>
              </a:ext>
            </a:extLst>
          </p:cNvPr>
          <p:cNvPicPr>
            <a:picLocks noChangeAspect="1"/>
          </p:cNvPicPr>
          <p:nvPr/>
        </p:nvPicPr>
        <p:blipFill>
          <a:blip r:embed="rId3"/>
          <a:stretch>
            <a:fillRect/>
          </a:stretch>
        </p:blipFill>
        <p:spPr>
          <a:xfrm>
            <a:off x="619539" y="3755335"/>
            <a:ext cx="5676900" cy="419100"/>
          </a:xfrm>
          <a:prstGeom prst="rect">
            <a:avLst/>
          </a:prstGeom>
        </p:spPr>
      </p:pic>
    </p:spTree>
    <p:extLst>
      <p:ext uri="{BB962C8B-B14F-4D97-AF65-F5344CB8AC3E}">
        <p14:creationId xmlns:p14="http://schemas.microsoft.com/office/powerpoint/2010/main" val="20752836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1826141"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解题思路</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66</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26EB8270-D99B-A54E-B3E4-32677836278C}"/>
              </a:ext>
            </a:extLst>
          </p:cNvPr>
          <p:cNvPicPr>
            <a:picLocks noChangeAspect="1"/>
          </p:cNvPicPr>
          <p:nvPr/>
        </p:nvPicPr>
        <p:blipFill>
          <a:blip r:embed="rId2"/>
          <a:stretch>
            <a:fillRect/>
          </a:stretch>
        </p:blipFill>
        <p:spPr>
          <a:xfrm>
            <a:off x="1295400" y="1540289"/>
            <a:ext cx="9601200" cy="2425700"/>
          </a:xfrm>
          <a:prstGeom prst="rect">
            <a:avLst/>
          </a:prstGeom>
        </p:spPr>
      </p:pic>
      <p:pic>
        <p:nvPicPr>
          <p:cNvPr id="6" name="图片 5">
            <a:extLst>
              <a:ext uri="{FF2B5EF4-FFF2-40B4-BE49-F238E27FC236}">
                <a16:creationId xmlns:a16="http://schemas.microsoft.com/office/drawing/2014/main" id="{99B96D00-5F01-CB40-9ED3-7552DA512025}"/>
              </a:ext>
            </a:extLst>
          </p:cNvPr>
          <p:cNvPicPr>
            <a:picLocks noChangeAspect="1"/>
          </p:cNvPicPr>
          <p:nvPr/>
        </p:nvPicPr>
        <p:blipFill>
          <a:blip r:embed="rId3"/>
          <a:stretch>
            <a:fillRect/>
          </a:stretch>
        </p:blipFill>
        <p:spPr>
          <a:xfrm>
            <a:off x="1282700" y="4008437"/>
            <a:ext cx="7056230" cy="1957475"/>
          </a:xfrm>
          <a:prstGeom prst="rect">
            <a:avLst/>
          </a:prstGeom>
        </p:spPr>
      </p:pic>
      <p:sp>
        <p:nvSpPr>
          <p:cNvPr id="7" name="文本框 6">
            <a:extLst>
              <a:ext uri="{FF2B5EF4-FFF2-40B4-BE49-F238E27FC236}">
                <a16:creationId xmlns:a16="http://schemas.microsoft.com/office/drawing/2014/main" id="{9E002141-7BF0-A44B-88BF-C424919329E9}"/>
              </a:ext>
            </a:extLst>
          </p:cNvPr>
          <p:cNvSpPr txBox="1"/>
          <p:nvPr/>
        </p:nvSpPr>
        <p:spPr>
          <a:xfrm>
            <a:off x="9362661" y="4725294"/>
            <a:ext cx="1120820"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答案：</a:t>
            </a:r>
            <a:r>
              <a:rPr kumimoji="1" lang="en-US" altLang="zh-CN" dirty="0">
                <a:latin typeface="Times New Roman" panose="02020603050405020304" pitchFamily="18" charset="0"/>
                <a:cs typeface="Times New Roman" panose="02020603050405020304" pitchFamily="18" charset="0"/>
              </a:rPr>
              <a:t>63</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9512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1455" y="655983"/>
            <a:ext cx="1005403"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总结</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67</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31E56B16-E18B-3E4C-B238-256EE6B79ABC}"/>
              </a:ext>
            </a:extLst>
          </p:cNvPr>
          <p:cNvSpPr txBox="1"/>
          <p:nvPr/>
        </p:nvSpPr>
        <p:spPr>
          <a:xfrm>
            <a:off x="954156" y="1500808"/>
            <a:ext cx="6320961" cy="3683188"/>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kumimoji="1" lang="zh-CN" altLang="en-US" sz="2400" dirty="0"/>
              <a:t>局部变量与全局变量的存储</a:t>
            </a:r>
            <a:endParaRPr kumimoji="1" lang="en-US" altLang="zh-CN" sz="2400" dirty="0"/>
          </a:p>
          <a:p>
            <a:pPr marL="285750" indent="-285750">
              <a:lnSpc>
                <a:spcPct val="200000"/>
              </a:lnSpc>
              <a:buFont typeface="Arial" panose="020B0604020202020204" pitchFamily="34" charset="0"/>
              <a:buChar char="•"/>
            </a:pPr>
            <a:r>
              <a:rPr kumimoji="1" lang="zh-CN" altLang="en-US" sz="2400" dirty="0"/>
              <a:t>过程运行时栈结构与寄存器状态的动态变化</a:t>
            </a:r>
            <a:endParaRPr kumimoji="1" lang="en-US" altLang="zh-CN" sz="2400" dirty="0"/>
          </a:p>
          <a:p>
            <a:pPr marL="285750" indent="-285750">
              <a:lnSpc>
                <a:spcPct val="200000"/>
              </a:lnSpc>
              <a:buFont typeface="Arial" panose="020B0604020202020204" pitchFamily="34" charset="0"/>
              <a:buChar char="•"/>
            </a:pPr>
            <a:r>
              <a:rPr kumimoji="1" lang="zh-CN" altLang="en-US" sz="2400" dirty="0"/>
              <a:t>递归调用与栈</a:t>
            </a:r>
            <a:endParaRPr kumimoji="1" lang="en-US" altLang="zh-CN" sz="2400" dirty="0"/>
          </a:p>
          <a:p>
            <a:pPr marL="285750" indent="-285750">
              <a:lnSpc>
                <a:spcPct val="200000"/>
              </a:lnSpc>
              <a:buFont typeface="Arial" panose="020B0604020202020204" pitchFamily="34" charset="0"/>
              <a:buChar char="•"/>
            </a:pPr>
            <a:r>
              <a:rPr kumimoji="1" lang="zh-CN" altLang="en-US" sz="2400" dirty="0"/>
              <a:t>一些基本的数据结构在汇编代码层面的实现</a:t>
            </a:r>
            <a:endParaRPr kumimoji="1" lang="en-US" altLang="zh-CN" sz="2400" dirty="0"/>
          </a:p>
          <a:p>
            <a:pPr marL="285750" indent="-285750">
              <a:lnSpc>
                <a:spcPct val="200000"/>
              </a:lnSpc>
              <a:buFont typeface="Arial" panose="020B0604020202020204" pitchFamily="34" charset="0"/>
              <a:buChar char="•"/>
            </a:pPr>
            <a:r>
              <a:rPr kumimoji="1" lang="zh-CN" altLang="en-US" sz="2400" dirty="0"/>
              <a:t>写代码时函数与变量的命名</a:t>
            </a:r>
            <a:endParaRPr kumimoji="1" lang="en-US" altLang="zh-CN" sz="2400" dirty="0"/>
          </a:p>
        </p:txBody>
      </p:sp>
    </p:spTree>
    <p:extLst>
      <p:ext uri="{BB962C8B-B14F-4D97-AF65-F5344CB8AC3E}">
        <p14:creationId xmlns:p14="http://schemas.microsoft.com/office/powerpoint/2010/main" val="13830872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A92FA-E58A-A743-BE30-2E0A6F076385}"/>
              </a:ext>
            </a:extLst>
          </p:cNvPr>
          <p:cNvSpPr>
            <a:spLocks noGrp="1"/>
          </p:cNvSpPr>
          <p:nvPr>
            <p:ph type="title"/>
          </p:nvPr>
        </p:nvSpPr>
        <p:spPr>
          <a:xfrm>
            <a:off x="838200" y="2766218"/>
            <a:ext cx="10515600" cy="1325563"/>
          </a:xfrm>
        </p:spPr>
        <p:txBody>
          <a:bodyPr/>
          <a:lstStyle/>
          <a:p>
            <a:pPr algn="ctr"/>
            <a:r>
              <a:rPr kumimoji="1" lang="zh-CN" altLang="en-US" dirty="0">
                <a:latin typeface="KaiTi" panose="02010609060101010101" pitchFamily="49" charset="-122"/>
                <a:ea typeface="KaiTi" panose="02010609060101010101" pitchFamily="49" charset="-122"/>
              </a:rPr>
              <a:t>谢谢！</a:t>
            </a:r>
          </a:p>
        </p:txBody>
      </p:sp>
      <p:pic>
        <p:nvPicPr>
          <p:cNvPr id="4" name="图片 3">
            <a:extLst>
              <a:ext uri="{FF2B5EF4-FFF2-40B4-BE49-F238E27FC236}">
                <a16:creationId xmlns:a16="http://schemas.microsoft.com/office/drawing/2014/main" id="{C0EDA37B-CEFB-554F-AF42-F5EDE3BE6B0A}"/>
              </a:ext>
            </a:extLst>
          </p:cNvPr>
          <p:cNvPicPr>
            <a:picLocks noChangeAspect="1"/>
          </p:cNvPicPr>
          <p:nvPr/>
        </p:nvPicPr>
        <p:blipFill>
          <a:blip r:embed="rId2"/>
          <a:stretch>
            <a:fillRect/>
          </a:stretch>
        </p:blipFill>
        <p:spPr>
          <a:xfrm>
            <a:off x="10126735" y="4969564"/>
            <a:ext cx="1854887" cy="1687064"/>
          </a:xfrm>
          <a:prstGeom prst="rect">
            <a:avLst/>
          </a:prstGeom>
        </p:spPr>
      </p:pic>
    </p:spTree>
    <p:extLst>
      <p:ext uri="{BB962C8B-B14F-4D97-AF65-F5344CB8AC3E}">
        <p14:creationId xmlns:p14="http://schemas.microsoft.com/office/powerpoint/2010/main" val="25284012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{12050912-ADFD-834D-A6C4-117546B9542F}tf10001070</Template>
  <TotalTime>1922</TotalTime>
  <Words>2839</Words>
  <Application>Microsoft Macintosh PowerPoint</Application>
  <PresentationFormat>宽屏</PresentationFormat>
  <Paragraphs>692</Paragraphs>
  <Slides>68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68</vt:i4>
      </vt:variant>
    </vt:vector>
  </HeadingPairs>
  <TitlesOfParts>
    <vt:vector size="76" baseType="lpstr">
      <vt:lpstr>等线</vt:lpstr>
      <vt:lpstr>等线 Light</vt:lpstr>
      <vt:lpstr>KaiTi</vt:lpstr>
      <vt:lpstr>Arial</vt:lpstr>
      <vt:lpstr>Cambria Math</vt:lpstr>
      <vt:lpstr>Times New Roman</vt:lpstr>
      <vt:lpstr>Wingdings</vt:lpstr>
      <vt:lpstr>Office 主题​​</vt:lpstr>
      <vt:lpstr>Bomblab Discussion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Bomblab Discussion</dc:title>
  <dc:creator>刘 沛雨</dc:creator>
  <cp:lastModifiedBy>刘 沛雨</cp:lastModifiedBy>
  <cp:revision>10</cp:revision>
  <dcterms:created xsi:type="dcterms:W3CDTF">2023-10-09T13:19:41Z</dcterms:created>
  <dcterms:modified xsi:type="dcterms:W3CDTF">2023-10-11T07:58:58Z</dcterms:modified>
</cp:coreProperties>
</file>