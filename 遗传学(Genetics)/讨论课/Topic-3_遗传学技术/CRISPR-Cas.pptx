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425" r:id="rId2"/>
    <p:sldId id="448" r:id="rId3"/>
    <p:sldId id="457" r:id="rId4"/>
    <p:sldId id="480" r:id="rId5"/>
    <p:sldId id="462" r:id="rId6"/>
    <p:sldId id="481" r:id="rId7"/>
    <p:sldId id="463" r:id="rId8"/>
    <p:sldId id="470" r:id="rId9"/>
    <p:sldId id="479" r:id="rId10"/>
    <p:sldId id="452" r:id="rId11"/>
    <p:sldId id="476" r:id="rId12"/>
    <p:sldId id="459" r:id="rId13"/>
    <p:sldId id="460" r:id="rId14"/>
    <p:sldId id="468" r:id="rId15"/>
    <p:sldId id="464" r:id="rId16"/>
    <p:sldId id="466" r:id="rId17"/>
    <p:sldId id="472" r:id="rId18"/>
    <p:sldId id="473" r:id="rId19"/>
    <p:sldId id="474" r:id="rId20"/>
    <p:sldId id="475" r:id="rId21"/>
    <p:sldId id="465" r:id="rId22"/>
    <p:sldId id="467" r:id="rId23"/>
    <p:sldId id="449" r:id="rId24"/>
    <p:sldId id="277" r:id="rId25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D83949"/>
    <a:srgbClr val="99FFCC"/>
    <a:srgbClr val="032F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61"/>
    <p:restoredTop sz="81073"/>
  </p:normalViewPr>
  <p:slideViewPr>
    <p:cSldViewPr snapToGrid="0" snapToObjects="1">
      <p:cViewPr>
        <p:scale>
          <a:sx n="90" d="100"/>
          <a:sy n="90" d="100"/>
        </p:scale>
        <p:origin x="23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2025/4/1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38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8507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AE151-E8A8-E941-8185-5C82CF767F1D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18BB-4624-F549-B5B2-F3A6AFBD1386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A6DC0-7002-3D41-871E-6A46BD026AD7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825FD-0353-D24E-92F3-965EF60F178F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CEAC0-DAA0-0541-99E4-1F63993A26F9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3E27-1ED9-E544-9569-1A5FBD27B944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60A5F-ABE0-614A-B33A-5093099DA492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04D2-8032-424F-9989-3BB75492C9F0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47BD-DA07-B84C-B18C-005716E52A11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D6F0F-E760-474C-BA47-96878804B47C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2ADF-8BB3-CA4D-A291-1FC4FDC229F1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95BF6-8395-B948-A565-36B08AC42D31}" type="datetime1">
              <a:rPr lang="en-US" altLang="zh-CN" smtClean="0"/>
              <a:t>4/1/25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80787"/>
            <a:ext cx="9144000" cy="2387600"/>
          </a:xfrm>
        </p:spPr>
        <p:txBody>
          <a:bodyPr>
            <a:noAutofit/>
          </a:bodyPr>
          <a:lstStyle/>
          <a:p>
            <a:r>
              <a:rPr lang="en-US" sz="4000" b="1" dirty="0"/>
              <a:t>Genome Editing with CRISPR/Cas System</a:t>
            </a:r>
          </a:p>
        </p:txBody>
      </p:sp>
    </p:spTree>
    <p:extLst>
      <p:ext uri="{BB962C8B-B14F-4D97-AF65-F5344CB8AC3E}">
        <p14:creationId xmlns:p14="http://schemas.microsoft.com/office/powerpoint/2010/main" val="2706249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Outline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6B7C4-301B-EC44-9432-0558C55E4E1B}"/>
              </a:ext>
            </a:extLst>
          </p:cNvPr>
          <p:cNvSpPr txBox="1"/>
          <p:nvPr/>
        </p:nvSpPr>
        <p:spPr>
          <a:xfrm>
            <a:off x="415516" y="1048925"/>
            <a:ext cx="4600984" cy="5630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ZFN, TALEN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CRISPR/Cas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Mechanism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CRISPR/Cas-derived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Base editors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Transposases/recombinases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Prime editors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 to Date: Applications</a:t>
            </a:r>
            <a:endParaRPr kumimoji="1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D2BA3B-5773-3E45-93E7-C4286E26D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3636313"/>
            <a:ext cx="2573141" cy="2353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BCE768-19A5-484E-A734-91358450A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9586" y="3636313"/>
            <a:ext cx="2573141" cy="235397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2CE2F46-28B1-1A47-A89A-3C6305D5A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7195" y="1617158"/>
            <a:ext cx="5584024" cy="1088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4BB06D-7FFC-2A4B-BA40-7A99C52B99C1}"/>
              </a:ext>
            </a:extLst>
          </p:cNvPr>
          <p:cNvCxnSpPr>
            <a:stCxn id="1026" idx="2"/>
          </p:cNvCxnSpPr>
          <p:nvPr/>
        </p:nvCxnSpPr>
        <p:spPr>
          <a:xfrm>
            <a:off x="8279207" y="2705607"/>
            <a:ext cx="0" cy="68529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532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Genome Editing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038255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8540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6341679" cy="5173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Goals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 </a:t>
            </a:r>
            <a:r>
              <a:rPr kumimoji="1" lang="en-CN" altLang="zh-CN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precision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: all sites edited are targeted sites</a:t>
            </a:r>
            <a:endParaRPr kumimoji="1" lang="en-CN" altLang="zh-CN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High </a:t>
            </a:r>
            <a:r>
              <a:rPr kumimoji="1" lang="en-CN" altLang="zh-CN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recall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 targeted sites are edited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Zinc-finger nucleases (</a:t>
            </a:r>
            <a:r>
              <a:rPr kumimoji="1" lang="en-CN" altLang="zh-CN" dirty="0"/>
              <a:t>ZFN)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Transcription activator-like effector nucleases (TALENs)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CRISPR/Cas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Possible outcomes (Fig. 1)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Indels introduced by DSB-induced NHEJ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Gene recombination introduced by DSB-induced HDR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Other non-DSB-induced outcomes (e.g., base editing without DSBs)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A025E-B79A-A047-8938-087FB20F7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0" y="1435482"/>
            <a:ext cx="5482730" cy="353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D1F86-35E4-9940-8ACE-71E6E87BFB7E}"/>
              </a:ext>
            </a:extLst>
          </p:cNvPr>
          <p:cNvSpPr txBox="1"/>
          <p:nvPr/>
        </p:nvSpPr>
        <p:spPr>
          <a:xfrm>
            <a:off x="6980859" y="4984396"/>
            <a:ext cx="49358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b="1" dirty="0"/>
              <a:t>Fig. 1</a:t>
            </a:r>
            <a:r>
              <a:rPr kumimoji="1" lang="en-US" altLang="zh-CN" sz="1400" dirty="0"/>
              <a:t> DSB-induced genome-editing outcomes.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Indels and inversion introduced by NHEJ in the absence of a homologous donor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template DNA.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Recombination introduced by HDR in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the presence of the donor DNA.</a:t>
            </a:r>
          </a:p>
          <a:p>
            <a:r>
              <a:rPr kumimoji="1" lang="en-US" altLang="zh-CN" sz="1400" dirty="0"/>
              <a:t>Lightnings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represent DSB sites.</a:t>
            </a:r>
          </a:p>
        </p:txBody>
      </p:sp>
    </p:spTree>
    <p:extLst>
      <p:ext uri="{BB962C8B-B14F-4D97-AF65-F5344CB8AC3E}">
        <p14:creationId xmlns:p14="http://schemas.microsoft.com/office/powerpoint/2010/main" val="30821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78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Zinc-Finger Nucleases (</a:t>
            </a:r>
            <a:r>
              <a:rPr kumimoji="1" lang="en-CN" altLang="zh-CN" sz="3200" dirty="0"/>
              <a:t>ZFN)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85EF36-6A6F-E04E-9AF2-49C11CC69B15}"/>
              </a:ext>
            </a:extLst>
          </p:cNvPr>
          <p:cNvSpPr/>
          <p:nvPr/>
        </p:nvSpPr>
        <p:spPr>
          <a:xfrm>
            <a:off x="416717" y="13007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44E56E-D273-0840-AFB3-836B8AAB44F8}"/>
              </a:ext>
            </a:extLst>
          </p:cNvPr>
          <p:cNvSpPr txBox="1"/>
          <p:nvPr/>
        </p:nvSpPr>
        <p:spPr>
          <a:xfrm>
            <a:off x="1156498" y="1490142"/>
            <a:ext cx="7714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the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E73CA72-D9B2-3043-A53F-9B0A5A9E8A46}"/>
              </a:ext>
            </a:extLst>
          </p:cNvPr>
          <p:cNvSpPr/>
          <p:nvPr/>
        </p:nvSpPr>
        <p:spPr>
          <a:xfrm>
            <a:off x="586136" y="2429282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0BC63-10A7-864E-B589-1131B716F4EC}"/>
              </a:ext>
            </a:extLst>
          </p:cNvPr>
          <p:cNvSpPr txBox="1"/>
          <p:nvPr/>
        </p:nvSpPr>
        <p:spPr>
          <a:xfrm>
            <a:off x="915825" y="2368738"/>
            <a:ext cx="9213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</a:t>
            </a:r>
            <a:r>
              <a:rPr kumimoji="1" lang="en-US" altLang="zh-CN" dirty="0"/>
              <a:t>, one (of three) zinc finger domains from zinc finger proteins (ZFPs)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44F431-8431-BC42-B7E3-03CE1CA1BB86}"/>
              </a:ext>
            </a:extLst>
          </p:cNvPr>
          <p:cNvCxnSpPr>
            <a:cxnSpLocks/>
          </p:cNvCxnSpPr>
          <p:nvPr/>
        </p:nvCxnSpPr>
        <p:spPr>
          <a:xfrm flipH="1">
            <a:off x="416717" y="2714320"/>
            <a:ext cx="226405" cy="5623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70144C-85B4-094E-8AAA-1EE6BD8DDA58}"/>
              </a:ext>
            </a:extLst>
          </p:cNvPr>
          <p:cNvGrpSpPr/>
          <p:nvPr/>
        </p:nvGrpSpPr>
        <p:grpSpPr>
          <a:xfrm>
            <a:off x="516731" y="2950091"/>
            <a:ext cx="1503009" cy="1412125"/>
            <a:chOff x="525816" y="3281058"/>
            <a:chExt cx="986512" cy="1070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DC8CBB2-8CAC-4A4A-B0C5-3DE913202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6136" y="3281058"/>
              <a:ext cx="926192" cy="107091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99CD4E0-E94D-8843-8058-FA3140F425DC}"/>
                </a:ext>
              </a:extLst>
            </p:cNvPr>
            <p:cNvSpPr/>
            <p:nvPr/>
          </p:nvSpPr>
          <p:spPr>
            <a:xfrm rot="2350952">
              <a:off x="525816" y="3906252"/>
              <a:ext cx="849002" cy="285750"/>
            </a:xfrm>
            <a:prstGeom prst="rect">
              <a:avLst/>
            </a:prstGeom>
            <a:solidFill>
              <a:schemeClr val="accent1">
                <a:alpha val="401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77C112-5A3E-B641-BF9C-8E985EA41C4E}"/>
              </a:ext>
            </a:extLst>
          </p:cNvPr>
          <p:cNvCxnSpPr>
            <a:cxnSpLocks/>
          </p:cNvCxnSpPr>
          <p:nvPr/>
        </p:nvCxnSpPr>
        <p:spPr>
          <a:xfrm>
            <a:off x="902554" y="2667059"/>
            <a:ext cx="740509" cy="31859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B7170F-56CE-0B4A-9B97-BBF955E768A6}"/>
              </a:ext>
            </a:extLst>
          </p:cNvPr>
          <p:cNvSpPr txBox="1"/>
          <p:nvPr/>
        </p:nvSpPr>
        <p:spPr>
          <a:xfrm>
            <a:off x="325821" y="4449806"/>
            <a:ext cx="3539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30 aa, organized in </a:t>
            </a:r>
            <a:r>
              <a:rPr kumimoji="1" lang="el-GR" altLang="zh-CN" dirty="0" err="1"/>
              <a:t>ββα</a:t>
            </a:r>
            <a:r>
              <a:rPr kumimoji="1" lang="en-US" altLang="zh-CN" dirty="0"/>
              <a:t> motif</a:t>
            </a:r>
            <a:endParaRPr kumimoji="1"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DC7F18-D86E-1E47-9FAD-927763BCFD4A}"/>
              </a:ext>
            </a:extLst>
          </p:cNvPr>
          <p:cNvSpPr txBox="1"/>
          <p:nvPr/>
        </p:nvSpPr>
        <p:spPr>
          <a:xfrm>
            <a:off x="325820" y="4767827"/>
            <a:ext cx="56177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TGEKPYK</a:t>
            </a:r>
            <a:r>
              <a:rPr kumimoji="1" lang="en-US" altLang="zh-CN" dirty="0">
                <a:solidFill>
                  <a:schemeClr val="accent6"/>
                </a:solidFill>
              </a:rPr>
              <a:t>C</a:t>
            </a:r>
            <a:r>
              <a:rPr kumimoji="1" lang="en-US" altLang="zh-CN" dirty="0"/>
              <a:t>PE</a:t>
            </a:r>
            <a:r>
              <a:rPr kumimoji="1" lang="en-US" altLang="zh-CN" dirty="0">
                <a:solidFill>
                  <a:schemeClr val="accent6"/>
                </a:solidFill>
              </a:rPr>
              <a:t>C</a:t>
            </a:r>
            <a:r>
              <a:rPr kumimoji="1" lang="en-US" altLang="zh-CN" dirty="0"/>
              <a:t>GKSFS</a:t>
            </a:r>
            <a:r>
              <a:rPr kumimoji="1" lang="en-US" altLang="zh-CN" dirty="0">
                <a:solidFill>
                  <a:schemeClr val="accent1"/>
                </a:solidFill>
              </a:rPr>
              <a:t>XXXXXXX</a:t>
            </a:r>
            <a:r>
              <a:rPr kumimoji="1" lang="en-US" altLang="zh-CN" dirty="0">
                <a:solidFill>
                  <a:schemeClr val="accent6"/>
                </a:solidFill>
              </a:rPr>
              <a:t>H</a:t>
            </a:r>
            <a:r>
              <a:rPr kumimoji="1" lang="en-US" altLang="zh-CN" dirty="0"/>
              <a:t>QRT</a:t>
            </a:r>
            <a:r>
              <a:rPr kumimoji="1" lang="en-US" altLang="zh-CN" dirty="0">
                <a:solidFill>
                  <a:schemeClr val="accent6"/>
                </a:solidFill>
              </a:rPr>
              <a:t>H</a:t>
            </a:r>
          </a:p>
          <a:p>
            <a:r>
              <a:rPr kumimoji="1" lang="en-US" altLang="zh-CN" dirty="0">
                <a:solidFill>
                  <a:schemeClr val="accent6"/>
                </a:solidFill>
              </a:rPr>
              <a:t>Cys2-His2 zinc finger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 can be any amino acid.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XXXXXXX recognizes and binds to 3 bp of DNA,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5EFA0B1-7E3B-454F-B841-CDCC286E576D}"/>
              </a:ext>
            </a:extLst>
          </p:cNvPr>
          <p:cNvCxnSpPr/>
          <p:nvPr/>
        </p:nvCxnSpPr>
        <p:spPr>
          <a:xfrm>
            <a:off x="5751752" y="3923103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2D7F31-2E50-1144-B946-DB82C412AD14}"/>
              </a:ext>
            </a:extLst>
          </p:cNvPr>
          <p:cNvCxnSpPr/>
          <p:nvPr/>
        </p:nvCxnSpPr>
        <p:spPr>
          <a:xfrm>
            <a:off x="5751752" y="4239059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A280CCC-9842-4B4C-AC0B-5C1AD2CB9C68}"/>
              </a:ext>
            </a:extLst>
          </p:cNvPr>
          <p:cNvCxnSpPr>
            <a:cxnSpLocks/>
          </p:cNvCxnSpPr>
          <p:nvPr/>
        </p:nvCxnSpPr>
        <p:spPr>
          <a:xfrm>
            <a:off x="5938339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CB37102-FE96-A944-BB95-A91B74A2A52C}"/>
              </a:ext>
            </a:extLst>
          </p:cNvPr>
          <p:cNvCxnSpPr>
            <a:cxnSpLocks/>
          </p:cNvCxnSpPr>
          <p:nvPr/>
        </p:nvCxnSpPr>
        <p:spPr>
          <a:xfrm>
            <a:off x="6083119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822E18-2AEA-A347-B860-8699FBFA9F76}"/>
              </a:ext>
            </a:extLst>
          </p:cNvPr>
          <p:cNvCxnSpPr>
            <a:cxnSpLocks/>
          </p:cNvCxnSpPr>
          <p:nvPr/>
        </p:nvCxnSpPr>
        <p:spPr>
          <a:xfrm>
            <a:off x="6220279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098547-247A-AA41-9976-CDBF40F9A835}"/>
              </a:ext>
            </a:extLst>
          </p:cNvPr>
          <p:cNvCxnSpPr>
            <a:cxnSpLocks/>
          </p:cNvCxnSpPr>
          <p:nvPr/>
        </p:nvCxnSpPr>
        <p:spPr>
          <a:xfrm>
            <a:off x="6349819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18EFA67-7F0E-2B48-BA10-B55B9EA19066}"/>
              </a:ext>
            </a:extLst>
          </p:cNvPr>
          <p:cNvCxnSpPr>
            <a:cxnSpLocks/>
          </p:cNvCxnSpPr>
          <p:nvPr/>
        </p:nvCxnSpPr>
        <p:spPr>
          <a:xfrm>
            <a:off x="6479359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D7C89D-889B-3F43-9141-D8258E80E620}"/>
              </a:ext>
            </a:extLst>
          </p:cNvPr>
          <p:cNvCxnSpPr>
            <a:cxnSpLocks/>
          </p:cNvCxnSpPr>
          <p:nvPr/>
        </p:nvCxnSpPr>
        <p:spPr>
          <a:xfrm>
            <a:off x="6617212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A706F8C-6D3F-1E40-B699-910C22F557A1}"/>
              </a:ext>
            </a:extLst>
          </p:cNvPr>
          <p:cNvCxnSpPr>
            <a:cxnSpLocks/>
          </p:cNvCxnSpPr>
          <p:nvPr/>
        </p:nvCxnSpPr>
        <p:spPr>
          <a:xfrm>
            <a:off x="6761992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9F8401F-B370-D442-BB1E-1CC3EE6EE25B}"/>
              </a:ext>
            </a:extLst>
          </p:cNvPr>
          <p:cNvCxnSpPr>
            <a:cxnSpLocks/>
          </p:cNvCxnSpPr>
          <p:nvPr/>
        </p:nvCxnSpPr>
        <p:spPr>
          <a:xfrm>
            <a:off x="6899152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107B9B-9A95-3E44-B6F1-A0307D6452DA}"/>
              </a:ext>
            </a:extLst>
          </p:cNvPr>
          <p:cNvCxnSpPr>
            <a:cxnSpLocks/>
          </p:cNvCxnSpPr>
          <p:nvPr/>
        </p:nvCxnSpPr>
        <p:spPr>
          <a:xfrm>
            <a:off x="7028692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55DEBDD-F0FA-644B-B1FB-9007065D29AA}"/>
              </a:ext>
            </a:extLst>
          </p:cNvPr>
          <p:cNvCxnSpPr>
            <a:cxnSpLocks/>
          </p:cNvCxnSpPr>
          <p:nvPr/>
        </p:nvCxnSpPr>
        <p:spPr>
          <a:xfrm>
            <a:off x="7158232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637E05-7C12-354E-AE11-FDA48A4CC7E8}"/>
              </a:ext>
            </a:extLst>
          </p:cNvPr>
          <p:cNvCxnSpPr>
            <a:cxnSpLocks/>
          </p:cNvCxnSpPr>
          <p:nvPr/>
        </p:nvCxnSpPr>
        <p:spPr>
          <a:xfrm>
            <a:off x="729608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DE3D4-F8D7-9F40-BABD-3EDBFBDBEA9E}"/>
              </a:ext>
            </a:extLst>
          </p:cNvPr>
          <p:cNvCxnSpPr>
            <a:cxnSpLocks/>
          </p:cNvCxnSpPr>
          <p:nvPr/>
        </p:nvCxnSpPr>
        <p:spPr>
          <a:xfrm>
            <a:off x="744086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30FAF1-D6DA-634A-B6D2-E6880E5DB0CE}"/>
              </a:ext>
            </a:extLst>
          </p:cNvPr>
          <p:cNvCxnSpPr>
            <a:cxnSpLocks/>
          </p:cNvCxnSpPr>
          <p:nvPr/>
        </p:nvCxnSpPr>
        <p:spPr>
          <a:xfrm>
            <a:off x="757802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9CD73B3-1844-4343-B6A8-D0ECD7ED6F2D}"/>
              </a:ext>
            </a:extLst>
          </p:cNvPr>
          <p:cNvCxnSpPr>
            <a:cxnSpLocks/>
          </p:cNvCxnSpPr>
          <p:nvPr/>
        </p:nvCxnSpPr>
        <p:spPr>
          <a:xfrm>
            <a:off x="770756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8532BD-CA16-A049-9EE9-624883C0E707}"/>
              </a:ext>
            </a:extLst>
          </p:cNvPr>
          <p:cNvCxnSpPr>
            <a:cxnSpLocks/>
          </p:cNvCxnSpPr>
          <p:nvPr/>
        </p:nvCxnSpPr>
        <p:spPr>
          <a:xfrm>
            <a:off x="783710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8DFE8D-0A15-454E-A5BD-5D77CDCFDD0B}"/>
              </a:ext>
            </a:extLst>
          </p:cNvPr>
          <p:cNvCxnSpPr>
            <a:cxnSpLocks/>
          </p:cNvCxnSpPr>
          <p:nvPr/>
        </p:nvCxnSpPr>
        <p:spPr>
          <a:xfrm>
            <a:off x="7974957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1330D54-FA49-A940-9984-42EB25D050CC}"/>
              </a:ext>
            </a:extLst>
          </p:cNvPr>
          <p:cNvCxnSpPr>
            <a:cxnSpLocks/>
          </p:cNvCxnSpPr>
          <p:nvPr/>
        </p:nvCxnSpPr>
        <p:spPr>
          <a:xfrm>
            <a:off x="8119737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7C16CE-AD66-3244-A585-37B5F721B810}"/>
              </a:ext>
            </a:extLst>
          </p:cNvPr>
          <p:cNvCxnSpPr>
            <a:cxnSpLocks/>
          </p:cNvCxnSpPr>
          <p:nvPr/>
        </p:nvCxnSpPr>
        <p:spPr>
          <a:xfrm>
            <a:off x="8256897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13177CB-D233-A140-B3A2-7EC0EAE7484C}"/>
              </a:ext>
            </a:extLst>
          </p:cNvPr>
          <p:cNvCxnSpPr>
            <a:cxnSpLocks/>
          </p:cNvCxnSpPr>
          <p:nvPr/>
        </p:nvCxnSpPr>
        <p:spPr>
          <a:xfrm>
            <a:off x="8386437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3F7FCA-0BBB-574B-9144-11068A2AB3D6}"/>
              </a:ext>
            </a:extLst>
          </p:cNvPr>
          <p:cNvCxnSpPr>
            <a:cxnSpLocks/>
          </p:cNvCxnSpPr>
          <p:nvPr/>
        </p:nvCxnSpPr>
        <p:spPr>
          <a:xfrm>
            <a:off x="8515977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C9268C3-0421-9643-840C-E404482CFE08}"/>
              </a:ext>
            </a:extLst>
          </p:cNvPr>
          <p:cNvCxnSpPr>
            <a:cxnSpLocks/>
          </p:cNvCxnSpPr>
          <p:nvPr/>
        </p:nvCxnSpPr>
        <p:spPr>
          <a:xfrm>
            <a:off x="8653830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B935C4-7A1C-484A-A38F-BD96E714C226}"/>
              </a:ext>
            </a:extLst>
          </p:cNvPr>
          <p:cNvCxnSpPr>
            <a:cxnSpLocks/>
          </p:cNvCxnSpPr>
          <p:nvPr/>
        </p:nvCxnSpPr>
        <p:spPr>
          <a:xfrm>
            <a:off x="8798610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D8344FB-CA2B-B64D-AE02-64FD9DC36286}"/>
              </a:ext>
            </a:extLst>
          </p:cNvPr>
          <p:cNvCxnSpPr>
            <a:cxnSpLocks/>
          </p:cNvCxnSpPr>
          <p:nvPr/>
        </p:nvCxnSpPr>
        <p:spPr>
          <a:xfrm>
            <a:off x="8935770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A47626-5852-1D47-9019-3F27A4C2CD0C}"/>
              </a:ext>
            </a:extLst>
          </p:cNvPr>
          <p:cNvCxnSpPr>
            <a:cxnSpLocks/>
          </p:cNvCxnSpPr>
          <p:nvPr/>
        </p:nvCxnSpPr>
        <p:spPr>
          <a:xfrm>
            <a:off x="9065310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46D5769-BF89-7D47-A081-07F6219037CF}"/>
              </a:ext>
            </a:extLst>
          </p:cNvPr>
          <p:cNvCxnSpPr>
            <a:cxnSpLocks/>
          </p:cNvCxnSpPr>
          <p:nvPr/>
        </p:nvCxnSpPr>
        <p:spPr>
          <a:xfrm>
            <a:off x="9194850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61F6326-1734-5C4B-898A-8FFCBA54CDC7}"/>
              </a:ext>
            </a:extLst>
          </p:cNvPr>
          <p:cNvCxnSpPr>
            <a:cxnSpLocks/>
          </p:cNvCxnSpPr>
          <p:nvPr/>
        </p:nvCxnSpPr>
        <p:spPr>
          <a:xfrm>
            <a:off x="9325083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7720000-50BB-0F4B-A8B2-A28D8CCB557E}"/>
              </a:ext>
            </a:extLst>
          </p:cNvPr>
          <p:cNvCxnSpPr>
            <a:cxnSpLocks/>
          </p:cNvCxnSpPr>
          <p:nvPr/>
        </p:nvCxnSpPr>
        <p:spPr>
          <a:xfrm>
            <a:off x="9462243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A97B87D-5D3E-7846-B3DB-8A12AAF36C56}"/>
              </a:ext>
            </a:extLst>
          </p:cNvPr>
          <p:cNvCxnSpPr>
            <a:cxnSpLocks/>
          </p:cNvCxnSpPr>
          <p:nvPr/>
        </p:nvCxnSpPr>
        <p:spPr>
          <a:xfrm>
            <a:off x="9591783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010ED17-DCF5-EA4B-A8C2-82A6DCE36CA0}"/>
              </a:ext>
            </a:extLst>
          </p:cNvPr>
          <p:cNvCxnSpPr>
            <a:cxnSpLocks/>
          </p:cNvCxnSpPr>
          <p:nvPr/>
        </p:nvCxnSpPr>
        <p:spPr>
          <a:xfrm>
            <a:off x="9721323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4C99176-A41B-A841-B5B5-6E449FE3C4F0}"/>
              </a:ext>
            </a:extLst>
          </p:cNvPr>
          <p:cNvCxnSpPr>
            <a:cxnSpLocks/>
          </p:cNvCxnSpPr>
          <p:nvPr/>
        </p:nvCxnSpPr>
        <p:spPr>
          <a:xfrm>
            <a:off x="985917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28F7442-8E65-314E-8DF1-C44408031E09}"/>
              </a:ext>
            </a:extLst>
          </p:cNvPr>
          <p:cNvCxnSpPr>
            <a:cxnSpLocks/>
          </p:cNvCxnSpPr>
          <p:nvPr/>
        </p:nvCxnSpPr>
        <p:spPr>
          <a:xfrm>
            <a:off x="1000395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6676F29-446C-674D-B4BB-756982DB884E}"/>
              </a:ext>
            </a:extLst>
          </p:cNvPr>
          <p:cNvCxnSpPr>
            <a:cxnSpLocks/>
          </p:cNvCxnSpPr>
          <p:nvPr/>
        </p:nvCxnSpPr>
        <p:spPr>
          <a:xfrm>
            <a:off x="1014111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BD28D57-8FE7-EE4D-80B1-D3C6781F1401}"/>
              </a:ext>
            </a:extLst>
          </p:cNvPr>
          <p:cNvCxnSpPr>
            <a:cxnSpLocks/>
          </p:cNvCxnSpPr>
          <p:nvPr/>
        </p:nvCxnSpPr>
        <p:spPr>
          <a:xfrm>
            <a:off x="10270655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64ECB6A-A365-9343-87D6-006E4C7073F1}"/>
              </a:ext>
            </a:extLst>
          </p:cNvPr>
          <p:cNvCxnSpPr>
            <a:cxnSpLocks/>
          </p:cNvCxnSpPr>
          <p:nvPr/>
        </p:nvCxnSpPr>
        <p:spPr>
          <a:xfrm>
            <a:off x="10400195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F432C32-A6B3-8E4F-ABE2-5E3C7ECEFD8B}"/>
              </a:ext>
            </a:extLst>
          </p:cNvPr>
          <p:cNvCxnSpPr>
            <a:cxnSpLocks/>
          </p:cNvCxnSpPr>
          <p:nvPr/>
        </p:nvCxnSpPr>
        <p:spPr>
          <a:xfrm>
            <a:off x="10538048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CE01E0B-8573-DD4B-BAF4-F30912DD6844}"/>
              </a:ext>
            </a:extLst>
          </p:cNvPr>
          <p:cNvCxnSpPr>
            <a:cxnSpLocks/>
          </p:cNvCxnSpPr>
          <p:nvPr/>
        </p:nvCxnSpPr>
        <p:spPr>
          <a:xfrm>
            <a:off x="10682828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E9206AB-36D1-3A4C-BA2A-DD6459312DE4}"/>
              </a:ext>
            </a:extLst>
          </p:cNvPr>
          <p:cNvCxnSpPr>
            <a:cxnSpLocks/>
          </p:cNvCxnSpPr>
          <p:nvPr/>
        </p:nvCxnSpPr>
        <p:spPr>
          <a:xfrm>
            <a:off x="10819988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A8B2A1C-EDD7-9942-8A6E-F2A942F0E9B9}"/>
              </a:ext>
            </a:extLst>
          </p:cNvPr>
          <p:cNvCxnSpPr>
            <a:cxnSpLocks/>
          </p:cNvCxnSpPr>
          <p:nvPr/>
        </p:nvCxnSpPr>
        <p:spPr>
          <a:xfrm>
            <a:off x="10949528" y="39085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1462180-95AE-B948-B77C-B911C66A4344}"/>
              </a:ext>
            </a:extLst>
          </p:cNvPr>
          <p:cNvCxnSpPr>
            <a:cxnSpLocks/>
          </p:cNvCxnSpPr>
          <p:nvPr/>
        </p:nvCxnSpPr>
        <p:spPr>
          <a:xfrm>
            <a:off x="11079068" y="39231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BD64A4F-1779-1341-8851-D13523F8FB1D}"/>
              </a:ext>
            </a:extLst>
          </p:cNvPr>
          <p:cNvCxnSpPr/>
          <p:nvPr/>
        </p:nvCxnSpPr>
        <p:spPr>
          <a:xfrm>
            <a:off x="5591979" y="4096928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B1934176-E925-C949-A540-EFB4AF18F3FF}"/>
              </a:ext>
            </a:extLst>
          </p:cNvPr>
          <p:cNvSpPr txBox="1"/>
          <p:nvPr/>
        </p:nvSpPr>
        <p:spPr>
          <a:xfrm>
            <a:off x="5392358" y="373843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1C97CFB-A2EF-3541-82B3-BA7EB697D403}"/>
              </a:ext>
            </a:extLst>
          </p:cNvPr>
          <p:cNvSpPr txBox="1"/>
          <p:nvPr/>
        </p:nvSpPr>
        <p:spPr>
          <a:xfrm>
            <a:off x="5392358" y="405645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E9F1BD6-E8B0-1748-9DA6-023C5BE21998}"/>
              </a:ext>
            </a:extLst>
          </p:cNvPr>
          <p:cNvSpPr txBox="1"/>
          <p:nvPr/>
        </p:nvSpPr>
        <p:spPr>
          <a:xfrm>
            <a:off x="11224386" y="405330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51A94-E629-CD40-97F0-ABB7C0E85003}"/>
              </a:ext>
            </a:extLst>
          </p:cNvPr>
          <p:cNvSpPr txBox="1"/>
          <p:nvPr/>
        </p:nvSpPr>
        <p:spPr>
          <a:xfrm>
            <a:off x="11225499" y="37389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CFA2F973-85A9-1D4B-903E-BF119EB5F2F2}"/>
              </a:ext>
            </a:extLst>
          </p:cNvPr>
          <p:cNvSpPr/>
          <p:nvPr/>
        </p:nvSpPr>
        <p:spPr>
          <a:xfrm>
            <a:off x="8488773" y="382345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3966A459-F40C-F045-B5DA-70AF602C9481}"/>
              </a:ext>
            </a:extLst>
          </p:cNvPr>
          <p:cNvSpPr/>
          <p:nvPr/>
        </p:nvSpPr>
        <p:spPr>
          <a:xfrm>
            <a:off x="6706367" y="433870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FAEDE10-DBAC-4741-B154-FA0EAA78581B}"/>
              </a:ext>
            </a:extLst>
          </p:cNvPr>
          <p:cNvSpPr/>
          <p:nvPr/>
        </p:nvSpPr>
        <p:spPr>
          <a:xfrm>
            <a:off x="7116815" y="43252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325F4D9-B558-9B4B-AFE8-4C5BF145B226}"/>
              </a:ext>
            </a:extLst>
          </p:cNvPr>
          <p:cNvSpPr/>
          <p:nvPr/>
        </p:nvSpPr>
        <p:spPr>
          <a:xfrm>
            <a:off x="7536180" y="4326814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DE6167DE-AE58-BB4F-8246-4DB0B22709E5}"/>
              </a:ext>
            </a:extLst>
          </p:cNvPr>
          <p:cNvSpPr/>
          <p:nvPr/>
        </p:nvSpPr>
        <p:spPr>
          <a:xfrm>
            <a:off x="7934368" y="43252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A05399E-822C-314A-B575-3BA42AD4AC93}"/>
              </a:ext>
            </a:extLst>
          </p:cNvPr>
          <p:cNvGrpSpPr/>
          <p:nvPr/>
        </p:nvGrpSpPr>
        <p:grpSpPr>
          <a:xfrm>
            <a:off x="8308639" y="3431406"/>
            <a:ext cx="2518671" cy="793133"/>
            <a:chOff x="8308639" y="3431406"/>
            <a:chExt cx="2518671" cy="793133"/>
          </a:xfrm>
        </p:grpSpPr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98D5E6F9-EB37-6549-94AC-1CB114A0683B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BF4AA9D-319E-F54F-B188-A977C8C01DB9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3279C36-2BC2-1C40-8F86-D5D639F35896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D0D6FC2-A692-064F-B71E-AF38760EC122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B94C21-BD49-0A48-B2C1-0B4D88ADCFA3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0DF751C-7DBC-CB48-B1AB-2E91081EEAA9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5F3E2C7-2744-C04F-9CAA-EA2E8D331AF1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4CA7327-020A-F24C-91A0-E22A413D135D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A2DCF1A-5F71-5B49-9D99-A72C211B86C6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29" name="Freeform 128">
            <a:extLst>
              <a:ext uri="{FF2B5EF4-FFF2-40B4-BE49-F238E27FC236}">
                <a16:creationId xmlns:a16="http://schemas.microsoft.com/office/drawing/2014/main" id="{B1515E19-3718-7D46-8291-3045F4AAC3EE}"/>
              </a:ext>
            </a:extLst>
          </p:cNvPr>
          <p:cNvSpPr/>
          <p:nvPr/>
        </p:nvSpPr>
        <p:spPr>
          <a:xfrm rot="20361174" flipV="1">
            <a:off x="8250201" y="4521727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0279E90D-F14F-3D4B-AAA8-0240AA44FAEF}"/>
              </a:ext>
            </a:extLst>
          </p:cNvPr>
          <p:cNvSpPr/>
          <p:nvPr/>
        </p:nvSpPr>
        <p:spPr>
          <a:xfrm rot="20361174" flipV="1">
            <a:off x="7778563" y="45834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5E5A0974-9BFD-4849-BD33-82FF5E8557ED}"/>
              </a:ext>
            </a:extLst>
          </p:cNvPr>
          <p:cNvSpPr/>
          <p:nvPr/>
        </p:nvSpPr>
        <p:spPr>
          <a:xfrm rot="9967244" flipV="1">
            <a:off x="7393245" y="4297934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7FDE7CF-26EF-D041-9020-611BE55EF96D}"/>
              </a:ext>
            </a:extLst>
          </p:cNvPr>
          <p:cNvSpPr/>
          <p:nvPr/>
        </p:nvSpPr>
        <p:spPr>
          <a:xfrm rot="20361174" flipV="1">
            <a:off x="6966106" y="45834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ABD7915-0CFB-2B40-A032-00F56C3B775D}"/>
              </a:ext>
            </a:extLst>
          </p:cNvPr>
          <p:cNvSpPr txBox="1"/>
          <p:nvPr/>
        </p:nvSpPr>
        <p:spPr>
          <a:xfrm>
            <a:off x="4205437" y="4804459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b="1" dirty="0"/>
              <a:t>Fig. 2 </a:t>
            </a:r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ZFN.</a:t>
            </a:r>
            <a:endParaRPr kumimoji="1" lang="en-US" altLang="zh-CN" sz="1400" dirty="0"/>
          </a:p>
        </p:txBody>
      </p:sp>
      <p:sp>
        <p:nvSpPr>
          <p:cNvPr id="1024" name="Lightning Bolt 1023">
            <a:extLst>
              <a:ext uri="{FF2B5EF4-FFF2-40B4-BE49-F238E27FC236}">
                <a16:creationId xmlns:a16="http://schemas.microsoft.com/office/drawing/2014/main" id="{038DC9A1-1DE9-084C-9250-EF79E80B2E0E}"/>
              </a:ext>
            </a:extLst>
          </p:cNvPr>
          <p:cNvSpPr/>
          <p:nvPr/>
        </p:nvSpPr>
        <p:spPr>
          <a:xfrm flipH="1">
            <a:off x="8781963" y="3241008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340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2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CN" altLang="zh-CN" sz="3200" dirty="0"/>
              <a:t>Problems of ZFN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4100F9F-2017-C845-942C-6B0D281529BE}"/>
              </a:ext>
            </a:extLst>
          </p:cNvPr>
          <p:cNvSpPr txBox="1"/>
          <p:nvPr/>
        </p:nvSpPr>
        <p:spPr>
          <a:xfrm>
            <a:off x="325821" y="1048925"/>
            <a:ext cx="8189529" cy="4892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amino acids map to 3 bp (a triplet)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triplets: 4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3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= 64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arangements of amino acids: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= …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</a:t>
            </a:r>
            <a:r>
              <a:rPr kumimoji="1" lang="zh-CN" altLang="en-US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1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high complexity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could be very hard to select 64 correct arangements from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options.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 fact,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remains challenging to create zinc-finger domains that can effectively recognize all DNA triplets.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2: lack of target flexibility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Must find a triplet that can be targeted near targeted sites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3: expensive and difficult to build zinc-finger arrays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Sequence design, transfection, expression, purify, delivery…</a:t>
            </a:r>
          </a:p>
        </p:txBody>
      </p:sp>
    </p:spTree>
    <p:extLst>
      <p:ext uri="{BB962C8B-B14F-4D97-AF65-F5344CB8AC3E}">
        <p14:creationId xmlns:p14="http://schemas.microsoft.com/office/powerpoint/2010/main" val="305004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2282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TALEN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i="1" dirty="0"/>
              <a:t>TODO</a:t>
            </a:r>
            <a:endParaRPr kumimoji="1" lang="en-US" altLang="zh-CN" i="1" dirty="0"/>
          </a:p>
        </p:txBody>
      </p:sp>
    </p:spTree>
    <p:extLst>
      <p:ext uri="{BB962C8B-B14F-4D97-AF65-F5344CB8AC3E}">
        <p14:creationId xmlns:p14="http://schemas.microsoft.com/office/powerpoint/2010/main" val="1848633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2282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TALEN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i="1" dirty="0"/>
              <a:t>Pros&amp;Cons</a:t>
            </a:r>
            <a:endParaRPr kumimoji="1" lang="en-US" altLang="zh-CN" i="1" dirty="0"/>
          </a:p>
        </p:txBody>
      </p:sp>
    </p:spTree>
    <p:extLst>
      <p:ext uri="{BB962C8B-B14F-4D97-AF65-F5344CB8AC3E}">
        <p14:creationId xmlns:p14="http://schemas.microsoft.com/office/powerpoint/2010/main" val="3628728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7681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42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Long Story Short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4B0C95-654F-104B-8135-78A3F09B8416}"/>
              </a:ext>
            </a:extLst>
          </p:cNvPr>
          <p:cNvSpPr txBox="1"/>
          <p:nvPr/>
        </p:nvSpPr>
        <p:spPr>
          <a:xfrm>
            <a:off x="5995012" y="5253907"/>
            <a:ext cx="6050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/>
              <a:t>The Twenty-Year Story of CRISPR Unfolded across Twelve Cities in Nine Countries</a:t>
            </a:r>
            <a:endParaRPr kumimoji="1" lang="zh-CN" altLang="en-US" sz="14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0EB69-FBB8-574F-8E3F-CFD1839E96DF}"/>
              </a:ext>
            </a:extLst>
          </p:cNvPr>
          <p:cNvSpPr txBox="1"/>
          <p:nvPr/>
        </p:nvSpPr>
        <p:spPr>
          <a:xfrm>
            <a:off x="325821" y="1048925"/>
            <a:ext cx="5707206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1993: </a:t>
            </a:r>
            <a:r>
              <a:rPr kumimoji="1" lang="en-US" altLang="zh-CN" sz="2000" dirty="0"/>
              <a:t>Repeated sequence separated by spacers was observed in </a:t>
            </a:r>
            <a:r>
              <a:rPr kumimoji="1" lang="en-US" altLang="zh-CN" sz="2000" i="1" dirty="0" err="1"/>
              <a:t>Haloferax</a:t>
            </a:r>
            <a:r>
              <a:rPr kumimoji="1" lang="en-US" altLang="zh-CN" sz="2000" i="1" dirty="0"/>
              <a:t> </a:t>
            </a:r>
            <a:r>
              <a:rPr kumimoji="1" lang="en-US" altLang="zh-CN" sz="2000" i="1" dirty="0" err="1"/>
              <a:t>mediterranei</a:t>
            </a:r>
            <a:r>
              <a:rPr kumimoji="1" lang="en-US" altLang="zh-CN" sz="2000" i="1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2002: CRISPR got its name - clustered regularly interspaced palindromic repeats.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2003: One spacer in </a:t>
            </a:r>
            <a:r>
              <a:rPr kumimoji="1" lang="en-US" altLang="zh-CN" sz="2000" i="1" dirty="0"/>
              <a:t>E. coli </a:t>
            </a:r>
            <a:r>
              <a:rPr kumimoji="1" lang="en-US" altLang="zh-CN" sz="2000" dirty="0"/>
              <a:t>was found</a:t>
            </a:r>
            <a:r>
              <a:rPr kumimoji="1" lang="en-US" altLang="zh-CN" sz="2000" i="1" dirty="0"/>
              <a:t> to</a:t>
            </a:r>
            <a:r>
              <a:rPr kumimoji="1" lang="en-US" altLang="zh-CN" sz="2000" dirty="0"/>
              <a:t> match the sequence of a P1 phage.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2006: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Experiments showed that Cas9 was necessary for phage resistance in </a:t>
            </a:r>
            <a:r>
              <a:rPr kumimoji="1" lang="en-US" altLang="zh-CN" sz="2000" i="1" dirty="0"/>
              <a:t>S. thermophilus.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2008: First artificial CRISPR arrays were performed in </a:t>
            </a:r>
            <a:r>
              <a:rPr kumimoji="1" lang="en-US" altLang="zh-CN" sz="2000" i="1" dirty="0"/>
              <a:t>E. coli.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i="1" dirty="0"/>
              <a:t>…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E6BC10-5ED6-4341-9F38-77E6E63AB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027" y="1392865"/>
            <a:ext cx="5974089" cy="380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4278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1461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Quick Facts about CRISPR/Cas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Composition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0476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4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Components of CRISPR/Cas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Composition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1641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8719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 as an Adaptive Immune System in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lang="en-US" sz="32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Prokaryotes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dirty="0"/>
              <a:t>Primary immune response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9697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8719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CRISPR/Cas as an Adaptive Immune System in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lang="en-US" sz="32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Prokaryotes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dirty="0"/>
              <a:t>Secondary immune response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1597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CRISPR/Cas-derived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1785770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986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Engineer CRISPR/Cas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5628411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i="1" dirty="0"/>
              <a:t>TODO</a:t>
            </a:r>
            <a:endParaRPr kumimoji="1" lang="en-US" altLang="zh-CN" i="1" dirty="0"/>
          </a:p>
        </p:txBody>
      </p:sp>
    </p:spTree>
    <p:extLst>
      <p:ext uri="{BB962C8B-B14F-4D97-AF65-F5344CB8AC3E}">
        <p14:creationId xmlns:p14="http://schemas.microsoft.com/office/powerpoint/2010/main" val="571569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82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Nucleases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70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213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53238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66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Transposes/Recombinases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6725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410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Prime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Prime Editors</a:t>
              </a:r>
              <a:endParaRPr kumimoji="1" lang="zh-CN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72059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 to Date: Applications</a:t>
            </a:r>
          </a:p>
        </p:txBody>
      </p:sp>
    </p:spTree>
    <p:extLst>
      <p:ext uri="{BB962C8B-B14F-4D97-AF65-F5344CB8AC3E}">
        <p14:creationId xmlns:p14="http://schemas.microsoft.com/office/powerpoint/2010/main" val="2865424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i="1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0486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C99A35-03CA-AA4C-97B4-F65563637F41}"/>
              </a:ext>
            </a:extLst>
          </p:cNvPr>
          <p:cNvSpPr txBox="1"/>
          <p:nvPr/>
        </p:nvSpPr>
        <p:spPr>
          <a:xfrm>
            <a:off x="862148" y="1240971"/>
            <a:ext cx="1113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Lander ES. The Heroes of CRISPR. Cell. 2016 Jan 14;164(1-2):18-28.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: 10.1016/j.cell.2015.12.041. PMID: 26771483.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6808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B2C29-6C36-CC44-A825-1EB7BA0CADF3}"/>
              </a:ext>
            </a:extLst>
          </p:cNvPr>
          <p:cNvSpPr txBox="1"/>
          <p:nvPr/>
        </p:nvSpPr>
        <p:spPr>
          <a:xfrm>
            <a:off x="2399176" y="2875002"/>
            <a:ext cx="58100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600" dirty="0"/>
              <a:t>Thank</a:t>
            </a:r>
            <a:r>
              <a:rPr kumimoji="1" lang="zh-CN" altLang="en-US" sz="6600" dirty="0"/>
              <a:t> </a:t>
            </a:r>
            <a:r>
              <a:rPr kumimoji="1" lang="en-US" altLang="zh-CN" sz="6600" dirty="0"/>
              <a:t>you!</a:t>
            </a:r>
            <a:endParaRPr kumimoji="1" lang="zh-CN" altLang="en-US" sz="6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235D95-BECE-4440-B239-5795A3025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36" y="2585468"/>
            <a:ext cx="1854887" cy="168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18096</TotalTime>
  <Words>636</Words>
  <Application>Microsoft Macintosh PowerPoint</Application>
  <PresentationFormat>Widescreen</PresentationFormat>
  <Paragraphs>153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BlinkMacSystemFont</vt:lpstr>
      <vt:lpstr>system-ui</vt:lpstr>
      <vt:lpstr>Arial</vt:lpstr>
      <vt:lpstr>Calibri</vt:lpstr>
      <vt:lpstr>Calibri Light</vt:lpstr>
      <vt:lpstr>Wingdings</vt:lpstr>
      <vt:lpstr>Office Theme</vt:lpstr>
      <vt:lpstr>Genome Editing with CRISPR/Cas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刘 沛雨</cp:lastModifiedBy>
  <cp:revision>470</cp:revision>
  <dcterms:created xsi:type="dcterms:W3CDTF">2024-09-08T14:28:50Z</dcterms:created>
  <dcterms:modified xsi:type="dcterms:W3CDTF">2025-04-01T11:38:47Z</dcterms:modified>
</cp:coreProperties>
</file>