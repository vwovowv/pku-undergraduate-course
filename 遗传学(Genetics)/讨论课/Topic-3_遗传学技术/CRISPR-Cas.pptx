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7"/>
  </p:notesMasterIdLst>
  <p:sldIdLst>
    <p:sldId id="425" r:id="rId2"/>
    <p:sldId id="448" r:id="rId3"/>
    <p:sldId id="457" r:id="rId4"/>
    <p:sldId id="480" r:id="rId5"/>
    <p:sldId id="462" r:id="rId6"/>
    <p:sldId id="469" r:id="rId7"/>
    <p:sldId id="463" r:id="rId8"/>
    <p:sldId id="470" r:id="rId9"/>
    <p:sldId id="479" r:id="rId10"/>
    <p:sldId id="452" r:id="rId11"/>
    <p:sldId id="476" r:id="rId12"/>
    <p:sldId id="459" r:id="rId13"/>
    <p:sldId id="460" r:id="rId14"/>
    <p:sldId id="468" r:id="rId15"/>
    <p:sldId id="464" r:id="rId16"/>
    <p:sldId id="471" r:id="rId17"/>
    <p:sldId id="466" r:id="rId18"/>
    <p:sldId id="472" r:id="rId19"/>
    <p:sldId id="473" r:id="rId20"/>
    <p:sldId id="474" r:id="rId21"/>
    <p:sldId id="475" r:id="rId22"/>
    <p:sldId id="465" r:id="rId23"/>
    <p:sldId id="467" r:id="rId24"/>
    <p:sldId id="449" r:id="rId25"/>
    <p:sldId id="277" r:id="rId26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E79"/>
    <a:srgbClr val="D83949"/>
    <a:srgbClr val="99FFCC"/>
    <a:srgbClr val="032F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80"/>
    <p:restoredTop sz="81072"/>
  </p:normalViewPr>
  <p:slideViewPr>
    <p:cSldViewPr snapToGrid="0" snapToObjects="1">
      <p:cViewPr varScale="1">
        <p:scale>
          <a:sx n="108" d="100"/>
          <a:sy n="108" d="100"/>
        </p:scale>
        <p:origin x="80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6D7121-F3D1-7F44-B365-80E67D71FC67}" type="datetimeFigureOut">
              <a:rPr kumimoji="1" lang="zh-CN" altLang="en-US" smtClean="0"/>
              <a:t>2025/4/1</a:t>
            </a:fld>
            <a:endParaRPr kumimoji="1"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BB1C4C-66EF-0F4C-B7A3-FECCA39F5A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26903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563844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885072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33CB2-1833-6446-A58B-BEBE6542E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AFFF91-2EF8-A14C-8D6E-2B415D670A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0FBB7F-1F1F-3041-8F34-551E53C23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AE151-E8A8-E941-8185-5C82CF767F1D}" type="datetime1">
              <a:rPr lang="en-US" altLang="zh-CN" smtClean="0"/>
              <a:t>4/1/25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ECDE26-F415-E744-8334-737A7B9DD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480306-4003-1944-95E0-41599C6BB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4813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94003-1CF9-4C49-A837-08724456D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B51C4-2549-FC4F-BDA5-F5A602F3FA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2E324-444F-9548-B027-17ACC2FC5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18BB-4624-F549-B5B2-F3A6AFBD1386}" type="datetime1">
              <a:rPr lang="en-US" altLang="zh-CN" smtClean="0"/>
              <a:t>4/1/25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2DBAA2-8C85-9745-85A2-B41016CB6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870CA-67CB-D947-B79B-24FC521BB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5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ED370-A91D-7A4D-ADC1-8DB123A08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E5780B-CE87-3A4B-A7D2-4A7F24DF55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33DD42-A223-9545-ADF3-BC52370E0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A6DC0-7002-3D41-871E-6A46BD026AD7}" type="datetime1">
              <a:rPr lang="en-US" altLang="zh-CN" smtClean="0"/>
              <a:t>4/1/25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AD4323-9031-DC47-8A94-A29335B17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50D6BC-9512-A841-B1C3-7903D18E8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7936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50F54-9BA1-B247-9E3B-D4E932B44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711D2-B35F-3F47-A8AB-22CE38A25C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08E9B7-C6E3-AC4A-803D-9E61265A92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AAC729-0C67-9342-95AD-9C732DB49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825FD-0353-D24E-92F3-965EF60F178F}" type="datetime1">
              <a:rPr lang="en-US" altLang="zh-CN" smtClean="0"/>
              <a:t>4/1/25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5E346A-9DE9-E145-BECE-596797C09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56A837-D9D0-6146-AEC5-C35121FB6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2564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F5876-C723-9744-BF58-EFB872D56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335E38-1170-5149-A855-7CBDCBFD20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B2E9E2-0892-F446-8EC6-B8B00DE8A9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D4CB34-5AEB-F54E-AFF0-B66A8CD4F7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2C53D7-FBC1-1747-9350-41EBBB255E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6BB04-91F7-B241-B009-701C0A537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CEAC0-DAA0-0541-99E4-1F63993A26F9}" type="datetime1">
              <a:rPr lang="en-US" altLang="zh-CN" smtClean="0"/>
              <a:t>4/1/25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127985-26B7-5741-8D93-99E60FE60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363637-43DC-C54C-984F-098B7918A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438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D1EDF-179A-0C49-895A-2CEEB3A8C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567691-EB33-0242-A864-323F5DEF0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33E27-1ED9-E544-9569-1A5FBD27B944}" type="datetime1">
              <a:rPr lang="en-US" altLang="zh-CN" smtClean="0"/>
              <a:t>4/1/25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541A9A-DE87-6E45-9DE0-DABFF5C09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1888DC-681B-1341-9420-5B9598774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746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17ED2C-2CF1-ED42-BEDB-CF3138B19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60A5F-ABE0-614A-B33A-5093099DA492}" type="datetime1">
              <a:rPr lang="en-US" altLang="zh-CN" smtClean="0"/>
              <a:t>4/1/25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F62B63-CB01-1C43-8129-3486B4900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3F36FC-3BEE-8C41-81C3-F2D77D532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4734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70CC0-08A9-9843-8945-D77059896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B4A4E-73BF-9944-9344-6B1CF5C143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A32A37-9369-7448-9ABE-B54AD56AFD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F141C0-2267-0244-BE62-A04B3A4DE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904D2-8032-424F-9989-3BB75492C9F0}" type="datetime1">
              <a:rPr lang="en-US" altLang="zh-CN" smtClean="0"/>
              <a:t>4/1/25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A8F276-CF22-8A4E-9CB9-B2EF60F43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7D4CAB-D56F-454F-9F7A-5354596D1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7053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90B6A-D032-8D48-AD3C-703F016DE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F44685-8048-A147-9613-C2895F7AB4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D4F0BB-CBF4-D849-8CEE-9C459734D1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C86F97-06C9-F340-9B2C-E83F51504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F47BD-DA07-B84C-B18C-005716E52A11}" type="datetime1">
              <a:rPr lang="en-US" altLang="zh-CN" smtClean="0"/>
              <a:t>4/1/25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DB4FC2-462A-8847-B71A-17754A9C1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1E4660-7CD5-BF45-A535-740346E82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4909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DAEC2-52BA-024C-8C6C-BED550CB0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EE96FE-CB14-1B4A-85E1-5E8513611B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1F4636-F688-CE46-B139-313977579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D6F0F-E760-474C-BA47-96878804B47C}" type="datetime1">
              <a:rPr lang="en-US" altLang="zh-CN" smtClean="0"/>
              <a:t>4/1/25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DA7477-485C-4A4E-A893-61CFDB41F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933B9-FD9F-1C40-89F4-1C7EAA8D0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4158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975246-F61B-A441-9874-62E1854824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BF60BD-3BDF-7945-A4E7-1F5DF859A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A51581-7D0A-CE4B-AA9F-4C887158A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12ADF-8BB3-CA4D-A291-1FC4FDC229F1}" type="datetime1">
              <a:rPr lang="en-US" altLang="zh-CN" smtClean="0"/>
              <a:t>4/1/25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AE9E29-8E4E-C14A-8B17-5566A0F0C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DB503-7F83-9649-BA45-24F26623E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1586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C6C6EE-F9D2-6148-A0B0-FA9944B3B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5F61F9-840F-D740-95CA-FD5EE46D3C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BB176A-AC6F-F140-B22E-3EF286D94E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F95BF6-8395-B948-A565-36B08AC42D31}" type="datetime1">
              <a:rPr lang="en-US" altLang="zh-CN" smtClean="0"/>
              <a:t>4/1/25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98B022-53E5-1F49-B0C5-55161277A5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DB7C76-189B-1F4E-96DB-3B5B837333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797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F53F7-14A7-E740-B5E2-36C20736F2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80787"/>
            <a:ext cx="9144000" cy="2387600"/>
          </a:xfrm>
        </p:spPr>
        <p:txBody>
          <a:bodyPr>
            <a:noAutofit/>
          </a:bodyPr>
          <a:lstStyle/>
          <a:p>
            <a:r>
              <a:rPr lang="en-US" sz="4000" b="1" dirty="0"/>
              <a:t>Genome Editing with CRISPR/Cas System</a:t>
            </a:r>
          </a:p>
        </p:txBody>
      </p:sp>
    </p:spTree>
    <p:extLst>
      <p:ext uri="{BB962C8B-B14F-4D97-AF65-F5344CB8AC3E}">
        <p14:creationId xmlns:p14="http://schemas.microsoft.com/office/powerpoint/2010/main" val="27062496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14205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Outline</a:t>
            </a:r>
            <a:endParaRPr kumimoji="1" lang="zh-CN" altLang="en-US" sz="3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86B7C4-301B-EC44-9432-0558C55E4E1B}"/>
              </a:ext>
            </a:extLst>
          </p:cNvPr>
          <p:cNvSpPr txBox="1"/>
          <p:nvPr/>
        </p:nvSpPr>
        <p:spPr>
          <a:xfrm>
            <a:off x="415516" y="1048925"/>
            <a:ext cx="4600984" cy="5630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1" lang="en-US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Introduction to Genome Editing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Introduction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ZFN, TALEN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Introduction to CRISPR/Cas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Introduction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Classification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Mechanism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CRISPR/Cas-derived Genome Editing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Nucleases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Base editors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Transposases/recombinases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Prime editors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CRISPR/Cas to Date: Applications</a:t>
            </a:r>
            <a:endParaRPr kumimoji="1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0D2BA3B-5773-3E45-93E7-C4286E26D9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500" y="3636313"/>
            <a:ext cx="2573141" cy="235397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FBCE768-19A5-484E-A734-91358450A7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9586" y="3636313"/>
            <a:ext cx="2573141" cy="2353978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B2CE2F46-28B1-1A47-A89A-3C6305D5AF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7195" y="1617158"/>
            <a:ext cx="5584024" cy="1088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14BB06D-7FFC-2A4B-BA40-7A99C52B99C1}"/>
              </a:ext>
            </a:extLst>
          </p:cNvPr>
          <p:cNvCxnSpPr>
            <a:stCxn id="1026" idx="2"/>
          </p:cNvCxnSpPr>
          <p:nvPr/>
        </p:nvCxnSpPr>
        <p:spPr>
          <a:xfrm>
            <a:off x="8279207" y="2705607"/>
            <a:ext cx="0" cy="68529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53249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A090842-1323-DF41-83EF-BD22BD676106}"/>
              </a:ext>
            </a:extLst>
          </p:cNvPr>
          <p:cNvSpPr txBox="1">
            <a:spLocks/>
          </p:cNvSpPr>
          <p:nvPr/>
        </p:nvSpPr>
        <p:spPr>
          <a:xfrm>
            <a:off x="1524000" y="3183741"/>
            <a:ext cx="9144000" cy="70427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/>
              <a:t>Introduction </a:t>
            </a:r>
            <a:r>
              <a:rPr kumimoji="1" lang="en-US" altLang="zh-CN" sz="4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to Genome Editing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20382551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28540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Genome Editing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4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5CDEA0-63AA-8942-8FB1-8E48524D0D9B}"/>
              </a:ext>
            </a:extLst>
          </p:cNvPr>
          <p:cNvSpPr txBox="1"/>
          <p:nvPr/>
        </p:nvSpPr>
        <p:spPr>
          <a:xfrm>
            <a:off x="325821" y="1048925"/>
            <a:ext cx="6341679" cy="51738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CN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Goals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CN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High </a:t>
            </a:r>
            <a:r>
              <a:rPr kumimoji="1" lang="en-CN" altLang="zh-CN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precision</a:t>
            </a:r>
            <a:r>
              <a:rPr kumimoji="1" lang="en-CN" altLang="zh-CN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: all sites edited are targeted sites</a:t>
            </a:r>
            <a:endParaRPr kumimoji="1" lang="en-CN" altLang="zh-CN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CN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High </a:t>
            </a:r>
            <a:r>
              <a:rPr kumimoji="1" lang="en-CN" altLang="zh-CN" i="1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recall</a:t>
            </a:r>
            <a:r>
              <a:rPr kumimoji="1" lang="en-CN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: </a:t>
            </a:r>
            <a:r>
              <a:rPr kumimoji="1" lang="en-CN" altLang="zh-CN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all targeted sites are edited</a:t>
            </a:r>
            <a:endParaRPr kumimoji="1" lang="en-CN" altLang="zh-CN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sz="2000" dirty="0"/>
              <a:t>Methods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Zinc-finger nucleases (</a:t>
            </a:r>
            <a:r>
              <a:rPr kumimoji="1" lang="en-CN" altLang="zh-CN" dirty="0"/>
              <a:t>ZFN)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Transcription activator-like effector nucleases (TALENs)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CRISPR/Cas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sz="2000" dirty="0"/>
              <a:t>Possible outcomes (Fig. 1)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Indels introduced by DSB-induced NHEJ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Gene recombination introduced by DSB-induced HDR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Other non-DSB-induced outcomes (e.g., base editing without DSBs)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EA025E-B79A-A047-8938-087FB20F70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0" y="1435482"/>
            <a:ext cx="5482730" cy="35357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11D1F86-35E4-9940-8ACE-71E6E87BFB7E}"/>
              </a:ext>
            </a:extLst>
          </p:cNvPr>
          <p:cNvSpPr txBox="1"/>
          <p:nvPr/>
        </p:nvSpPr>
        <p:spPr>
          <a:xfrm>
            <a:off x="6980859" y="4984396"/>
            <a:ext cx="493588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b="1" dirty="0"/>
              <a:t>Fig. 1</a:t>
            </a:r>
            <a:r>
              <a:rPr kumimoji="1" lang="en-US" altLang="zh-CN" sz="1400" dirty="0"/>
              <a:t> DSB-induced genome-editing outcomes.</a:t>
            </a:r>
          </a:p>
          <a:p>
            <a:r>
              <a:rPr kumimoji="1" lang="en-US" altLang="zh-CN" sz="1400" b="1" dirty="0"/>
              <a:t>A</a:t>
            </a:r>
            <a:r>
              <a:rPr kumimoji="1" lang="en-US" altLang="zh-CN" sz="1400" dirty="0"/>
              <a:t>. Indels and inversion introduced by NHEJ in the absence of a homologous donor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template DNA. </a:t>
            </a:r>
            <a:r>
              <a:rPr kumimoji="1" lang="en-US" altLang="zh-CN" sz="1400" b="1" dirty="0"/>
              <a:t>B</a:t>
            </a:r>
            <a:r>
              <a:rPr kumimoji="1" lang="en-US" altLang="zh-CN" sz="1400" dirty="0"/>
              <a:t>. Recombination introduced by HDR in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the presence of the donor DNA.</a:t>
            </a:r>
          </a:p>
        </p:txBody>
      </p:sp>
    </p:spTree>
    <p:extLst>
      <p:ext uri="{BB962C8B-B14F-4D97-AF65-F5344CB8AC3E}">
        <p14:creationId xmlns:p14="http://schemas.microsoft.com/office/powerpoint/2010/main" val="30821835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8306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ZFN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5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95DCF65-93BB-9C4B-A7D6-A30D1F6F2B65}"/>
              </a:ext>
            </a:extLst>
          </p:cNvPr>
          <p:cNvGrpSpPr/>
          <p:nvPr/>
        </p:nvGrpSpPr>
        <p:grpSpPr>
          <a:xfrm>
            <a:off x="-1" y="6393850"/>
            <a:ext cx="12192001" cy="464150"/>
            <a:chOff x="2650603" y="6393850"/>
            <a:chExt cx="5312297" cy="46415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2A1F732-659B-224D-84D3-7EE3E45ACF93}"/>
                </a:ext>
              </a:extLst>
            </p:cNvPr>
            <p:cNvSpPr/>
            <p:nvPr/>
          </p:nvSpPr>
          <p:spPr>
            <a:xfrm>
              <a:off x="2650603" y="6393850"/>
              <a:ext cx="2661695" cy="46415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/>
                <a:t>ZFN</a:t>
              </a:r>
              <a:endParaRPr kumimoji="1" lang="zh-CN" altLang="en-US" sz="2000" b="1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4F58786-A380-B54C-872B-11A9266BE734}"/>
                </a:ext>
              </a:extLst>
            </p:cNvPr>
            <p:cNvSpPr/>
            <p:nvPr/>
          </p:nvSpPr>
          <p:spPr>
            <a:xfrm>
              <a:off x="5312297" y="6393850"/>
              <a:ext cx="2650603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solidFill>
                    <a:schemeClr val="bg1"/>
                  </a:solidFill>
                  <a:latin typeface="Calibri" panose="020F0502020204030204"/>
                  <a:ea typeface="等线" panose="02010600030101010101" pitchFamily="2" charset="-122"/>
                </a:rPr>
                <a:t>TALEN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805CDEA0-63AA-8942-8FB1-8E48524D0D9B}"/>
              </a:ext>
            </a:extLst>
          </p:cNvPr>
          <p:cNvSpPr txBox="1"/>
          <p:nvPr/>
        </p:nvSpPr>
        <p:spPr>
          <a:xfrm>
            <a:off x="325821" y="1048925"/>
            <a:ext cx="5628411" cy="464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i="1" dirty="0"/>
              <a:t>TODO</a:t>
            </a:r>
            <a:endParaRPr kumimoji="1" lang="en-US" altLang="zh-CN" i="1" dirty="0"/>
          </a:p>
        </p:txBody>
      </p:sp>
    </p:spTree>
    <p:extLst>
      <p:ext uri="{BB962C8B-B14F-4D97-AF65-F5344CB8AC3E}">
        <p14:creationId xmlns:p14="http://schemas.microsoft.com/office/powerpoint/2010/main" val="42034016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8306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ZFN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6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95DCF65-93BB-9C4B-A7D6-A30D1F6F2B65}"/>
              </a:ext>
            </a:extLst>
          </p:cNvPr>
          <p:cNvGrpSpPr/>
          <p:nvPr/>
        </p:nvGrpSpPr>
        <p:grpSpPr>
          <a:xfrm>
            <a:off x="-1" y="6393850"/>
            <a:ext cx="12192001" cy="464150"/>
            <a:chOff x="2650603" y="6393850"/>
            <a:chExt cx="5312297" cy="46415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2A1F732-659B-224D-84D3-7EE3E45ACF93}"/>
                </a:ext>
              </a:extLst>
            </p:cNvPr>
            <p:cNvSpPr/>
            <p:nvPr/>
          </p:nvSpPr>
          <p:spPr>
            <a:xfrm>
              <a:off x="2650603" y="6393850"/>
              <a:ext cx="2661695" cy="46415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/>
                <a:t>ZFN</a:t>
              </a:r>
              <a:endParaRPr kumimoji="1" lang="zh-CN" altLang="en-US" sz="2000" b="1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4F58786-A380-B54C-872B-11A9266BE734}"/>
                </a:ext>
              </a:extLst>
            </p:cNvPr>
            <p:cNvSpPr/>
            <p:nvPr/>
          </p:nvSpPr>
          <p:spPr>
            <a:xfrm>
              <a:off x="5312297" y="6393850"/>
              <a:ext cx="2650603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solidFill>
                    <a:schemeClr val="bg1"/>
                  </a:solidFill>
                  <a:latin typeface="Calibri" panose="020F0502020204030204"/>
                  <a:ea typeface="等线" panose="02010600030101010101" pitchFamily="2" charset="-122"/>
                </a:rPr>
                <a:t>TALEN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805CDEA0-63AA-8942-8FB1-8E48524D0D9B}"/>
              </a:ext>
            </a:extLst>
          </p:cNvPr>
          <p:cNvSpPr txBox="1"/>
          <p:nvPr/>
        </p:nvSpPr>
        <p:spPr>
          <a:xfrm>
            <a:off x="325821" y="1048925"/>
            <a:ext cx="5628411" cy="464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i="1" dirty="0"/>
              <a:t>Pros&amp;Cons</a:t>
            </a:r>
            <a:endParaRPr kumimoji="1" lang="en-US" altLang="zh-CN" i="1" dirty="0"/>
          </a:p>
        </p:txBody>
      </p:sp>
    </p:spTree>
    <p:extLst>
      <p:ext uri="{BB962C8B-B14F-4D97-AF65-F5344CB8AC3E}">
        <p14:creationId xmlns:p14="http://schemas.microsoft.com/office/powerpoint/2010/main" val="4318999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12282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TALEN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7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95DCF65-93BB-9C4B-A7D6-A30D1F6F2B65}"/>
              </a:ext>
            </a:extLst>
          </p:cNvPr>
          <p:cNvGrpSpPr/>
          <p:nvPr/>
        </p:nvGrpSpPr>
        <p:grpSpPr>
          <a:xfrm>
            <a:off x="-1" y="6393850"/>
            <a:ext cx="12192001" cy="464150"/>
            <a:chOff x="2650603" y="6393850"/>
            <a:chExt cx="5312297" cy="464150"/>
          </a:xfrm>
          <a:solidFill>
            <a:schemeClr val="accent5"/>
          </a:solidFill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2A1F732-659B-224D-84D3-7EE3E45ACF93}"/>
                </a:ext>
              </a:extLst>
            </p:cNvPr>
            <p:cNvSpPr/>
            <p:nvPr/>
          </p:nvSpPr>
          <p:spPr>
            <a:xfrm>
              <a:off x="2650603" y="6393850"/>
              <a:ext cx="2661695" cy="46415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ZFN</a:t>
              </a:r>
              <a:endParaRPr kumimoji="1" lang="zh-CN" altLang="en-US" sz="2000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4F58786-A380-B54C-872B-11A9266BE734}"/>
                </a:ext>
              </a:extLst>
            </p:cNvPr>
            <p:cNvSpPr/>
            <p:nvPr/>
          </p:nvSpPr>
          <p:spPr>
            <a:xfrm>
              <a:off x="5312297" y="6393850"/>
              <a:ext cx="2650603" cy="46415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>
                  <a:solidFill>
                    <a:schemeClr val="bg1"/>
                  </a:solidFill>
                  <a:latin typeface="Calibri" panose="020F0502020204030204"/>
                  <a:ea typeface="等线" panose="02010600030101010101" pitchFamily="2" charset="-122"/>
                </a:rPr>
                <a:t>TALEN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805CDEA0-63AA-8942-8FB1-8E48524D0D9B}"/>
              </a:ext>
            </a:extLst>
          </p:cNvPr>
          <p:cNvSpPr txBox="1"/>
          <p:nvPr/>
        </p:nvSpPr>
        <p:spPr>
          <a:xfrm>
            <a:off x="325821" y="1048925"/>
            <a:ext cx="5628411" cy="464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i="1" dirty="0"/>
              <a:t>TODO</a:t>
            </a:r>
            <a:endParaRPr kumimoji="1" lang="en-US" altLang="zh-CN" i="1" dirty="0"/>
          </a:p>
        </p:txBody>
      </p:sp>
    </p:spTree>
    <p:extLst>
      <p:ext uri="{BB962C8B-B14F-4D97-AF65-F5344CB8AC3E}">
        <p14:creationId xmlns:p14="http://schemas.microsoft.com/office/powerpoint/2010/main" val="18486335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12282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TALEN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8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95DCF65-93BB-9C4B-A7D6-A30D1F6F2B65}"/>
              </a:ext>
            </a:extLst>
          </p:cNvPr>
          <p:cNvGrpSpPr/>
          <p:nvPr/>
        </p:nvGrpSpPr>
        <p:grpSpPr>
          <a:xfrm>
            <a:off x="-1" y="6393850"/>
            <a:ext cx="12192001" cy="464150"/>
            <a:chOff x="2650603" y="6393850"/>
            <a:chExt cx="5312297" cy="464150"/>
          </a:xfrm>
          <a:solidFill>
            <a:schemeClr val="accent5"/>
          </a:solidFill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2A1F732-659B-224D-84D3-7EE3E45ACF93}"/>
                </a:ext>
              </a:extLst>
            </p:cNvPr>
            <p:cNvSpPr/>
            <p:nvPr/>
          </p:nvSpPr>
          <p:spPr>
            <a:xfrm>
              <a:off x="2650603" y="6393850"/>
              <a:ext cx="2661695" cy="46415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ZFN</a:t>
              </a:r>
              <a:endParaRPr kumimoji="1" lang="zh-CN" altLang="en-US" sz="2000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4F58786-A380-B54C-872B-11A9266BE734}"/>
                </a:ext>
              </a:extLst>
            </p:cNvPr>
            <p:cNvSpPr/>
            <p:nvPr/>
          </p:nvSpPr>
          <p:spPr>
            <a:xfrm>
              <a:off x="5312297" y="6393850"/>
              <a:ext cx="2650603" cy="46415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>
                  <a:solidFill>
                    <a:schemeClr val="bg1"/>
                  </a:solidFill>
                  <a:latin typeface="Calibri" panose="020F0502020204030204"/>
                  <a:ea typeface="等线" panose="02010600030101010101" pitchFamily="2" charset="-122"/>
                </a:rPr>
                <a:t>TALEN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805CDEA0-63AA-8942-8FB1-8E48524D0D9B}"/>
              </a:ext>
            </a:extLst>
          </p:cNvPr>
          <p:cNvSpPr txBox="1"/>
          <p:nvPr/>
        </p:nvSpPr>
        <p:spPr>
          <a:xfrm>
            <a:off x="325821" y="1048925"/>
            <a:ext cx="5628411" cy="464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i="1" dirty="0"/>
              <a:t>Pros&amp;Cons</a:t>
            </a:r>
            <a:endParaRPr kumimoji="1" lang="en-US" altLang="zh-CN" i="1" dirty="0"/>
          </a:p>
        </p:txBody>
      </p:sp>
    </p:spTree>
    <p:extLst>
      <p:ext uri="{BB962C8B-B14F-4D97-AF65-F5344CB8AC3E}">
        <p14:creationId xmlns:p14="http://schemas.microsoft.com/office/powerpoint/2010/main" val="36287288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A090842-1323-DF41-83EF-BD22BD676106}"/>
              </a:ext>
            </a:extLst>
          </p:cNvPr>
          <p:cNvSpPr txBox="1">
            <a:spLocks/>
          </p:cNvSpPr>
          <p:nvPr/>
        </p:nvSpPr>
        <p:spPr>
          <a:xfrm>
            <a:off x="1524000" y="3183741"/>
            <a:ext cx="9144000" cy="70427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/>
              <a:t>Introduction </a:t>
            </a:r>
            <a:r>
              <a:rPr kumimoji="1" lang="en-US" altLang="zh-CN" sz="4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to CRISPR/Cas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3976817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2942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Long Story Short</a:t>
            </a:r>
            <a:endParaRPr kumimoji="1" lang="zh-CN" altLang="en-US" sz="3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10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95DCF65-93BB-9C4B-A7D6-A30D1F6F2B65}"/>
              </a:ext>
            </a:extLst>
          </p:cNvPr>
          <p:cNvGrpSpPr/>
          <p:nvPr/>
        </p:nvGrpSpPr>
        <p:grpSpPr>
          <a:xfrm>
            <a:off x="0" y="6393850"/>
            <a:ext cx="12192000" cy="464151"/>
            <a:chOff x="0" y="6393850"/>
            <a:chExt cx="7962900" cy="46415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087F2F2-D715-C64B-B540-8DAC274AFED3}"/>
                </a:ext>
              </a:extLst>
            </p:cNvPr>
            <p:cNvSpPr/>
            <p:nvPr/>
          </p:nvSpPr>
          <p:spPr>
            <a:xfrm>
              <a:off x="0" y="6393851"/>
              <a:ext cx="2650603" cy="46415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000" b="1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2A1F732-659B-224D-84D3-7EE3E45ACF93}"/>
                </a:ext>
              </a:extLst>
            </p:cNvPr>
            <p:cNvSpPr/>
            <p:nvPr/>
          </p:nvSpPr>
          <p:spPr>
            <a:xfrm>
              <a:off x="2650603" y="6393850"/>
              <a:ext cx="2661695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000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4F58786-A380-B54C-872B-11A9266BE734}"/>
                </a:ext>
              </a:extLst>
            </p:cNvPr>
            <p:cNvSpPr/>
            <p:nvPr/>
          </p:nvSpPr>
          <p:spPr>
            <a:xfrm>
              <a:off x="5312297" y="6393850"/>
              <a:ext cx="2650603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000" dirty="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524B0C95-654F-104B-8135-78A3F09B8416}"/>
              </a:ext>
            </a:extLst>
          </p:cNvPr>
          <p:cNvSpPr txBox="1"/>
          <p:nvPr/>
        </p:nvSpPr>
        <p:spPr>
          <a:xfrm>
            <a:off x="5995012" y="5253907"/>
            <a:ext cx="60501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i="1" dirty="0"/>
              <a:t>The Twenty-Year Story of CRISPR Unfolded across Twelve Cities in Nine Countries</a:t>
            </a:r>
            <a:endParaRPr kumimoji="1" lang="zh-CN" altLang="en-US" sz="1400" i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E0EB69-FBB8-574F-8E3F-CFD1839E96DF}"/>
              </a:ext>
            </a:extLst>
          </p:cNvPr>
          <p:cNvSpPr txBox="1"/>
          <p:nvPr/>
        </p:nvSpPr>
        <p:spPr>
          <a:xfrm>
            <a:off x="325821" y="1048925"/>
            <a:ext cx="5707206" cy="5122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sz="2000" dirty="0"/>
              <a:t>1993: </a:t>
            </a:r>
            <a:r>
              <a:rPr kumimoji="1" lang="en-US" altLang="zh-CN" sz="2000" dirty="0"/>
              <a:t>Repeated sequence separated by spacers was observed in </a:t>
            </a:r>
            <a:r>
              <a:rPr kumimoji="1" lang="en-US" altLang="zh-CN" sz="2000" i="1" dirty="0" err="1"/>
              <a:t>Haloferax</a:t>
            </a:r>
            <a:r>
              <a:rPr kumimoji="1" lang="en-US" altLang="zh-CN" sz="2000" i="1" dirty="0"/>
              <a:t> </a:t>
            </a:r>
            <a:r>
              <a:rPr kumimoji="1" lang="en-US" altLang="zh-CN" sz="2000" i="1" dirty="0" err="1"/>
              <a:t>mediterranei</a:t>
            </a:r>
            <a:r>
              <a:rPr kumimoji="1" lang="en-US" altLang="zh-CN" sz="2000" i="1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2002: CRISPR got its name - clustered regularly interspaced palindromic repeats.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2003: One spacer in </a:t>
            </a:r>
            <a:r>
              <a:rPr kumimoji="1" lang="en-US" altLang="zh-CN" sz="2000" i="1" dirty="0"/>
              <a:t>E. coli </a:t>
            </a:r>
            <a:r>
              <a:rPr kumimoji="1" lang="en-US" altLang="zh-CN" sz="2000" dirty="0"/>
              <a:t>was found</a:t>
            </a:r>
            <a:r>
              <a:rPr kumimoji="1" lang="en-US" altLang="zh-CN" sz="2000" i="1" dirty="0"/>
              <a:t> to</a:t>
            </a:r>
            <a:r>
              <a:rPr kumimoji="1" lang="en-US" altLang="zh-CN" sz="2000" dirty="0"/>
              <a:t> match the sequence of a P1 phage.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2006: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Experiments showed that Cas9 was necessary for phage resistance in </a:t>
            </a:r>
            <a:r>
              <a:rPr kumimoji="1" lang="en-US" altLang="zh-CN" sz="2000" i="1" dirty="0"/>
              <a:t>S. thermophilus.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2008: First artificial CRISPR arrays were performed in </a:t>
            </a:r>
            <a:r>
              <a:rPr kumimoji="1" lang="en-US" altLang="zh-CN" sz="2000" i="1" dirty="0"/>
              <a:t>E. coli.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i="1" dirty="0"/>
              <a:t>…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5E6BC10-5ED6-4341-9F38-77E6E63ABE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3027" y="1392865"/>
            <a:ext cx="5974089" cy="3803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42789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51461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Quick Facts about CRISPR/Cas</a:t>
            </a:r>
            <a:endParaRPr kumimoji="1" lang="zh-CN" altLang="en-US" sz="3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11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95DCF65-93BB-9C4B-A7D6-A30D1F6F2B65}"/>
              </a:ext>
            </a:extLst>
          </p:cNvPr>
          <p:cNvGrpSpPr/>
          <p:nvPr/>
        </p:nvGrpSpPr>
        <p:grpSpPr>
          <a:xfrm>
            <a:off x="0" y="6393850"/>
            <a:ext cx="12192000" cy="464151"/>
            <a:chOff x="0" y="6393850"/>
            <a:chExt cx="7962900" cy="46415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087F2F2-D715-C64B-B540-8DAC274AFED3}"/>
                </a:ext>
              </a:extLst>
            </p:cNvPr>
            <p:cNvSpPr/>
            <p:nvPr/>
          </p:nvSpPr>
          <p:spPr>
            <a:xfrm>
              <a:off x="0" y="6393851"/>
              <a:ext cx="2650603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Introduction</a:t>
              </a:r>
              <a:endParaRPr kumimoji="1" lang="zh-CN" altLang="en-US" sz="2000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2A1F732-659B-224D-84D3-7EE3E45ACF93}"/>
                </a:ext>
              </a:extLst>
            </p:cNvPr>
            <p:cNvSpPr/>
            <p:nvPr/>
          </p:nvSpPr>
          <p:spPr>
            <a:xfrm>
              <a:off x="2650603" y="6393850"/>
              <a:ext cx="2661695" cy="46415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/>
                <a:t>Composition</a:t>
              </a:r>
              <a:endParaRPr kumimoji="1" lang="zh-CN" altLang="en-US" sz="2000" b="1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4F58786-A380-B54C-872B-11A9266BE734}"/>
                </a:ext>
              </a:extLst>
            </p:cNvPr>
            <p:cNvSpPr/>
            <p:nvPr/>
          </p:nvSpPr>
          <p:spPr>
            <a:xfrm>
              <a:off x="5312297" y="6393850"/>
              <a:ext cx="2650603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Mechanism</a:t>
              </a:r>
              <a:endParaRPr kumimoji="1" lang="zh-CN" alt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104766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47462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Components of CRISPR/Cas</a:t>
            </a:r>
            <a:endParaRPr kumimoji="1" lang="zh-CN" altLang="en-US" sz="3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12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95DCF65-93BB-9C4B-A7D6-A30D1F6F2B65}"/>
              </a:ext>
            </a:extLst>
          </p:cNvPr>
          <p:cNvGrpSpPr/>
          <p:nvPr/>
        </p:nvGrpSpPr>
        <p:grpSpPr>
          <a:xfrm>
            <a:off x="0" y="6393850"/>
            <a:ext cx="12192000" cy="464151"/>
            <a:chOff x="0" y="6393850"/>
            <a:chExt cx="7962900" cy="46415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087F2F2-D715-C64B-B540-8DAC274AFED3}"/>
                </a:ext>
              </a:extLst>
            </p:cNvPr>
            <p:cNvSpPr/>
            <p:nvPr/>
          </p:nvSpPr>
          <p:spPr>
            <a:xfrm>
              <a:off x="0" y="6393851"/>
              <a:ext cx="2650603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Introduction</a:t>
              </a:r>
              <a:endParaRPr kumimoji="1" lang="zh-CN" altLang="en-US" sz="2000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2A1F732-659B-224D-84D3-7EE3E45ACF93}"/>
                </a:ext>
              </a:extLst>
            </p:cNvPr>
            <p:cNvSpPr/>
            <p:nvPr/>
          </p:nvSpPr>
          <p:spPr>
            <a:xfrm>
              <a:off x="2650603" y="6393850"/>
              <a:ext cx="2661695" cy="46415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/>
                <a:t>Composition</a:t>
              </a:r>
              <a:endParaRPr kumimoji="1" lang="zh-CN" altLang="en-US" sz="2000" b="1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4F58786-A380-B54C-872B-11A9266BE734}"/>
                </a:ext>
              </a:extLst>
            </p:cNvPr>
            <p:cNvSpPr/>
            <p:nvPr/>
          </p:nvSpPr>
          <p:spPr>
            <a:xfrm>
              <a:off x="5312297" y="6393850"/>
              <a:ext cx="2650603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Mechanism</a:t>
              </a:r>
              <a:endParaRPr kumimoji="1" lang="zh-CN" alt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616411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98719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CRISPR/Cas as an Adaptive Immune System in</a:t>
            </a:r>
            <a:r>
              <a:rPr kumimoji="1" lang="zh-CN" altLang="en-US" sz="3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lang="en-US" sz="3200" b="0" i="0" u="none" strike="noStrike" dirty="0">
                <a:solidFill>
                  <a:srgbClr val="111111"/>
                </a:solidFill>
                <a:effectLst/>
                <a:latin typeface="system-ui"/>
              </a:rPr>
              <a:t>Prokaryotes</a:t>
            </a:r>
            <a:endParaRPr kumimoji="1" lang="zh-CN" altLang="en-US" sz="3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13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95DCF65-93BB-9C4B-A7D6-A30D1F6F2B65}"/>
              </a:ext>
            </a:extLst>
          </p:cNvPr>
          <p:cNvGrpSpPr/>
          <p:nvPr/>
        </p:nvGrpSpPr>
        <p:grpSpPr>
          <a:xfrm>
            <a:off x="0" y="6393850"/>
            <a:ext cx="12192000" cy="464151"/>
            <a:chOff x="0" y="6393850"/>
            <a:chExt cx="7962900" cy="46415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087F2F2-D715-C64B-B540-8DAC274AFED3}"/>
                </a:ext>
              </a:extLst>
            </p:cNvPr>
            <p:cNvSpPr/>
            <p:nvPr/>
          </p:nvSpPr>
          <p:spPr>
            <a:xfrm>
              <a:off x="0" y="6393851"/>
              <a:ext cx="2650603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Introduction</a:t>
              </a:r>
              <a:endParaRPr kumimoji="1" lang="zh-CN" altLang="en-US" sz="2000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2A1F732-659B-224D-84D3-7EE3E45ACF93}"/>
                </a:ext>
              </a:extLst>
            </p:cNvPr>
            <p:cNvSpPr/>
            <p:nvPr/>
          </p:nvSpPr>
          <p:spPr>
            <a:xfrm>
              <a:off x="2650603" y="6393850"/>
              <a:ext cx="2661695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Composition</a:t>
              </a:r>
              <a:endParaRPr kumimoji="1" lang="zh-CN" altLang="en-US" sz="2000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4F58786-A380-B54C-872B-11A9266BE734}"/>
                </a:ext>
              </a:extLst>
            </p:cNvPr>
            <p:cNvSpPr/>
            <p:nvPr/>
          </p:nvSpPr>
          <p:spPr>
            <a:xfrm>
              <a:off x="5312297" y="6393850"/>
              <a:ext cx="2650603" cy="46415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/>
                <a:t>Mechanism</a:t>
              </a:r>
              <a:endParaRPr kumimoji="1" lang="zh-CN" altLang="en-US" sz="2000" b="1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805CDEA0-63AA-8942-8FB1-8E48524D0D9B}"/>
              </a:ext>
            </a:extLst>
          </p:cNvPr>
          <p:cNvSpPr txBox="1"/>
          <p:nvPr/>
        </p:nvSpPr>
        <p:spPr>
          <a:xfrm>
            <a:off x="325821" y="1048925"/>
            <a:ext cx="5628411" cy="464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dirty="0"/>
              <a:t>Primary immune response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969702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98719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CRISPR/Cas as an Adaptive Immune System in</a:t>
            </a:r>
            <a:r>
              <a:rPr kumimoji="1" lang="zh-CN" altLang="en-US" sz="3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lang="en-US" sz="3200" b="0" i="0" u="none" strike="noStrike" dirty="0">
                <a:solidFill>
                  <a:srgbClr val="111111"/>
                </a:solidFill>
                <a:effectLst/>
                <a:latin typeface="system-ui"/>
              </a:rPr>
              <a:t>Prokaryotes</a:t>
            </a:r>
            <a:endParaRPr kumimoji="1" lang="zh-CN" altLang="en-US" sz="3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14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95DCF65-93BB-9C4B-A7D6-A30D1F6F2B65}"/>
              </a:ext>
            </a:extLst>
          </p:cNvPr>
          <p:cNvGrpSpPr/>
          <p:nvPr/>
        </p:nvGrpSpPr>
        <p:grpSpPr>
          <a:xfrm>
            <a:off x="0" y="6393850"/>
            <a:ext cx="12192000" cy="464151"/>
            <a:chOff x="0" y="6393850"/>
            <a:chExt cx="7962900" cy="46415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087F2F2-D715-C64B-B540-8DAC274AFED3}"/>
                </a:ext>
              </a:extLst>
            </p:cNvPr>
            <p:cNvSpPr/>
            <p:nvPr/>
          </p:nvSpPr>
          <p:spPr>
            <a:xfrm>
              <a:off x="0" y="6393851"/>
              <a:ext cx="2650603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Introduction</a:t>
              </a:r>
              <a:endParaRPr kumimoji="1" lang="zh-CN" altLang="en-US" sz="2000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2A1F732-659B-224D-84D3-7EE3E45ACF93}"/>
                </a:ext>
              </a:extLst>
            </p:cNvPr>
            <p:cNvSpPr/>
            <p:nvPr/>
          </p:nvSpPr>
          <p:spPr>
            <a:xfrm>
              <a:off x="2650603" y="6393850"/>
              <a:ext cx="2661695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Composition</a:t>
              </a:r>
              <a:endParaRPr kumimoji="1" lang="zh-CN" altLang="en-US" sz="2000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4F58786-A380-B54C-872B-11A9266BE734}"/>
                </a:ext>
              </a:extLst>
            </p:cNvPr>
            <p:cNvSpPr/>
            <p:nvPr/>
          </p:nvSpPr>
          <p:spPr>
            <a:xfrm>
              <a:off x="5312297" y="6393850"/>
              <a:ext cx="2650603" cy="46415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/>
                <a:t>Mechanism</a:t>
              </a:r>
              <a:endParaRPr kumimoji="1" lang="zh-CN" altLang="en-US" sz="2000" b="1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805CDEA0-63AA-8942-8FB1-8E48524D0D9B}"/>
              </a:ext>
            </a:extLst>
          </p:cNvPr>
          <p:cNvSpPr txBox="1"/>
          <p:nvPr/>
        </p:nvSpPr>
        <p:spPr>
          <a:xfrm>
            <a:off x="325821" y="1048925"/>
            <a:ext cx="5628411" cy="464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dirty="0"/>
              <a:t>Secondary immune response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15979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A090842-1323-DF41-83EF-BD22BD676106}"/>
              </a:ext>
            </a:extLst>
          </p:cNvPr>
          <p:cNvSpPr txBox="1">
            <a:spLocks/>
          </p:cNvSpPr>
          <p:nvPr/>
        </p:nvSpPr>
        <p:spPr>
          <a:xfrm>
            <a:off x="1524000" y="3183741"/>
            <a:ext cx="9144000" cy="70427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/>
              <a:t>CRISPR/Cas-derived Genome Editing</a:t>
            </a:r>
          </a:p>
        </p:txBody>
      </p:sp>
    </p:spTree>
    <p:extLst>
      <p:ext uri="{BB962C8B-B14F-4D97-AF65-F5344CB8AC3E}">
        <p14:creationId xmlns:p14="http://schemas.microsoft.com/office/powerpoint/2010/main" val="17857703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20082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Bird’s View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16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5CDEA0-63AA-8942-8FB1-8E48524D0D9B}"/>
              </a:ext>
            </a:extLst>
          </p:cNvPr>
          <p:cNvSpPr txBox="1"/>
          <p:nvPr/>
        </p:nvSpPr>
        <p:spPr>
          <a:xfrm>
            <a:off x="325821" y="1048925"/>
            <a:ext cx="5628411" cy="464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i="1" dirty="0"/>
              <a:t>TODO</a:t>
            </a:r>
            <a:endParaRPr kumimoji="1" lang="en-US" altLang="zh-CN" i="1" dirty="0"/>
          </a:p>
        </p:txBody>
      </p:sp>
    </p:spTree>
    <p:extLst>
      <p:ext uri="{BB962C8B-B14F-4D97-AF65-F5344CB8AC3E}">
        <p14:creationId xmlns:p14="http://schemas.microsoft.com/office/powerpoint/2010/main" val="19840762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6986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Engineer CRISPR/Cas for Genome Editing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17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5CDEA0-63AA-8942-8FB1-8E48524D0D9B}"/>
              </a:ext>
            </a:extLst>
          </p:cNvPr>
          <p:cNvSpPr txBox="1"/>
          <p:nvPr/>
        </p:nvSpPr>
        <p:spPr>
          <a:xfrm>
            <a:off x="325821" y="1048925"/>
            <a:ext cx="5628411" cy="464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i="1" dirty="0"/>
              <a:t>TODO</a:t>
            </a:r>
            <a:endParaRPr kumimoji="1" lang="en-US" altLang="zh-CN" i="1" dirty="0"/>
          </a:p>
        </p:txBody>
      </p:sp>
    </p:spTree>
    <p:extLst>
      <p:ext uri="{BB962C8B-B14F-4D97-AF65-F5344CB8AC3E}">
        <p14:creationId xmlns:p14="http://schemas.microsoft.com/office/powerpoint/2010/main" val="5715693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18582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Nucleases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18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FC774D4-7512-9149-A01B-49E452622E6B}"/>
              </a:ext>
            </a:extLst>
          </p:cNvPr>
          <p:cNvGrpSpPr/>
          <p:nvPr/>
        </p:nvGrpSpPr>
        <p:grpSpPr>
          <a:xfrm>
            <a:off x="-2" y="6393850"/>
            <a:ext cx="12192001" cy="464150"/>
            <a:chOff x="-1" y="6393850"/>
            <a:chExt cx="9399184" cy="46415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024AE81-3029-7947-9ABF-B46496598BFE}"/>
                </a:ext>
              </a:extLst>
            </p:cNvPr>
            <p:cNvSpPr/>
            <p:nvPr/>
          </p:nvSpPr>
          <p:spPr>
            <a:xfrm>
              <a:off x="-1" y="6393850"/>
              <a:ext cx="2349796" cy="46415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/>
                <a:t>Nucleases</a:t>
              </a:r>
              <a:endParaRPr kumimoji="1" lang="zh-CN" altLang="en-US" sz="2000" b="1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F5CB423-90A9-784B-A2AD-94F04E57B41F}"/>
                </a:ext>
              </a:extLst>
            </p:cNvPr>
            <p:cNvSpPr/>
            <p:nvPr/>
          </p:nvSpPr>
          <p:spPr>
            <a:xfrm>
              <a:off x="2349795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Base Editors</a:t>
              </a:r>
              <a:endParaRPr kumimoji="1" lang="zh-CN" altLang="en-US" sz="2000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CDFD0C-E607-7745-B18C-D019930DD3F3}"/>
                </a:ext>
              </a:extLst>
            </p:cNvPr>
            <p:cNvSpPr/>
            <p:nvPr/>
          </p:nvSpPr>
          <p:spPr>
            <a:xfrm>
              <a:off x="4699591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>
                  <a:solidFill>
                    <a:schemeClr val="bg1"/>
                  </a:solidFill>
                  <a:latin typeface="Calibri" panose="020F0502020204030204"/>
                  <a:ea typeface="等线" panose="02010600030101010101" pitchFamily="2" charset="-122"/>
                </a:rPr>
                <a:t>Transposases/Recombinases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33353DF-7A57-F04F-BE45-7D2DBE611ECE}"/>
                </a:ext>
              </a:extLst>
            </p:cNvPr>
            <p:cNvSpPr/>
            <p:nvPr/>
          </p:nvSpPr>
          <p:spPr>
            <a:xfrm>
              <a:off x="7049387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Prime Editors</a:t>
              </a:r>
              <a:endParaRPr kumimoji="1" lang="zh-CN" alt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3706815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22130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Base Editors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19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FC774D4-7512-9149-A01B-49E452622E6B}"/>
              </a:ext>
            </a:extLst>
          </p:cNvPr>
          <p:cNvGrpSpPr/>
          <p:nvPr/>
        </p:nvGrpSpPr>
        <p:grpSpPr>
          <a:xfrm>
            <a:off x="-2" y="6393850"/>
            <a:ext cx="12192001" cy="464150"/>
            <a:chOff x="-1" y="6393850"/>
            <a:chExt cx="9399184" cy="46415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024AE81-3029-7947-9ABF-B46496598BFE}"/>
                </a:ext>
              </a:extLst>
            </p:cNvPr>
            <p:cNvSpPr/>
            <p:nvPr/>
          </p:nvSpPr>
          <p:spPr>
            <a:xfrm>
              <a:off x="-1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Nucleases</a:t>
              </a:r>
              <a:endParaRPr kumimoji="1" lang="zh-CN" altLang="en-US" sz="2000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F5CB423-90A9-784B-A2AD-94F04E57B41F}"/>
                </a:ext>
              </a:extLst>
            </p:cNvPr>
            <p:cNvSpPr/>
            <p:nvPr/>
          </p:nvSpPr>
          <p:spPr>
            <a:xfrm>
              <a:off x="2349795" y="6393850"/>
              <a:ext cx="2349796" cy="46415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/>
                <a:t>Base Editors</a:t>
              </a:r>
              <a:endParaRPr kumimoji="1" lang="zh-CN" altLang="en-US" sz="2000" b="1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CDFD0C-E607-7745-B18C-D019930DD3F3}"/>
                </a:ext>
              </a:extLst>
            </p:cNvPr>
            <p:cNvSpPr/>
            <p:nvPr/>
          </p:nvSpPr>
          <p:spPr>
            <a:xfrm>
              <a:off x="4699591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>
                  <a:solidFill>
                    <a:schemeClr val="bg1"/>
                  </a:solidFill>
                  <a:latin typeface="Calibri" panose="020F0502020204030204"/>
                  <a:ea typeface="等线" panose="02010600030101010101" pitchFamily="2" charset="-122"/>
                </a:rPr>
                <a:t>Transposases/Recombinases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33353DF-7A57-F04F-BE45-7D2DBE611ECE}"/>
                </a:ext>
              </a:extLst>
            </p:cNvPr>
            <p:cNvSpPr/>
            <p:nvPr/>
          </p:nvSpPr>
          <p:spPr>
            <a:xfrm>
              <a:off x="7049387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Prime Editors</a:t>
              </a:r>
              <a:endParaRPr kumimoji="1" lang="zh-CN" alt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4532383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45660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Transposes/Recombinases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20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FC774D4-7512-9149-A01B-49E452622E6B}"/>
              </a:ext>
            </a:extLst>
          </p:cNvPr>
          <p:cNvGrpSpPr/>
          <p:nvPr/>
        </p:nvGrpSpPr>
        <p:grpSpPr>
          <a:xfrm>
            <a:off x="-2" y="6393850"/>
            <a:ext cx="12192001" cy="464150"/>
            <a:chOff x="-1" y="6393850"/>
            <a:chExt cx="9399184" cy="46415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024AE81-3029-7947-9ABF-B46496598BFE}"/>
                </a:ext>
              </a:extLst>
            </p:cNvPr>
            <p:cNvSpPr/>
            <p:nvPr/>
          </p:nvSpPr>
          <p:spPr>
            <a:xfrm>
              <a:off x="-1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Nucleases</a:t>
              </a:r>
              <a:endParaRPr kumimoji="1" lang="zh-CN" altLang="en-US" sz="2000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F5CB423-90A9-784B-A2AD-94F04E57B41F}"/>
                </a:ext>
              </a:extLst>
            </p:cNvPr>
            <p:cNvSpPr/>
            <p:nvPr/>
          </p:nvSpPr>
          <p:spPr>
            <a:xfrm>
              <a:off x="2349795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Base Editors</a:t>
              </a:r>
              <a:endParaRPr kumimoji="1" lang="zh-CN" altLang="en-US" sz="2000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CDFD0C-E607-7745-B18C-D019930DD3F3}"/>
                </a:ext>
              </a:extLst>
            </p:cNvPr>
            <p:cNvSpPr/>
            <p:nvPr/>
          </p:nvSpPr>
          <p:spPr>
            <a:xfrm>
              <a:off x="4699591" y="6393850"/>
              <a:ext cx="2349796" cy="46415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b="1" dirty="0">
                  <a:solidFill>
                    <a:schemeClr val="bg1"/>
                  </a:solidFill>
                  <a:latin typeface="Calibri" panose="020F0502020204030204"/>
                  <a:ea typeface="等线" panose="02010600030101010101" pitchFamily="2" charset="-122"/>
                </a:rPr>
                <a:t>Transposases/Recombinases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33353DF-7A57-F04F-BE45-7D2DBE611ECE}"/>
                </a:ext>
              </a:extLst>
            </p:cNvPr>
            <p:cNvSpPr/>
            <p:nvPr/>
          </p:nvSpPr>
          <p:spPr>
            <a:xfrm>
              <a:off x="7049387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Prime Editors</a:t>
              </a:r>
              <a:endParaRPr kumimoji="1" lang="zh-CN" alt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4672597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24102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Prime Editors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21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FC774D4-7512-9149-A01B-49E452622E6B}"/>
              </a:ext>
            </a:extLst>
          </p:cNvPr>
          <p:cNvGrpSpPr/>
          <p:nvPr/>
        </p:nvGrpSpPr>
        <p:grpSpPr>
          <a:xfrm>
            <a:off x="-2" y="6393850"/>
            <a:ext cx="12192001" cy="464150"/>
            <a:chOff x="-1" y="6393850"/>
            <a:chExt cx="9399184" cy="46415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024AE81-3029-7947-9ABF-B46496598BFE}"/>
                </a:ext>
              </a:extLst>
            </p:cNvPr>
            <p:cNvSpPr/>
            <p:nvPr/>
          </p:nvSpPr>
          <p:spPr>
            <a:xfrm>
              <a:off x="-1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Nucleases</a:t>
              </a:r>
              <a:endParaRPr kumimoji="1" lang="zh-CN" altLang="en-US" sz="2000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F5CB423-90A9-784B-A2AD-94F04E57B41F}"/>
                </a:ext>
              </a:extLst>
            </p:cNvPr>
            <p:cNvSpPr/>
            <p:nvPr/>
          </p:nvSpPr>
          <p:spPr>
            <a:xfrm>
              <a:off x="2349795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Base Editors</a:t>
              </a:r>
              <a:endParaRPr kumimoji="1" lang="zh-CN" altLang="en-US" sz="2000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CDFD0C-E607-7745-B18C-D019930DD3F3}"/>
                </a:ext>
              </a:extLst>
            </p:cNvPr>
            <p:cNvSpPr/>
            <p:nvPr/>
          </p:nvSpPr>
          <p:spPr>
            <a:xfrm>
              <a:off x="4699591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>
                  <a:solidFill>
                    <a:schemeClr val="bg1"/>
                  </a:solidFill>
                  <a:latin typeface="Calibri" panose="020F0502020204030204"/>
                  <a:ea typeface="等线" panose="02010600030101010101" pitchFamily="2" charset="-122"/>
                </a:rPr>
                <a:t>Transposases/Recombinases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33353DF-7A57-F04F-BE45-7D2DBE611ECE}"/>
                </a:ext>
              </a:extLst>
            </p:cNvPr>
            <p:cNvSpPr/>
            <p:nvPr/>
          </p:nvSpPr>
          <p:spPr>
            <a:xfrm>
              <a:off x="7049387" y="6393850"/>
              <a:ext cx="2349796" cy="46415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/>
                <a:t>Prime Editors</a:t>
              </a:r>
              <a:endParaRPr kumimoji="1" lang="zh-CN" altLang="en-US" sz="20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5720596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A090842-1323-DF41-83EF-BD22BD676106}"/>
              </a:ext>
            </a:extLst>
          </p:cNvPr>
          <p:cNvSpPr txBox="1">
            <a:spLocks/>
          </p:cNvSpPr>
          <p:nvPr/>
        </p:nvSpPr>
        <p:spPr>
          <a:xfrm>
            <a:off x="1524000" y="3183741"/>
            <a:ext cx="9144000" cy="70427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/>
              <a:t>CRISPR/Cas to Date: Applications</a:t>
            </a:r>
          </a:p>
        </p:txBody>
      </p:sp>
    </p:spTree>
    <p:extLst>
      <p:ext uri="{BB962C8B-B14F-4D97-AF65-F5344CB8AC3E}">
        <p14:creationId xmlns:p14="http://schemas.microsoft.com/office/powerpoint/2010/main" val="28654245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A090842-1323-DF41-83EF-BD22BD676106}"/>
              </a:ext>
            </a:extLst>
          </p:cNvPr>
          <p:cNvSpPr txBox="1">
            <a:spLocks/>
          </p:cNvSpPr>
          <p:nvPr/>
        </p:nvSpPr>
        <p:spPr>
          <a:xfrm>
            <a:off x="1524000" y="3183741"/>
            <a:ext cx="9144000" cy="70427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i="1" dirty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5048643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18526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Reference</a:t>
            </a:r>
            <a:endParaRPr kumimoji="1" lang="zh-CN" alt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C99A35-03CA-AA4C-97B4-F65563637F41}"/>
              </a:ext>
            </a:extLst>
          </p:cNvPr>
          <p:cNvSpPr txBox="1"/>
          <p:nvPr/>
        </p:nvSpPr>
        <p:spPr>
          <a:xfrm>
            <a:off x="862148" y="1240971"/>
            <a:ext cx="11137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Lander ES. The Heroes of CRISPR. Cell. 2016 Jan 14;164(1-2):18-28. </a:t>
            </a:r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doi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: 10.1016/j.cell.2015.12.041. PMID: 26771483.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268088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89B2C29-6C36-CC44-A825-1EB7BA0CADF3}"/>
              </a:ext>
            </a:extLst>
          </p:cNvPr>
          <p:cNvSpPr txBox="1"/>
          <p:nvPr/>
        </p:nvSpPr>
        <p:spPr>
          <a:xfrm>
            <a:off x="2399176" y="2875002"/>
            <a:ext cx="581005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6600" dirty="0"/>
              <a:t>Thank</a:t>
            </a:r>
            <a:r>
              <a:rPr kumimoji="1" lang="zh-CN" altLang="en-US" sz="6600" dirty="0"/>
              <a:t> </a:t>
            </a:r>
            <a:r>
              <a:rPr kumimoji="1" lang="en-US" altLang="zh-CN" sz="6600" dirty="0"/>
              <a:t>you!</a:t>
            </a:r>
            <a:endParaRPr kumimoji="1" lang="zh-CN" altLang="en-US" sz="66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D235D95-BECE-4440-B239-5795A30254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6136" y="2585468"/>
            <a:ext cx="1854887" cy="1687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5657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17885</TotalTime>
  <Words>437</Words>
  <Application>Microsoft Macintosh PowerPoint</Application>
  <PresentationFormat>Widescreen</PresentationFormat>
  <Paragraphs>122</Paragraphs>
  <Slides>25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BlinkMacSystemFont</vt:lpstr>
      <vt:lpstr>system-ui</vt:lpstr>
      <vt:lpstr>Arial</vt:lpstr>
      <vt:lpstr>Calibri</vt:lpstr>
      <vt:lpstr>Calibri Light</vt:lpstr>
      <vt:lpstr>Wingdings</vt:lpstr>
      <vt:lpstr>Office Theme</vt:lpstr>
      <vt:lpstr>Genome Editing with CRISPR/Cas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刘 沛雨</dc:creator>
  <cp:lastModifiedBy>刘 沛雨</cp:lastModifiedBy>
  <cp:revision>467</cp:revision>
  <dcterms:created xsi:type="dcterms:W3CDTF">2024-09-08T14:28:50Z</dcterms:created>
  <dcterms:modified xsi:type="dcterms:W3CDTF">2025-04-01T05:36:44Z</dcterms:modified>
</cp:coreProperties>
</file>