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6"/>
  </p:notesMasterIdLst>
  <p:sldIdLst>
    <p:sldId id="425" r:id="rId2"/>
    <p:sldId id="448" r:id="rId3"/>
    <p:sldId id="457" r:id="rId4"/>
    <p:sldId id="480" r:id="rId5"/>
    <p:sldId id="485" r:id="rId6"/>
    <p:sldId id="484" r:id="rId7"/>
    <p:sldId id="462" r:id="rId8"/>
    <p:sldId id="481" r:id="rId9"/>
    <p:sldId id="463" r:id="rId10"/>
    <p:sldId id="470" r:id="rId11"/>
    <p:sldId id="479" r:id="rId12"/>
    <p:sldId id="452" r:id="rId13"/>
    <p:sldId id="487" r:id="rId14"/>
    <p:sldId id="492" r:id="rId15"/>
    <p:sldId id="459" r:id="rId16"/>
    <p:sldId id="495" r:id="rId17"/>
    <p:sldId id="494" r:id="rId18"/>
    <p:sldId id="496" r:id="rId19"/>
    <p:sldId id="497" r:id="rId20"/>
    <p:sldId id="498" r:id="rId21"/>
    <p:sldId id="500" r:id="rId22"/>
    <p:sldId id="502" r:id="rId23"/>
    <p:sldId id="464" r:id="rId24"/>
    <p:sldId id="499" r:id="rId25"/>
    <p:sldId id="466" r:id="rId26"/>
    <p:sldId id="472" r:id="rId27"/>
    <p:sldId id="473" r:id="rId28"/>
    <p:sldId id="474" r:id="rId29"/>
    <p:sldId id="475" r:id="rId30"/>
    <p:sldId id="489" r:id="rId31"/>
    <p:sldId id="449" r:id="rId32"/>
    <p:sldId id="490" r:id="rId33"/>
    <p:sldId id="277" r:id="rId34"/>
    <p:sldId id="467" r:id="rId35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E79"/>
    <a:srgbClr val="FFAE47"/>
    <a:srgbClr val="715FE0"/>
    <a:srgbClr val="A500A5"/>
    <a:srgbClr val="99FFCC"/>
    <a:srgbClr val="032F62"/>
    <a:srgbClr val="D839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81259"/>
  </p:normalViewPr>
  <p:slideViewPr>
    <p:cSldViewPr snapToGrid="0" snapToObjects="1">
      <p:cViewPr varScale="1">
        <p:scale>
          <a:sx n="100" d="100"/>
          <a:sy n="100" d="100"/>
        </p:scale>
        <p:origin x="1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6D7121-F3D1-7F44-B365-80E67D71FC67}" type="datetimeFigureOut">
              <a:rPr kumimoji="1" lang="zh-CN" altLang="en-US" smtClean="0"/>
              <a:t>2025/4/5</a:t>
            </a:fld>
            <a:endParaRPr kumimoji="1"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n-US" altLang="zh-CN"/>
              <a:t>Click to edit Master text styles</a:t>
            </a:r>
          </a:p>
          <a:p>
            <a:pPr lvl="1"/>
            <a:r>
              <a:rPr kumimoji="1" lang="en-US" altLang="zh-CN"/>
              <a:t>Second level</a:t>
            </a:r>
          </a:p>
          <a:p>
            <a:pPr lvl="2"/>
            <a:r>
              <a:rPr kumimoji="1" lang="en-US" altLang="zh-CN"/>
              <a:t>Third level</a:t>
            </a:r>
          </a:p>
          <a:p>
            <a:pPr lvl="3"/>
            <a:r>
              <a:rPr kumimoji="1" lang="en-US" altLang="zh-CN"/>
              <a:t>Fourth level</a:t>
            </a:r>
          </a:p>
          <a:p>
            <a:pPr lvl="4"/>
            <a:r>
              <a:rPr kumimoji="1" lang="en-US" altLang="zh-CN"/>
              <a:t>Fifth level</a:t>
            </a:r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BB1C4C-66EF-0F4C-B7A3-FECCA39F5AC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26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563844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897059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Protocols and Apps</a:t>
            </a:r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8527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934834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885072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TODO</a:t>
            </a:r>
            <a:r>
              <a:rPr kumimoji="1" lang="zh-CN" altLang="en-US" dirty="0"/>
              <a:t>：补充信息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405108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19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8786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331921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285133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B1C4C-66EF-0F4C-B7A3-FECCA39F5AC9}" type="slidenum">
              <a:rPr kumimoji="1" lang="zh-CN" altLang="en-US" smtClean="0"/>
              <a:t>33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9399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33CB2-1833-6446-A58B-BEBE6542E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FFF91-2EF8-A14C-8D6E-2B415D670A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FBB7F-1F1F-3041-8F34-551E53C23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AE151-E8A8-E941-8185-5C82CF767F1D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CDE26-F415-E744-8334-737A7B9DD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480306-4003-1944-95E0-41599C6BB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4813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94003-1CF9-4C49-A837-08724456D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B51C4-2549-FC4F-BDA5-F5A602F3F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2E324-444F-9548-B027-17ACC2FC5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18BB-4624-F549-B5B2-F3A6AFBD1386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2DBAA2-8C85-9745-85A2-B41016CB6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870CA-67CB-D947-B79B-24FC521BB8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ED370-A91D-7A4D-ADC1-8DB123A08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E5780B-CE87-3A4B-A7D2-4A7F24DF55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3DD42-A223-9545-ADF3-BC52370E0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EA6DC0-7002-3D41-871E-6A46BD026AD7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D4323-9031-DC47-8A94-A29335B17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50D6BC-9512-A841-B1C3-7903D18E8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7936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50F54-9BA1-B247-9E3B-D4E932B44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711D2-B35F-3F47-A8AB-22CE38A25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08E9B7-C6E3-AC4A-803D-9E61265A92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AC729-0C67-9342-95AD-9C732DB49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825FD-0353-D24E-92F3-965EF60F178F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5E346A-9DE9-E145-BECE-596797C09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6A837-D9D0-6146-AEC5-C35121FB6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2564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F5876-C723-9744-BF58-EFB872D56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335E38-1170-5149-A855-7CBDCBFD2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B2E9E2-0892-F446-8EC6-B8B00DE8A9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D4CB34-5AEB-F54E-AFF0-B66A8CD4F7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2C53D7-FBC1-1747-9350-41EBBB255E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6BB04-91F7-B241-B009-701C0A53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CEAC0-DAA0-0541-99E4-1F63993A26F9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127985-26B7-5741-8D93-99E60FE60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363637-43DC-C54C-984F-098B7918A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43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D1EDF-179A-0C49-895A-2CEEB3A8C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567691-EB33-0242-A864-323F5DEF0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533E27-1ED9-E544-9569-1A5FBD27B944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541A9A-DE87-6E45-9DE0-DABFF5C09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1888DC-681B-1341-9420-5B9598774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746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17ED2C-2CF1-ED42-BEDB-CF3138B19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60A5F-ABE0-614A-B33A-5093099DA492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62B63-CB01-1C43-8129-3486B4900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F36FC-3BEE-8C41-81C3-F2D77D532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734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70CC0-08A9-9843-8945-D77059896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B4A4E-73BF-9944-9344-6B1CF5C14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A32A37-9369-7448-9ABE-B54AD56AFD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F141C0-2267-0244-BE62-A04B3A4DE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904D2-8032-424F-9989-3BB75492C9F0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8F276-CF22-8A4E-9CB9-B2EF60F43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D4CAB-D56F-454F-9F7A-5354596D1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053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90B6A-D032-8D48-AD3C-703F016DE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F44685-8048-A147-9613-C2895F7AB4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D4F0BB-CBF4-D849-8CEE-9C459734D1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C86F97-06C9-F340-9B2C-E83F51504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F47BD-DA07-B84C-B18C-005716E52A11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DB4FC2-462A-8847-B71A-17754A9C1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1E4660-7CD5-BF45-A535-740346E82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4909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DAEC2-52BA-024C-8C6C-BED550CB0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E96FE-CB14-1B4A-85E1-5E8513611B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F4636-F688-CE46-B139-313977579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D6F0F-E760-474C-BA47-96878804B47C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DA7477-485C-4A4E-A893-61CFDB41F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933B9-FD9F-1C40-89F4-1C7EAA8D0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158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975246-F61B-A441-9874-62E1854824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F60BD-3BDF-7945-A4E7-1F5DF859A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51581-7D0A-CE4B-AA9F-4C887158A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B12ADF-8BB3-CA4D-A291-1FC4FDC229F1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AE9E29-8E4E-C14A-8B17-5566A0F0C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DB503-7F83-9649-BA45-24F26623E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158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C6C6EE-F9D2-6148-A0B0-FA9944B3B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F61F9-840F-D740-95CA-FD5EE46D3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BB176A-AC6F-F140-B22E-3EF286D94E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95BF6-8395-B948-A565-36B08AC42D31}" type="datetime1">
              <a:rPr lang="en-US" altLang="zh-CN" smtClean="0"/>
              <a:t>4/5/25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8B022-53E5-1F49-B0C5-55161277A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B7C76-189B-1F4E-96DB-3B5B837333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4E10DA-A4B5-3C41-BB56-C5CB7549E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797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F53F7-14A7-E740-B5E2-36C20736F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41087"/>
            <a:ext cx="9144000" cy="2387600"/>
          </a:xfrm>
        </p:spPr>
        <p:txBody>
          <a:bodyPr>
            <a:noAutofit/>
          </a:bodyPr>
          <a:lstStyle/>
          <a:p>
            <a:r>
              <a:rPr lang="en-US" sz="4000" b="1" dirty="0"/>
              <a:t>Genome Editing: Past, Present and Future</a:t>
            </a:r>
          </a:p>
        </p:txBody>
      </p:sp>
    </p:spTree>
    <p:extLst>
      <p:ext uri="{BB962C8B-B14F-4D97-AF65-F5344CB8AC3E}">
        <p14:creationId xmlns:p14="http://schemas.microsoft.com/office/powerpoint/2010/main" val="27062496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Outline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86B7C4-301B-EC44-9432-0558C55E4E1B}"/>
              </a:ext>
            </a:extLst>
          </p:cNvPr>
          <p:cNvSpPr txBox="1"/>
          <p:nvPr/>
        </p:nvSpPr>
        <p:spPr>
          <a:xfrm>
            <a:off x="325821" y="1048925"/>
            <a:ext cx="5197877" cy="60971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Introduction to Genome Editing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Genome Editing before CRISPR-Cas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ZFN&amp;TALEN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Introduction to CRISPR-Cas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Introduction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Classification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Mechanism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CRISPR-Cas-derived Genome Editing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Nucleases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Base editors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Transposases/recombinases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Prime editors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Future of Genome Editing</a:t>
            </a:r>
            <a:endParaRPr kumimoji="1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endParaRPr kumimoji="1" lang="en-US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45324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Introduction </a:t>
            </a:r>
            <a:r>
              <a:rPr kumimoji="1" lang="en-US" altLang="zh-CN" sz="4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to Genome Editing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0382551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39553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Genome Editing Basics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4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5CDEA0-63AA-8942-8FB1-8E48524D0D9B}"/>
              </a:ext>
            </a:extLst>
          </p:cNvPr>
          <p:cNvSpPr txBox="1"/>
          <p:nvPr/>
        </p:nvSpPr>
        <p:spPr>
          <a:xfrm>
            <a:off x="325821" y="1048925"/>
            <a:ext cx="7130608" cy="5220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Concepts?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Goals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High </a:t>
            </a:r>
            <a:r>
              <a:rPr kumimoji="1" lang="en-CN" altLang="zh-CN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precision</a:t>
            </a:r>
            <a:r>
              <a:rPr kumimoji="1" lang="en-CN" altLang="zh-CN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: all sites edited are targeted sites</a:t>
            </a:r>
            <a:endParaRPr kumimoji="1" lang="en-CN" altLang="zh-CN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High </a:t>
            </a:r>
            <a:r>
              <a:rPr kumimoji="1" lang="en-CN" altLang="zh-CN" i="1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recall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: </a:t>
            </a:r>
            <a:r>
              <a:rPr kumimoji="1" lang="en-CN" altLang="zh-CN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all targeted sites are edited</a:t>
            </a:r>
            <a:endParaRPr kumimoji="1" lang="en-CN" altLang="zh-CN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Methods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Zinc-finger nucleases (</a:t>
            </a:r>
            <a:r>
              <a:rPr kumimoji="1" lang="en-CN" altLang="zh-CN" dirty="0"/>
              <a:t>ZFN)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Transcription activator-like effector nucleases (TALENs)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CRISPR-Cas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Possible outcomes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Indels introduced by DSB-induced NHEJ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Gene recombination introduced by DSB-induced HDR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Other non-DSB-induced outcomes (e.g., base editing)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EA025E-B79A-A047-8938-087FB20F70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231177"/>
            <a:ext cx="5482730" cy="35357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1D1F86-35E4-9940-8ACE-71E6E87BFB7E}"/>
              </a:ext>
            </a:extLst>
          </p:cNvPr>
          <p:cNvSpPr txBox="1"/>
          <p:nvPr/>
        </p:nvSpPr>
        <p:spPr>
          <a:xfrm>
            <a:off x="6667500" y="4805636"/>
            <a:ext cx="493588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/>
              <a:t>DSB-induced genome-editing outcomes. </a:t>
            </a:r>
          </a:p>
          <a:p>
            <a:pPr marL="342900" indent="-342900">
              <a:buAutoNum type="alphaUcPeriod"/>
            </a:pPr>
            <a:r>
              <a:rPr kumimoji="1" lang="en-US" altLang="zh-CN" sz="1400" dirty="0"/>
              <a:t>Indels and inversion introduced by NHEJ in the absence of a homologous donor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template DNA. </a:t>
            </a:r>
          </a:p>
          <a:p>
            <a:pPr marL="342900" indent="-342900">
              <a:buAutoNum type="alphaUcPeriod"/>
            </a:pPr>
            <a:r>
              <a:rPr kumimoji="1" lang="en-US" altLang="zh-CN" sz="1400" dirty="0"/>
              <a:t>Recombination introduced by HDR in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the presence of the donor DNA.</a:t>
            </a:r>
          </a:p>
          <a:p>
            <a:r>
              <a:rPr kumimoji="1" lang="en-US" altLang="zh-CN" sz="1400" dirty="0"/>
              <a:t>Lightnings</a:t>
            </a:r>
            <a:r>
              <a:rPr kumimoji="1" lang="zh-CN" altLang="en-US" sz="1400" dirty="0"/>
              <a:t> </a:t>
            </a:r>
            <a:r>
              <a:rPr kumimoji="1" lang="en-US" altLang="zh-CN" sz="1400" dirty="0"/>
              <a:t>represent DSB sites.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774484-218F-7B4E-9D58-C3DE5989BF41}"/>
              </a:ext>
            </a:extLst>
          </p:cNvPr>
          <p:cNvSpPr txBox="1"/>
          <p:nvPr/>
        </p:nvSpPr>
        <p:spPr>
          <a:xfrm>
            <a:off x="0" y="6444604"/>
            <a:ext cx="47355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Gaj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T, </a:t>
            </a:r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Sirk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SJ, Shui SL, Liu J. Genome-Editing Technologies: Principles and Applications.</a:t>
            </a:r>
            <a:r>
              <a:rPr lang="en-US" sz="120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Cold Spring </a:t>
            </a:r>
            <a:r>
              <a:rPr lang="en-US" sz="120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Harb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Perspect</a:t>
            </a:r>
            <a:r>
              <a:rPr lang="en-US" sz="120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Biol</a:t>
            </a:r>
            <a:r>
              <a:rPr lang="en-US" sz="120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2016 Dec 1;8(12):a023754.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2183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5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53281B-F852-9C49-8837-E02F9D79CE29}"/>
              </a:ext>
            </a:extLst>
          </p:cNvPr>
          <p:cNvSpPr txBox="1"/>
          <p:nvPr/>
        </p:nvSpPr>
        <p:spPr>
          <a:xfrm>
            <a:off x="325821" y="464150"/>
            <a:ext cx="45680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Genome Editing Workflow</a:t>
            </a:r>
          </a:p>
        </p:txBody>
      </p:sp>
      <p:pic>
        <p:nvPicPr>
          <p:cNvPr id="1028" name="Picture 4" descr="Fig. 2">
            <a:extLst>
              <a:ext uri="{FF2B5EF4-FFF2-40B4-BE49-F238E27FC236}">
                <a16:creationId xmlns:a16="http://schemas.microsoft.com/office/drawing/2014/main" id="{D3244E41-0891-6C43-B0E7-5F8A6C13B1A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271" t="52867" r="48958" b="41423"/>
          <a:stretch/>
        </p:blipFill>
        <p:spPr bwMode="auto">
          <a:xfrm>
            <a:off x="406102" y="2417780"/>
            <a:ext cx="1435100" cy="38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54AF4C-8278-184A-915F-DFD79DAA179E}"/>
              </a:ext>
            </a:extLst>
          </p:cNvPr>
          <p:cNvSpPr txBox="1"/>
          <p:nvPr/>
        </p:nvSpPr>
        <p:spPr>
          <a:xfrm>
            <a:off x="146205" y="2798780"/>
            <a:ext cx="18651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target sequencing</a:t>
            </a:r>
            <a:endParaRPr kumimoji="1" lang="zh-CN" alt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7975CC0-C486-0147-ABDD-FA9EB6D2B277}"/>
              </a:ext>
            </a:extLst>
          </p:cNvPr>
          <p:cNvCxnSpPr>
            <a:cxnSpLocks/>
          </p:cNvCxnSpPr>
          <p:nvPr/>
        </p:nvCxnSpPr>
        <p:spPr>
          <a:xfrm>
            <a:off x="2138331" y="257018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3260C00-7286-0B4F-836C-47C5C94B5E25}"/>
              </a:ext>
            </a:extLst>
          </p:cNvPr>
          <p:cNvSpPr txBox="1"/>
          <p:nvPr/>
        </p:nvSpPr>
        <p:spPr>
          <a:xfrm>
            <a:off x="2718733" y="2991530"/>
            <a:ext cx="20063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/>
              <a:t>editor design</a:t>
            </a:r>
          </a:p>
          <a:p>
            <a:pPr algn="ctr"/>
            <a:r>
              <a:rPr kumimoji="1" lang="en-US" altLang="zh-CN" dirty="0"/>
              <a:t>vector construction</a:t>
            </a:r>
            <a:endParaRPr kumimoji="1" lang="zh-CN" alt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28D5854-FEA7-FA4C-B586-CA8767F970FA}"/>
              </a:ext>
            </a:extLst>
          </p:cNvPr>
          <p:cNvCxnSpPr>
            <a:cxnSpLocks/>
          </p:cNvCxnSpPr>
          <p:nvPr/>
        </p:nvCxnSpPr>
        <p:spPr>
          <a:xfrm>
            <a:off x="4714250" y="2532080"/>
            <a:ext cx="723163" cy="0"/>
          </a:xfrm>
          <a:prstGeom prst="straightConnector1">
            <a:avLst/>
          </a:prstGeom>
          <a:ln>
            <a:headEnd w="med" len="me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A206DAB-768F-F94B-B211-8F3420D8A684}"/>
              </a:ext>
            </a:extLst>
          </p:cNvPr>
          <p:cNvSpPr txBox="1"/>
          <p:nvPr/>
        </p:nvSpPr>
        <p:spPr>
          <a:xfrm>
            <a:off x="8984807" y="3134816"/>
            <a:ext cx="802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screen</a:t>
            </a:r>
            <a:endParaRPr kumimoji="1" lang="zh-CN" altLang="en-US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B52C6A6-4C24-BA46-88B5-07E4E8EBB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6752" y="1418294"/>
            <a:ext cx="1659378" cy="158229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E620AD9-1133-CA4E-B616-828419B64335}"/>
              </a:ext>
            </a:extLst>
          </p:cNvPr>
          <p:cNvSpPr txBox="1"/>
          <p:nvPr/>
        </p:nvSpPr>
        <p:spPr>
          <a:xfrm>
            <a:off x="6177143" y="3130029"/>
            <a:ext cx="930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delivery</a:t>
            </a:r>
            <a:endParaRPr kumimoji="1" lang="zh-CN" altLang="en-US" dirty="0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842D92C-0854-AD4F-866D-EEC0927FE437}"/>
              </a:ext>
            </a:extLst>
          </p:cNvPr>
          <p:cNvCxnSpPr>
            <a:cxnSpLocks/>
          </p:cNvCxnSpPr>
          <p:nvPr/>
        </p:nvCxnSpPr>
        <p:spPr>
          <a:xfrm>
            <a:off x="7816302" y="2519380"/>
            <a:ext cx="723163" cy="0"/>
          </a:xfrm>
          <a:prstGeom prst="straightConnector1">
            <a:avLst/>
          </a:prstGeom>
          <a:ln>
            <a:headEnd w="med" len="me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43" name="Picture 42">
            <a:extLst>
              <a:ext uri="{FF2B5EF4-FFF2-40B4-BE49-F238E27FC236}">
                <a16:creationId xmlns:a16="http://schemas.microsoft.com/office/drawing/2014/main" id="{51F34EB6-A931-114F-93C6-AEECD8777C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72" y="1606415"/>
            <a:ext cx="2006318" cy="1385115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AE97190-79C9-F84A-A753-CF17C3F41E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0086" y="2011393"/>
            <a:ext cx="1391457" cy="800087"/>
          </a:xfrm>
          <a:prstGeom prst="rect">
            <a:avLst/>
          </a:prstGeom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E444265-B724-4749-AA1D-E8F44F35226E}"/>
              </a:ext>
            </a:extLst>
          </p:cNvPr>
          <p:cNvCxnSpPr>
            <a:cxnSpLocks/>
          </p:cNvCxnSpPr>
          <p:nvPr/>
        </p:nvCxnSpPr>
        <p:spPr>
          <a:xfrm>
            <a:off x="10081543" y="2506680"/>
            <a:ext cx="723163" cy="0"/>
          </a:xfrm>
          <a:prstGeom prst="straightConnector1">
            <a:avLst/>
          </a:prstGeom>
          <a:ln>
            <a:headEnd w="med" len="me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9813FEC-3D8E-A447-8E70-F350C71CF872}"/>
              </a:ext>
            </a:extLst>
          </p:cNvPr>
          <p:cNvSpPr txBox="1"/>
          <p:nvPr/>
        </p:nvSpPr>
        <p:spPr>
          <a:xfrm>
            <a:off x="10952307" y="2011393"/>
            <a:ext cx="12396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used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 research, treatment…</a:t>
            </a:r>
            <a:endParaRPr kumimoji="1" lang="zh-CN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1F13188-1CA6-264C-9B85-5BB361996110}"/>
              </a:ext>
            </a:extLst>
          </p:cNvPr>
          <p:cNvSpPr txBox="1"/>
          <p:nvPr/>
        </p:nvSpPr>
        <p:spPr>
          <a:xfrm>
            <a:off x="277586" y="3954483"/>
            <a:ext cx="6457793" cy="25885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In practice, many factors need to be considered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Cell line or animal model?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i="1" dirty="0"/>
              <a:t>In vivo</a:t>
            </a:r>
            <a:r>
              <a:rPr kumimoji="1" lang="en-US" altLang="zh-CN" dirty="0"/>
              <a:t> or </a:t>
            </a:r>
            <a:r>
              <a:rPr kumimoji="1" lang="en-US" altLang="zh-CN" i="1" dirty="0"/>
              <a:t>in vitro</a:t>
            </a:r>
            <a:r>
              <a:rPr kumimoji="1" lang="en-US" altLang="zh-CN" dirty="0"/>
              <a:t>?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Unconditional or conditional?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…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Detailed protocols depend on purposes of genome editing.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48157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kumimoji="1" lang="en-US" altLang="zh-CN" sz="4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Genome Editing before CRISPR/Cas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7444758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786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Zinc-Finger Nucleases (</a:t>
            </a:r>
            <a:r>
              <a:rPr kumimoji="1" lang="en-CN" altLang="zh-CN" sz="3200" dirty="0"/>
              <a:t>ZFN)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ZFN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A885EF36-6A6F-E04E-9AF2-49C11CC69B15}"/>
              </a:ext>
            </a:extLst>
          </p:cNvPr>
          <p:cNvSpPr/>
          <p:nvPr/>
        </p:nvSpPr>
        <p:spPr>
          <a:xfrm>
            <a:off x="416717" y="1199136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44E56E-D273-0840-AFB3-836B8AAB44F8}"/>
              </a:ext>
            </a:extLst>
          </p:cNvPr>
          <p:cNvSpPr txBox="1"/>
          <p:nvPr/>
        </p:nvSpPr>
        <p:spPr>
          <a:xfrm>
            <a:off x="1156498" y="1388542"/>
            <a:ext cx="741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non-specific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nuclease domain</a:t>
            </a:r>
            <a:r>
              <a:rPr kumimoji="1" lang="en-US" altLang="zh-CN" dirty="0"/>
              <a:t> of </a:t>
            </a:r>
            <a:r>
              <a:rPr kumimoji="1" lang="en-US" altLang="zh-CN" i="1" dirty="0" err="1"/>
              <a:t>Fok</a:t>
            </a:r>
            <a:r>
              <a:rPr kumimoji="1" lang="en-US" altLang="zh-CN" dirty="0" err="1"/>
              <a:t>I</a:t>
            </a:r>
            <a:r>
              <a:rPr kumimoji="1" lang="en-US" altLang="zh-CN" dirty="0"/>
              <a:t> restriction enzyme, function as dimers</a:t>
            </a:r>
            <a:endParaRPr kumimoji="1" lang="zh-CN" altLang="en-US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9E73CA72-D9B2-3043-A53F-9B0A5A9E8A46}"/>
              </a:ext>
            </a:extLst>
          </p:cNvPr>
          <p:cNvSpPr/>
          <p:nvPr/>
        </p:nvSpPr>
        <p:spPr>
          <a:xfrm>
            <a:off x="586136" y="2264182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D0BC63-10A7-864E-B589-1131B716F4EC}"/>
              </a:ext>
            </a:extLst>
          </p:cNvPr>
          <p:cNvSpPr txBox="1"/>
          <p:nvPr/>
        </p:nvSpPr>
        <p:spPr>
          <a:xfrm>
            <a:off x="915825" y="2203638"/>
            <a:ext cx="8944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DNA-binding domain</a:t>
            </a:r>
            <a:r>
              <a:rPr kumimoji="1" lang="en-US" altLang="zh-CN" dirty="0"/>
              <a:t>, one of three zinc finger domains of zinc finger proteins (ZFPs)</a:t>
            </a:r>
            <a:endParaRPr kumimoji="1" lang="zh-CN" alt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244F431-8431-BC42-B7E3-03CE1CA1BB86}"/>
              </a:ext>
            </a:extLst>
          </p:cNvPr>
          <p:cNvCxnSpPr>
            <a:cxnSpLocks/>
          </p:cNvCxnSpPr>
          <p:nvPr/>
        </p:nvCxnSpPr>
        <p:spPr>
          <a:xfrm flipH="1">
            <a:off x="416717" y="2549220"/>
            <a:ext cx="226405" cy="562339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A70144C-85B4-094E-8AAA-1EE6BD8DDA58}"/>
              </a:ext>
            </a:extLst>
          </p:cNvPr>
          <p:cNvGrpSpPr/>
          <p:nvPr/>
        </p:nvGrpSpPr>
        <p:grpSpPr>
          <a:xfrm>
            <a:off x="516731" y="2784991"/>
            <a:ext cx="1503009" cy="1412125"/>
            <a:chOff x="525816" y="3281058"/>
            <a:chExt cx="986512" cy="1070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4DC8CBB2-8CAC-4A4A-B0C5-3DE913202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136" y="3281058"/>
              <a:ext cx="926192" cy="1070910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99CD4E0-E94D-8843-8058-FA3140F425DC}"/>
                </a:ext>
              </a:extLst>
            </p:cNvPr>
            <p:cNvSpPr/>
            <p:nvPr/>
          </p:nvSpPr>
          <p:spPr>
            <a:xfrm rot="2350952">
              <a:off x="525816" y="3906252"/>
              <a:ext cx="849002" cy="285750"/>
            </a:xfrm>
            <a:prstGeom prst="rect">
              <a:avLst/>
            </a:prstGeom>
            <a:solidFill>
              <a:schemeClr val="accent1">
                <a:alpha val="401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077C112-5A3E-B641-BF9C-8E985EA41C4E}"/>
              </a:ext>
            </a:extLst>
          </p:cNvPr>
          <p:cNvCxnSpPr>
            <a:cxnSpLocks/>
          </p:cNvCxnSpPr>
          <p:nvPr/>
        </p:nvCxnSpPr>
        <p:spPr>
          <a:xfrm>
            <a:off x="902554" y="2501959"/>
            <a:ext cx="2151810" cy="29652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0B7170F-56CE-0B4A-9B97-BBF955E768A6}"/>
              </a:ext>
            </a:extLst>
          </p:cNvPr>
          <p:cNvSpPr txBox="1"/>
          <p:nvPr/>
        </p:nvSpPr>
        <p:spPr>
          <a:xfrm>
            <a:off x="325821" y="4284706"/>
            <a:ext cx="41027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about 30 residues, organized in </a:t>
            </a:r>
            <a:r>
              <a:rPr kumimoji="1" lang="el-GR" altLang="zh-CN" dirty="0" err="1"/>
              <a:t>ββα</a:t>
            </a:r>
            <a:r>
              <a:rPr kumimoji="1" lang="en-US" altLang="zh-CN" dirty="0"/>
              <a:t> motif</a:t>
            </a:r>
            <a:endParaRPr kumimoji="1" lang="zh-CN" alt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DC7F18-D86E-1E47-9FAD-927763BCFD4A}"/>
              </a:ext>
            </a:extLst>
          </p:cNvPr>
          <p:cNvSpPr txBox="1"/>
          <p:nvPr/>
        </p:nvSpPr>
        <p:spPr>
          <a:xfrm>
            <a:off x="325819" y="4602727"/>
            <a:ext cx="77938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TGEKPYK</a:t>
            </a:r>
            <a:r>
              <a:rPr kumimoji="1" lang="en-US" altLang="zh-CN" dirty="0">
                <a:highlight>
                  <a:srgbClr val="FFFF00"/>
                </a:highlight>
              </a:rPr>
              <a:t>C</a:t>
            </a:r>
            <a:r>
              <a:rPr kumimoji="1" lang="en-US" altLang="zh-CN" dirty="0"/>
              <a:t>PE</a:t>
            </a:r>
            <a:r>
              <a:rPr kumimoji="1" lang="en-US" altLang="zh-CN" dirty="0">
                <a:highlight>
                  <a:srgbClr val="FFFF00"/>
                </a:highlight>
              </a:rPr>
              <a:t>C</a:t>
            </a:r>
            <a:r>
              <a:rPr kumimoji="1" lang="en-US" altLang="zh-CN" dirty="0"/>
              <a:t>GKSFS</a:t>
            </a:r>
            <a:r>
              <a:rPr kumimoji="1" lang="en-US" altLang="zh-CN" dirty="0">
                <a:solidFill>
                  <a:schemeClr val="accent1"/>
                </a:solidFill>
              </a:rPr>
              <a:t>XXXXXXX</a:t>
            </a:r>
            <a:r>
              <a:rPr kumimoji="1" lang="en-US" altLang="zh-CN" dirty="0">
                <a:highlight>
                  <a:srgbClr val="00FFFF"/>
                </a:highlight>
              </a:rPr>
              <a:t>H</a:t>
            </a:r>
            <a:r>
              <a:rPr kumimoji="1" lang="en-US" altLang="zh-CN" dirty="0"/>
              <a:t>QRT</a:t>
            </a:r>
            <a:r>
              <a:rPr kumimoji="1" lang="en-US" altLang="zh-CN" dirty="0">
                <a:highlight>
                  <a:srgbClr val="00FFFF"/>
                </a:highlight>
              </a:rPr>
              <a:t>H</a:t>
            </a:r>
          </a:p>
          <a:p>
            <a:r>
              <a:rPr kumimoji="1" lang="en-US" altLang="zh-CN" dirty="0"/>
              <a:t>Cys</a:t>
            </a:r>
            <a:r>
              <a:rPr kumimoji="1" lang="en-US" altLang="zh-CN" baseline="-25000" dirty="0"/>
              <a:t>2</a:t>
            </a:r>
            <a:r>
              <a:rPr kumimoji="1" lang="en-US" altLang="zh-CN" dirty="0"/>
              <a:t>-His</a:t>
            </a:r>
            <a:r>
              <a:rPr kumimoji="1" lang="en-US" altLang="zh-CN" baseline="-25000" dirty="0"/>
              <a:t>2</a:t>
            </a:r>
            <a:r>
              <a:rPr kumimoji="1" lang="en-US" altLang="zh-CN" dirty="0"/>
              <a:t> zinc finger</a:t>
            </a:r>
          </a:p>
          <a:p>
            <a:r>
              <a:rPr kumimoji="1" lang="en-US" altLang="zh-CN" dirty="0">
                <a:solidFill>
                  <a:schemeClr val="accent1"/>
                </a:solidFill>
              </a:rPr>
              <a:t>X could be any/one of most amino acid.</a:t>
            </a:r>
          </a:p>
          <a:p>
            <a:r>
              <a:rPr kumimoji="1" lang="en-US" altLang="zh-CN" dirty="0">
                <a:solidFill>
                  <a:schemeClr val="accent1"/>
                </a:solidFill>
              </a:rPr>
              <a:t>XXXXXXX (</a:t>
            </a:r>
            <a:r>
              <a:rPr kumimoji="1" lang="en-US" altLang="zh-CN" dirty="0">
                <a:solidFill>
                  <a:srgbClr val="FF0000"/>
                </a:solidFill>
              </a:rPr>
              <a:t>7 amino acids</a:t>
            </a:r>
            <a:r>
              <a:rPr kumimoji="1" lang="en-US" altLang="zh-CN" dirty="0">
                <a:solidFill>
                  <a:schemeClr val="accent1"/>
                </a:solidFill>
              </a:rPr>
              <a:t>) recognize and bind to </a:t>
            </a:r>
            <a:r>
              <a:rPr kumimoji="1" lang="en-US" altLang="zh-CN" dirty="0">
                <a:solidFill>
                  <a:srgbClr val="FF0000"/>
                </a:solidFill>
              </a:rPr>
              <a:t>3 bps of DNA</a:t>
            </a:r>
            <a:r>
              <a:rPr kumimoji="1" lang="en-US" altLang="zh-CN" dirty="0">
                <a:solidFill>
                  <a:schemeClr val="accent1"/>
                </a:solidFill>
              </a:rPr>
              <a:t>, </a:t>
            </a:r>
            <a:r>
              <a:rPr kumimoji="1" lang="en-US" altLang="zh-CN" b="1" dirty="0">
                <a:solidFill>
                  <a:schemeClr val="accent1"/>
                </a:solidFill>
              </a:rPr>
              <a:t>specifically</a:t>
            </a:r>
            <a:r>
              <a:rPr kumimoji="1" lang="en-US" altLang="zh-CN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25EFA0B1-7E3B-454F-B841-CDCC286E576D}"/>
              </a:ext>
            </a:extLst>
          </p:cNvPr>
          <p:cNvCxnSpPr/>
          <p:nvPr/>
        </p:nvCxnSpPr>
        <p:spPr>
          <a:xfrm>
            <a:off x="5751752" y="3758003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F2D7F31-2E50-1144-B946-DB82C412AD14}"/>
              </a:ext>
            </a:extLst>
          </p:cNvPr>
          <p:cNvCxnSpPr/>
          <p:nvPr/>
        </p:nvCxnSpPr>
        <p:spPr>
          <a:xfrm>
            <a:off x="5751752" y="4073959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A280CCC-9842-4B4C-AC0B-5C1AD2CB9C68}"/>
              </a:ext>
            </a:extLst>
          </p:cNvPr>
          <p:cNvCxnSpPr>
            <a:cxnSpLocks/>
          </p:cNvCxnSpPr>
          <p:nvPr/>
        </p:nvCxnSpPr>
        <p:spPr>
          <a:xfrm>
            <a:off x="5938339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CB37102-FE96-A944-BB95-A91B74A2A52C}"/>
              </a:ext>
            </a:extLst>
          </p:cNvPr>
          <p:cNvCxnSpPr>
            <a:cxnSpLocks/>
          </p:cNvCxnSpPr>
          <p:nvPr/>
        </p:nvCxnSpPr>
        <p:spPr>
          <a:xfrm>
            <a:off x="6083119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A822E18-2AEA-A347-B860-8699FBFA9F76}"/>
              </a:ext>
            </a:extLst>
          </p:cNvPr>
          <p:cNvCxnSpPr>
            <a:cxnSpLocks/>
          </p:cNvCxnSpPr>
          <p:nvPr/>
        </p:nvCxnSpPr>
        <p:spPr>
          <a:xfrm>
            <a:off x="6220279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0098547-247A-AA41-9976-CDBF40F9A835}"/>
              </a:ext>
            </a:extLst>
          </p:cNvPr>
          <p:cNvCxnSpPr>
            <a:cxnSpLocks/>
          </p:cNvCxnSpPr>
          <p:nvPr/>
        </p:nvCxnSpPr>
        <p:spPr>
          <a:xfrm>
            <a:off x="6349819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18EFA67-7F0E-2B48-BA10-B55B9EA19066}"/>
              </a:ext>
            </a:extLst>
          </p:cNvPr>
          <p:cNvCxnSpPr>
            <a:cxnSpLocks/>
          </p:cNvCxnSpPr>
          <p:nvPr/>
        </p:nvCxnSpPr>
        <p:spPr>
          <a:xfrm>
            <a:off x="6479359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2D7C89D-889B-3F43-9141-D8258E80E620}"/>
              </a:ext>
            </a:extLst>
          </p:cNvPr>
          <p:cNvCxnSpPr>
            <a:cxnSpLocks/>
          </p:cNvCxnSpPr>
          <p:nvPr/>
        </p:nvCxnSpPr>
        <p:spPr>
          <a:xfrm>
            <a:off x="6617212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A706F8C-6D3F-1E40-B699-910C22F557A1}"/>
              </a:ext>
            </a:extLst>
          </p:cNvPr>
          <p:cNvCxnSpPr>
            <a:cxnSpLocks/>
          </p:cNvCxnSpPr>
          <p:nvPr/>
        </p:nvCxnSpPr>
        <p:spPr>
          <a:xfrm>
            <a:off x="6761992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9F8401F-B370-D442-BB1E-1CC3EE6EE25B}"/>
              </a:ext>
            </a:extLst>
          </p:cNvPr>
          <p:cNvCxnSpPr>
            <a:cxnSpLocks/>
          </p:cNvCxnSpPr>
          <p:nvPr/>
        </p:nvCxnSpPr>
        <p:spPr>
          <a:xfrm>
            <a:off x="6899152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7107B9B-9A95-3E44-B6F1-A0307D6452DA}"/>
              </a:ext>
            </a:extLst>
          </p:cNvPr>
          <p:cNvCxnSpPr>
            <a:cxnSpLocks/>
          </p:cNvCxnSpPr>
          <p:nvPr/>
        </p:nvCxnSpPr>
        <p:spPr>
          <a:xfrm>
            <a:off x="7028692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55DEBDD-F0FA-644B-B1FB-9007065D29AA}"/>
              </a:ext>
            </a:extLst>
          </p:cNvPr>
          <p:cNvCxnSpPr>
            <a:cxnSpLocks/>
          </p:cNvCxnSpPr>
          <p:nvPr/>
        </p:nvCxnSpPr>
        <p:spPr>
          <a:xfrm>
            <a:off x="7158232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6637E05-7C12-354E-AE11-FDA48A4CC7E8}"/>
              </a:ext>
            </a:extLst>
          </p:cNvPr>
          <p:cNvCxnSpPr>
            <a:cxnSpLocks/>
          </p:cNvCxnSpPr>
          <p:nvPr/>
        </p:nvCxnSpPr>
        <p:spPr>
          <a:xfrm>
            <a:off x="7296085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D01DE3D4-F8D7-9F40-BABD-3EDBFBDBEA9E}"/>
              </a:ext>
            </a:extLst>
          </p:cNvPr>
          <p:cNvCxnSpPr>
            <a:cxnSpLocks/>
          </p:cNvCxnSpPr>
          <p:nvPr/>
        </p:nvCxnSpPr>
        <p:spPr>
          <a:xfrm>
            <a:off x="744086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2030FAF1-D6DA-634A-B6D2-E6880E5DB0CE}"/>
              </a:ext>
            </a:extLst>
          </p:cNvPr>
          <p:cNvCxnSpPr>
            <a:cxnSpLocks/>
          </p:cNvCxnSpPr>
          <p:nvPr/>
        </p:nvCxnSpPr>
        <p:spPr>
          <a:xfrm>
            <a:off x="757802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49CD73B3-1844-4343-B6A8-D0ECD7ED6F2D}"/>
              </a:ext>
            </a:extLst>
          </p:cNvPr>
          <p:cNvCxnSpPr>
            <a:cxnSpLocks/>
          </p:cNvCxnSpPr>
          <p:nvPr/>
        </p:nvCxnSpPr>
        <p:spPr>
          <a:xfrm>
            <a:off x="770756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B8532BD-CA16-A049-9EE9-624883C0E707}"/>
              </a:ext>
            </a:extLst>
          </p:cNvPr>
          <p:cNvCxnSpPr>
            <a:cxnSpLocks/>
          </p:cNvCxnSpPr>
          <p:nvPr/>
        </p:nvCxnSpPr>
        <p:spPr>
          <a:xfrm>
            <a:off x="7837105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88DFE8D-0A15-454E-A5BD-5D77CDCFDD0B}"/>
              </a:ext>
            </a:extLst>
          </p:cNvPr>
          <p:cNvCxnSpPr>
            <a:cxnSpLocks/>
          </p:cNvCxnSpPr>
          <p:nvPr/>
        </p:nvCxnSpPr>
        <p:spPr>
          <a:xfrm>
            <a:off x="7974957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1330D54-FA49-A940-9984-42EB25D050CC}"/>
              </a:ext>
            </a:extLst>
          </p:cNvPr>
          <p:cNvCxnSpPr>
            <a:cxnSpLocks/>
          </p:cNvCxnSpPr>
          <p:nvPr/>
        </p:nvCxnSpPr>
        <p:spPr>
          <a:xfrm>
            <a:off x="8119737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A87C16CE-AD66-3244-A585-37B5F721B810}"/>
              </a:ext>
            </a:extLst>
          </p:cNvPr>
          <p:cNvCxnSpPr>
            <a:cxnSpLocks/>
          </p:cNvCxnSpPr>
          <p:nvPr/>
        </p:nvCxnSpPr>
        <p:spPr>
          <a:xfrm>
            <a:off x="8256897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13177CB-D233-A140-B3A2-7EC0EAE7484C}"/>
              </a:ext>
            </a:extLst>
          </p:cNvPr>
          <p:cNvCxnSpPr>
            <a:cxnSpLocks/>
          </p:cNvCxnSpPr>
          <p:nvPr/>
        </p:nvCxnSpPr>
        <p:spPr>
          <a:xfrm>
            <a:off x="8386437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53F7FCA-0BBB-574B-9144-11068A2AB3D6}"/>
              </a:ext>
            </a:extLst>
          </p:cNvPr>
          <p:cNvCxnSpPr>
            <a:cxnSpLocks/>
          </p:cNvCxnSpPr>
          <p:nvPr/>
        </p:nvCxnSpPr>
        <p:spPr>
          <a:xfrm>
            <a:off x="8515977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C9268C3-0421-9643-840C-E404482CFE08}"/>
              </a:ext>
            </a:extLst>
          </p:cNvPr>
          <p:cNvCxnSpPr>
            <a:cxnSpLocks/>
          </p:cNvCxnSpPr>
          <p:nvPr/>
        </p:nvCxnSpPr>
        <p:spPr>
          <a:xfrm>
            <a:off x="8653830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7B935C4-7A1C-484A-A38F-BD96E714C226}"/>
              </a:ext>
            </a:extLst>
          </p:cNvPr>
          <p:cNvCxnSpPr>
            <a:cxnSpLocks/>
          </p:cNvCxnSpPr>
          <p:nvPr/>
        </p:nvCxnSpPr>
        <p:spPr>
          <a:xfrm>
            <a:off x="8798610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D8344FB-CA2B-B64D-AE02-64FD9DC36286}"/>
              </a:ext>
            </a:extLst>
          </p:cNvPr>
          <p:cNvCxnSpPr>
            <a:cxnSpLocks/>
          </p:cNvCxnSpPr>
          <p:nvPr/>
        </p:nvCxnSpPr>
        <p:spPr>
          <a:xfrm>
            <a:off x="8935770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F2A47626-5852-1D47-9019-3F27A4C2CD0C}"/>
              </a:ext>
            </a:extLst>
          </p:cNvPr>
          <p:cNvCxnSpPr>
            <a:cxnSpLocks/>
          </p:cNvCxnSpPr>
          <p:nvPr/>
        </p:nvCxnSpPr>
        <p:spPr>
          <a:xfrm>
            <a:off x="9065310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46D5769-BF89-7D47-A081-07F6219037CF}"/>
              </a:ext>
            </a:extLst>
          </p:cNvPr>
          <p:cNvCxnSpPr>
            <a:cxnSpLocks/>
          </p:cNvCxnSpPr>
          <p:nvPr/>
        </p:nvCxnSpPr>
        <p:spPr>
          <a:xfrm>
            <a:off x="9194850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61F6326-1734-5C4B-898A-8FFCBA54CDC7}"/>
              </a:ext>
            </a:extLst>
          </p:cNvPr>
          <p:cNvCxnSpPr>
            <a:cxnSpLocks/>
          </p:cNvCxnSpPr>
          <p:nvPr/>
        </p:nvCxnSpPr>
        <p:spPr>
          <a:xfrm>
            <a:off x="9325083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B7720000-50BB-0F4B-A8B2-A28D8CCB557E}"/>
              </a:ext>
            </a:extLst>
          </p:cNvPr>
          <p:cNvCxnSpPr>
            <a:cxnSpLocks/>
          </p:cNvCxnSpPr>
          <p:nvPr/>
        </p:nvCxnSpPr>
        <p:spPr>
          <a:xfrm>
            <a:off x="9462243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EA97B87D-5D3E-7846-B3DB-8A12AAF36C56}"/>
              </a:ext>
            </a:extLst>
          </p:cNvPr>
          <p:cNvCxnSpPr>
            <a:cxnSpLocks/>
          </p:cNvCxnSpPr>
          <p:nvPr/>
        </p:nvCxnSpPr>
        <p:spPr>
          <a:xfrm>
            <a:off x="9591783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010ED17-DCF5-EA4B-A8C2-82A6DCE36CA0}"/>
              </a:ext>
            </a:extLst>
          </p:cNvPr>
          <p:cNvCxnSpPr>
            <a:cxnSpLocks/>
          </p:cNvCxnSpPr>
          <p:nvPr/>
        </p:nvCxnSpPr>
        <p:spPr>
          <a:xfrm>
            <a:off x="9721323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4C99176-A41B-A841-B5B5-6E449FE3C4F0}"/>
              </a:ext>
            </a:extLst>
          </p:cNvPr>
          <p:cNvCxnSpPr>
            <a:cxnSpLocks/>
          </p:cNvCxnSpPr>
          <p:nvPr/>
        </p:nvCxnSpPr>
        <p:spPr>
          <a:xfrm>
            <a:off x="9859175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628F7442-8E65-314E-8DF1-C44408031E09}"/>
              </a:ext>
            </a:extLst>
          </p:cNvPr>
          <p:cNvCxnSpPr>
            <a:cxnSpLocks/>
          </p:cNvCxnSpPr>
          <p:nvPr/>
        </p:nvCxnSpPr>
        <p:spPr>
          <a:xfrm>
            <a:off x="1000395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6676F29-446C-674D-B4BB-756982DB884E}"/>
              </a:ext>
            </a:extLst>
          </p:cNvPr>
          <p:cNvCxnSpPr>
            <a:cxnSpLocks/>
          </p:cNvCxnSpPr>
          <p:nvPr/>
        </p:nvCxnSpPr>
        <p:spPr>
          <a:xfrm>
            <a:off x="1014111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BD28D57-8FE7-EE4D-80B1-D3C6781F1401}"/>
              </a:ext>
            </a:extLst>
          </p:cNvPr>
          <p:cNvCxnSpPr>
            <a:cxnSpLocks/>
          </p:cNvCxnSpPr>
          <p:nvPr/>
        </p:nvCxnSpPr>
        <p:spPr>
          <a:xfrm>
            <a:off x="10270655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A64ECB6A-A365-9343-87D6-006E4C7073F1}"/>
              </a:ext>
            </a:extLst>
          </p:cNvPr>
          <p:cNvCxnSpPr>
            <a:cxnSpLocks/>
          </p:cNvCxnSpPr>
          <p:nvPr/>
        </p:nvCxnSpPr>
        <p:spPr>
          <a:xfrm>
            <a:off x="10400195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F432C32-A6B3-8E4F-ABE2-5E3C7ECEFD8B}"/>
              </a:ext>
            </a:extLst>
          </p:cNvPr>
          <p:cNvCxnSpPr>
            <a:cxnSpLocks/>
          </p:cNvCxnSpPr>
          <p:nvPr/>
        </p:nvCxnSpPr>
        <p:spPr>
          <a:xfrm>
            <a:off x="10538048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5CE01E0B-8573-DD4B-BAF4-F30912DD6844}"/>
              </a:ext>
            </a:extLst>
          </p:cNvPr>
          <p:cNvCxnSpPr>
            <a:cxnSpLocks/>
          </p:cNvCxnSpPr>
          <p:nvPr/>
        </p:nvCxnSpPr>
        <p:spPr>
          <a:xfrm>
            <a:off x="10682828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E9206AB-36D1-3A4C-BA2A-DD6459312DE4}"/>
              </a:ext>
            </a:extLst>
          </p:cNvPr>
          <p:cNvCxnSpPr>
            <a:cxnSpLocks/>
          </p:cNvCxnSpPr>
          <p:nvPr/>
        </p:nvCxnSpPr>
        <p:spPr>
          <a:xfrm>
            <a:off x="10819988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A8B2A1C-EDD7-9942-8A6E-F2A942F0E9B9}"/>
              </a:ext>
            </a:extLst>
          </p:cNvPr>
          <p:cNvCxnSpPr>
            <a:cxnSpLocks/>
          </p:cNvCxnSpPr>
          <p:nvPr/>
        </p:nvCxnSpPr>
        <p:spPr>
          <a:xfrm>
            <a:off x="10949528" y="3743482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41462180-95AE-B948-B77C-B911C66A4344}"/>
              </a:ext>
            </a:extLst>
          </p:cNvPr>
          <p:cNvCxnSpPr>
            <a:cxnSpLocks/>
          </p:cNvCxnSpPr>
          <p:nvPr/>
        </p:nvCxnSpPr>
        <p:spPr>
          <a:xfrm>
            <a:off x="11079068" y="3758003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BD64A4F-1779-1341-8851-D13523F8FB1D}"/>
              </a:ext>
            </a:extLst>
          </p:cNvPr>
          <p:cNvCxnSpPr/>
          <p:nvPr/>
        </p:nvCxnSpPr>
        <p:spPr>
          <a:xfrm>
            <a:off x="5591979" y="3931828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B1934176-E925-C949-A540-EFB4AF18F3FF}"/>
              </a:ext>
            </a:extLst>
          </p:cNvPr>
          <p:cNvSpPr txBox="1"/>
          <p:nvPr/>
        </p:nvSpPr>
        <p:spPr>
          <a:xfrm>
            <a:off x="5392358" y="3573337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1C97CFB-A2EF-3541-82B3-BA7EB697D403}"/>
              </a:ext>
            </a:extLst>
          </p:cNvPr>
          <p:cNvSpPr txBox="1"/>
          <p:nvPr/>
        </p:nvSpPr>
        <p:spPr>
          <a:xfrm>
            <a:off x="5392358" y="3891358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E9F1BD6-E8B0-1748-9DA6-023C5BE21998}"/>
              </a:ext>
            </a:extLst>
          </p:cNvPr>
          <p:cNvSpPr txBox="1"/>
          <p:nvPr/>
        </p:nvSpPr>
        <p:spPr>
          <a:xfrm>
            <a:off x="11224386" y="3888207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951A94-E629-CD40-97F0-ABB7C0E85003}"/>
              </a:ext>
            </a:extLst>
          </p:cNvPr>
          <p:cNvSpPr txBox="1"/>
          <p:nvPr/>
        </p:nvSpPr>
        <p:spPr>
          <a:xfrm>
            <a:off x="11225499" y="357382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04" name="Freeform 103">
            <a:extLst>
              <a:ext uri="{FF2B5EF4-FFF2-40B4-BE49-F238E27FC236}">
                <a16:creationId xmlns:a16="http://schemas.microsoft.com/office/drawing/2014/main" id="{CFA2F973-85A9-1D4B-903E-BF119EB5F2F2}"/>
              </a:ext>
            </a:extLst>
          </p:cNvPr>
          <p:cNvSpPr/>
          <p:nvPr/>
        </p:nvSpPr>
        <p:spPr>
          <a:xfrm>
            <a:off x="8488773" y="3658356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3966A459-F40C-F045-B5DA-70AF602C9481}"/>
              </a:ext>
            </a:extLst>
          </p:cNvPr>
          <p:cNvSpPr/>
          <p:nvPr/>
        </p:nvSpPr>
        <p:spPr>
          <a:xfrm>
            <a:off x="6706367" y="417360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5" name="Freeform 114">
            <a:extLst>
              <a:ext uri="{FF2B5EF4-FFF2-40B4-BE49-F238E27FC236}">
                <a16:creationId xmlns:a16="http://schemas.microsoft.com/office/drawing/2014/main" id="{FFAEDE10-DBAC-4741-B154-FA0EAA78581B}"/>
              </a:ext>
            </a:extLst>
          </p:cNvPr>
          <p:cNvSpPr/>
          <p:nvPr/>
        </p:nvSpPr>
        <p:spPr>
          <a:xfrm>
            <a:off x="7116815" y="416014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6" name="Freeform 115">
            <a:extLst>
              <a:ext uri="{FF2B5EF4-FFF2-40B4-BE49-F238E27FC236}">
                <a16:creationId xmlns:a16="http://schemas.microsoft.com/office/drawing/2014/main" id="{5325F4D9-B558-9B4B-AFE8-4C5BF145B226}"/>
              </a:ext>
            </a:extLst>
          </p:cNvPr>
          <p:cNvSpPr/>
          <p:nvPr/>
        </p:nvSpPr>
        <p:spPr>
          <a:xfrm>
            <a:off x="7536180" y="4161714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DE6167DE-AE58-BB4F-8246-4DB0B22709E5}"/>
              </a:ext>
            </a:extLst>
          </p:cNvPr>
          <p:cNvSpPr/>
          <p:nvPr/>
        </p:nvSpPr>
        <p:spPr>
          <a:xfrm>
            <a:off x="7934368" y="4160146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A05399E-822C-314A-B575-3BA42AD4AC93}"/>
              </a:ext>
            </a:extLst>
          </p:cNvPr>
          <p:cNvGrpSpPr/>
          <p:nvPr/>
        </p:nvGrpSpPr>
        <p:grpSpPr>
          <a:xfrm>
            <a:off x="8308639" y="3266306"/>
            <a:ext cx="2518671" cy="793133"/>
            <a:chOff x="8308639" y="3431406"/>
            <a:chExt cx="2518671" cy="793133"/>
          </a:xfrm>
        </p:grpSpPr>
        <p:sp>
          <p:nvSpPr>
            <p:cNvPr id="103" name="Freeform 102">
              <a:extLst>
                <a:ext uri="{FF2B5EF4-FFF2-40B4-BE49-F238E27FC236}">
                  <a16:creationId xmlns:a16="http://schemas.microsoft.com/office/drawing/2014/main" id="{98D5E6F9-EB37-6549-94AC-1CB114A0683B}"/>
                </a:ext>
              </a:extLst>
            </p:cNvPr>
            <p:cNvSpPr/>
            <p:nvPr/>
          </p:nvSpPr>
          <p:spPr>
            <a:xfrm>
              <a:off x="8308639" y="3476394"/>
              <a:ext cx="739781" cy="748145"/>
            </a:xfrm>
            <a:custGeom>
              <a:avLst/>
              <a:gdLst>
                <a:gd name="connsiteX0" fmla="*/ 86639 w 739781"/>
                <a:gd name="connsiteY0" fmla="*/ 273132 h 748145"/>
                <a:gd name="connsiteX1" fmla="*/ 169766 w 739781"/>
                <a:gd name="connsiteY1" fmla="*/ 225631 h 748145"/>
                <a:gd name="connsiteX2" fmla="*/ 205392 w 739781"/>
                <a:gd name="connsiteY2" fmla="*/ 190005 h 748145"/>
                <a:gd name="connsiteX3" fmla="*/ 241018 w 739781"/>
                <a:gd name="connsiteY3" fmla="*/ 166254 h 748145"/>
                <a:gd name="connsiteX4" fmla="*/ 264768 w 739781"/>
                <a:gd name="connsiteY4" fmla="*/ 130628 h 748145"/>
                <a:gd name="connsiteX5" fmla="*/ 300394 w 739781"/>
                <a:gd name="connsiteY5" fmla="*/ 106878 h 748145"/>
                <a:gd name="connsiteX6" fmla="*/ 383522 w 739781"/>
                <a:gd name="connsiteY6" fmla="*/ 11875 h 748145"/>
                <a:gd name="connsiteX7" fmla="*/ 419148 w 739781"/>
                <a:gd name="connsiteY7" fmla="*/ 0 h 748145"/>
                <a:gd name="connsiteX8" fmla="*/ 549776 w 739781"/>
                <a:gd name="connsiteY8" fmla="*/ 23750 h 748145"/>
                <a:gd name="connsiteX9" fmla="*/ 621028 w 739781"/>
                <a:gd name="connsiteY9" fmla="*/ 71252 h 748145"/>
                <a:gd name="connsiteX10" fmla="*/ 692280 w 739781"/>
                <a:gd name="connsiteY10" fmla="*/ 142504 h 748145"/>
                <a:gd name="connsiteX11" fmla="*/ 739781 w 739781"/>
                <a:gd name="connsiteY11" fmla="*/ 213756 h 748145"/>
                <a:gd name="connsiteX12" fmla="*/ 727906 w 739781"/>
                <a:gd name="connsiteY12" fmla="*/ 427512 h 748145"/>
                <a:gd name="connsiteX13" fmla="*/ 609153 w 739781"/>
                <a:gd name="connsiteY13" fmla="*/ 546265 h 748145"/>
                <a:gd name="connsiteX14" fmla="*/ 573527 w 739781"/>
                <a:gd name="connsiteY14" fmla="*/ 570015 h 748145"/>
                <a:gd name="connsiteX15" fmla="*/ 537901 w 739781"/>
                <a:gd name="connsiteY15" fmla="*/ 593766 h 748145"/>
                <a:gd name="connsiteX16" fmla="*/ 466649 w 739781"/>
                <a:gd name="connsiteY16" fmla="*/ 641267 h 748145"/>
                <a:gd name="connsiteX17" fmla="*/ 395397 w 739781"/>
                <a:gd name="connsiteY17" fmla="*/ 688769 h 748145"/>
                <a:gd name="connsiteX18" fmla="*/ 359771 w 739781"/>
                <a:gd name="connsiteY18" fmla="*/ 712519 h 748145"/>
                <a:gd name="connsiteX19" fmla="*/ 288519 w 739781"/>
                <a:gd name="connsiteY19" fmla="*/ 736270 h 748145"/>
                <a:gd name="connsiteX20" fmla="*/ 252893 w 739781"/>
                <a:gd name="connsiteY20" fmla="*/ 748145 h 748145"/>
                <a:gd name="connsiteX21" fmla="*/ 217267 w 739781"/>
                <a:gd name="connsiteY21" fmla="*/ 736270 h 748145"/>
                <a:gd name="connsiteX22" fmla="*/ 146015 w 739781"/>
                <a:gd name="connsiteY22" fmla="*/ 676893 h 748145"/>
                <a:gd name="connsiteX23" fmla="*/ 98514 w 739781"/>
                <a:gd name="connsiteY23" fmla="*/ 605641 h 748145"/>
                <a:gd name="connsiteX24" fmla="*/ 27262 w 739781"/>
                <a:gd name="connsiteY24" fmla="*/ 558140 h 748145"/>
                <a:gd name="connsiteX25" fmla="*/ 3511 w 739781"/>
                <a:gd name="connsiteY25" fmla="*/ 522514 h 748145"/>
                <a:gd name="connsiteX26" fmla="*/ 39137 w 739781"/>
                <a:gd name="connsiteY26" fmla="*/ 391886 h 748145"/>
                <a:gd name="connsiteX27" fmla="*/ 62888 w 739781"/>
                <a:gd name="connsiteY27" fmla="*/ 320634 h 748145"/>
                <a:gd name="connsiteX28" fmla="*/ 86639 w 739781"/>
                <a:gd name="connsiteY28" fmla="*/ 273132 h 748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39781" h="748145">
                  <a:moveTo>
                    <a:pt x="86639" y="273132"/>
                  </a:moveTo>
                  <a:cubicBezTo>
                    <a:pt x="114348" y="257298"/>
                    <a:pt x="143621" y="243932"/>
                    <a:pt x="169766" y="225631"/>
                  </a:cubicBezTo>
                  <a:cubicBezTo>
                    <a:pt x="183524" y="216000"/>
                    <a:pt x="192490" y="200756"/>
                    <a:pt x="205392" y="190005"/>
                  </a:cubicBezTo>
                  <a:cubicBezTo>
                    <a:pt x="216356" y="180868"/>
                    <a:pt x="229143" y="174171"/>
                    <a:pt x="241018" y="166254"/>
                  </a:cubicBezTo>
                  <a:cubicBezTo>
                    <a:pt x="248935" y="154379"/>
                    <a:pt x="254676" y="140720"/>
                    <a:pt x="264768" y="130628"/>
                  </a:cubicBezTo>
                  <a:cubicBezTo>
                    <a:pt x="274860" y="120536"/>
                    <a:pt x="290996" y="117619"/>
                    <a:pt x="300394" y="106878"/>
                  </a:cubicBezTo>
                  <a:cubicBezTo>
                    <a:pt x="355811" y="43545"/>
                    <a:pt x="324146" y="41563"/>
                    <a:pt x="383522" y="11875"/>
                  </a:cubicBezTo>
                  <a:cubicBezTo>
                    <a:pt x="394718" y="6277"/>
                    <a:pt x="407273" y="3958"/>
                    <a:pt x="419148" y="0"/>
                  </a:cubicBezTo>
                  <a:cubicBezTo>
                    <a:pt x="423174" y="503"/>
                    <a:pt x="524430" y="6853"/>
                    <a:pt x="549776" y="23750"/>
                  </a:cubicBezTo>
                  <a:cubicBezTo>
                    <a:pt x="638735" y="83055"/>
                    <a:pt x="536315" y="43013"/>
                    <a:pt x="621028" y="71252"/>
                  </a:cubicBezTo>
                  <a:cubicBezTo>
                    <a:pt x="644779" y="95003"/>
                    <a:pt x="673649" y="114557"/>
                    <a:pt x="692280" y="142504"/>
                  </a:cubicBezTo>
                  <a:lnTo>
                    <a:pt x="739781" y="213756"/>
                  </a:lnTo>
                  <a:cubicBezTo>
                    <a:pt x="735823" y="285008"/>
                    <a:pt x="742460" y="357650"/>
                    <a:pt x="727906" y="427512"/>
                  </a:cubicBezTo>
                  <a:cubicBezTo>
                    <a:pt x="715137" y="488802"/>
                    <a:pt x="653588" y="516642"/>
                    <a:pt x="609153" y="546265"/>
                  </a:cubicBezTo>
                  <a:lnTo>
                    <a:pt x="573527" y="570015"/>
                  </a:lnTo>
                  <a:cubicBezTo>
                    <a:pt x="561652" y="577932"/>
                    <a:pt x="547993" y="583674"/>
                    <a:pt x="537901" y="593766"/>
                  </a:cubicBezTo>
                  <a:cubicBezTo>
                    <a:pt x="493424" y="638243"/>
                    <a:pt x="518207" y="624081"/>
                    <a:pt x="466649" y="641267"/>
                  </a:cubicBezTo>
                  <a:lnTo>
                    <a:pt x="395397" y="688769"/>
                  </a:lnTo>
                  <a:cubicBezTo>
                    <a:pt x="383522" y="696686"/>
                    <a:pt x="373311" y="708006"/>
                    <a:pt x="359771" y="712519"/>
                  </a:cubicBezTo>
                  <a:lnTo>
                    <a:pt x="288519" y="736270"/>
                  </a:lnTo>
                  <a:lnTo>
                    <a:pt x="252893" y="748145"/>
                  </a:lnTo>
                  <a:cubicBezTo>
                    <a:pt x="241018" y="744187"/>
                    <a:pt x="228463" y="741868"/>
                    <a:pt x="217267" y="736270"/>
                  </a:cubicBezTo>
                  <a:cubicBezTo>
                    <a:pt x="192318" y="723795"/>
                    <a:pt x="162727" y="698380"/>
                    <a:pt x="146015" y="676893"/>
                  </a:cubicBezTo>
                  <a:cubicBezTo>
                    <a:pt x="128490" y="654361"/>
                    <a:pt x="122265" y="621475"/>
                    <a:pt x="98514" y="605641"/>
                  </a:cubicBezTo>
                  <a:lnTo>
                    <a:pt x="27262" y="558140"/>
                  </a:lnTo>
                  <a:cubicBezTo>
                    <a:pt x="19345" y="546265"/>
                    <a:pt x="4803" y="536728"/>
                    <a:pt x="3511" y="522514"/>
                  </a:cubicBezTo>
                  <a:cubicBezTo>
                    <a:pt x="-7657" y="399667"/>
                    <a:pt x="8782" y="460185"/>
                    <a:pt x="39137" y="391886"/>
                  </a:cubicBezTo>
                  <a:cubicBezTo>
                    <a:pt x="49305" y="369008"/>
                    <a:pt x="54971" y="344385"/>
                    <a:pt x="62888" y="320634"/>
                  </a:cubicBezTo>
                  <a:lnTo>
                    <a:pt x="86639" y="273132"/>
                  </a:lnTo>
                  <a:close/>
                </a:path>
              </a:pathLst>
            </a:cu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FokI</a:t>
              </a:r>
              <a:endParaRPr kumimoji="1" lang="zh-CN" altLang="en-US" dirty="0"/>
            </a:p>
          </p:txBody>
        </p:sp>
        <p:sp>
          <p:nvSpPr>
            <p:cNvPr id="105" name="Freeform 104">
              <a:extLst>
                <a:ext uri="{FF2B5EF4-FFF2-40B4-BE49-F238E27FC236}">
                  <a16:creationId xmlns:a16="http://schemas.microsoft.com/office/drawing/2014/main" id="{DBF4AA9D-319E-F54F-B188-A977C8C01DB9}"/>
                </a:ext>
              </a:extLst>
            </p:cNvPr>
            <p:cNvSpPr/>
            <p:nvPr/>
          </p:nvSpPr>
          <p:spPr>
            <a:xfrm>
              <a:off x="9269620" y="350768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6" name="Freeform 105">
              <a:extLst>
                <a:ext uri="{FF2B5EF4-FFF2-40B4-BE49-F238E27FC236}">
                  <a16:creationId xmlns:a16="http://schemas.microsoft.com/office/drawing/2014/main" id="{B3279C36-2BC2-1C40-8F86-D5D639F35896}"/>
                </a:ext>
              </a:extLst>
            </p:cNvPr>
            <p:cNvSpPr/>
            <p:nvPr/>
          </p:nvSpPr>
          <p:spPr>
            <a:xfrm>
              <a:off x="9680068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7" name="Freeform 106">
              <a:extLst>
                <a:ext uri="{FF2B5EF4-FFF2-40B4-BE49-F238E27FC236}">
                  <a16:creationId xmlns:a16="http://schemas.microsoft.com/office/drawing/2014/main" id="{2D0D6FC2-A692-064F-B71E-AF38760EC122}"/>
                </a:ext>
              </a:extLst>
            </p:cNvPr>
            <p:cNvSpPr/>
            <p:nvPr/>
          </p:nvSpPr>
          <p:spPr>
            <a:xfrm>
              <a:off x="10099433" y="3495794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08" name="Freeform 107">
              <a:extLst>
                <a:ext uri="{FF2B5EF4-FFF2-40B4-BE49-F238E27FC236}">
                  <a16:creationId xmlns:a16="http://schemas.microsoft.com/office/drawing/2014/main" id="{75B94C21-BD49-0A48-B2C1-0B4D88ADCFA3}"/>
                </a:ext>
              </a:extLst>
            </p:cNvPr>
            <p:cNvSpPr/>
            <p:nvPr/>
          </p:nvSpPr>
          <p:spPr>
            <a:xfrm>
              <a:off x="10497621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119" name="Freeform 118">
              <a:extLst>
                <a:ext uri="{FF2B5EF4-FFF2-40B4-BE49-F238E27FC236}">
                  <a16:creationId xmlns:a16="http://schemas.microsoft.com/office/drawing/2014/main" id="{70DF751C-7DBC-CB48-B1AB-2E91081EEAA9}"/>
                </a:ext>
              </a:extLst>
            </p:cNvPr>
            <p:cNvSpPr/>
            <p:nvPr/>
          </p:nvSpPr>
          <p:spPr>
            <a:xfrm>
              <a:off x="8975304" y="3476393"/>
              <a:ext cx="329689" cy="109673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15F3E2C7-2744-C04F-9CAA-EA2E8D331AF1}"/>
                </a:ext>
              </a:extLst>
            </p:cNvPr>
            <p:cNvSpPr/>
            <p:nvPr/>
          </p:nvSpPr>
          <p:spPr>
            <a:xfrm rot="10800000">
              <a:off x="9442379" y="3792096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94CA7327-020A-F24C-91A0-E22A413D135D}"/>
                </a:ext>
              </a:extLst>
            </p:cNvPr>
            <p:cNvSpPr/>
            <p:nvPr/>
          </p:nvSpPr>
          <p:spPr>
            <a:xfrm rot="432198">
              <a:off x="9871220" y="3431406"/>
              <a:ext cx="387928" cy="83941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FA2DCF1A-5F71-5B49-9D99-A72C211B86C6}"/>
                </a:ext>
              </a:extLst>
            </p:cNvPr>
            <p:cNvSpPr/>
            <p:nvPr/>
          </p:nvSpPr>
          <p:spPr>
            <a:xfrm rot="10800000">
              <a:off x="10285727" y="3791884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29" name="Freeform 128">
            <a:extLst>
              <a:ext uri="{FF2B5EF4-FFF2-40B4-BE49-F238E27FC236}">
                <a16:creationId xmlns:a16="http://schemas.microsoft.com/office/drawing/2014/main" id="{B1515E19-3718-7D46-8291-3045F4AAC3EE}"/>
              </a:ext>
            </a:extLst>
          </p:cNvPr>
          <p:cNvSpPr/>
          <p:nvPr/>
        </p:nvSpPr>
        <p:spPr>
          <a:xfrm rot="20361174" flipV="1">
            <a:off x="8250201" y="4356627"/>
            <a:ext cx="389769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0" name="Freeform 129">
            <a:extLst>
              <a:ext uri="{FF2B5EF4-FFF2-40B4-BE49-F238E27FC236}">
                <a16:creationId xmlns:a16="http://schemas.microsoft.com/office/drawing/2014/main" id="{0279E90D-F14F-3D4B-AAA8-0240AA44FAEF}"/>
              </a:ext>
            </a:extLst>
          </p:cNvPr>
          <p:cNvSpPr/>
          <p:nvPr/>
        </p:nvSpPr>
        <p:spPr>
          <a:xfrm rot="20361174" flipV="1">
            <a:off x="7778563" y="4418321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1" name="Freeform 130">
            <a:extLst>
              <a:ext uri="{FF2B5EF4-FFF2-40B4-BE49-F238E27FC236}">
                <a16:creationId xmlns:a16="http://schemas.microsoft.com/office/drawing/2014/main" id="{5E5A0974-9BFD-4849-BD33-82FF5E8557ED}"/>
              </a:ext>
            </a:extLst>
          </p:cNvPr>
          <p:cNvSpPr/>
          <p:nvPr/>
        </p:nvSpPr>
        <p:spPr>
          <a:xfrm rot="9967244" flipV="1">
            <a:off x="7393245" y="4132834"/>
            <a:ext cx="189718" cy="75674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57FDE7CF-26EF-D041-9020-611BE55EF96D}"/>
              </a:ext>
            </a:extLst>
          </p:cNvPr>
          <p:cNvSpPr/>
          <p:nvPr/>
        </p:nvSpPr>
        <p:spPr>
          <a:xfrm rot="20361174" flipV="1">
            <a:off x="6966106" y="4418321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ABD7915-0CFB-2B40-A032-00F56C3B775D}"/>
              </a:ext>
            </a:extLst>
          </p:cNvPr>
          <p:cNvSpPr txBox="1"/>
          <p:nvPr/>
        </p:nvSpPr>
        <p:spPr>
          <a:xfrm>
            <a:off x="5397928" y="4652408"/>
            <a:ext cx="4935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Schematic diagram</a:t>
            </a:r>
            <a:r>
              <a:rPr lang="zh-CN" alt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 </a:t>
            </a:r>
            <a:r>
              <a:rPr lang="en-US" altLang="zh-CN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of ZFN.</a:t>
            </a:r>
            <a:endParaRPr kumimoji="1" lang="en-US" altLang="zh-CN" sz="1400" dirty="0"/>
          </a:p>
        </p:txBody>
      </p:sp>
      <p:sp>
        <p:nvSpPr>
          <p:cNvPr id="1024" name="Lightning Bolt 1023">
            <a:extLst>
              <a:ext uri="{FF2B5EF4-FFF2-40B4-BE49-F238E27FC236}">
                <a16:creationId xmlns:a16="http://schemas.microsoft.com/office/drawing/2014/main" id="{038DC9A1-1DE9-084C-9250-EF79E80B2E0E}"/>
              </a:ext>
            </a:extLst>
          </p:cNvPr>
          <p:cNvSpPr/>
          <p:nvPr/>
        </p:nvSpPr>
        <p:spPr>
          <a:xfrm flipH="1">
            <a:off x="8781963" y="3075908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81AEC5-911E-0548-AD0E-5F180B39621D}"/>
              </a:ext>
            </a:extLst>
          </p:cNvPr>
          <p:cNvCxnSpPr>
            <a:stCxn id="127" idx="1"/>
          </p:cNvCxnSpPr>
          <p:nvPr/>
        </p:nvCxnSpPr>
        <p:spPr>
          <a:xfrm flipV="1">
            <a:off x="10042854" y="2820557"/>
            <a:ext cx="357341" cy="44341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CE06C1D-792B-CE4A-8A2C-2B4C1765DAB1}"/>
              </a:ext>
            </a:extLst>
          </p:cNvPr>
          <p:cNvSpPr txBox="1"/>
          <p:nvPr/>
        </p:nvSpPr>
        <p:spPr>
          <a:xfrm>
            <a:off x="10367750" y="2543558"/>
            <a:ext cx="704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linker</a:t>
            </a:r>
            <a:endParaRPr kumimoji="1" lang="zh-CN" altLang="en-US" dirty="0"/>
          </a:p>
        </p:txBody>
      </p:sp>
      <p:pic>
        <p:nvPicPr>
          <p:cNvPr id="1026" name="Picture 2" descr="Schematic diagram of a C2H2 zinc-finger motif. The pair | Open-i">
            <a:extLst>
              <a:ext uri="{FF2B5EF4-FFF2-40B4-BE49-F238E27FC236}">
                <a16:creationId xmlns:a16="http://schemas.microsoft.com/office/drawing/2014/main" id="{8B3405D9-7B95-8743-862B-36F1909FA9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675"/>
          <a:stretch/>
        </p:blipFill>
        <p:spPr bwMode="auto">
          <a:xfrm>
            <a:off x="2017094" y="2921029"/>
            <a:ext cx="1842840" cy="1365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86872433-1F08-0344-8591-BADFD42037EE}"/>
              </a:ext>
            </a:extLst>
          </p:cNvPr>
          <p:cNvSpPr txBox="1"/>
          <p:nvPr/>
        </p:nvSpPr>
        <p:spPr>
          <a:xfrm>
            <a:off x="0" y="5930308"/>
            <a:ext cx="57794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</a:rPr>
              <a:t>Urnov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</a:rPr>
              <a:t> FD, Rebar EJ, Holmes MC, Zhang HS, Gregory PD. Genome editing with engineered zinc finger nucleases.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</a:rPr>
              <a:t>Nat Rev Genet.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</a:rPr>
              <a:t> 2010 Sep;11(9):636-46.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3401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9256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CN" altLang="zh-CN" sz="3200" dirty="0"/>
              <a:t>Problems of ZFN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8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ZFN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4100F9F-2017-C845-942C-6B0D281529BE}"/>
              </a:ext>
            </a:extLst>
          </p:cNvPr>
          <p:cNvSpPr txBox="1"/>
          <p:nvPr/>
        </p:nvSpPr>
        <p:spPr>
          <a:xfrm>
            <a:off x="325821" y="1048925"/>
            <a:ext cx="9211879" cy="4804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7 amino acids map to 3 bp (a triplet) of DNA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# of possible</a:t>
            </a:r>
            <a:r>
              <a:rPr kumimoji="1" lang="zh-CN" altLang="en-US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arrangements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of triplets: 4</a:t>
            </a:r>
            <a:r>
              <a:rPr kumimoji="1" lang="en-CN" altLang="zh-CN" baseline="30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3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= 64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# of possible arrangements of amino acids: 20</a:t>
            </a:r>
            <a:r>
              <a:rPr kumimoji="1" lang="en-CN" altLang="zh-CN" baseline="30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7</a:t>
            </a:r>
            <a:endParaRPr kumimoji="1" lang="en-CN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 </a:t>
            </a: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#1</a:t>
            </a: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: high complexity</a:t>
            </a:r>
            <a:endParaRPr kumimoji="1" lang="en-CN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It could be extremely hard to select 64 correct arangements from 20</a:t>
            </a:r>
            <a:r>
              <a:rPr kumimoji="1" lang="en-CN" altLang="zh-CN" baseline="30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7 </a:t>
            </a: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options.</a:t>
            </a:r>
            <a:endParaRPr kumimoji="1" lang="en-CN" altLang="zh-CN" i="1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 fact, </a:t>
            </a:r>
            <a:r>
              <a:rPr kumimoji="1" lang="en-US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it remains challenging to create zinc-finger domains that can effectively recognize all DNA triplets.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 #2: lack of target flexibility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Must find a triplet that can be targeted near targeted sites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CN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Problem #3: difficult and expensive to construct </a:t>
            </a:r>
            <a:r>
              <a:rPr kumimoji="1" lang="en-US" altLang="zh-CN" sz="2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zinc-finger arrays</a:t>
            </a:r>
            <a:endParaRPr kumimoji="1" lang="en-CN" altLang="zh-CN" dirty="0">
              <a:solidFill>
                <a:prstClr val="black"/>
              </a:solidFill>
              <a:latin typeface="Calibri" panose="020F0502020204030204"/>
              <a:ea typeface="等线" panose="02010600030101010101" pitchFamily="2" charset="-122"/>
            </a:endParaRPr>
          </a:p>
          <a:p>
            <a:pPr marL="800100" marR="0" lvl="1" indent="-3429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Char char="ü"/>
              <a:tabLst/>
              <a:defRPr/>
            </a:pPr>
            <a:r>
              <a:rPr kumimoji="1" lang="en-CN" altLang="zh-CN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Also time-consuming</a:t>
            </a:r>
            <a:endParaRPr kumimoji="1" lang="en-CN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00457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94162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Transcription Activator-Like Effector Nucleases (TALENs)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9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-1" y="6393850"/>
            <a:ext cx="12192001" cy="464150"/>
            <a:chOff x="2650603" y="6393850"/>
            <a:chExt cx="5312297" cy="464150"/>
          </a:xfrm>
          <a:solidFill>
            <a:schemeClr val="accent5"/>
          </a:solidFill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ZFN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TALEN</a:t>
              </a:r>
            </a:p>
          </p:txBody>
        </p:sp>
      </p:grpSp>
      <p:sp>
        <p:nvSpPr>
          <p:cNvPr id="9" name="Freeform 8">
            <a:extLst>
              <a:ext uri="{FF2B5EF4-FFF2-40B4-BE49-F238E27FC236}">
                <a16:creationId xmlns:a16="http://schemas.microsoft.com/office/drawing/2014/main" id="{B95D8345-2793-8347-A09F-6CDDDC128621}"/>
              </a:ext>
            </a:extLst>
          </p:cNvPr>
          <p:cNvSpPr/>
          <p:nvPr/>
        </p:nvSpPr>
        <p:spPr>
          <a:xfrm>
            <a:off x="416717" y="1199136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967B1E-752E-2A4C-8D6F-B7CBED29FD0C}"/>
              </a:ext>
            </a:extLst>
          </p:cNvPr>
          <p:cNvSpPr txBox="1"/>
          <p:nvPr/>
        </p:nvSpPr>
        <p:spPr>
          <a:xfrm>
            <a:off x="1156498" y="1388542"/>
            <a:ext cx="741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non-specific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nuclease domain</a:t>
            </a:r>
            <a:r>
              <a:rPr kumimoji="1" lang="en-US" altLang="zh-CN" dirty="0"/>
              <a:t> of </a:t>
            </a:r>
            <a:r>
              <a:rPr kumimoji="1" lang="en-US" altLang="zh-CN" i="1" dirty="0" err="1"/>
              <a:t>Fok</a:t>
            </a:r>
            <a:r>
              <a:rPr kumimoji="1" lang="en-US" altLang="zh-CN" dirty="0" err="1"/>
              <a:t>I</a:t>
            </a:r>
            <a:r>
              <a:rPr kumimoji="1" lang="en-US" altLang="zh-CN" dirty="0"/>
              <a:t> restriction enzyme, function as dimers</a:t>
            </a:r>
            <a:endParaRPr kumimoji="1" lang="zh-CN" altLang="en-US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39030F1-3E71-714B-9DED-E52228728190}"/>
              </a:ext>
            </a:extLst>
          </p:cNvPr>
          <p:cNvSpPr/>
          <p:nvPr/>
        </p:nvSpPr>
        <p:spPr>
          <a:xfrm>
            <a:off x="609600" y="2260600"/>
            <a:ext cx="1397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A1CB37-4968-C64D-8020-90154BC8DD7F}"/>
              </a:ext>
            </a:extLst>
          </p:cNvPr>
          <p:cNvSpPr txBox="1"/>
          <p:nvPr/>
        </p:nvSpPr>
        <p:spPr>
          <a:xfrm>
            <a:off x="786607" y="2253734"/>
            <a:ext cx="4435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: </a:t>
            </a:r>
            <a:r>
              <a:rPr kumimoji="1" lang="en-US" altLang="zh-CN" b="1" dirty="0"/>
              <a:t>specific</a:t>
            </a:r>
            <a:r>
              <a:rPr kumimoji="1" lang="en-US" altLang="zh-CN" dirty="0"/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DNA-binding domain </a:t>
            </a:r>
            <a:r>
              <a:rPr kumimoji="1" lang="en-US" altLang="zh-CN" dirty="0"/>
              <a:t>of TAL effector</a:t>
            </a:r>
            <a:endParaRPr kumimoji="1" lang="zh-CN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750F32-65D4-3844-A298-12D653A95310}"/>
              </a:ext>
            </a:extLst>
          </p:cNvPr>
          <p:cNvSpPr txBox="1"/>
          <p:nvPr/>
        </p:nvSpPr>
        <p:spPr>
          <a:xfrm>
            <a:off x="519821" y="2739201"/>
            <a:ext cx="61005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about 34 residues</a:t>
            </a:r>
          </a:p>
          <a:p>
            <a:r>
              <a:rPr kumimoji="1" lang="en-US" altLang="zh-CN" dirty="0">
                <a:solidFill>
                  <a:srgbClr val="FF0000"/>
                </a:solidFill>
              </a:rPr>
              <a:t>position</a:t>
            </a:r>
            <a:r>
              <a:rPr kumimoji="1" lang="en-US" altLang="zh-CN" dirty="0">
                <a:solidFill>
                  <a:schemeClr val="accent1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12&amp;13</a:t>
            </a:r>
            <a:r>
              <a:rPr kumimoji="1" lang="en-US" altLang="zh-CN" dirty="0">
                <a:solidFill>
                  <a:schemeClr val="accent1"/>
                </a:solidFill>
              </a:rPr>
              <a:t> recognize and bind to </a:t>
            </a:r>
            <a:r>
              <a:rPr kumimoji="1" lang="en-US" altLang="zh-CN" dirty="0">
                <a:solidFill>
                  <a:srgbClr val="FF0000"/>
                </a:solidFill>
              </a:rPr>
              <a:t>1 bp of DNA</a:t>
            </a:r>
            <a:r>
              <a:rPr kumimoji="1" lang="en-US" altLang="zh-CN" dirty="0">
                <a:solidFill>
                  <a:schemeClr val="accent1"/>
                </a:solidFill>
              </a:rPr>
              <a:t>, </a:t>
            </a:r>
            <a:r>
              <a:rPr kumimoji="1" lang="en-US" altLang="zh-CN" b="1" dirty="0">
                <a:solidFill>
                  <a:schemeClr val="accent1"/>
                </a:solidFill>
              </a:rPr>
              <a:t>specifically</a:t>
            </a:r>
            <a:r>
              <a:rPr kumimoji="1" lang="en-US" altLang="zh-CN" dirty="0">
                <a:solidFill>
                  <a:schemeClr val="accent1"/>
                </a:solidFill>
              </a:rPr>
              <a:t>.</a:t>
            </a:r>
            <a:endParaRPr kumimoji="1" lang="zh-CN" altLang="en-US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5E74E04-5996-3249-ADAE-2C859D32C3CB}"/>
              </a:ext>
            </a:extLst>
          </p:cNvPr>
          <p:cNvCxnSpPr>
            <a:cxnSpLocks/>
          </p:cNvCxnSpPr>
          <p:nvPr/>
        </p:nvCxnSpPr>
        <p:spPr>
          <a:xfrm>
            <a:off x="4093239" y="4114646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5D84551-2834-8042-8CFE-21B5D2C7A350}"/>
              </a:ext>
            </a:extLst>
          </p:cNvPr>
          <p:cNvCxnSpPr/>
          <p:nvPr/>
        </p:nvCxnSpPr>
        <p:spPr>
          <a:xfrm>
            <a:off x="4093239" y="4430602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9625F08-107A-1D4A-89B9-20C268D9BF3D}"/>
              </a:ext>
            </a:extLst>
          </p:cNvPr>
          <p:cNvCxnSpPr>
            <a:cxnSpLocks/>
          </p:cNvCxnSpPr>
          <p:nvPr/>
        </p:nvCxnSpPr>
        <p:spPr>
          <a:xfrm>
            <a:off x="4279826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5DBD88B-6428-3C42-A34D-E864B93870FA}"/>
              </a:ext>
            </a:extLst>
          </p:cNvPr>
          <p:cNvCxnSpPr>
            <a:cxnSpLocks/>
          </p:cNvCxnSpPr>
          <p:nvPr/>
        </p:nvCxnSpPr>
        <p:spPr>
          <a:xfrm>
            <a:off x="4424606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E3213CE-97DA-434A-B7FF-0D9382CBE05C}"/>
              </a:ext>
            </a:extLst>
          </p:cNvPr>
          <p:cNvCxnSpPr>
            <a:cxnSpLocks/>
          </p:cNvCxnSpPr>
          <p:nvPr/>
        </p:nvCxnSpPr>
        <p:spPr>
          <a:xfrm>
            <a:off x="4561766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245BB9C-31C6-F34B-9E09-B42ED0569306}"/>
              </a:ext>
            </a:extLst>
          </p:cNvPr>
          <p:cNvCxnSpPr>
            <a:cxnSpLocks/>
          </p:cNvCxnSpPr>
          <p:nvPr/>
        </p:nvCxnSpPr>
        <p:spPr>
          <a:xfrm>
            <a:off x="4691306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CEB2537-421D-BC4F-B3B7-E740B843EEC1}"/>
              </a:ext>
            </a:extLst>
          </p:cNvPr>
          <p:cNvCxnSpPr>
            <a:cxnSpLocks/>
          </p:cNvCxnSpPr>
          <p:nvPr/>
        </p:nvCxnSpPr>
        <p:spPr>
          <a:xfrm>
            <a:off x="4820846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5D85FAF-7D35-FD4F-B1A8-4321DC476650}"/>
              </a:ext>
            </a:extLst>
          </p:cNvPr>
          <p:cNvCxnSpPr>
            <a:cxnSpLocks/>
          </p:cNvCxnSpPr>
          <p:nvPr/>
        </p:nvCxnSpPr>
        <p:spPr>
          <a:xfrm>
            <a:off x="4958699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8CB1BF2-C424-444E-8D66-0ADB68EF2896}"/>
              </a:ext>
            </a:extLst>
          </p:cNvPr>
          <p:cNvCxnSpPr>
            <a:cxnSpLocks/>
          </p:cNvCxnSpPr>
          <p:nvPr/>
        </p:nvCxnSpPr>
        <p:spPr>
          <a:xfrm>
            <a:off x="5103479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C252510-B56E-7B41-A296-E706DF9E96E3}"/>
              </a:ext>
            </a:extLst>
          </p:cNvPr>
          <p:cNvCxnSpPr>
            <a:cxnSpLocks/>
          </p:cNvCxnSpPr>
          <p:nvPr/>
        </p:nvCxnSpPr>
        <p:spPr>
          <a:xfrm>
            <a:off x="5240639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5E3BF55-451D-F049-AB55-BAFE4C8E58B7}"/>
              </a:ext>
            </a:extLst>
          </p:cNvPr>
          <p:cNvCxnSpPr>
            <a:cxnSpLocks/>
          </p:cNvCxnSpPr>
          <p:nvPr/>
        </p:nvCxnSpPr>
        <p:spPr>
          <a:xfrm>
            <a:off x="5370179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F3FC424-D2D2-1340-A1B3-ED3626BB09DA}"/>
              </a:ext>
            </a:extLst>
          </p:cNvPr>
          <p:cNvCxnSpPr>
            <a:cxnSpLocks/>
          </p:cNvCxnSpPr>
          <p:nvPr/>
        </p:nvCxnSpPr>
        <p:spPr>
          <a:xfrm>
            <a:off x="5499719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6A5CB98-CD50-E045-96CE-039A8010684B}"/>
              </a:ext>
            </a:extLst>
          </p:cNvPr>
          <p:cNvCxnSpPr>
            <a:cxnSpLocks/>
          </p:cNvCxnSpPr>
          <p:nvPr/>
        </p:nvCxnSpPr>
        <p:spPr>
          <a:xfrm>
            <a:off x="5637572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1377BC6-9C00-3946-B572-5C6B048B0C12}"/>
              </a:ext>
            </a:extLst>
          </p:cNvPr>
          <p:cNvCxnSpPr>
            <a:cxnSpLocks/>
          </p:cNvCxnSpPr>
          <p:nvPr/>
        </p:nvCxnSpPr>
        <p:spPr>
          <a:xfrm>
            <a:off x="578235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170EE0B-C398-5C4C-9C7E-CBF59054B4C1}"/>
              </a:ext>
            </a:extLst>
          </p:cNvPr>
          <p:cNvCxnSpPr>
            <a:cxnSpLocks/>
          </p:cNvCxnSpPr>
          <p:nvPr/>
        </p:nvCxnSpPr>
        <p:spPr>
          <a:xfrm>
            <a:off x="591951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EB3EBF-548B-784E-B437-49144AB145CC}"/>
              </a:ext>
            </a:extLst>
          </p:cNvPr>
          <p:cNvCxnSpPr>
            <a:cxnSpLocks/>
          </p:cNvCxnSpPr>
          <p:nvPr/>
        </p:nvCxnSpPr>
        <p:spPr>
          <a:xfrm>
            <a:off x="604905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ED3533C-02E9-664E-91E5-EB6B1196B940}"/>
              </a:ext>
            </a:extLst>
          </p:cNvPr>
          <p:cNvCxnSpPr>
            <a:cxnSpLocks/>
          </p:cNvCxnSpPr>
          <p:nvPr/>
        </p:nvCxnSpPr>
        <p:spPr>
          <a:xfrm>
            <a:off x="6178592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004FCFA-F679-4840-AE1C-789EF935AB3E}"/>
              </a:ext>
            </a:extLst>
          </p:cNvPr>
          <p:cNvCxnSpPr>
            <a:cxnSpLocks/>
          </p:cNvCxnSpPr>
          <p:nvPr/>
        </p:nvCxnSpPr>
        <p:spPr>
          <a:xfrm>
            <a:off x="6316444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0D2A20E-0965-0B49-9216-A14DB2982B69}"/>
              </a:ext>
            </a:extLst>
          </p:cNvPr>
          <p:cNvCxnSpPr>
            <a:cxnSpLocks/>
          </p:cNvCxnSpPr>
          <p:nvPr/>
        </p:nvCxnSpPr>
        <p:spPr>
          <a:xfrm>
            <a:off x="6461224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F659BFD-1266-F849-A3D1-E5ED17FB5355}"/>
              </a:ext>
            </a:extLst>
          </p:cNvPr>
          <p:cNvCxnSpPr>
            <a:cxnSpLocks/>
          </p:cNvCxnSpPr>
          <p:nvPr/>
        </p:nvCxnSpPr>
        <p:spPr>
          <a:xfrm>
            <a:off x="6598384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DFC34DB-1622-0746-BE9C-9ABA1BA30B8E}"/>
              </a:ext>
            </a:extLst>
          </p:cNvPr>
          <p:cNvCxnSpPr>
            <a:cxnSpLocks/>
          </p:cNvCxnSpPr>
          <p:nvPr/>
        </p:nvCxnSpPr>
        <p:spPr>
          <a:xfrm>
            <a:off x="6727924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5558FAC-5C63-1E4A-8C7F-7B54C51B5DC1}"/>
              </a:ext>
            </a:extLst>
          </p:cNvPr>
          <p:cNvCxnSpPr>
            <a:cxnSpLocks/>
          </p:cNvCxnSpPr>
          <p:nvPr/>
        </p:nvCxnSpPr>
        <p:spPr>
          <a:xfrm>
            <a:off x="6857464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FAD3801-F472-2340-B74E-6EAF398253E4}"/>
              </a:ext>
            </a:extLst>
          </p:cNvPr>
          <p:cNvCxnSpPr>
            <a:cxnSpLocks/>
          </p:cNvCxnSpPr>
          <p:nvPr/>
        </p:nvCxnSpPr>
        <p:spPr>
          <a:xfrm>
            <a:off x="6995317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3C7BC8-7CBC-9D4C-9F1B-94E3D26F4878}"/>
              </a:ext>
            </a:extLst>
          </p:cNvPr>
          <p:cNvCxnSpPr>
            <a:cxnSpLocks/>
          </p:cNvCxnSpPr>
          <p:nvPr/>
        </p:nvCxnSpPr>
        <p:spPr>
          <a:xfrm>
            <a:off x="7140097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1FD5491-CC9F-0744-9A00-1F8EDAF6C2FC}"/>
              </a:ext>
            </a:extLst>
          </p:cNvPr>
          <p:cNvCxnSpPr>
            <a:cxnSpLocks/>
          </p:cNvCxnSpPr>
          <p:nvPr/>
        </p:nvCxnSpPr>
        <p:spPr>
          <a:xfrm>
            <a:off x="7277257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CD3E596-F92D-BE4B-883E-064F6E35192E}"/>
              </a:ext>
            </a:extLst>
          </p:cNvPr>
          <p:cNvCxnSpPr>
            <a:cxnSpLocks/>
          </p:cNvCxnSpPr>
          <p:nvPr/>
        </p:nvCxnSpPr>
        <p:spPr>
          <a:xfrm>
            <a:off x="7406797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769BC06-A7B7-664C-AA7A-3C3A210E5E8F}"/>
              </a:ext>
            </a:extLst>
          </p:cNvPr>
          <p:cNvCxnSpPr>
            <a:cxnSpLocks/>
          </p:cNvCxnSpPr>
          <p:nvPr/>
        </p:nvCxnSpPr>
        <p:spPr>
          <a:xfrm>
            <a:off x="7536337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CCE4E58-DB37-F340-815C-E19CF02F7814}"/>
              </a:ext>
            </a:extLst>
          </p:cNvPr>
          <p:cNvCxnSpPr>
            <a:cxnSpLocks/>
          </p:cNvCxnSpPr>
          <p:nvPr/>
        </p:nvCxnSpPr>
        <p:spPr>
          <a:xfrm>
            <a:off x="7666570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F4790B5-F0E0-CE4C-BAE4-070E2EBD9914}"/>
              </a:ext>
            </a:extLst>
          </p:cNvPr>
          <p:cNvCxnSpPr>
            <a:cxnSpLocks/>
          </p:cNvCxnSpPr>
          <p:nvPr/>
        </p:nvCxnSpPr>
        <p:spPr>
          <a:xfrm>
            <a:off x="7803730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9E74321-EB30-CC41-9947-5BD5C5EB96C5}"/>
              </a:ext>
            </a:extLst>
          </p:cNvPr>
          <p:cNvCxnSpPr>
            <a:cxnSpLocks/>
          </p:cNvCxnSpPr>
          <p:nvPr/>
        </p:nvCxnSpPr>
        <p:spPr>
          <a:xfrm>
            <a:off x="7933270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97AF8F1-B189-214B-BF5D-384B38D655D6}"/>
              </a:ext>
            </a:extLst>
          </p:cNvPr>
          <p:cNvCxnSpPr>
            <a:cxnSpLocks/>
          </p:cNvCxnSpPr>
          <p:nvPr/>
        </p:nvCxnSpPr>
        <p:spPr>
          <a:xfrm>
            <a:off x="8062810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592230F-E4DA-9843-B12F-E9F4DEF8CA08}"/>
              </a:ext>
            </a:extLst>
          </p:cNvPr>
          <p:cNvCxnSpPr>
            <a:cxnSpLocks/>
          </p:cNvCxnSpPr>
          <p:nvPr/>
        </p:nvCxnSpPr>
        <p:spPr>
          <a:xfrm>
            <a:off x="8200662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54A581A-F1A4-5942-890C-1A3C4E887996}"/>
              </a:ext>
            </a:extLst>
          </p:cNvPr>
          <p:cNvCxnSpPr>
            <a:cxnSpLocks/>
          </p:cNvCxnSpPr>
          <p:nvPr/>
        </p:nvCxnSpPr>
        <p:spPr>
          <a:xfrm>
            <a:off x="834544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9CC5EFE-E64D-D149-BAF4-A7B79A57BC01}"/>
              </a:ext>
            </a:extLst>
          </p:cNvPr>
          <p:cNvCxnSpPr>
            <a:cxnSpLocks/>
          </p:cNvCxnSpPr>
          <p:nvPr/>
        </p:nvCxnSpPr>
        <p:spPr>
          <a:xfrm>
            <a:off x="848260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63B2AA49-164F-994C-AF00-1DF5EC191492}"/>
              </a:ext>
            </a:extLst>
          </p:cNvPr>
          <p:cNvCxnSpPr>
            <a:cxnSpLocks/>
          </p:cNvCxnSpPr>
          <p:nvPr/>
        </p:nvCxnSpPr>
        <p:spPr>
          <a:xfrm>
            <a:off x="8612142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E62AB85-5DF1-3245-A660-10FF2A931B14}"/>
              </a:ext>
            </a:extLst>
          </p:cNvPr>
          <p:cNvCxnSpPr>
            <a:cxnSpLocks/>
          </p:cNvCxnSpPr>
          <p:nvPr/>
        </p:nvCxnSpPr>
        <p:spPr>
          <a:xfrm>
            <a:off x="8741682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6C721C5-8EE8-A74B-8B1C-D369F7262D95}"/>
              </a:ext>
            </a:extLst>
          </p:cNvPr>
          <p:cNvCxnSpPr>
            <a:cxnSpLocks/>
          </p:cNvCxnSpPr>
          <p:nvPr/>
        </p:nvCxnSpPr>
        <p:spPr>
          <a:xfrm>
            <a:off x="8879535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AC04193-C60D-4042-A94F-ED9D081A314E}"/>
              </a:ext>
            </a:extLst>
          </p:cNvPr>
          <p:cNvCxnSpPr>
            <a:cxnSpLocks/>
          </p:cNvCxnSpPr>
          <p:nvPr/>
        </p:nvCxnSpPr>
        <p:spPr>
          <a:xfrm>
            <a:off x="9024315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52A4461-82C5-084C-898B-232C8A5D9C9F}"/>
              </a:ext>
            </a:extLst>
          </p:cNvPr>
          <p:cNvCxnSpPr>
            <a:cxnSpLocks/>
          </p:cNvCxnSpPr>
          <p:nvPr/>
        </p:nvCxnSpPr>
        <p:spPr>
          <a:xfrm>
            <a:off x="9161475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85DA981-9132-054F-BEAE-BC7C1CB274FB}"/>
              </a:ext>
            </a:extLst>
          </p:cNvPr>
          <p:cNvCxnSpPr>
            <a:cxnSpLocks/>
          </p:cNvCxnSpPr>
          <p:nvPr/>
        </p:nvCxnSpPr>
        <p:spPr>
          <a:xfrm>
            <a:off x="9291015" y="410012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B136454-1971-B040-8BF5-E73C56641F64}"/>
              </a:ext>
            </a:extLst>
          </p:cNvPr>
          <p:cNvCxnSpPr>
            <a:cxnSpLocks/>
          </p:cNvCxnSpPr>
          <p:nvPr/>
        </p:nvCxnSpPr>
        <p:spPr>
          <a:xfrm>
            <a:off x="9420555" y="411464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FBB10A4-0FD6-CF47-82C3-8F691D630B38}"/>
              </a:ext>
            </a:extLst>
          </p:cNvPr>
          <p:cNvCxnSpPr/>
          <p:nvPr/>
        </p:nvCxnSpPr>
        <p:spPr>
          <a:xfrm>
            <a:off x="3933466" y="4288471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A68F1B1-C45E-004F-AE35-A9E4CD40D795}"/>
              </a:ext>
            </a:extLst>
          </p:cNvPr>
          <p:cNvSpPr txBox="1"/>
          <p:nvPr/>
        </p:nvSpPr>
        <p:spPr>
          <a:xfrm>
            <a:off x="3733845" y="392998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05A3D7F-D54F-8843-9C61-99C085C1C80C}"/>
              </a:ext>
            </a:extLst>
          </p:cNvPr>
          <p:cNvSpPr txBox="1"/>
          <p:nvPr/>
        </p:nvSpPr>
        <p:spPr>
          <a:xfrm>
            <a:off x="3733845" y="424800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A9ACAC5-77BE-EC4F-9C90-FB76193C48F1}"/>
              </a:ext>
            </a:extLst>
          </p:cNvPr>
          <p:cNvSpPr txBox="1"/>
          <p:nvPr/>
        </p:nvSpPr>
        <p:spPr>
          <a:xfrm>
            <a:off x="9587909" y="4250392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E2F5047-004B-5749-87B7-84AEF5089B2C}"/>
              </a:ext>
            </a:extLst>
          </p:cNvPr>
          <p:cNvSpPr txBox="1"/>
          <p:nvPr/>
        </p:nvSpPr>
        <p:spPr>
          <a:xfrm>
            <a:off x="9587909" y="392998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70" name="Freeform 69">
            <a:extLst>
              <a:ext uri="{FF2B5EF4-FFF2-40B4-BE49-F238E27FC236}">
                <a16:creationId xmlns:a16="http://schemas.microsoft.com/office/drawing/2014/main" id="{B4D9816F-206A-BD41-BF89-97124E745F99}"/>
              </a:ext>
            </a:extLst>
          </p:cNvPr>
          <p:cNvSpPr/>
          <p:nvPr/>
        </p:nvSpPr>
        <p:spPr>
          <a:xfrm>
            <a:off x="6583773" y="4014999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76" name="Freeform 75">
            <a:extLst>
              <a:ext uri="{FF2B5EF4-FFF2-40B4-BE49-F238E27FC236}">
                <a16:creationId xmlns:a16="http://schemas.microsoft.com/office/drawing/2014/main" id="{97D77916-F7E2-F145-A07B-4ADB4DBEB567}"/>
              </a:ext>
            </a:extLst>
          </p:cNvPr>
          <p:cNvSpPr/>
          <p:nvPr/>
        </p:nvSpPr>
        <p:spPr>
          <a:xfrm>
            <a:off x="6403639" y="3667937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5165620-2E41-5D40-8032-525AD46F295F}"/>
              </a:ext>
            </a:extLst>
          </p:cNvPr>
          <p:cNvSpPr txBox="1"/>
          <p:nvPr/>
        </p:nvSpPr>
        <p:spPr>
          <a:xfrm>
            <a:off x="2352905" y="5634252"/>
            <a:ext cx="49358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Schematic diagram</a:t>
            </a:r>
            <a:r>
              <a:rPr lang="zh-CN" altLang="en-US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 </a:t>
            </a:r>
            <a:r>
              <a:rPr lang="en-US" altLang="zh-CN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of </a:t>
            </a:r>
            <a:r>
              <a:rPr lang="en-US" altLang="zh-CN" sz="1400" dirty="0">
                <a:solidFill>
                  <a:srgbClr val="111111"/>
                </a:solidFill>
                <a:latin typeface="system-ui"/>
              </a:rPr>
              <a:t>TALEN</a:t>
            </a:r>
            <a:r>
              <a:rPr lang="en-US" altLang="zh-CN" sz="1400" b="0" i="0" u="none" strike="noStrike" dirty="0">
                <a:solidFill>
                  <a:srgbClr val="111111"/>
                </a:solidFill>
                <a:effectLst/>
                <a:latin typeface="system-ui"/>
              </a:rPr>
              <a:t>.</a:t>
            </a:r>
            <a:endParaRPr kumimoji="1" lang="en-US" altLang="zh-CN" sz="1400" dirty="0"/>
          </a:p>
        </p:txBody>
      </p:sp>
      <p:sp>
        <p:nvSpPr>
          <p:cNvPr id="90" name="Lightning Bolt 89">
            <a:extLst>
              <a:ext uri="{FF2B5EF4-FFF2-40B4-BE49-F238E27FC236}">
                <a16:creationId xmlns:a16="http://schemas.microsoft.com/office/drawing/2014/main" id="{63EB1E36-E130-B646-AAA2-6AB3820CC60F}"/>
              </a:ext>
            </a:extLst>
          </p:cNvPr>
          <p:cNvSpPr/>
          <p:nvPr/>
        </p:nvSpPr>
        <p:spPr>
          <a:xfrm flipH="1">
            <a:off x="6876963" y="3432551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4" name="Freeform 93">
            <a:extLst>
              <a:ext uri="{FF2B5EF4-FFF2-40B4-BE49-F238E27FC236}">
                <a16:creationId xmlns:a16="http://schemas.microsoft.com/office/drawing/2014/main" id="{71021836-80AE-E14D-8D6E-A30482661D7C}"/>
              </a:ext>
            </a:extLst>
          </p:cNvPr>
          <p:cNvSpPr/>
          <p:nvPr/>
        </p:nvSpPr>
        <p:spPr>
          <a:xfrm>
            <a:off x="5882008" y="3641291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5" name="Freeform 94">
            <a:extLst>
              <a:ext uri="{FF2B5EF4-FFF2-40B4-BE49-F238E27FC236}">
                <a16:creationId xmlns:a16="http://schemas.microsoft.com/office/drawing/2014/main" id="{E6A9D298-B1EE-D540-A2BC-3232DF4F2057}"/>
              </a:ext>
            </a:extLst>
          </p:cNvPr>
          <p:cNvSpPr/>
          <p:nvPr/>
        </p:nvSpPr>
        <p:spPr>
          <a:xfrm rot="10800000">
            <a:off x="4187028" y="3638358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E0B14D81-5ABE-1546-92C7-0C8DA5352930}"/>
              </a:ext>
            </a:extLst>
          </p:cNvPr>
          <p:cNvSpPr/>
          <p:nvPr/>
        </p:nvSpPr>
        <p:spPr>
          <a:xfrm>
            <a:off x="5753277" y="3659764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1666B33E-EBC9-EC41-B78D-63B303C47B19}"/>
              </a:ext>
            </a:extLst>
          </p:cNvPr>
          <p:cNvSpPr/>
          <p:nvPr/>
        </p:nvSpPr>
        <p:spPr>
          <a:xfrm>
            <a:off x="5615964" y="3658772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4E59F79F-71E1-9143-B11D-31A16EC1EC4C}"/>
              </a:ext>
            </a:extLst>
          </p:cNvPr>
          <p:cNvSpPr/>
          <p:nvPr/>
        </p:nvSpPr>
        <p:spPr>
          <a:xfrm>
            <a:off x="5471972" y="3657666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3B0023B4-1CD6-8046-B75C-31AB0704FE92}"/>
              </a:ext>
            </a:extLst>
          </p:cNvPr>
          <p:cNvSpPr/>
          <p:nvPr/>
        </p:nvSpPr>
        <p:spPr>
          <a:xfrm>
            <a:off x="5333796" y="3657666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0" name="Rounded Rectangle 99">
            <a:extLst>
              <a:ext uri="{FF2B5EF4-FFF2-40B4-BE49-F238E27FC236}">
                <a16:creationId xmlns:a16="http://schemas.microsoft.com/office/drawing/2014/main" id="{5AB0B95A-81FD-F045-B924-AE5C47EB1CD4}"/>
              </a:ext>
            </a:extLst>
          </p:cNvPr>
          <p:cNvSpPr/>
          <p:nvPr/>
        </p:nvSpPr>
        <p:spPr>
          <a:xfrm>
            <a:off x="5192142" y="3657666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142579B4-2F36-994D-B1CB-303D25709408}"/>
              </a:ext>
            </a:extLst>
          </p:cNvPr>
          <p:cNvSpPr/>
          <p:nvPr/>
        </p:nvSpPr>
        <p:spPr>
          <a:xfrm>
            <a:off x="5060343" y="3659462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2" name="Rounded Rectangle 101">
            <a:extLst>
              <a:ext uri="{FF2B5EF4-FFF2-40B4-BE49-F238E27FC236}">
                <a16:creationId xmlns:a16="http://schemas.microsoft.com/office/drawing/2014/main" id="{14CE2812-B567-FA4E-9092-68D248AFCF29}"/>
              </a:ext>
            </a:extLst>
          </p:cNvPr>
          <p:cNvSpPr/>
          <p:nvPr/>
        </p:nvSpPr>
        <p:spPr>
          <a:xfrm>
            <a:off x="4922692" y="3650613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3" name="Rounded Rectangle 102">
            <a:extLst>
              <a:ext uri="{FF2B5EF4-FFF2-40B4-BE49-F238E27FC236}">
                <a16:creationId xmlns:a16="http://schemas.microsoft.com/office/drawing/2014/main" id="{BE19A28E-2561-F446-A3EA-A385A0CA1907}"/>
              </a:ext>
            </a:extLst>
          </p:cNvPr>
          <p:cNvSpPr/>
          <p:nvPr/>
        </p:nvSpPr>
        <p:spPr>
          <a:xfrm>
            <a:off x="4784516" y="3650613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40EFE168-EA0F-804F-A539-B037D7BF183E}"/>
              </a:ext>
            </a:extLst>
          </p:cNvPr>
          <p:cNvSpPr/>
          <p:nvPr/>
        </p:nvSpPr>
        <p:spPr>
          <a:xfrm>
            <a:off x="4642862" y="3650613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E4F07AD3-C995-174A-86CC-F5B8906D898A}"/>
              </a:ext>
            </a:extLst>
          </p:cNvPr>
          <p:cNvSpPr/>
          <p:nvPr/>
        </p:nvSpPr>
        <p:spPr>
          <a:xfrm>
            <a:off x="4511063" y="3652409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06" name="Freeform 105">
            <a:extLst>
              <a:ext uri="{FF2B5EF4-FFF2-40B4-BE49-F238E27FC236}">
                <a16:creationId xmlns:a16="http://schemas.microsoft.com/office/drawing/2014/main" id="{632C5365-5A27-384F-B8CF-C6209ECA25F6}"/>
              </a:ext>
            </a:extLst>
          </p:cNvPr>
          <p:cNvSpPr/>
          <p:nvPr/>
        </p:nvSpPr>
        <p:spPr>
          <a:xfrm rot="11058474" flipV="1">
            <a:off x="6149207" y="3691982"/>
            <a:ext cx="505863" cy="130375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7" name="Freeform 106">
            <a:extLst>
              <a:ext uri="{FF2B5EF4-FFF2-40B4-BE49-F238E27FC236}">
                <a16:creationId xmlns:a16="http://schemas.microsoft.com/office/drawing/2014/main" id="{8C77FD07-B8C3-9840-AB3A-E76F1BBA577D}"/>
              </a:ext>
            </a:extLst>
          </p:cNvPr>
          <p:cNvSpPr/>
          <p:nvPr/>
        </p:nvSpPr>
        <p:spPr>
          <a:xfrm>
            <a:off x="9246217" y="4478223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8" name="Freeform 107">
            <a:extLst>
              <a:ext uri="{FF2B5EF4-FFF2-40B4-BE49-F238E27FC236}">
                <a16:creationId xmlns:a16="http://schemas.microsoft.com/office/drawing/2014/main" id="{E57C1235-37F9-0F4E-99E2-8BEE58BF72EB}"/>
              </a:ext>
            </a:extLst>
          </p:cNvPr>
          <p:cNvSpPr/>
          <p:nvPr/>
        </p:nvSpPr>
        <p:spPr>
          <a:xfrm rot="10800000">
            <a:off x="7551237" y="4475290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E959DE44-8E17-1741-B18C-FAFFA2073DC3}"/>
              </a:ext>
            </a:extLst>
          </p:cNvPr>
          <p:cNvSpPr/>
          <p:nvPr/>
        </p:nvSpPr>
        <p:spPr>
          <a:xfrm>
            <a:off x="9117486" y="4496696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0" name="Rounded Rectangle 109">
            <a:extLst>
              <a:ext uri="{FF2B5EF4-FFF2-40B4-BE49-F238E27FC236}">
                <a16:creationId xmlns:a16="http://schemas.microsoft.com/office/drawing/2014/main" id="{A8B399F1-9D0C-E641-82ED-AC721410EBF2}"/>
              </a:ext>
            </a:extLst>
          </p:cNvPr>
          <p:cNvSpPr/>
          <p:nvPr/>
        </p:nvSpPr>
        <p:spPr>
          <a:xfrm>
            <a:off x="8980173" y="4495704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0972BBBA-56D6-6C44-8042-6215AD16ED5F}"/>
              </a:ext>
            </a:extLst>
          </p:cNvPr>
          <p:cNvSpPr/>
          <p:nvPr/>
        </p:nvSpPr>
        <p:spPr>
          <a:xfrm>
            <a:off x="8836181" y="4494598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2" name="Rounded Rectangle 111">
            <a:extLst>
              <a:ext uri="{FF2B5EF4-FFF2-40B4-BE49-F238E27FC236}">
                <a16:creationId xmlns:a16="http://schemas.microsoft.com/office/drawing/2014/main" id="{F08B2173-9009-8243-9D9D-F079003C6EBB}"/>
              </a:ext>
            </a:extLst>
          </p:cNvPr>
          <p:cNvSpPr/>
          <p:nvPr/>
        </p:nvSpPr>
        <p:spPr>
          <a:xfrm>
            <a:off x="8698005" y="4494598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3" name="Rounded Rectangle 112">
            <a:extLst>
              <a:ext uri="{FF2B5EF4-FFF2-40B4-BE49-F238E27FC236}">
                <a16:creationId xmlns:a16="http://schemas.microsoft.com/office/drawing/2014/main" id="{505C5603-7635-404C-8126-A0A52E8319C4}"/>
              </a:ext>
            </a:extLst>
          </p:cNvPr>
          <p:cNvSpPr/>
          <p:nvPr/>
        </p:nvSpPr>
        <p:spPr>
          <a:xfrm>
            <a:off x="8556351" y="4494598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4" name="Rounded Rectangle 113">
            <a:extLst>
              <a:ext uri="{FF2B5EF4-FFF2-40B4-BE49-F238E27FC236}">
                <a16:creationId xmlns:a16="http://schemas.microsoft.com/office/drawing/2014/main" id="{FFCEC910-A995-4A40-B803-A5C005CB8132}"/>
              </a:ext>
            </a:extLst>
          </p:cNvPr>
          <p:cNvSpPr/>
          <p:nvPr/>
        </p:nvSpPr>
        <p:spPr>
          <a:xfrm>
            <a:off x="8424552" y="4496394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CF4B7D5A-90B5-344C-A3F4-22B7D1EFEE04}"/>
              </a:ext>
            </a:extLst>
          </p:cNvPr>
          <p:cNvSpPr/>
          <p:nvPr/>
        </p:nvSpPr>
        <p:spPr>
          <a:xfrm>
            <a:off x="8286901" y="4487545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05585FE3-2BC0-1F41-8E48-ECC5109A8922}"/>
              </a:ext>
            </a:extLst>
          </p:cNvPr>
          <p:cNvSpPr/>
          <p:nvPr/>
        </p:nvSpPr>
        <p:spPr>
          <a:xfrm>
            <a:off x="8148725" y="4487545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83339DF4-6428-CA45-B377-04C2C9B19E56}"/>
              </a:ext>
            </a:extLst>
          </p:cNvPr>
          <p:cNvSpPr/>
          <p:nvPr/>
        </p:nvSpPr>
        <p:spPr>
          <a:xfrm>
            <a:off x="8007071" y="4487545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400F4722-F6EB-DA47-B8F6-85A6C4C4DF11}"/>
              </a:ext>
            </a:extLst>
          </p:cNvPr>
          <p:cNvSpPr/>
          <p:nvPr/>
        </p:nvSpPr>
        <p:spPr>
          <a:xfrm>
            <a:off x="7875272" y="4489341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9" name="Freeform 118">
            <a:extLst>
              <a:ext uri="{FF2B5EF4-FFF2-40B4-BE49-F238E27FC236}">
                <a16:creationId xmlns:a16="http://schemas.microsoft.com/office/drawing/2014/main" id="{F531653D-2C1B-784E-8341-7213D3493CE9}"/>
              </a:ext>
            </a:extLst>
          </p:cNvPr>
          <p:cNvSpPr/>
          <p:nvPr/>
        </p:nvSpPr>
        <p:spPr>
          <a:xfrm rot="787176" flipV="1">
            <a:off x="7129506" y="4652619"/>
            <a:ext cx="439758" cy="11845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0B0EF79-68D0-7143-8021-6856D5FDA433}"/>
              </a:ext>
            </a:extLst>
          </p:cNvPr>
          <p:cNvSpPr txBox="1"/>
          <p:nvPr/>
        </p:nvSpPr>
        <p:spPr>
          <a:xfrm>
            <a:off x="7154195" y="4938611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C-terminal domain</a:t>
            </a:r>
            <a:endParaRPr kumimoji="1" lang="zh-CN" altLang="en-US" sz="1400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15ACD79F-4C54-1B42-A4C3-E323B9B6BB26}"/>
              </a:ext>
            </a:extLst>
          </p:cNvPr>
          <p:cNvSpPr txBox="1"/>
          <p:nvPr/>
        </p:nvSpPr>
        <p:spPr>
          <a:xfrm>
            <a:off x="8867724" y="4938611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N-terminal domain</a:t>
            </a:r>
            <a:endParaRPr kumimoji="1" lang="zh-CN" altLang="en-US" sz="1400" dirty="0"/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561182DA-B27B-8446-A47C-4C60D86700DC}"/>
              </a:ext>
            </a:extLst>
          </p:cNvPr>
          <p:cNvGrpSpPr/>
          <p:nvPr/>
        </p:nvGrpSpPr>
        <p:grpSpPr>
          <a:xfrm>
            <a:off x="2817148" y="4055562"/>
            <a:ext cx="662687" cy="1336552"/>
            <a:chOff x="2147913" y="3875724"/>
            <a:chExt cx="833095" cy="1773455"/>
          </a:xfrm>
        </p:grpSpPr>
        <p:sp>
          <p:nvSpPr>
            <p:cNvPr id="123" name="Rounded Rectangle 122">
              <a:extLst>
                <a:ext uri="{FF2B5EF4-FFF2-40B4-BE49-F238E27FC236}">
                  <a16:creationId xmlns:a16="http://schemas.microsoft.com/office/drawing/2014/main" id="{975EB7A4-E2BB-9C41-A923-33BD1AF86C23}"/>
                </a:ext>
              </a:extLst>
            </p:cNvPr>
            <p:cNvSpPr/>
            <p:nvPr/>
          </p:nvSpPr>
          <p:spPr>
            <a:xfrm>
              <a:off x="2151038" y="3917758"/>
              <a:ext cx="103141" cy="355600"/>
            </a:xfrm>
            <a:prstGeom prst="roundRect">
              <a:avLst/>
            </a:prstGeom>
            <a:solidFill>
              <a:srgbClr val="FF7E79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4" name="Rounded Rectangle 123">
              <a:extLst>
                <a:ext uri="{FF2B5EF4-FFF2-40B4-BE49-F238E27FC236}">
                  <a16:creationId xmlns:a16="http://schemas.microsoft.com/office/drawing/2014/main" id="{252B28A8-9D17-9841-B633-1AD4DA122D6C}"/>
                </a:ext>
              </a:extLst>
            </p:cNvPr>
            <p:cNvSpPr/>
            <p:nvPr/>
          </p:nvSpPr>
          <p:spPr>
            <a:xfrm>
              <a:off x="2147914" y="4360070"/>
              <a:ext cx="103141" cy="355600"/>
            </a:xfrm>
            <a:prstGeom prst="roundRect">
              <a:avLst/>
            </a:prstGeom>
            <a:solidFill>
              <a:schemeClr val="accent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5" name="Rounded Rectangle 124">
              <a:extLst>
                <a:ext uri="{FF2B5EF4-FFF2-40B4-BE49-F238E27FC236}">
                  <a16:creationId xmlns:a16="http://schemas.microsoft.com/office/drawing/2014/main" id="{A1671666-5663-B04E-B11D-0FFD72D2E47D}"/>
                </a:ext>
              </a:extLst>
            </p:cNvPr>
            <p:cNvSpPr/>
            <p:nvPr/>
          </p:nvSpPr>
          <p:spPr>
            <a:xfrm>
              <a:off x="2147914" y="4813448"/>
              <a:ext cx="103141" cy="355600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6" name="Rounded Rectangle 125">
              <a:extLst>
                <a:ext uri="{FF2B5EF4-FFF2-40B4-BE49-F238E27FC236}">
                  <a16:creationId xmlns:a16="http://schemas.microsoft.com/office/drawing/2014/main" id="{61007415-856E-B64F-BD84-6311D2290642}"/>
                </a:ext>
              </a:extLst>
            </p:cNvPr>
            <p:cNvSpPr/>
            <p:nvPr/>
          </p:nvSpPr>
          <p:spPr>
            <a:xfrm>
              <a:off x="2147913" y="5259975"/>
              <a:ext cx="104795" cy="355600"/>
            </a:xfrm>
            <a:prstGeom prst="roundRect">
              <a:avLst/>
            </a:prstGeom>
            <a:solidFill>
              <a:srgbClr val="99FFCC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1EE9E177-6FAC-5241-966B-AA34EB750379}"/>
                </a:ext>
              </a:extLst>
            </p:cNvPr>
            <p:cNvSpPr txBox="1"/>
            <p:nvPr/>
          </p:nvSpPr>
          <p:spPr>
            <a:xfrm>
              <a:off x="2216426" y="3875724"/>
              <a:ext cx="742002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NG: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T</a:t>
              </a:r>
              <a:endParaRPr kumimoji="1" lang="zh-CN" altLang="en-US" sz="1400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1D22C5BF-2782-9642-912B-BE90C7F1EE59}"/>
                </a:ext>
              </a:extLst>
            </p:cNvPr>
            <p:cNvSpPr txBox="1"/>
            <p:nvPr/>
          </p:nvSpPr>
          <p:spPr>
            <a:xfrm>
              <a:off x="2208778" y="4330435"/>
              <a:ext cx="675502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NI: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A</a:t>
              </a:r>
              <a:endParaRPr kumimoji="1" lang="zh-CN" altLang="en-US" sz="1400" dirty="0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9EA161A0-7014-3740-A254-BAB151049D85}"/>
                </a:ext>
              </a:extLst>
            </p:cNvPr>
            <p:cNvSpPr txBox="1"/>
            <p:nvPr/>
          </p:nvSpPr>
          <p:spPr>
            <a:xfrm>
              <a:off x="2216025" y="4785614"/>
              <a:ext cx="744019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HD: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C</a:t>
              </a:r>
              <a:endParaRPr kumimoji="1" lang="zh-CN" altLang="en-US" sz="1400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DF89E2A-EC00-3D4B-BED2-A77154F6E940}"/>
                </a:ext>
              </a:extLst>
            </p:cNvPr>
            <p:cNvSpPr txBox="1"/>
            <p:nvPr/>
          </p:nvSpPr>
          <p:spPr>
            <a:xfrm>
              <a:off x="2208778" y="5240793"/>
              <a:ext cx="772230" cy="4083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dirty="0"/>
                <a:t>NH: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G</a:t>
              </a:r>
              <a:endParaRPr kumimoji="1" lang="zh-CN" altLang="en-US" sz="1400" dirty="0"/>
            </a:p>
          </p:txBody>
        </p: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787E4F1A-AD35-9542-9F15-297A0859792A}"/>
              </a:ext>
            </a:extLst>
          </p:cNvPr>
          <p:cNvSpPr txBox="1"/>
          <p:nvPr/>
        </p:nvSpPr>
        <p:spPr>
          <a:xfrm>
            <a:off x="2266052" y="3515023"/>
            <a:ext cx="162595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/>
              <a:t>Repeat variable diresidues (RVDs)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BF405EBA-4F79-644F-93AB-E10DA1F39771}"/>
              </a:ext>
            </a:extLst>
          </p:cNvPr>
          <p:cNvSpPr txBox="1"/>
          <p:nvPr/>
        </p:nvSpPr>
        <p:spPr>
          <a:xfrm>
            <a:off x="0" y="5946429"/>
            <a:ext cx="47355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Gaj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T, </a:t>
            </a:r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Sirk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SJ, Shui SL, Liu J. Genome-Editing Technologies: Principles and Applications.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Cold Spring </a:t>
            </a:r>
            <a:r>
              <a:rPr lang="en-US" sz="1200" b="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Harb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b="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Perspect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Biol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 2016 Dec 1;8(12):a023754.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86335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63824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Summary: Protein-Guided Nucleases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10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2A0F9B-A800-8F45-BD89-E13375AA649D}"/>
              </a:ext>
            </a:extLst>
          </p:cNvPr>
          <p:cNvCxnSpPr/>
          <p:nvPr/>
        </p:nvCxnSpPr>
        <p:spPr>
          <a:xfrm>
            <a:off x="808692" y="2293086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11E47A-6D6B-0743-8463-AE653EBFEBC2}"/>
              </a:ext>
            </a:extLst>
          </p:cNvPr>
          <p:cNvCxnSpPr/>
          <p:nvPr/>
        </p:nvCxnSpPr>
        <p:spPr>
          <a:xfrm>
            <a:off x="808692" y="2609042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0946E3A-6BFF-784C-B92A-3B3C1E15E4E3}"/>
              </a:ext>
            </a:extLst>
          </p:cNvPr>
          <p:cNvCxnSpPr>
            <a:cxnSpLocks/>
          </p:cNvCxnSpPr>
          <p:nvPr/>
        </p:nvCxnSpPr>
        <p:spPr>
          <a:xfrm>
            <a:off x="995279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ECF60E-2A22-9549-92AD-5D16DE57B275}"/>
              </a:ext>
            </a:extLst>
          </p:cNvPr>
          <p:cNvCxnSpPr>
            <a:cxnSpLocks/>
          </p:cNvCxnSpPr>
          <p:nvPr/>
        </p:nvCxnSpPr>
        <p:spPr>
          <a:xfrm>
            <a:off x="1140059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0CA37D-C44C-B94F-A031-3C5DEDB97716}"/>
              </a:ext>
            </a:extLst>
          </p:cNvPr>
          <p:cNvCxnSpPr>
            <a:cxnSpLocks/>
          </p:cNvCxnSpPr>
          <p:nvPr/>
        </p:nvCxnSpPr>
        <p:spPr>
          <a:xfrm>
            <a:off x="1277219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8CE2F9-151A-A547-A2A9-1DCD927AC735}"/>
              </a:ext>
            </a:extLst>
          </p:cNvPr>
          <p:cNvCxnSpPr>
            <a:cxnSpLocks/>
          </p:cNvCxnSpPr>
          <p:nvPr/>
        </p:nvCxnSpPr>
        <p:spPr>
          <a:xfrm>
            <a:off x="1406759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3C86B52-460C-D747-941F-E753642128D0}"/>
              </a:ext>
            </a:extLst>
          </p:cNvPr>
          <p:cNvCxnSpPr>
            <a:cxnSpLocks/>
          </p:cNvCxnSpPr>
          <p:nvPr/>
        </p:nvCxnSpPr>
        <p:spPr>
          <a:xfrm>
            <a:off x="1536299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8AD3B31-C2B9-AB44-8B2E-83784F380CCF}"/>
              </a:ext>
            </a:extLst>
          </p:cNvPr>
          <p:cNvCxnSpPr>
            <a:cxnSpLocks/>
          </p:cNvCxnSpPr>
          <p:nvPr/>
        </p:nvCxnSpPr>
        <p:spPr>
          <a:xfrm>
            <a:off x="1674152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F171C57-F134-D040-81E8-2FFE9DBE7326}"/>
              </a:ext>
            </a:extLst>
          </p:cNvPr>
          <p:cNvCxnSpPr>
            <a:cxnSpLocks/>
          </p:cNvCxnSpPr>
          <p:nvPr/>
        </p:nvCxnSpPr>
        <p:spPr>
          <a:xfrm>
            <a:off x="1818932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B37BAB2-8B69-1C4A-86BB-A49878F941B5}"/>
              </a:ext>
            </a:extLst>
          </p:cNvPr>
          <p:cNvCxnSpPr>
            <a:cxnSpLocks/>
          </p:cNvCxnSpPr>
          <p:nvPr/>
        </p:nvCxnSpPr>
        <p:spPr>
          <a:xfrm>
            <a:off x="1956092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F3C738E-66FF-E04D-878D-B21E7029796B}"/>
              </a:ext>
            </a:extLst>
          </p:cNvPr>
          <p:cNvCxnSpPr>
            <a:cxnSpLocks/>
          </p:cNvCxnSpPr>
          <p:nvPr/>
        </p:nvCxnSpPr>
        <p:spPr>
          <a:xfrm>
            <a:off x="2085632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EEB6507-5089-5845-BC15-187514BCA90C}"/>
              </a:ext>
            </a:extLst>
          </p:cNvPr>
          <p:cNvCxnSpPr>
            <a:cxnSpLocks/>
          </p:cNvCxnSpPr>
          <p:nvPr/>
        </p:nvCxnSpPr>
        <p:spPr>
          <a:xfrm>
            <a:off x="2215172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5D5522E-15B2-B84C-A952-328BA5D78FA5}"/>
              </a:ext>
            </a:extLst>
          </p:cNvPr>
          <p:cNvCxnSpPr>
            <a:cxnSpLocks/>
          </p:cNvCxnSpPr>
          <p:nvPr/>
        </p:nvCxnSpPr>
        <p:spPr>
          <a:xfrm>
            <a:off x="235302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D9A68BB-1269-8547-8059-E75F5BC54CA3}"/>
              </a:ext>
            </a:extLst>
          </p:cNvPr>
          <p:cNvCxnSpPr>
            <a:cxnSpLocks/>
          </p:cNvCxnSpPr>
          <p:nvPr/>
        </p:nvCxnSpPr>
        <p:spPr>
          <a:xfrm>
            <a:off x="249780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AEE2218-2A37-CF4A-A120-09DB593CD08D}"/>
              </a:ext>
            </a:extLst>
          </p:cNvPr>
          <p:cNvCxnSpPr>
            <a:cxnSpLocks/>
          </p:cNvCxnSpPr>
          <p:nvPr/>
        </p:nvCxnSpPr>
        <p:spPr>
          <a:xfrm>
            <a:off x="263496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8AF46DE-7F6B-6B41-AF8E-C67D79EF7880}"/>
              </a:ext>
            </a:extLst>
          </p:cNvPr>
          <p:cNvCxnSpPr>
            <a:cxnSpLocks/>
          </p:cNvCxnSpPr>
          <p:nvPr/>
        </p:nvCxnSpPr>
        <p:spPr>
          <a:xfrm>
            <a:off x="276450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BF926E4-6FF7-5041-A4EA-3D616BEDBA89}"/>
              </a:ext>
            </a:extLst>
          </p:cNvPr>
          <p:cNvCxnSpPr>
            <a:cxnSpLocks/>
          </p:cNvCxnSpPr>
          <p:nvPr/>
        </p:nvCxnSpPr>
        <p:spPr>
          <a:xfrm>
            <a:off x="289404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0616140-6735-204F-ADF7-AA13397B138D}"/>
              </a:ext>
            </a:extLst>
          </p:cNvPr>
          <p:cNvCxnSpPr>
            <a:cxnSpLocks/>
          </p:cNvCxnSpPr>
          <p:nvPr/>
        </p:nvCxnSpPr>
        <p:spPr>
          <a:xfrm>
            <a:off x="3031897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34C833B-5EAB-CF42-8EE4-3622D65623CA}"/>
              </a:ext>
            </a:extLst>
          </p:cNvPr>
          <p:cNvCxnSpPr>
            <a:cxnSpLocks/>
          </p:cNvCxnSpPr>
          <p:nvPr/>
        </p:nvCxnSpPr>
        <p:spPr>
          <a:xfrm>
            <a:off x="3176677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BE271BE-E63E-B34B-BD76-5F59D1458054}"/>
              </a:ext>
            </a:extLst>
          </p:cNvPr>
          <p:cNvCxnSpPr>
            <a:cxnSpLocks/>
          </p:cNvCxnSpPr>
          <p:nvPr/>
        </p:nvCxnSpPr>
        <p:spPr>
          <a:xfrm>
            <a:off x="3313837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408EA02-74A2-824B-82BF-D0256F39C39D}"/>
              </a:ext>
            </a:extLst>
          </p:cNvPr>
          <p:cNvCxnSpPr>
            <a:cxnSpLocks/>
          </p:cNvCxnSpPr>
          <p:nvPr/>
        </p:nvCxnSpPr>
        <p:spPr>
          <a:xfrm>
            <a:off x="3443377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8C9259-30A7-5941-B5AB-0614EDCA7B1B}"/>
              </a:ext>
            </a:extLst>
          </p:cNvPr>
          <p:cNvCxnSpPr>
            <a:cxnSpLocks/>
          </p:cNvCxnSpPr>
          <p:nvPr/>
        </p:nvCxnSpPr>
        <p:spPr>
          <a:xfrm>
            <a:off x="3572917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29DD92E-F6CC-3545-A42E-1677BB245F4A}"/>
              </a:ext>
            </a:extLst>
          </p:cNvPr>
          <p:cNvCxnSpPr>
            <a:cxnSpLocks/>
          </p:cNvCxnSpPr>
          <p:nvPr/>
        </p:nvCxnSpPr>
        <p:spPr>
          <a:xfrm>
            <a:off x="3710770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D1441B4-385E-C74A-B3E1-91B1592BF009}"/>
              </a:ext>
            </a:extLst>
          </p:cNvPr>
          <p:cNvCxnSpPr>
            <a:cxnSpLocks/>
          </p:cNvCxnSpPr>
          <p:nvPr/>
        </p:nvCxnSpPr>
        <p:spPr>
          <a:xfrm>
            <a:off x="3855550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9E3E861-040C-5A4B-B067-F7F728A3E6AA}"/>
              </a:ext>
            </a:extLst>
          </p:cNvPr>
          <p:cNvCxnSpPr>
            <a:cxnSpLocks/>
          </p:cNvCxnSpPr>
          <p:nvPr/>
        </p:nvCxnSpPr>
        <p:spPr>
          <a:xfrm>
            <a:off x="3992710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87947DE-8F0E-1E47-BFA4-94AB70D44EBC}"/>
              </a:ext>
            </a:extLst>
          </p:cNvPr>
          <p:cNvCxnSpPr>
            <a:cxnSpLocks/>
          </p:cNvCxnSpPr>
          <p:nvPr/>
        </p:nvCxnSpPr>
        <p:spPr>
          <a:xfrm>
            <a:off x="4122250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9C0B7D0-5219-034A-BA1C-5471CFA03C76}"/>
              </a:ext>
            </a:extLst>
          </p:cNvPr>
          <p:cNvCxnSpPr>
            <a:cxnSpLocks/>
          </p:cNvCxnSpPr>
          <p:nvPr/>
        </p:nvCxnSpPr>
        <p:spPr>
          <a:xfrm>
            <a:off x="4251790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DB72E18-4174-234B-8A06-2D9340EF7B9B}"/>
              </a:ext>
            </a:extLst>
          </p:cNvPr>
          <p:cNvCxnSpPr>
            <a:cxnSpLocks/>
          </p:cNvCxnSpPr>
          <p:nvPr/>
        </p:nvCxnSpPr>
        <p:spPr>
          <a:xfrm>
            <a:off x="4382023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AFE885B-58B8-EC45-A3A8-61232D66CE81}"/>
              </a:ext>
            </a:extLst>
          </p:cNvPr>
          <p:cNvCxnSpPr>
            <a:cxnSpLocks/>
          </p:cNvCxnSpPr>
          <p:nvPr/>
        </p:nvCxnSpPr>
        <p:spPr>
          <a:xfrm>
            <a:off x="4519183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F8C1E10-890A-904C-871A-B02A76810DCC}"/>
              </a:ext>
            </a:extLst>
          </p:cNvPr>
          <p:cNvCxnSpPr>
            <a:cxnSpLocks/>
          </p:cNvCxnSpPr>
          <p:nvPr/>
        </p:nvCxnSpPr>
        <p:spPr>
          <a:xfrm>
            <a:off x="4648723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852855-9E61-AB46-B9A5-A0002199DC27}"/>
              </a:ext>
            </a:extLst>
          </p:cNvPr>
          <p:cNvCxnSpPr>
            <a:cxnSpLocks/>
          </p:cNvCxnSpPr>
          <p:nvPr/>
        </p:nvCxnSpPr>
        <p:spPr>
          <a:xfrm>
            <a:off x="4778263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F1999BB-14CF-314D-AD4F-EE5144E1D1D3}"/>
              </a:ext>
            </a:extLst>
          </p:cNvPr>
          <p:cNvCxnSpPr>
            <a:cxnSpLocks/>
          </p:cNvCxnSpPr>
          <p:nvPr/>
        </p:nvCxnSpPr>
        <p:spPr>
          <a:xfrm>
            <a:off x="491611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5BF0046-D690-CB48-B9D6-8A70AEDCB549}"/>
              </a:ext>
            </a:extLst>
          </p:cNvPr>
          <p:cNvCxnSpPr>
            <a:cxnSpLocks/>
          </p:cNvCxnSpPr>
          <p:nvPr/>
        </p:nvCxnSpPr>
        <p:spPr>
          <a:xfrm>
            <a:off x="506089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DA487A9-2F19-AA4E-A69A-ED478298CCA2}"/>
              </a:ext>
            </a:extLst>
          </p:cNvPr>
          <p:cNvCxnSpPr>
            <a:cxnSpLocks/>
          </p:cNvCxnSpPr>
          <p:nvPr/>
        </p:nvCxnSpPr>
        <p:spPr>
          <a:xfrm>
            <a:off x="519805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9696660-92B6-A145-8A2A-51F1086B7620}"/>
              </a:ext>
            </a:extLst>
          </p:cNvPr>
          <p:cNvCxnSpPr>
            <a:cxnSpLocks/>
          </p:cNvCxnSpPr>
          <p:nvPr/>
        </p:nvCxnSpPr>
        <p:spPr>
          <a:xfrm>
            <a:off x="5327595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D70F5D0-A094-D141-AD37-31EF73C237E5}"/>
              </a:ext>
            </a:extLst>
          </p:cNvPr>
          <p:cNvCxnSpPr>
            <a:cxnSpLocks/>
          </p:cNvCxnSpPr>
          <p:nvPr/>
        </p:nvCxnSpPr>
        <p:spPr>
          <a:xfrm>
            <a:off x="5457135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E8182AA-9A3E-6149-B879-00CCF59ECD78}"/>
              </a:ext>
            </a:extLst>
          </p:cNvPr>
          <p:cNvCxnSpPr>
            <a:cxnSpLocks/>
          </p:cNvCxnSpPr>
          <p:nvPr/>
        </p:nvCxnSpPr>
        <p:spPr>
          <a:xfrm>
            <a:off x="5594988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A2CD8FD-B93D-F440-A860-C4DC42B851E8}"/>
              </a:ext>
            </a:extLst>
          </p:cNvPr>
          <p:cNvCxnSpPr>
            <a:cxnSpLocks/>
          </p:cNvCxnSpPr>
          <p:nvPr/>
        </p:nvCxnSpPr>
        <p:spPr>
          <a:xfrm>
            <a:off x="5739768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C325DE8-A33C-7C42-89BE-5587F49160A0}"/>
              </a:ext>
            </a:extLst>
          </p:cNvPr>
          <p:cNvCxnSpPr>
            <a:cxnSpLocks/>
          </p:cNvCxnSpPr>
          <p:nvPr/>
        </p:nvCxnSpPr>
        <p:spPr>
          <a:xfrm>
            <a:off x="5876928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9F4D8BF-6210-5D41-BF0D-C065D33B21EC}"/>
              </a:ext>
            </a:extLst>
          </p:cNvPr>
          <p:cNvCxnSpPr>
            <a:cxnSpLocks/>
          </p:cNvCxnSpPr>
          <p:nvPr/>
        </p:nvCxnSpPr>
        <p:spPr>
          <a:xfrm>
            <a:off x="6006468" y="2278565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E33D809A-A525-8A48-ABF8-4D227B75B8A6}"/>
              </a:ext>
            </a:extLst>
          </p:cNvPr>
          <p:cNvCxnSpPr>
            <a:cxnSpLocks/>
          </p:cNvCxnSpPr>
          <p:nvPr/>
        </p:nvCxnSpPr>
        <p:spPr>
          <a:xfrm>
            <a:off x="6136008" y="2293086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E42D398-D702-604D-93E8-C2688CAB5031}"/>
              </a:ext>
            </a:extLst>
          </p:cNvPr>
          <p:cNvCxnSpPr/>
          <p:nvPr/>
        </p:nvCxnSpPr>
        <p:spPr>
          <a:xfrm>
            <a:off x="648919" y="2466911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B008C8AB-47E6-DA48-ADFB-D720EE764DBF}"/>
              </a:ext>
            </a:extLst>
          </p:cNvPr>
          <p:cNvSpPr txBox="1"/>
          <p:nvPr/>
        </p:nvSpPr>
        <p:spPr>
          <a:xfrm>
            <a:off x="449298" y="210842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534512-00B0-C847-A298-A9303F0411D4}"/>
              </a:ext>
            </a:extLst>
          </p:cNvPr>
          <p:cNvSpPr txBox="1"/>
          <p:nvPr/>
        </p:nvSpPr>
        <p:spPr>
          <a:xfrm>
            <a:off x="449298" y="2426441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9A892B4-EBB2-8E4C-BA18-BBFFF3E1DCC0}"/>
              </a:ext>
            </a:extLst>
          </p:cNvPr>
          <p:cNvSpPr txBox="1"/>
          <p:nvPr/>
        </p:nvSpPr>
        <p:spPr>
          <a:xfrm>
            <a:off x="6281326" y="242329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60FA3D-AB45-A94F-81C1-C62489ADB802}"/>
              </a:ext>
            </a:extLst>
          </p:cNvPr>
          <p:cNvSpPr txBox="1"/>
          <p:nvPr/>
        </p:nvSpPr>
        <p:spPr>
          <a:xfrm>
            <a:off x="6282439" y="2108903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7F41C1D0-AADE-6E40-BE68-CBFE696B23DB}"/>
              </a:ext>
            </a:extLst>
          </p:cNvPr>
          <p:cNvSpPr/>
          <p:nvPr/>
        </p:nvSpPr>
        <p:spPr>
          <a:xfrm>
            <a:off x="3545713" y="2193439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2D8C4CB4-6F49-3449-8FD0-7DF672DB4B0C}"/>
              </a:ext>
            </a:extLst>
          </p:cNvPr>
          <p:cNvSpPr/>
          <p:nvPr/>
        </p:nvSpPr>
        <p:spPr>
          <a:xfrm>
            <a:off x="1763307" y="2708689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52B4BC94-2AF5-EF40-A9BA-B536CBD615E5}"/>
              </a:ext>
            </a:extLst>
          </p:cNvPr>
          <p:cNvSpPr/>
          <p:nvPr/>
        </p:nvSpPr>
        <p:spPr>
          <a:xfrm>
            <a:off x="2173755" y="2695229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E9B4074D-5670-9841-A580-66293886350A}"/>
              </a:ext>
            </a:extLst>
          </p:cNvPr>
          <p:cNvSpPr/>
          <p:nvPr/>
        </p:nvSpPr>
        <p:spPr>
          <a:xfrm>
            <a:off x="2593120" y="2696797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sp>
        <p:nvSpPr>
          <p:cNvPr id="60" name="Freeform 59">
            <a:extLst>
              <a:ext uri="{FF2B5EF4-FFF2-40B4-BE49-F238E27FC236}">
                <a16:creationId xmlns:a16="http://schemas.microsoft.com/office/drawing/2014/main" id="{4206E9E0-56A0-6F42-868C-C6EE9FCE3AF0}"/>
              </a:ext>
            </a:extLst>
          </p:cNvPr>
          <p:cNvSpPr/>
          <p:nvPr/>
        </p:nvSpPr>
        <p:spPr>
          <a:xfrm>
            <a:off x="2991308" y="2695229"/>
            <a:ext cx="329689" cy="308788"/>
          </a:xfrm>
          <a:custGeom>
            <a:avLst/>
            <a:gdLst>
              <a:gd name="connsiteX0" fmla="*/ 20930 w 329689"/>
              <a:gd name="connsiteY0" fmla="*/ 59407 h 308788"/>
              <a:gd name="connsiteX1" fmla="*/ 104057 w 329689"/>
              <a:gd name="connsiteY1" fmla="*/ 11905 h 308788"/>
              <a:gd name="connsiteX2" fmla="*/ 270312 w 329689"/>
              <a:gd name="connsiteY2" fmla="*/ 11905 h 308788"/>
              <a:gd name="connsiteX3" fmla="*/ 305938 w 329689"/>
              <a:gd name="connsiteY3" fmla="*/ 47531 h 308788"/>
              <a:gd name="connsiteX4" fmla="*/ 329689 w 329689"/>
              <a:gd name="connsiteY4" fmla="*/ 118783 h 308788"/>
              <a:gd name="connsiteX5" fmla="*/ 317813 w 329689"/>
              <a:gd name="connsiteY5" fmla="*/ 249412 h 308788"/>
              <a:gd name="connsiteX6" fmla="*/ 282187 w 329689"/>
              <a:gd name="connsiteY6" fmla="*/ 261287 h 308788"/>
              <a:gd name="connsiteX7" fmla="*/ 246561 w 329689"/>
              <a:gd name="connsiteY7" fmla="*/ 285038 h 308788"/>
              <a:gd name="connsiteX8" fmla="*/ 163434 w 329689"/>
              <a:gd name="connsiteY8" fmla="*/ 308788 h 308788"/>
              <a:gd name="connsiteX9" fmla="*/ 68432 w 329689"/>
              <a:gd name="connsiteY9" fmla="*/ 296913 h 308788"/>
              <a:gd name="connsiteX10" fmla="*/ 32806 w 329689"/>
              <a:gd name="connsiteY10" fmla="*/ 261287 h 308788"/>
              <a:gd name="connsiteX11" fmla="*/ 9055 w 329689"/>
              <a:gd name="connsiteY11" fmla="*/ 190035 h 308788"/>
              <a:gd name="connsiteX12" fmla="*/ 20930 w 329689"/>
              <a:gd name="connsiteY12" fmla="*/ 59407 h 30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689" h="308788">
                <a:moveTo>
                  <a:pt x="20930" y="59407"/>
                </a:moveTo>
                <a:cubicBezTo>
                  <a:pt x="36764" y="29719"/>
                  <a:pt x="74598" y="24180"/>
                  <a:pt x="104057" y="11905"/>
                </a:cubicBezTo>
                <a:cubicBezTo>
                  <a:pt x="159776" y="-11311"/>
                  <a:pt x="212291" y="5458"/>
                  <a:pt x="270312" y="11905"/>
                </a:cubicBezTo>
                <a:cubicBezTo>
                  <a:pt x="282187" y="23780"/>
                  <a:pt x="297782" y="32850"/>
                  <a:pt x="305938" y="47531"/>
                </a:cubicBezTo>
                <a:cubicBezTo>
                  <a:pt x="318096" y="69416"/>
                  <a:pt x="329689" y="118783"/>
                  <a:pt x="329689" y="118783"/>
                </a:cubicBezTo>
                <a:cubicBezTo>
                  <a:pt x="325730" y="162326"/>
                  <a:pt x="331639" y="207933"/>
                  <a:pt x="317813" y="249412"/>
                </a:cubicBezTo>
                <a:cubicBezTo>
                  <a:pt x="313855" y="261287"/>
                  <a:pt x="293383" y="255689"/>
                  <a:pt x="282187" y="261287"/>
                </a:cubicBezTo>
                <a:cubicBezTo>
                  <a:pt x="269421" y="267670"/>
                  <a:pt x="259327" y="278655"/>
                  <a:pt x="246561" y="285038"/>
                </a:cubicBezTo>
                <a:cubicBezTo>
                  <a:pt x="229526" y="293556"/>
                  <a:pt x="178652" y="304984"/>
                  <a:pt x="163434" y="308788"/>
                </a:cubicBezTo>
                <a:cubicBezTo>
                  <a:pt x="131767" y="304830"/>
                  <a:pt x="98424" y="307819"/>
                  <a:pt x="68432" y="296913"/>
                </a:cubicBezTo>
                <a:cubicBezTo>
                  <a:pt x="52649" y="291174"/>
                  <a:pt x="40962" y="275968"/>
                  <a:pt x="32806" y="261287"/>
                </a:cubicBezTo>
                <a:cubicBezTo>
                  <a:pt x="20648" y="239402"/>
                  <a:pt x="16972" y="213786"/>
                  <a:pt x="9055" y="190035"/>
                </a:cubicBezTo>
                <a:cubicBezTo>
                  <a:pt x="-10330" y="131879"/>
                  <a:pt x="5096" y="89095"/>
                  <a:pt x="20930" y="5940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F</a:t>
            </a:r>
            <a:endParaRPr kumimoji="1" lang="zh-CN" altLang="en-US" sz="2000" dirty="0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684E568-1640-3B49-AD32-B6180E4C4AE2}"/>
              </a:ext>
            </a:extLst>
          </p:cNvPr>
          <p:cNvGrpSpPr/>
          <p:nvPr/>
        </p:nvGrpSpPr>
        <p:grpSpPr>
          <a:xfrm>
            <a:off x="3365579" y="1801389"/>
            <a:ext cx="2518671" cy="793133"/>
            <a:chOff x="8308639" y="3431406"/>
            <a:chExt cx="2518671" cy="793133"/>
          </a:xfrm>
        </p:grpSpPr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583F66F3-0C99-AE45-B328-8607E20F6109}"/>
                </a:ext>
              </a:extLst>
            </p:cNvPr>
            <p:cNvSpPr/>
            <p:nvPr/>
          </p:nvSpPr>
          <p:spPr>
            <a:xfrm>
              <a:off x="8308639" y="3476394"/>
              <a:ext cx="739781" cy="748145"/>
            </a:xfrm>
            <a:custGeom>
              <a:avLst/>
              <a:gdLst>
                <a:gd name="connsiteX0" fmla="*/ 86639 w 739781"/>
                <a:gd name="connsiteY0" fmla="*/ 273132 h 748145"/>
                <a:gd name="connsiteX1" fmla="*/ 169766 w 739781"/>
                <a:gd name="connsiteY1" fmla="*/ 225631 h 748145"/>
                <a:gd name="connsiteX2" fmla="*/ 205392 w 739781"/>
                <a:gd name="connsiteY2" fmla="*/ 190005 h 748145"/>
                <a:gd name="connsiteX3" fmla="*/ 241018 w 739781"/>
                <a:gd name="connsiteY3" fmla="*/ 166254 h 748145"/>
                <a:gd name="connsiteX4" fmla="*/ 264768 w 739781"/>
                <a:gd name="connsiteY4" fmla="*/ 130628 h 748145"/>
                <a:gd name="connsiteX5" fmla="*/ 300394 w 739781"/>
                <a:gd name="connsiteY5" fmla="*/ 106878 h 748145"/>
                <a:gd name="connsiteX6" fmla="*/ 383522 w 739781"/>
                <a:gd name="connsiteY6" fmla="*/ 11875 h 748145"/>
                <a:gd name="connsiteX7" fmla="*/ 419148 w 739781"/>
                <a:gd name="connsiteY7" fmla="*/ 0 h 748145"/>
                <a:gd name="connsiteX8" fmla="*/ 549776 w 739781"/>
                <a:gd name="connsiteY8" fmla="*/ 23750 h 748145"/>
                <a:gd name="connsiteX9" fmla="*/ 621028 w 739781"/>
                <a:gd name="connsiteY9" fmla="*/ 71252 h 748145"/>
                <a:gd name="connsiteX10" fmla="*/ 692280 w 739781"/>
                <a:gd name="connsiteY10" fmla="*/ 142504 h 748145"/>
                <a:gd name="connsiteX11" fmla="*/ 739781 w 739781"/>
                <a:gd name="connsiteY11" fmla="*/ 213756 h 748145"/>
                <a:gd name="connsiteX12" fmla="*/ 727906 w 739781"/>
                <a:gd name="connsiteY12" fmla="*/ 427512 h 748145"/>
                <a:gd name="connsiteX13" fmla="*/ 609153 w 739781"/>
                <a:gd name="connsiteY13" fmla="*/ 546265 h 748145"/>
                <a:gd name="connsiteX14" fmla="*/ 573527 w 739781"/>
                <a:gd name="connsiteY14" fmla="*/ 570015 h 748145"/>
                <a:gd name="connsiteX15" fmla="*/ 537901 w 739781"/>
                <a:gd name="connsiteY15" fmla="*/ 593766 h 748145"/>
                <a:gd name="connsiteX16" fmla="*/ 466649 w 739781"/>
                <a:gd name="connsiteY16" fmla="*/ 641267 h 748145"/>
                <a:gd name="connsiteX17" fmla="*/ 395397 w 739781"/>
                <a:gd name="connsiteY17" fmla="*/ 688769 h 748145"/>
                <a:gd name="connsiteX18" fmla="*/ 359771 w 739781"/>
                <a:gd name="connsiteY18" fmla="*/ 712519 h 748145"/>
                <a:gd name="connsiteX19" fmla="*/ 288519 w 739781"/>
                <a:gd name="connsiteY19" fmla="*/ 736270 h 748145"/>
                <a:gd name="connsiteX20" fmla="*/ 252893 w 739781"/>
                <a:gd name="connsiteY20" fmla="*/ 748145 h 748145"/>
                <a:gd name="connsiteX21" fmla="*/ 217267 w 739781"/>
                <a:gd name="connsiteY21" fmla="*/ 736270 h 748145"/>
                <a:gd name="connsiteX22" fmla="*/ 146015 w 739781"/>
                <a:gd name="connsiteY22" fmla="*/ 676893 h 748145"/>
                <a:gd name="connsiteX23" fmla="*/ 98514 w 739781"/>
                <a:gd name="connsiteY23" fmla="*/ 605641 h 748145"/>
                <a:gd name="connsiteX24" fmla="*/ 27262 w 739781"/>
                <a:gd name="connsiteY24" fmla="*/ 558140 h 748145"/>
                <a:gd name="connsiteX25" fmla="*/ 3511 w 739781"/>
                <a:gd name="connsiteY25" fmla="*/ 522514 h 748145"/>
                <a:gd name="connsiteX26" fmla="*/ 39137 w 739781"/>
                <a:gd name="connsiteY26" fmla="*/ 391886 h 748145"/>
                <a:gd name="connsiteX27" fmla="*/ 62888 w 739781"/>
                <a:gd name="connsiteY27" fmla="*/ 320634 h 748145"/>
                <a:gd name="connsiteX28" fmla="*/ 86639 w 739781"/>
                <a:gd name="connsiteY28" fmla="*/ 273132 h 748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39781" h="748145">
                  <a:moveTo>
                    <a:pt x="86639" y="273132"/>
                  </a:moveTo>
                  <a:cubicBezTo>
                    <a:pt x="114348" y="257298"/>
                    <a:pt x="143621" y="243932"/>
                    <a:pt x="169766" y="225631"/>
                  </a:cubicBezTo>
                  <a:cubicBezTo>
                    <a:pt x="183524" y="216000"/>
                    <a:pt x="192490" y="200756"/>
                    <a:pt x="205392" y="190005"/>
                  </a:cubicBezTo>
                  <a:cubicBezTo>
                    <a:pt x="216356" y="180868"/>
                    <a:pt x="229143" y="174171"/>
                    <a:pt x="241018" y="166254"/>
                  </a:cubicBezTo>
                  <a:cubicBezTo>
                    <a:pt x="248935" y="154379"/>
                    <a:pt x="254676" y="140720"/>
                    <a:pt x="264768" y="130628"/>
                  </a:cubicBezTo>
                  <a:cubicBezTo>
                    <a:pt x="274860" y="120536"/>
                    <a:pt x="290996" y="117619"/>
                    <a:pt x="300394" y="106878"/>
                  </a:cubicBezTo>
                  <a:cubicBezTo>
                    <a:pt x="355811" y="43545"/>
                    <a:pt x="324146" y="41563"/>
                    <a:pt x="383522" y="11875"/>
                  </a:cubicBezTo>
                  <a:cubicBezTo>
                    <a:pt x="394718" y="6277"/>
                    <a:pt x="407273" y="3958"/>
                    <a:pt x="419148" y="0"/>
                  </a:cubicBezTo>
                  <a:cubicBezTo>
                    <a:pt x="423174" y="503"/>
                    <a:pt x="524430" y="6853"/>
                    <a:pt x="549776" y="23750"/>
                  </a:cubicBezTo>
                  <a:cubicBezTo>
                    <a:pt x="638735" y="83055"/>
                    <a:pt x="536315" y="43013"/>
                    <a:pt x="621028" y="71252"/>
                  </a:cubicBezTo>
                  <a:cubicBezTo>
                    <a:pt x="644779" y="95003"/>
                    <a:pt x="673649" y="114557"/>
                    <a:pt x="692280" y="142504"/>
                  </a:cubicBezTo>
                  <a:lnTo>
                    <a:pt x="739781" y="213756"/>
                  </a:lnTo>
                  <a:cubicBezTo>
                    <a:pt x="735823" y="285008"/>
                    <a:pt x="742460" y="357650"/>
                    <a:pt x="727906" y="427512"/>
                  </a:cubicBezTo>
                  <a:cubicBezTo>
                    <a:pt x="715137" y="488802"/>
                    <a:pt x="653588" y="516642"/>
                    <a:pt x="609153" y="546265"/>
                  </a:cubicBezTo>
                  <a:lnTo>
                    <a:pt x="573527" y="570015"/>
                  </a:lnTo>
                  <a:cubicBezTo>
                    <a:pt x="561652" y="577932"/>
                    <a:pt x="547993" y="583674"/>
                    <a:pt x="537901" y="593766"/>
                  </a:cubicBezTo>
                  <a:cubicBezTo>
                    <a:pt x="493424" y="638243"/>
                    <a:pt x="518207" y="624081"/>
                    <a:pt x="466649" y="641267"/>
                  </a:cubicBezTo>
                  <a:lnTo>
                    <a:pt x="395397" y="688769"/>
                  </a:lnTo>
                  <a:cubicBezTo>
                    <a:pt x="383522" y="696686"/>
                    <a:pt x="373311" y="708006"/>
                    <a:pt x="359771" y="712519"/>
                  </a:cubicBezTo>
                  <a:lnTo>
                    <a:pt x="288519" y="736270"/>
                  </a:lnTo>
                  <a:lnTo>
                    <a:pt x="252893" y="748145"/>
                  </a:lnTo>
                  <a:cubicBezTo>
                    <a:pt x="241018" y="744187"/>
                    <a:pt x="228463" y="741868"/>
                    <a:pt x="217267" y="736270"/>
                  </a:cubicBezTo>
                  <a:cubicBezTo>
                    <a:pt x="192318" y="723795"/>
                    <a:pt x="162727" y="698380"/>
                    <a:pt x="146015" y="676893"/>
                  </a:cubicBezTo>
                  <a:cubicBezTo>
                    <a:pt x="128490" y="654361"/>
                    <a:pt x="122265" y="621475"/>
                    <a:pt x="98514" y="605641"/>
                  </a:cubicBezTo>
                  <a:lnTo>
                    <a:pt x="27262" y="558140"/>
                  </a:lnTo>
                  <a:cubicBezTo>
                    <a:pt x="19345" y="546265"/>
                    <a:pt x="4803" y="536728"/>
                    <a:pt x="3511" y="522514"/>
                  </a:cubicBezTo>
                  <a:cubicBezTo>
                    <a:pt x="-7657" y="399667"/>
                    <a:pt x="8782" y="460185"/>
                    <a:pt x="39137" y="391886"/>
                  </a:cubicBezTo>
                  <a:cubicBezTo>
                    <a:pt x="49305" y="369008"/>
                    <a:pt x="54971" y="344385"/>
                    <a:pt x="62888" y="320634"/>
                  </a:cubicBezTo>
                  <a:lnTo>
                    <a:pt x="86639" y="273132"/>
                  </a:lnTo>
                  <a:close/>
                </a:path>
              </a:pathLst>
            </a:cu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FokI</a:t>
              </a:r>
              <a:endParaRPr kumimoji="1" lang="zh-CN" altLang="en-US" dirty="0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4BF48A6B-8EE7-B845-A2BB-9F301BBC37FC}"/>
                </a:ext>
              </a:extLst>
            </p:cNvPr>
            <p:cNvSpPr/>
            <p:nvPr/>
          </p:nvSpPr>
          <p:spPr>
            <a:xfrm>
              <a:off x="9269620" y="350768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2F64A46A-9BBE-904B-B5B6-CD0BCDAE70C9}"/>
                </a:ext>
              </a:extLst>
            </p:cNvPr>
            <p:cNvSpPr/>
            <p:nvPr/>
          </p:nvSpPr>
          <p:spPr>
            <a:xfrm>
              <a:off x="9680068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9DE1769B-2145-6945-A1D0-5E286D0464A0}"/>
                </a:ext>
              </a:extLst>
            </p:cNvPr>
            <p:cNvSpPr/>
            <p:nvPr/>
          </p:nvSpPr>
          <p:spPr>
            <a:xfrm>
              <a:off x="10099433" y="3495794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121AF418-34AA-F34D-B0FA-5FD6EB81783D}"/>
                </a:ext>
              </a:extLst>
            </p:cNvPr>
            <p:cNvSpPr/>
            <p:nvPr/>
          </p:nvSpPr>
          <p:spPr>
            <a:xfrm>
              <a:off x="10497621" y="3494226"/>
              <a:ext cx="329689" cy="308788"/>
            </a:xfrm>
            <a:custGeom>
              <a:avLst/>
              <a:gdLst>
                <a:gd name="connsiteX0" fmla="*/ 20930 w 329689"/>
                <a:gd name="connsiteY0" fmla="*/ 59407 h 308788"/>
                <a:gd name="connsiteX1" fmla="*/ 104057 w 329689"/>
                <a:gd name="connsiteY1" fmla="*/ 11905 h 308788"/>
                <a:gd name="connsiteX2" fmla="*/ 270312 w 329689"/>
                <a:gd name="connsiteY2" fmla="*/ 11905 h 308788"/>
                <a:gd name="connsiteX3" fmla="*/ 305938 w 329689"/>
                <a:gd name="connsiteY3" fmla="*/ 47531 h 308788"/>
                <a:gd name="connsiteX4" fmla="*/ 329689 w 329689"/>
                <a:gd name="connsiteY4" fmla="*/ 118783 h 308788"/>
                <a:gd name="connsiteX5" fmla="*/ 317813 w 329689"/>
                <a:gd name="connsiteY5" fmla="*/ 249412 h 308788"/>
                <a:gd name="connsiteX6" fmla="*/ 282187 w 329689"/>
                <a:gd name="connsiteY6" fmla="*/ 261287 h 308788"/>
                <a:gd name="connsiteX7" fmla="*/ 246561 w 329689"/>
                <a:gd name="connsiteY7" fmla="*/ 285038 h 308788"/>
                <a:gd name="connsiteX8" fmla="*/ 163434 w 329689"/>
                <a:gd name="connsiteY8" fmla="*/ 308788 h 308788"/>
                <a:gd name="connsiteX9" fmla="*/ 68432 w 329689"/>
                <a:gd name="connsiteY9" fmla="*/ 296913 h 308788"/>
                <a:gd name="connsiteX10" fmla="*/ 32806 w 329689"/>
                <a:gd name="connsiteY10" fmla="*/ 261287 h 308788"/>
                <a:gd name="connsiteX11" fmla="*/ 9055 w 329689"/>
                <a:gd name="connsiteY11" fmla="*/ 190035 h 308788"/>
                <a:gd name="connsiteX12" fmla="*/ 20930 w 329689"/>
                <a:gd name="connsiteY12" fmla="*/ 59407 h 30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689" h="308788">
                  <a:moveTo>
                    <a:pt x="20930" y="59407"/>
                  </a:moveTo>
                  <a:cubicBezTo>
                    <a:pt x="36764" y="29719"/>
                    <a:pt x="74598" y="24180"/>
                    <a:pt x="104057" y="11905"/>
                  </a:cubicBezTo>
                  <a:cubicBezTo>
                    <a:pt x="159776" y="-11311"/>
                    <a:pt x="212291" y="5458"/>
                    <a:pt x="270312" y="11905"/>
                  </a:cubicBezTo>
                  <a:cubicBezTo>
                    <a:pt x="282187" y="23780"/>
                    <a:pt x="297782" y="32850"/>
                    <a:pt x="305938" y="47531"/>
                  </a:cubicBezTo>
                  <a:cubicBezTo>
                    <a:pt x="318096" y="69416"/>
                    <a:pt x="329689" y="118783"/>
                    <a:pt x="329689" y="118783"/>
                  </a:cubicBezTo>
                  <a:cubicBezTo>
                    <a:pt x="325730" y="162326"/>
                    <a:pt x="331639" y="207933"/>
                    <a:pt x="317813" y="249412"/>
                  </a:cubicBezTo>
                  <a:cubicBezTo>
                    <a:pt x="313855" y="261287"/>
                    <a:pt x="293383" y="255689"/>
                    <a:pt x="282187" y="261287"/>
                  </a:cubicBezTo>
                  <a:cubicBezTo>
                    <a:pt x="269421" y="267670"/>
                    <a:pt x="259327" y="278655"/>
                    <a:pt x="246561" y="285038"/>
                  </a:cubicBezTo>
                  <a:cubicBezTo>
                    <a:pt x="229526" y="293556"/>
                    <a:pt x="178652" y="304984"/>
                    <a:pt x="163434" y="308788"/>
                  </a:cubicBezTo>
                  <a:cubicBezTo>
                    <a:pt x="131767" y="304830"/>
                    <a:pt x="98424" y="307819"/>
                    <a:pt x="68432" y="296913"/>
                  </a:cubicBezTo>
                  <a:cubicBezTo>
                    <a:pt x="52649" y="291174"/>
                    <a:pt x="40962" y="275968"/>
                    <a:pt x="32806" y="261287"/>
                  </a:cubicBezTo>
                  <a:cubicBezTo>
                    <a:pt x="20648" y="239402"/>
                    <a:pt x="16972" y="213786"/>
                    <a:pt x="9055" y="190035"/>
                  </a:cubicBezTo>
                  <a:cubicBezTo>
                    <a:pt x="-10330" y="131879"/>
                    <a:pt x="5096" y="89095"/>
                    <a:pt x="20930" y="59407"/>
                  </a:cubicBez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</a:t>
              </a:r>
              <a:endParaRPr kumimoji="1" lang="zh-CN" altLang="en-US" sz="2000" dirty="0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02E3E71C-C431-644D-9B27-AB22FEA9CCF6}"/>
                </a:ext>
              </a:extLst>
            </p:cNvPr>
            <p:cNvSpPr/>
            <p:nvPr/>
          </p:nvSpPr>
          <p:spPr>
            <a:xfrm>
              <a:off x="8975304" y="3476393"/>
              <a:ext cx="329689" cy="109673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1C9FB3AF-0C94-4341-8A21-E075EF04B735}"/>
                </a:ext>
              </a:extLst>
            </p:cNvPr>
            <p:cNvSpPr/>
            <p:nvPr/>
          </p:nvSpPr>
          <p:spPr>
            <a:xfrm rot="10800000">
              <a:off x="9442379" y="3792096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5DECD7E9-C82C-8541-95F4-3D6C5DFE2CE9}"/>
                </a:ext>
              </a:extLst>
            </p:cNvPr>
            <p:cNvSpPr/>
            <p:nvPr/>
          </p:nvSpPr>
          <p:spPr>
            <a:xfrm rot="432198">
              <a:off x="9871220" y="3431406"/>
              <a:ext cx="387928" cy="83941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8D4DE462-38DD-4040-95DC-5E9B262135C7}"/>
                </a:ext>
              </a:extLst>
            </p:cNvPr>
            <p:cNvSpPr/>
            <p:nvPr/>
          </p:nvSpPr>
          <p:spPr>
            <a:xfrm rot="10800000">
              <a:off x="10285727" y="3791884"/>
              <a:ext cx="336654" cy="45719"/>
            </a:xfrm>
            <a:custGeom>
              <a:avLst/>
              <a:gdLst>
                <a:gd name="connsiteX0" fmla="*/ 0 w 387928"/>
                <a:gd name="connsiteY0" fmla="*/ 83941 h 83941"/>
                <a:gd name="connsiteX1" fmla="*/ 166255 w 387928"/>
                <a:gd name="connsiteY1" fmla="*/ 814 h 83941"/>
                <a:gd name="connsiteX2" fmla="*/ 387928 w 387928"/>
                <a:gd name="connsiteY2" fmla="*/ 42377 h 83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28" h="83941">
                  <a:moveTo>
                    <a:pt x="0" y="83941"/>
                  </a:moveTo>
                  <a:cubicBezTo>
                    <a:pt x="50800" y="45841"/>
                    <a:pt x="101600" y="7741"/>
                    <a:pt x="166255" y="814"/>
                  </a:cubicBezTo>
                  <a:cubicBezTo>
                    <a:pt x="230910" y="-6113"/>
                    <a:pt x="378692" y="33141"/>
                    <a:pt x="387928" y="42377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71" name="Freeform 70">
            <a:extLst>
              <a:ext uri="{FF2B5EF4-FFF2-40B4-BE49-F238E27FC236}">
                <a16:creationId xmlns:a16="http://schemas.microsoft.com/office/drawing/2014/main" id="{6D827F1C-6574-8140-9F29-50C11CA97406}"/>
              </a:ext>
            </a:extLst>
          </p:cNvPr>
          <p:cNvSpPr/>
          <p:nvPr/>
        </p:nvSpPr>
        <p:spPr>
          <a:xfrm rot="20361174" flipV="1">
            <a:off x="3307141" y="2891710"/>
            <a:ext cx="389769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2" name="Freeform 71">
            <a:extLst>
              <a:ext uri="{FF2B5EF4-FFF2-40B4-BE49-F238E27FC236}">
                <a16:creationId xmlns:a16="http://schemas.microsoft.com/office/drawing/2014/main" id="{247E7DB8-20E9-314E-A63E-C821FCC128D2}"/>
              </a:ext>
            </a:extLst>
          </p:cNvPr>
          <p:cNvSpPr/>
          <p:nvPr/>
        </p:nvSpPr>
        <p:spPr>
          <a:xfrm rot="20361174" flipV="1">
            <a:off x="2835503" y="2953404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3" name="Freeform 72">
            <a:extLst>
              <a:ext uri="{FF2B5EF4-FFF2-40B4-BE49-F238E27FC236}">
                <a16:creationId xmlns:a16="http://schemas.microsoft.com/office/drawing/2014/main" id="{2D205603-16A4-AC41-B72E-AF166A0A868C}"/>
              </a:ext>
            </a:extLst>
          </p:cNvPr>
          <p:cNvSpPr/>
          <p:nvPr/>
        </p:nvSpPr>
        <p:spPr>
          <a:xfrm rot="9967244" flipV="1">
            <a:off x="2450185" y="2667917"/>
            <a:ext cx="189718" cy="75674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4" name="Freeform 73">
            <a:extLst>
              <a:ext uri="{FF2B5EF4-FFF2-40B4-BE49-F238E27FC236}">
                <a16:creationId xmlns:a16="http://schemas.microsoft.com/office/drawing/2014/main" id="{8F70C25D-1077-CA44-811B-B77B3C6DE551}"/>
              </a:ext>
            </a:extLst>
          </p:cNvPr>
          <p:cNvSpPr/>
          <p:nvPr/>
        </p:nvSpPr>
        <p:spPr>
          <a:xfrm rot="20361174" flipV="1">
            <a:off x="2023046" y="2953404"/>
            <a:ext cx="182513" cy="4571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5" name="Lightning Bolt 74">
            <a:extLst>
              <a:ext uri="{FF2B5EF4-FFF2-40B4-BE49-F238E27FC236}">
                <a16:creationId xmlns:a16="http://schemas.microsoft.com/office/drawing/2014/main" id="{0AE70164-A7E3-7842-968A-212B2EA4C4AC}"/>
              </a:ext>
            </a:extLst>
          </p:cNvPr>
          <p:cNvSpPr/>
          <p:nvPr/>
        </p:nvSpPr>
        <p:spPr>
          <a:xfrm flipH="1">
            <a:off x="3838903" y="1610991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3F2C7BB-E90A-3644-9D5E-32FC319897C3}"/>
              </a:ext>
            </a:extLst>
          </p:cNvPr>
          <p:cNvCxnSpPr>
            <a:cxnSpLocks/>
          </p:cNvCxnSpPr>
          <p:nvPr/>
        </p:nvCxnSpPr>
        <p:spPr>
          <a:xfrm>
            <a:off x="872040" y="4219398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13752CF-F5EB-6B42-B4A4-DECB01F4F881}"/>
              </a:ext>
            </a:extLst>
          </p:cNvPr>
          <p:cNvCxnSpPr/>
          <p:nvPr/>
        </p:nvCxnSpPr>
        <p:spPr>
          <a:xfrm>
            <a:off x="872040" y="4535354"/>
            <a:ext cx="5457825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EC992AC-8BD2-8449-BD9A-66A5AA2C64E2}"/>
              </a:ext>
            </a:extLst>
          </p:cNvPr>
          <p:cNvCxnSpPr>
            <a:cxnSpLocks/>
          </p:cNvCxnSpPr>
          <p:nvPr/>
        </p:nvCxnSpPr>
        <p:spPr>
          <a:xfrm>
            <a:off x="1058627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4274E06-4D29-6942-A6BD-780A1F48886B}"/>
              </a:ext>
            </a:extLst>
          </p:cNvPr>
          <p:cNvCxnSpPr>
            <a:cxnSpLocks/>
          </p:cNvCxnSpPr>
          <p:nvPr/>
        </p:nvCxnSpPr>
        <p:spPr>
          <a:xfrm>
            <a:off x="1203407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AD78413-6C29-C14D-B8BA-4C179F9DA174}"/>
              </a:ext>
            </a:extLst>
          </p:cNvPr>
          <p:cNvCxnSpPr>
            <a:cxnSpLocks/>
          </p:cNvCxnSpPr>
          <p:nvPr/>
        </p:nvCxnSpPr>
        <p:spPr>
          <a:xfrm>
            <a:off x="1340567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F8B0D709-C49F-8745-9FB8-6E2DD250EEF2}"/>
              </a:ext>
            </a:extLst>
          </p:cNvPr>
          <p:cNvCxnSpPr>
            <a:cxnSpLocks/>
          </p:cNvCxnSpPr>
          <p:nvPr/>
        </p:nvCxnSpPr>
        <p:spPr>
          <a:xfrm>
            <a:off x="1470107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638AF168-B20C-9E48-A2C5-C3FD30A2A641}"/>
              </a:ext>
            </a:extLst>
          </p:cNvPr>
          <p:cNvCxnSpPr>
            <a:cxnSpLocks/>
          </p:cNvCxnSpPr>
          <p:nvPr/>
        </p:nvCxnSpPr>
        <p:spPr>
          <a:xfrm>
            <a:off x="1599647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2CF82A4-4CE2-EC4C-9F4B-903174412CE6}"/>
              </a:ext>
            </a:extLst>
          </p:cNvPr>
          <p:cNvCxnSpPr>
            <a:cxnSpLocks/>
          </p:cNvCxnSpPr>
          <p:nvPr/>
        </p:nvCxnSpPr>
        <p:spPr>
          <a:xfrm>
            <a:off x="1737500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0C01C71-9437-2847-A865-94D467E15BB0}"/>
              </a:ext>
            </a:extLst>
          </p:cNvPr>
          <p:cNvCxnSpPr>
            <a:cxnSpLocks/>
          </p:cNvCxnSpPr>
          <p:nvPr/>
        </p:nvCxnSpPr>
        <p:spPr>
          <a:xfrm>
            <a:off x="1882280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B87907C-4FAD-3544-A119-6E0226A2A553}"/>
              </a:ext>
            </a:extLst>
          </p:cNvPr>
          <p:cNvCxnSpPr>
            <a:cxnSpLocks/>
          </p:cNvCxnSpPr>
          <p:nvPr/>
        </p:nvCxnSpPr>
        <p:spPr>
          <a:xfrm>
            <a:off x="2019440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CF9D9B48-BB0E-F545-9F64-32F5A4E9DCC7}"/>
              </a:ext>
            </a:extLst>
          </p:cNvPr>
          <p:cNvCxnSpPr>
            <a:cxnSpLocks/>
          </p:cNvCxnSpPr>
          <p:nvPr/>
        </p:nvCxnSpPr>
        <p:spPr>
          <a:xfrm>
            <a:off x="2148980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8B2CEEF2-D8A7-7542-8AD3-9C192BE5ED2C}"/>
              </a:ext>
            </a:extLst>
          </p:cNvPr>
          <p:cNvCxnSpPr>
            <a:cxnSpLocks/>
          </p:cNvCxnSpPr>
          <p:nvPr/>
        </p:nvCxnSpPr>
        <p:spPr>
          <a:xfrm>
            <a:off x="2278520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B261E8D0-2688-2D4B-94AE-B75D3CE535BF}"/>
              </a:ext>
            </a:extLst>
          </p:cNvPr>
          <p:cNvCxnSpPr>
            <a:cxnSpLocks/>
          </p:cNvCxnSpPr>
          <p:nvPr/>
        </p:nvCxnSpPr>
        <p:spPr>
          <a:xfrm>
            <a:off x="241637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7633437-7E1B-624C-9820-69F0B429AA76}"/>
              </a:ext>
            </a:extLst>
          </p:cNvPr>
          <p:cNvCxnSpPr>
            <a:cxnSpLocks/>
          </p:cNvCxnSpPr>
          <p:nvPr/>
        </p:nvCxnSpPr>
        <p:spPr>
          <a:xfrm>
            <a:off x="256115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8F4627C-AFF1-0045-BD6B-68621A9681FC}"/>
              </a:ext>
            </a:extLst>
          </p:cNvPr>
          <p:cNvCxnSpPr>
            <a:cxnSpLocks/>
          </p:cNvCxnSpPr>
          <p:nvPr/>
        </p:nvCxnSpPr>
        <p:spPr>
          <a:xfrm>
            <a:off x="269831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F7EC3D3-10B2-A941-88BE-08E58AA9545B}"/>
              </a:ext>
            </a:extLst>
          </p:cNvPr>
          <p:cNvCxnSpPr>
            <a:cxnSpLocks/>
          </p:cNvCxnSpPr>
          <p:nvPr/>
        </p:nvCxnSpPr>
        <p:spPr>
          <a:xfrm>
            <a:off x="282785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44BAC2A-FBA9-C544-939B-32E8B63DC0DC}"/>
              </a:ext>
            </a:extLst>
          </p:cNvPr>
          <p:cNvCxnSpPr>
            <a:cxnSpLocks/>
          </p:cNvCxnSpPr>
          <p:nvPr/>
        </p:nvCxnSpPr>
        <p:spPr>
          <a:xfrm>
            <a:off x="295739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2436750-88FC-CD49-ADCE-B4D8F09369E4}"/>
              </a:ext>
            </a:extLst>
          </p:cNvPr>
          <p:cNvCxnSpPr>
            <a:cxnSpLocks/>
          </p:cNvCxnSpPr>
          <p:nvPr/>
        </p:nvCxnSpPr>
        <p:spPr>
          <a:xfrm>
            <a:off x="3095245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51B5EB7-EB35-634F-AAA4-41FCA9A9944F}"/>
              </a:ext>
            </a:extLst>
          </p:cNvPr>
          <p:cNvCxnSpPr>
            <a:cxnSpLocks/>
          </p:cNvCxnSpPr>
          <p:nvPr/>
        </p:nvCxnSpPr>
        <p:spPr>
          <a:xfrm>
            <a:off x="3240025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A50489DA-240F-9C40-A495-CFF31803EAF0}"/>
              </a:ext>
            </a:extLst>
          </p:cNvPr>
          <p:cNvCxnSpPr>
            <a:cxnSpLocks/>
          </p:cNvCxnSpPr>
          <p:nvPr/>
        </p:nvCxnSpPr>
        <p:spPr>
          <a:xfrm>
            <a:off x="3377185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9B716DE-D47B-7F4F-B28A-3E86507B006F}"/>
              </a:ext>
            </a:extLst>
          </p:cNvPr>
          <p:cNvCxnSpPr>
            <a:cxnSpLocks/>
          </p:cNvCxnSpPr>
          <p:nvPr/>
        </p:nvCxnSpPr>
        <p:spPr>
          <a:xfrm>
            <a:off x="3506725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7371EAE-0802-F441-86BE-6A7CC5FF8503}"/>
              </a:ext>
            </a:extLst>
          </p:cNvPr>
          <p:cNvCxnSpPr>
            <a:cxnSpLocks/>
          </p:cNvCxnSpPr>
          <p:nvPr/>
        </p:nvCxnSpPr>
        <p:spPr>
          <a:xfrm>
            <a:off x="3636265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F17BA93A-196A-6642-9597-401F8262D4B9}"/>
              </a:ext>
            </a:extLst>
          </p:cNvPr>
          <p:cNvCxnSpPr>
            <a:cxnSpLocks/>
          </p:cNvCxnSpPr>
          <p:nvPr/>
        </p:nvCxnSpPr>
        <p:spPr>
          <a:xfrm>
            <a:off x="3774118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35F98C4-A36A-E445-89B8-F2DAEEACE20A}"/>
              </a:ext>
            </a:extLst>
          </p:cNvPr>
          <p:cNvCxnSpPr>
            <a:cxnSpLocks/>
          </p:cNvCxnSpPr>
          <p:nvPr/>
        </p:nvCxnSpPr>
        <p:spPr>
          <a:xfrm>
            <a:off x="3918898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C419C1A8-9537-CF49-AB6A-5F8308C8075C}"/>
              </a:ext>
            </a:extLst>
          </p:cNvPr>
          <p:cNvCxnSpPr>
            <a:cxnSpLocks/>
          </p:cNvCxnSpPr>
          <p:nvPr/>
        </p:nvCxnSpPr>
        <p:spPr>
          <a:xfrm>
            <a:off x="4056058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2DEC512E-333A-1B4C-A32D-C024A132BB75}"/>
              </a:ext>
            </a:extLst>
          </p:cNvPr>
          <p:cNvCxnSpPr>
            <a:cxnSpLocks/>
          </p:cNvCxnSpPr>
          <p:nvPr/>
        </p:nvCxnSpPr>
        <p:spPr>
          <a:xfrm>
            <a:off x="4185598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2B51657-3ADF-3C41-88CF-DCEE58A431DB}"/>
              </a:ext>
            </a:extLst>
          </p:cNvPr>
          <p:cNvCxnSpPr>
            <a:cxnSpLocks/>
          </p:cNvCxnSpPr>
          <p:nvPr/>
        </p:nvCxnSpPr>
        <p:spPr>
          <a:xfrm>
            <a:off x="4315138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CEF9D82E-5B5C-4E4E-A30D-D45FCD5900BC}"/>
              </a:ext>
            </a:extLst>
          </p:cNvPr>
          <p:cNvCxnSpPr>
            <a:cxnSpLocks/>
          </p:cNvCxnSpPr>
          <p:nvPr/>
        </p:nvCxnSpPr>
        <p:spPr>
          <a:xfrm>
            <a:off x="4445371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230F7D6B-D560-F84B-9F90-37D07E15E427}"/>
              </a:ext>
            </a:extLst>
          </p:cNvPr>
          <p:cNvCxnSpPr>
            <a:cxnSpLocks/>
          </p:cNvCxnSpPr>
          <p:nvPr/>
        </p:nvCxnSpPr>
        <p:spPr>
          <a:xfrm>
            <a:off x="4582531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5F907BB-C602-184E-A877-CEF37A532F14}"/>
              </a:ext>
            </a:extLst>
          </p:cNvPr>
          <p:cNvCxnSpPr>
            <a:cxnSpLocks/>
          </p:cNvCxnSpPr>
          <p:nvPr/>
        </p:nvCxnSpPr>
        <p:spPr>
          <a:xfrm>
            <a:off x="4712071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06F9FD34-4DD1-4F45-A824-9FE3F47F9254}"/>
              </a:ext>
            </a:extLst>
          </p:cNvPr>
          <p:cNvCxnSpPr>
            <a:cxnSpLocks/>
          </p:cNvCxnSpPr>
          <p:nvPr/>
        </p:nvCxnSpPr>
        <p:spPr>
          <a:xfrm>
            <a:off x="4841611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EDB9B27-9069-6F4B-A0B2-C507C5F5A728}"/>
              </a:ext>
            </a:extLst>
          </p:cNvPr>
          <p:cNvCxnSpPr>
            <a:cxnSpLocks/>
          </p:cNvCxnSpPr>
          <p:nvPr/>
        </p:nvCxnSpPr>
        <p:spPr>
          <a:xfrm>
            <a:off x="497946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C1055-6D9B-8F4F-8E75-025095A39F63}"/>
              </a:ext>
            </a:extLst>
          </p:cNvPr>
          <p:cNvCxnSpPr>
            <a:cxnSpLocks/>
          </p:cNvCxnSpPr>
          <p:nvPr/>
        </p:nvCxnSpPr>
        <p:spPr>
          <a:xfrm>
            <a:off x="512424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54B4C502-5030-B041-B456-1673935017A4}"/>
              </a:ext>
            </a:extLst>
          </p:cNvPr>
          <p:cNvCxnSpPr>
            <a:cxnSpLocks/>
          </p:cNvCxnSpPr>
          <p:nvPr/>
        </p:nvCxnSpPr>
        <p:spPr>
          <a:xfrm>
            <a:off x="526140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18A01530-5855-534C-9235-988590ACF9B6}"/>
              </a:ext>
            </a:extLst>
          </p:cNvPr>
          <p:cNvCxnSpPr>
            <a:cxnSpLocks/>
          </p:cNvCxnSpPr>
          <p:nvPr/>
        </p:nvCxnSpPr>
        <p:spPr>
          <a:xfrm>
            <a:off x="5390943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DA6AD419-01ED-764F-9BE7-1739F575CBD5}"/>
              </a:ext>
            </a:extLst>
          </p:cNvPr>
          <p:cNvCxnSpPr>
            <a:cxnSpLocks/>
          </p:cNvCxnSpPr>
          <p:nvPr/>
        </p:nvCxnSpPr>
        <p:spPr>
          <a:xfrm>
            <a:off x="5520483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C33DA583-A56E-4A46-9AE1-A976FDFFE8B3}"/>
              </a:ext>
            </a:extLst>
          </p:cNvPr>
          <p:cNvCxnSpPr>
            <a:cxnSpLocks/>
          </p:cNvCxnSpPr>
          <p:nvPr/>
        </p:nvCxnSpPr>
        <p:spPr>
          <a:xfrm>
            <a:off x="5658336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AC1FC8B7-22BC-8C4D-8A78-1A2AB11D7C5E}"/>
              </a:ext>
            </a:extLst>
          </p:cNvPr>
          <p:cNvCxnSpPr>
            <a:cxnSpLocks/>
          </p:cNvCxnSpPr>
          <p:nvPr/>
        </p:nvCxnSpPr>
        <p:spPr>
          <a:xfrm>
            <a:off x="5803116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6AC21564-3C9B-D140-9A17-C397DB98D5A6}"/>
              </a:ext>
            </a:extLst>
          </p:cNvPr>
          <p:cNvCxnSpPr>
            <a:cxnSpLocks/>
          </p:cNvCxnSpPr>
          <p:nvPr/>
        </p:nvCxnSpPr>
        <p:spPr>
          <a:xfrm>
            <a:off x="5940276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286087C3-0ED2-3B41-BE6D-A52B574B2A12}"/>
              </a:ext>
            </a:extLst>
          </p:cNvPr>
          <p:cNvCxnSpPr>
            <a:cxnSpLocks/>
          </p:cNvCxnSpPr>
          <p:nvPr/>
        </p:nvCxnSpPr>
        <p:spPr>
          <a:xfrm>
            <a:off x="6069816" y="4204877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0ED76E5-6187-AD4D-9301-0B4CCE8A5F97}"/>
              </a:ext>
            </a:extLst>
          </p:cNvPr>
          <p:cNvCxnSpPr>
            <a:cxnSpLocks/>
          </p:cNvCxnSpPr>
          <p:nvPr/>
        </p:nvCxnSpPr>
        <p:spPr>
          <a:xfrm>
            <a:off x="6199356" y="4219398"/>
            <a:ext cx="0" cy="330477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FA277CAA-7522-D743-AA1C-28299319F175}"/>
              </a:ext>
            </a:extLst>
          </p:cNvPr>
          <p:cNvCxnSpPr/>
          <p:nvPr/>
        </p:nvCxnSpPr>
        <p:spPr>
          <a:xfrm>
            <a:off x="712267" y="4393223"/>
            <a:ext cx="5639493" cy="0"/>
          </a:xfrm>
          <a:prstGeom prst="line">
            <a:avLst/>
          </a:prstGeom>
          <a:ln w="539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E94AF451-22D2-6248-83C2-403E5886334E}"/>
              </a:ext>
            </a:extLst>
          </p:cNvPr>
          <p:cNvSpPr txBox="1"/>
          <p:nvPr/>
        </p:nvSpPr>
        <p:spPr>
          <a:xfrm>
            <a:off x="512646" y="4034732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838463F-CC11-D94F-8937-73B18BCAAC71}"/>
              </a:ext>
            </a:extLst>
          </p:cNvPr>
          <p:cNvSpPr txBox="1"/>
          <p:nvPr/>
        </p:nvSpPr>
        <p:spPr>
          <a:xfrm>
            <a:off x="512646" y="4352753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73AF208A-68A8-574D-BBA3-0F254CA4EB18}"/>
              </a:ext>
            </a:extLst>
          </p:cNvPr>
          <p:cNvSpPr txBox="1"/>
          <p:nvPr/>
        </p:nvSpPr>
        <p:spPr>
          <a:xfrm>
            <a:off x="6366710" y="4355144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5’</a:t>
            </a:r>
            <a:endParaRPr kumimoji="1" lang="zh-CN" altLang="en-US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5346304-CF9B-034E-9169-7F8A8F912EC8}"/>
              </a:ext>
            </a:extLst>
          </p:cNvPr>
          <p:cNvSpPr txBox="1"/>
          <p:nvPr/>
        </p:nvSpPr>
        <p:spPr>
          <a:xfrm>
            <a:off x="6366710" y="4034732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3’</a:t>
            </a:r>
            <a:endParaRPr kumimoji="1" lang="zh-CN" altLang="en-US" dirty="0"/>
          </a:p>
        </p:txBody>
      </p:sp>
      <p:sp>
        <p:nvSpPr>
          <p:cNvPr id="124" name="Freeform 123">
            <a:extLst>
              <a:ext uri="{FF2B5EF4-FFF2-40B4-BE49-F238E27FC236}">
                <a16:creationId xmlns:a16="http://schemas.microsoft.com/office/drawing/2014/main" id="{FB2D1995-8B29-164C-9905-72E60B3FEFB1}"/>
              </a:ext>
            </a:extLst>
          </p:cNvPr>
          <p:cNvSpPr/>
          <p:nvPr/>
        </p:nvSpPr>
        <p:spPr>
          <a:xfrm>
            <a:off x="3362574" y="4119751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25" name="Freeform 124">
            <a:extLst>
              <a:ext uri="{FF2B5EF4-FFF2-40B4-BE49-F238E27FC236}">
                <a16:creationId xmlns:a16="http://schemas.microsoft.com/office/drawing/2014/main" id="{C1B0582C-146C-8E45-9744-2D28C6B1FC97}"/>
              </a:ext>
            </a:extLst>
          </p:cNvPr>
          <p:cNvSpPr/>
          <p:nvPr/>
        </p:nvSpPr>
        <p:spPr>
          <a:xfrm>
            <a:off x="3182440" y="3772689"/>
            <a:ext cx="739781" cy="748145"/>
          </a:xfrm>
          <a:custGeom>
            <a:avLst/>
            <a:gdLst>
              <a:gd name="connsiteX0" fmla="*/ 86639 w 739781"/>
              <a:gd name="connsiteY0" fmla="*/ 273132 h 748145"/>
              <a:gd name="connsiteX1" fmla="*/ 169766 w 739781"/>
              <a:gd name="connsiteY1" fmla="*/ 225631 h 748145"/>
              <a:gd name="connsiteX2" fmla="*/ 205392 w 739781"/>
              <a:gd name="connsiteY2" fmla="*/ 190005 h 748145"/>
              <a:gd name="connsiteX3" fmla="*/ 241018 w 739781"/>
              <a:gd name="connsiteY3" fmla="*/ 166254 h 748145"/>
              <a:gd name="connsiteX4" fmla="*/ 264768 w 739781"/>
              <a:gd name="connsiteY4" fmla="*/ 130628 h 748145"/>
              <a:gd name="connsiteX5" fmla="*/ 300394 w 739781"/>
              <a:gd name="connsiteY5" fmla="*/ 106878 h 748145"/>
              <a:gd name="connsiteX6" fmla="*/ 383522 w 739781"/>
              <a:gd name="connsiteY6" fmla="*/ 11875 h 748145"/>
              <a:gd name="connsiteX7" fmla="*/ 419148 w 739781"/>
              <a:gd name="connsiteY7" fmla="*/ 0 h 748145"/>
              <a:gd name="connsiteX8" fmla="*/ 549776 w 739781"/>
              <a:gd name="connsiteY8" fmla="*/ 23750 h 748145"/>
              <a:gd name="connsiteX9" fmla="*/ 621028 w 739781"/>
              <a:gd name="connsiteY9" fmla="*/ 71252 h 748145"/>
              <a:gd name="connsiteX10" fmla="*/ 692280 w 739781"/>
              <a:gd name="connsiteY10" fmla="*/ 142504 h 748145"/>
              <a:gd name="connsiteX11" fmla="*/ 739781 w 739781"/>
              <a:gd name="connsiteY11" fmla="*/ 213756 h 748145"/>
              <a:gd name="connsiteX12" fmla="*/ 727906 w 739781"/>
              <a:gd name="connsiteY12" fmla="*/ 427512 h 748145"/>
              <a:gd name="connsiteX13" fmla="*/ 609153 w 739781"/>
              <a:gd name="connsiteY13" fmla="*/ 546265 h 748145"/>
              <a:gd name="connsiteX14" fmla="*/ 573527 w 739781"/>
              <a:gd name="connsiteY14" fmla="*/ 570015 h 748145"/>
              <a:gd name="connsiteX15" fmla="*/ 537901 w 739781"/>
              <a:gd name="connsiteY15" fmla="*/ 593766 h 748145"/>
              <a:gd name="connsiteX16" fmla="*/ 466649 w 739781"/>
              <a:gd name="connsiteY16" fmla="*/ 641267 h 748145"/>
              <a:gd name="connsiteX17" fmla="*/ 395397 w 739781"/>
              <a:gd name="connsiteY17" fmla="*/ 688769 h 748145"/>
              <a:gd name="connsiteX18" fmla="*/ 359771 w 739781"/>
              <a:gd name="connsiteY18" fmla="*/ 712519 h 748145"/>
              <a:gd name="connsiteX19" fmla="*/ 288519 w 739781"/>
              <a:gd name="connsiteY19" fmla="*/ 736270 h 748145"/>
              <a:gd name="connsiteX20" fmla="*/ 252893 w 739781"/>
              <a:gd name="connsiteY20" fmla="*/ 748145 h 748145"/>
              <a:gd name="connsiteX21" fmla="*/ 217267 w 739781"/>
              <a:gd name="connsiteY21" fmla="*/ 736270 h 748145"/>
              <a:gd name="connsiteX22" fmla="*/ 146015 w 739781"/>
              <a:gd name="connsiteY22" fmla="*/ 676893 h 748145"/>
              <a:gd name="connsiteX23" fmla="*/ 98514 w 739781"/>
              <a:gd name="connsiteY23" fmla="*/ 605641 h 748145"/>
              <a:gd name="connsiteX24" fmla="*/ 27262 w 739781"/>
              <a:gd name="connsiteY24" fmla="*/ 558140 h 748145"/>
              <a:gd name="connsiteX25" fmla="*/ 3511 w 739781"/>
              <a:gd name="connsiteY25" fmla="*/ 522514 h 748145"/>
              <a:gd name="connsiteX26" fmla="*/ 39137 w 739781"/>
              <a:gd name="connsiteY26" fmla="*/ 391886 h 748145"/>
              <a:gd name="connsiteX27" fmla="*/ 62888 w 739781"/>
              <a:gd name="connsiteY27" fmla="*/ 320634 h 748145"/>
              <a:gd name="connsiteX28" fmla="*/ 86639 w 739781"/>
              <a:gd name="connsiteY28" fmla="*/ 273132 h 748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39781" h="748145">
                <a:moveTo>
                  <a:pt x="86639" y="273132"/>
                </a:moveTo>
                <a:cubicBezTo>
                  <a:pt x="114348" y="257298"/>
                  <a:pt x="143621" y="243932"/>
                  <a:pt x="169766" y="225631"/>
                </a:cubicBezTo>
                <a:cubicBezTo>
                  <a:pt x="183524" y="216000"/>
                  <a:pt x="192490" y="200756"/>
                  <a:pt x="205392" y="190005"/>
                </a:cubicBezTo>
                <a:cubicBezTo>
                  <a:pt x="216356" y="180868"/>
                  <a:pt x="229143" y="174171"/>
                  <a:pt x="241018" y="166254"/>
                </a:cubicBezTo>
                <a:cubicBezTo>
                  <a:pt x="248935" y="154379"/>
                  <a:pt x="254676" y="140720"/>
                  <a:pt x="264768" y="130628"/>
                </a:cubicBezTo>
                <a:cubicBezTo>
                  <a:pt x="274860" y="120536"/>
                  <a:pt x="290996" y="117619"/>
                  <a:pt x="300394" y="106878"/>
                </a:cubicBezTo>
                <a:cubicBezTo>
                  <a:pt x="355811" y="43545"/>
                  <a:pt x="324146" y="41563"/>
                  <a:pt x="383522" y="11875"/>
                </a:cubicBezTo>
                <a:cubicBezTo>
                  <a:pt x="394718" y="6277"/>
                  <a:pt x="407273" y="3958"/>
                  <a:pt x="419148" y="0"/>
                </a:cubicBezTo>
                <a:cubicBezTo>
                  <a:pt x="423174" y="503"/>
                  <a:pt x="524430" y="6853"/>
                  <a:pt x="549776" y="23750"/>
                </a:cubicBezTo>
                <a:cubicBezTo>
                  <a:pt x="638735" y="83055"/>
                  <a:pt x="536315" y="43013"/>
                  <a:pt x="621028" y="71252"/>
                </a:cubicBezTo>
                <a:cubicBezTo>
                  <a:pt x="644779" y="95003"/>
                  <a:pt x="673649" y="114557"/>
                  <a:pt x="692280" y="142504"/>
                </a:cubicBezTo>
                <a:lnTo>
                  <a:pt x="739781" y="213756"/>
                </a:lnTo>
                <a:cubicBezTo>
                  <a:pt x="735823" y="285008"/>
                  <a:pt x="742460" y="357650"/>
                  <a:pt x="727906" y="427512"/>
                </a:cubicBezTo>
                <a:cubicBezTo>
                  <a:pt x="715137" y="488802"/>
                  <a:pt x="653588" y="516642"/>
                  <a:pt x="609153" y="546265"/>
                </a:cubicBezTo>
                <a:lnTo>
                  <a:pt x="573527" y="570015"/>
                </a:lnTo>
                <a:cubicBezTo>
                  <a:pt x="561652" y="577932"/>
                  <a:pt x="547993" y="583674"/>
                  <a:pt x="537901" y="593766"/>
                </a:cubicBezTo>
                <a:cubicBezTo>
                  <a:pt x="493424" y="638243"/>
                  <a:pt x="518207" y="624081"/>
                  <a:pt x="466649" y="641267"/>
                </a:cubicBezTo>
                <a:lnTo>
                  <a:pt x="395397" y="688769"/>
                </a:lnTo>
                <a:cubicBezTo>
                  <a:pt x="383522" y="696686"/>
                  <a:pt x="373311" y="708006"/>
                  <a:pt x="359771" y="712519"/>
                </a:cubicBezTo>
                <a:lnTo>
                  <a:pt x="288519" y="736270"/>
                </a:lnTo>
                <a:lnTo>
                  <a:pt x="252893" y="748145"/>
                </a:lnTo>
                <a:cubicBezTo>
                  <a:pt x="241018" y="744187"/>
                  <a:pt x="228463" y="741868"/>
                  <a:pt x="217267" y="736270"/>
                </a:cubicBezTo>
                <a:cubicBezTo>
                  <a:pt x="192318" y="723795"/>
                  <a:pt x="162727" y="698380"/>
                  <a:pt x="146015" y="676893"/>
                </a:cubicBezTo>
                <a:cubicBezTo>
                  <a:pt x="128490" y="654361"/>
                  <a:pt x="122265" y="621475"/>
                  <a:pt x="98514" y="605641"/>
                </a:cubicBezTo>
                <a:lnTo>
                  <a:pt x="27262" y="558140"/>
                </a:lnTo>
                <a:cubicBezTo>
                  <a:pt x="19345" y="546265"/>
                  <a:pt x="4803" y="536728"/>
                  <a:pt x="3511" y="522514"/>
                </a:cubicBezTo>
                <a:cubicBezTo>
                  <a:pt x="-7657" y="399667"/>
                  <a:pt x="8782" y="460185"/>
                  <a:pt x="39137" y="391886"/>
                </a:cubicBezTo>
                <a:cubicBezTo>
                  <a:pt x="49305" y="369008"/>
                  <a:pt x="54971" y="344385"/>
                  <a:pt x="62888" y="320634"/>
                </a:cubicBezTo>
                <a:lnTo>
                  <a:pt x="86639" y="273132"/>
                </a:lnTo>
                <a:close/>
              </a:path>
            </a:pathLst>
          </a:custGeom>
          <a:solidFill>
            <a:schemeClr val="accent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 err="1"/>
              <a:t>FokI</a:t>
            </a:r>
            <a:endParaRPr kumimoji="1" lang="zh-CN" altLang="en-US" dirty="0"/>
          </a:p>
        </p:txBody>
      </p:sp>
      <p:sp>
        <p:nvSpPr>
          <p:cNvPr id="126" name="Lightning Bolt 125">
            <a:extLst>
              <a:ext uri="{FF2B5EF4-FFF2-40B4-BE49-F238E27FC236}">
                <a16:creationId xmlns:a16="http://schemas.microsoft.com/office/drawing/2014/main" id="{E2BE8C6F-CD5F-BA4D-90F5-2F8672E23F97}"/>
              </a:ext>
            </a:extLst>
          </p:cNvPr>
          <p:cNvSpPr/>
          <p:nvPr/>
        </p:nvSpPr>
        <p:spPr>
          <a:xfrm flipH="1">
            <a:off x="3655764" y="3537303"/>
            <a:ext cx="445533" cy="810767"/>
          </a:xfrm>
          <a:prstGeom prst="lightningBol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7" name="Freeform 126">
            <a:extLst>
              <a:ext uri="{FF2B5EF4-FFF2-40B4-BE49-F238E27FC236}">
                <a16:creationId xmlns:a16="http://schemas.microsoft.com/office/drawing/2014/main" id="{0256D5A2-9FDB-484C-A148-3B9A311385A8}"/>
              </a:ext>
            </a:extLst>
          </p:cNvPr>
          <p:cNvSpPr/>
          <p:nvPr/>
        </p:nvSpPr>
        <p:spPr>
          <a:xfrm>
            <a:off x="2660809" y="3746043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8" name="Freeform 127">
            <a:extLst>
              <a:ext uri="{FF2B5EF4-FFF2-40B4-BE49-F238E27FC236}">
                <a16:creationId xmlns:a16="http://schemas.microsoft.com/office/drawing/2014/main" id="{914EA5B0-1FBC-5248-8FED-F02A47587C8D}"/>
              </a:ext>
            </a:extLst>
          </p:cNvPr>
          <p:cNvSpPr/>
          <p:nvPr/>
        </p:nvSpPr>
        <p:spPr>
          <a:xfrm rot="10800000">
            <a:off x="965829" y="3743110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9" name="Rounded Rectangle 128">
            <a:extLst>
              <a:ext uri="{FF2B5EF4-FFF2-40B4-BE49-F238E27FC236}">
                <a16:creationId xmlns:a16="http://schemas.microsoft.com/office/drawing/2014/main" id="{BB9F2E89-DE1B-A143-968B-1245370F5A4F}"/>
              </a:ext>
            </a:extLst>
          </p:cNvPr>
          <p:cNvSpPr/>
          <p:nvPr/>
        </p:nvSpPr>
        <p:spPr>
          <a:xfrm>
            <a:off x="2532078" y="3764516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0" name="Rounded Rectangle 129">
            <a:extLst>
              <a:ext uri="{FF2B5EF4-FFF2-40B4-BE49-F238E27FC236}">
                <a16:creationId xmlns:a16="http://schemas.microsoft.com/office/drawing/2014/main" id="{A69795F8-202E-FB47-823E-0F935DB73C53}"/>
              </a:ext>
            </a:extLst>
          </p:cNvPr>
          <p:cNvSpPr/>
          <p:nvPr/>
        </p:nvSpPr>
        <p:spPr>
          <a:xfrm>
            <a:off x="2394765" y="3763524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1" name="Rounded Rectangle 130">
            <a:extLst>
              <a:ext uri="{FF2B5EF4-FFF2-40B4-BE49-F238E27FC236}">
                <a16:creationId xmlns:a16="http://schemas.microsoft.com/office/drawing/2014/main" id="{15A904B1-E0C3-D94A-B1DA-A967480E4662}"/>
              </a:ext>
            </a:extLst>
          </p:cNvPr>
          <p:cNvSpPr/>
          <p:nvPr/>
        </p:nvSpPr>
        <p:spPr>
          <a:xfrm>
            <a:off x="2250773" y="3762418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2" name="Rounded Rectangle 131">
            <a:extLst>
              <a:ext uri="{FF2B5EF4-FFF2-40B4-BE49-F238E27FC236}">
                <a16:creationId xmlns:a16="http://schemas.microsoft.com/office/drawing/2014/main" id="{39EF9851-9918-1D4F-87BF-05129B687398}"/>
              </a:ext>
            </a:extLst>
          </p:cNvPr>
          <p:cNvSpPr/>
          <p:nvPr/>
        </p:nvSpPr>
        <p:spPr>
          <a:xfrm>
            <a:off x="2112597" y="3762418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5A75275-4A77-AB4B-ABAC-04074B116D52}"/>
              </a:ext>
            </a:extLst>
          </p:cNvPr>
          <p:cNvSpPr/>
          <p:nvPr/>
        </p:nvSpPr>
        <p:spPr>
          <a:xfrm>
            <a:off x="1970943" y="3762418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7E667186-AD36-C840-923B-566999A0DBF5}"/>
              </a:ext>
            </a:extLst>
          </p:cNvPr>
          <p:cNvSpPr/>
          <p:nvPr/>
        </p:nvSpPr>
        <p:spPr>
          <a:xfrm>
            <a:off x="1839144" y="3764214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9CB79699-D0D9-4147-8EC8-B3FB71945504}"/>
              </a:ext>
            </a:extLst>
          </p:cNvPr>
          <p:cNvSpPr/>
          <p:nvPr/>
        </p:nvSpPr>
        <p:spPr>
          <a:xfrm>
            <a:off x="1701493" y="3755365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6" name="Rounded Rectangle 135">
            <a:extLst>
              <a:ext uri="{FF2B5EF4-FFF2-40B4-BE49-F238E27FC236}">
                <a16:creationId xmlns:a16="http://schemas.microsoft.com/office/drawing/2014/main" id="{653C7E80-49CA-FB41-9E42-5E1D30D2A923}"/>
              </a:ext>
            </a:extLst>
          </p:cNvPr>
          <p:cNvSpPr/>
          <p:nvPr/>
        </p:nvSpPr>
        <p:spPr>
          <a:xfrm>
            <a:off x="1563317" y="3755365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7" name="Rounded Rectangle 136">
            <a:extLst>
              <a:ext uri="{FF2B5EF4-FFF2-40B4-BE49-F238E27FC236}">
                <a16:creationId xmlns:a16="http://schemas.microsoft.com/office/drawing/2014/main" id="{266E50B8-BB1A-1945-B997-31B0D8071C66}"/>
              </a:ext>
            </a:extLst>
          </p:cNvPr>
          <p:cNvSpPr/>
          <p:nvPr/>
        </p:nvSpPr>
        <p:spPr>
          <a:xfrm>
            <a:off x="1421663" y="3755365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8" name="Rounded Rectangle 137">
            <a:extLst>
              <a:ext uri="{FF2B5EF4-FFF2-40B4-BE49-F238E27FC236}">
                <a16:creationId xmlns:a16="http://schemas.microsoft.com/office/drawing/2014/main" id="{4BAF3711-7B27-B642-ACCC-67EFC8B1C0A0}"/>
              </a:ext>
            </a:extLst>
          </p:cNvPr>
          <p:cNvSpPr/>
          <p:nvPr/>
        </p:nvSpPr>
        <p:spPr>
          <a:xfrm>
            <a:off x="1289864" y="3757161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9" name="Freeform 138">
            <a:extLst>
              <a:ext uri="{FF2B5EF4-FFF2-40B4-BE49-F238E27FC236}">
                <a16:creationId xmlns:a16="http://schemas.microsoft.com/office/drawing/2014/main" id="{7D8519BC-82C9-E14E-A714-406B5978D17C}"/>
              </a:ext>
            </a:extLst>
          </p:cNvPr>
          <p:cNvSpPr/>
          <p:nvPr/>
        </p:nvSpPr>
        <p:spPr>
          <a:xfrm rot="11058474" flipV="1">
            <a:off x="2928008" y="3796734"/>
            <a:ext cx="505863" cy="130375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4AF9695B-C83C-444A-AD62-8319059EEAB2}"/>
              </a:ext>
            </a:extLst>
          </p:cNvPr>
          <p:cNvSpPr/>
          <p:nvPr/>
        </p:nvSpPr>
        <p:spPr>
          <a:xfrm>
            <a:off x="6025018" y="4582975"/>
            <a:ext cx="267764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1" name="Freeform 140">
            <a:extLst>
              <a:ext uri="{FF2B5EF4-FFF2-40B4-BE49-F238E27FC236}">
                <a16:creationId xmlns:a16="http://schemas.microsoft.com/office/drawing/2014/main" id="{61625CB0-32C5-1149-ADA8-17CB631762BF}"/>
              </a:ext>
            </a:extLst>
          </p:cNvPr>
          <p:cNvSpPr/>
          <p:nvPr/>
        </p:nvSpPr>
        <p:spPr>
          <a:xfrm rot="10800000">
            <a:off x="4330038" y="4580042"/>
            <a:ext cx="291810" cy="411116"/>
          </a:xfrm>
          <a:custGeom>
            <a:avLst/>
            <a:gdLst>
              <a:gd name="connsiteX0" fmla="*/ 17088 w 291810"/>
              <a:gd name="connsiteY0" fmla="*/ 17416 h 411116"/>
              <a:gd name="connsiteX1" fmla="*/ 271088 w 291810"/>
              <a:gd name="connsiteY1" fmla="*/ 30116 h 411116"/>
              <a:gd name="connsiteX2" fmla="*/ 258388 w 291810"/>
              <a:gd name="connsiteY2" fmla="*/ 233316 h 411116"/>
              <a:gd name="connsiteX3" fmla="*/ 245688 w 291810"/>
              <a:gd name="connsiteY3" fmla="*/ 309516 h 411116"/>
              <a:gd name="connsiteX4" fmla="*/ 232988 w 291810"/>
              <a:gd name="connsiteY4" fmla="*/ 360316 h 411116"/>
              <a:gd name="connsiteX5" fmla="*/ 156788 w 291810"/>
              <a:gd name="connsiteY5" fmla="*/ 411116 h 411116"/>
              <a:gd name="connsiteX6" fmla="*/ 55188 w 291810"/>
              <a:gd name="connsiteY6" fmla="*/ 398416 h 411116"/>
              <a:gd name="connsiteX7" fmla="*/ 42488 w 291810"/>
              <a:gd name="connsiteY7" fmla="*/ 360316 h 411116"/>
              <a:gd name="connsiteX8" fmla="*/ 29788 w 291810"/>
              <a:gd name="connsiteY8" fmla="*/ 182516 h 411116"/>
              <a:gd name="connsiteX9" fmla="*/ 4388 w 291810"/>
              <a:gd name="connsiteY9" fmla="*/ 106316 h 411116"/>
              <a:gd name="connsiteX10" fmla="*/ 17088 w 291810"/>
              <a:gd name="connsiteY10" fmla="*/ 55516 h 411116"/>
              <a:gd name="connsiteX11" fmla="*/ 17088 w 291810"/>
              <a:gd name="connsiteY11" fmla="*/ 17416 h 411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91810" h="411116">
                <a:moveTo>
                  <a:pt x="17088" y="17416"/>
                </a:moveTo>
                <a:cubicBezTo>
                  <a:pt x="59421" y="13183"/>
                  <a:pt x="207912" y="-26410"/>
                  <a:pt x="271088" y="30116"/>
                </a:cubicBezTo>
                <a:cubicBezTo>
                  <a:pt x="321664" y="75368"/>
                  <a:pt x="264532" y="165729"/>
                  <a:pt x="258388" y="233316"/>
                </a:cubicBezTo>
                <a:cubicBezTo>
                  <a:pt x="256057" y="258961"/>
                  <a:pt x="250738" y="284266"/>
                  <a:pt x="245688" y="309516"/>
                </a:cubicBezTo>
                <a:cubicBezTo>
                  <a:pt x="242265" y="326632"/>
                  <a:pt x="244482" y="347180"/>
                  <a:pt x="232988" y="360316"/>
                </a:cubicBezTo>
                <a:cubicBezTo>
                  <a:pt x="212886" y="383290"/>
                  <a:pt x="156788" y="411116"/>
                  <a:pt x="156788" y="411116"/>
                </a:cubicBezTo>
                <a:cubicBezTo>
                  <a:pt x="122921" y="406883"/>
                  <a:pt x="86377" y="412278"/>
                  <a:pt x="55188" y="398416"/>
                </a:cubicBezTo>
                <a:cubicBezTo>
                  <a:pt x="42955" y="392979"/>
                  <a:pt x="44052" y="373611"/>
                  <a:pt x="42488" y="360316"/>
                </a:cubicBezTo>
                <a:cubicBezTo>
                  <a:pt x="35546" y="301305"/>
                  <a:pt x="38602" y="241276"/>
                  <a:pt x="29788" y="182516"/>
                </a:cubicBezTo>
                <a:cubicBezTo>
                  <a:pt x="25816" y="156038"/>
                  <a:pt x="4388" y="106316"/>
                  <a:pt x="4388" y="106316"/>
                </a:cubicBezTo>
                <a:cubicBezTo>
                  <a:pt x="8621" y="89383"/>
                  <a:pt x="6184" y="69146"/>
                  <a:pt x="17088" y="55516"/>
                </a:cubicBezTo>
                <a:cubicBezTo>
                  <a:pt x="25451" y="45063"/>
                  <a:pt x="-25245" y="21649"/>
                  <a:pt x="17088" y="17416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2" name="Rounded Rectangle 141">
            <a:extLst>
              <a:ext uri="{FF2B5EF4-FFF2-40B4-BE49-F238E27FC236}">
                <a16:creationId xmlns:a16="http://schemas.microsoft.com/office/drawing/2014/main" id="{79092BD8-6AF4-C440-9DBF-D451EB1FE43B}"/>
              </a:ext>
            </a:extLst>
          </p:cNvPr>
          <p:cNvSpPr/>
          <p:nvPr/>
        </p:nvSpPr>
        <p:spPr>
          <a:xfrm>
            <a:off x="5896287" y="4601448"/>
            <a:ext cx="102887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3" name="Rounded Rectangle 142">
            <a:extLst>
              <a:ext uri="{FF2B5EF4-FFF2-40B4-BE49-F238E27FC236}">
                <a16:creationId xmlns:a16="http://schemas.microsoft.com/office/drawing/2014/main" id="{7C851F96-0BF7-084A-8550-3ABF835E948A}"/>
              </a:ext>
            </a:extLst>
          </p:cNvPr>
          <p:cNvSpPr/>
          <p:nvPr/>
        </p:nvSpPr>
        <p:spPr>
          <a:xfrm>
            <a:off x="5758974" y="4600456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26839930-C962-4644-BFB8-0CC8AF965FC5}"/>
              </a:ext>
            </a:extLst>
          </p:cNvPr>
          <p:cNvSpPr/>
          <p:nvPr/>
        </p:nvSpPr>
        <p:spPr>
          <a:xfrm>
            <a:off x="5614982" y="4599350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54FE2274-C049-D64E-9F3B-DA4F5FE8E3EC}"/>
              </a:ext>
            </a:extLst>
          </p:cNvPr>
          <p:cNvSpPr/>
          <p:nvPr/>
        </p:nvSpPr>
        <p:spPr>
          <a:xfrm>
            <a:off x="5476806" y="4599350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4EBDE17A-5389-9B48-8319-4FD1B8A27E9C}"/>
              </a:ext>
            </a:extLst>
          </p:cNvPr>
          <p:cNvSpPr/>
          <p:nvPr/>
        </p:nvSpPr>
        <p:spPr>
          <a:xfrm>
            <a:off x="5335152" y="4599350"/>
            <a:ext cx="112800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7" name="Rounded Rectangle 146">
            <a:extLst>
              <a:ext uri="{FF2B5EF4-FFF2-40B4-BE49-F238E27FC236}">
                <a16:creationId xmlns:a16="http://schemas.microsoft.com/office/drawing/2014/main" id="{C8F91D67-17A2-5A4F-99D3-87519F12E294}"/>
              </a:ext>
            </a:extLst>
          </p:cNvPr>
          <p:cNvSpPr/>
          <p:nvPr/>
        </p:nvSpPr>
        <p:spPr>
          <a:xfrm>
            <a:off x="5203353" y="4601146"/>
            <a:ext cx="103141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8" name="Rounded Rectangle 147">
            <a:extLst>
              <a:ext uri="{FF2B5EF4-FFF2-40B4-BE49-F238E27FC236}">
                <a16:creationId xmlns:a16="http://schemas.microsoft.com/office/drawing/2014/main" id="{CF840673-5733-6449-855E-4B548009708B}"/>
              </a:ext>
            </a:extLst>
          </p:cNvPr>
          <p:cNvSpPr/>
          <p:nvPr/>
        </p:nvSpPr>
        <p:spPr>
          <a:xfrm>
            <a:off x="5065702" y="4592297"/>
            <a:ext cx="112800" cy="355600"/>
          </a:xfrm>
          <a:prstGeom prst="roundRect">
            <a:avLst/>
          </a:prstGeom>
          <a:solidFill>
            <a:srgbClr val="99FF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BA0BDC06-5139-F742-9F72-BFB7858216AC}"/>
              </a:ext>
            </a:extLst>
          </p:cNvPr>
          <p:cNvSpPr/>
          <p:nvPr/>
        </p:nvSpPr>
        <p:spPr>
          <a:xfrm>
            <a:off x="4927526" y="4592297"/>
            <a:ext cx="112800" cy="3556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E401986A-74B0-5D40-AE08-00312FAFF2EE}"/>
              </a:ext>
            </a:extLst>
          </p:cNvPr>
          <p:cNvSpPr/>
          <p:nvPr/>
        </p:nvSpPr>
        <p:spPr>
          <a:xfrm>
            <a:off x="4785872" y="4592297"/>
            <a:ext cx="112800" cy="355600"/>
          </a:xfrm>
          <a:prstGeom prst="round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1" name="Rounded Rectangle 150">
            <a:extLst>
              <a:ext uri="{FF2B5EF4-FFF2-40B4-BE49-F238E27FC236}">
                <a16:creationId xmlns:a16="http://schemas.microsoft.com/office/drawing/2014/main" id="{678E30E6-5024-9B48-AF5D-5A872D176E2B}"/>
              </a:ext>
            </a:extLst>
          </p:cNvPr>
          <p:cNvSpPr/>
          <p:nvPr/>
        </p:nvSpPr>
        <p:spPr>
          <a:xfrm>
            <a:off x="4654073" y="4594093"/>
            <a:ext cx="103141" cy="355600"/>
          </a:xfrm>
          <a:prstGeom prst="round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E0FAF83A-FF96-6E40-BFAE-FCAA8F263695}"/>
              </a:ext>
            </a:extLst>
          </p:cNvPr>
          <p:cNvSpPr/>
          <p:nvPr/>
        </p:nvSpPr>
        <p:spPr>
          <a:xfrm rot="787176" flipV="1">
            <a:off x="3908307" y="4757371"/>
            <a:ext cx="439758" cy="118459"/>
          </a:xfrm>
          <a:custGeom>
            <a:avLst/>
            <a:gdLst>
              <a:gd name="connsiteX0" fmla="*/ 0 w 387928"/>
              <a:gd name="connsiteY0" fmla="*/ 83941 h 83941"/>
              <a:gd name="connsiteX1" fmla="*/ 166255 w 387928"/>
              <a:gd name="connsiteY1" fmla="*/ 814 h 83941"/>
              <a:gd name="connsiteX2" fmla="*/ 387928 w 387928"/>
              <a:gd name="connsiteY2" fmla="*/ 42377 h 8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928" h="83941">
                <a:moveTo>
                  <a:pt x="0" y="83941"/>
                </a:moveTo>
                <a:cubicBezTo>
                  <a:pt x="50800" y="45841"/>
                  <a:pt x="101600" y="7741"/>
                  <a:pt x="166255" y="814"/>
                </a:cubicBezTo>
                <a:cubicBezTo>
                  <a:pt x="230910" y="-6113"/>
                  <a:pt x="378692" y="33141"/>
                  <a:pt x="387928" y="4237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FCFED20-DC15-8749-8B5F-F183DFDB5A52}"/>
              </a:ext>
            </a:extLst>
          </p:cNvPr>
          <p:cNvSpPr txBox="1"/>
          <p:nvPr/>
        </p:nvSpPr>
        <p:spPr>
          <a:xfrm>
            <a:off x="3932996" y="5043363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C-terminal domain</a:t>
            </a:r>
            <a:endParaRPr kumimoji="1" lang="zh-CN" altLang="en-US" sz="14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B84440C8-092B-E841-837D-5EAD0D8C7DC6}"/>
              </a:ext>
            </a:extLst>
          </p:cNvPr>
          <p:cNvSpPr txBox="1"/>
          <p:nvPr/>
        </p:nvSpPr>
        <p:spPr>
          <a:xfrm>
            <a:off x="5646525" y="5043363"/>
            <a:ext cx="10247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400" dirty="0"/>
              <a:t>N-terminal domain</a:t>
            </a:r>
            <a:endParaRPr kumimoji="1" lang="zh-CN" alt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A400FD-793F-714F-AD66-0D6B0B762190}"/>
              </a:ext>
            </a:extLst>
          </p:cNvPr>
          <p:cNvSpPr txBox="1"/>
          <p:nvPr/>
        </p:nvSpPr>
        <p:spPr>
          <a:xfrm>
            <a:off x="6941115" y="2093899"/>
            <a:ext cx="546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ZFN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99616404-ED4B-B54E-B100-523FA3B736B4}"/>
              </a:ext>
            </a:extLst>
          </p:cNvPr>
          <p:cNvSpPr txBox="1"/>
          <p:nvPr/>
        </p:nvSpPr>
        <p:spPr>
          <a:xfrm>
            <a:off x="6938928" y="4416268"/>
            <a:ext cx="770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TALEN</a:t>
            </a:r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43486BBD-4B34-D24E-814A-B45E66A17291}"/>
              </a:ext>
            </a:extLst>
          </p:cNvPr>
          <p:cNvCxnSpPr>
            <a:cxnSpLocks/>
          </p:cNvCxnSpPr>
          <p:nvPr/>
        </p:nvCxnSpPr>
        <p:spPr>
          <a:xfrm>
            <a:off x="6904383" y="3346174"/>
            <a:ext cx="5287617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7A9EC12-6CAA-F847-8A7F-E6DC99D95FF0}"/>
                  </a:ext>
                </a:extLst>
              </p:cNvPr>
              <p:cNvSpPr txBox="1"/>
              <p:nvPr/>
            </p:nvSpPr>
            <p:spPr>
              <a:xfrm>
                <a:off x="7795582" y="1044988"/>
                <a:ext cx="4313873" cy="2126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7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aa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smtClean="0">
                        <a:latin typeface="Cambria Math" panose="02040503050406030204" pitchFamily="18" charset="0"/>
                      </a:rPr>
                      <m:t>⟼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3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bps: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design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complexity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(4</a:t>
                </a:r>
                <a:r>
                  <a:rPr kumimoji="1" lang="en-US" altLang="zh-CN" baseline="30000" dirty="0"/>
                  <a:t>3</a:t>
                </a:r>
                <a:r>
                  <a:rPr kumimoji="1" lang="en-US" altLang="zh-CN" dirty="0"/>
                  <a:t>/20</a:t>
                </a:r>
                <a:r>
                  <a:rPr kumimoji="1" lang="en-US" altLang="zh-CN" baseline="30000" dirty="0"/>
                  <a:t>7)</a:t>
                </a:r>
                <a:endParaRPr kumimoji="1" lang="en-US" altLang="zh-CN" dirty="0"/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Zinc-finger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domain: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hard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to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assemble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Typically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recognize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18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–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36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bps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High </a:t>
                </a:r>
                <a:r>
                  <a:rPr kumimoji="1" lang="en-US" altLang="zh-CN" i="1" dirty="0"/>
                  <a:t>precision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and</a:t>
                </a:r>
                <a:r>
                  <a:rPr kumimoji="1" lang="zh-CN" altLang="en-US" dirty="0"/>
                  <a:t> </a:t>
                </a:r>
                <a:r>
                  <a:rPr kumimoji="1" lang="en-US" altLang="zh-CN" i="1" dirty="0"/>
                  <a:t>recall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DSB-induced genome editing</a:t>
                </a:r>
                <a:endParaRPr kumimoji="1" lang="zh-CN" altLang="en-US" dirty="0"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87A9EC12-6CAA-F847-8A7F-E6DC99D9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5582" y="1044988"/>
                <a:ext cx="4313873" cy="2126864"/>
              </a:xfrm>
              <a:prstGeom prst="rect">
                <a:avLst/>
              </a:prstGeom>
              <a:blipFill>
                <a:blip r:embed="rId2"/>
                <a:stretch>
                  <a:fillRect l="-880" b="-41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B63DFF30-F270-A94A-9E84-DC9019ABF2E5}"/>
                  </a:ext>
                </a:extLst>
              </p:cNvPr>
              <p:cNvSpPr txBox="1"/>
              <p:nvPr/>
            </p:nvSpPr>
            <p:spPr>
              <a:xfrm>
                <a:off x="7831410" y="3700136"/>
                <a:ext cx="4360590" cy="2542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2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aa</a:t>
                </a:r>
                <a:r>
                  <a:rPr kumimoji="1" lang="zh-CN" altLang="en-US" dirty="0"/>
                  <a:t> </a:t>
                </a:r>
                <a14:m>
                  <m:oMath xmlns:m="http://schemas.openxmlformats.org/officeDocument/2006/math">
                    <m:r>
                      <a:rPr kumimoji="1" lang="zh-CN" altLang="en-US" i="1" smtClean="0">
                        <a:latin typeface="Cambria Math" panose="02040503050406030204" pitchFamily="18" charset="0"/>
                      </a:rPr>
                      <m:t>⟼</m:t>
                    </m:r>
                  </m:oMath>
                </a14:m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1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4/400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Typically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recognize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24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–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40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bps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Increased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affinity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for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target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DNA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(higher</a:t>
                </a:r>
                <a:r>
                  <a:rPr kumimoji="1" lang="zh-CN" altLang="en-US" dirty="0"/>
                  <a:t> </a:t>
                </a:r>
                <a:r>
                  <a:rPr kumimoji="1" lang="en-US" altLang="zh-CN" i="1" dirty="0"/>
                  <a:t>precision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and</a:t>
                </a:r>
                <a:r>
                  <a:rPr kumimoji="1" lang="zh-CN" altLang="en-US" dirty="0"/>
                  <a:t> </a:t>
                </a:r>
                <a:r>
                  <a:rPr kumimoji="1" lang="en-US" altLang="zh-CN" i="1" dirty="0"/>
                  <a:t>recall</a:t>
                </a:r>
                <a:r>
                  <a:rPr kumimoji="1" lang="en-US" altLang="zh-CN" dirty="0"/>
                  <a:t>)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Relatively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large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complex: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difficult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delivery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CN" dirty="0"/>
                  <a:t>DSB-induced genome editing</a:t>
                </a:r>
                <a:r>
                  <a:rPr kumimoji="1" lang="zh-CN" altLang="en-US" dirty="0"/>
                  <a:t> </a:t>
                </a:r>
                <a:endParaRPr kumimoji="1" lang="en-US" altLang="zh-CN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B63DFF30-F270-A94A-9E84-DC9019ABF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1410" y="3700136"/>
                <a:ext cx="4360590" cy="2542363"/>
              </a:xfrm>
              <a:prstGeom prst="rect">
                <a:avLst/>
              </a:prstGeom>
              <a:blipFill>
                <a:blip r:embed="rId3"/>
                <a:stretch>
                  <a:fillRect l="-870" b="-29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7" name="TextBox 156">
            <a:extLst>
              <a:ext uri="{FF2B5EF4-FFF2-40B4-BE49-F238E27FC236}">
                <a16:creationId xmlns:a16="http://schemas.microsoft.com/office/drawing/2014/main" id="{C88B3D8C-B6D2-A442-9BFD-36E1BFDEA467}"/>
              </a:ext>
            </a:extLst>
          </p:cNvPr>
          <p:cNvSpPr txBox="1"/>
          <p:nvPr/>
        </p:nvSpPr>
        <p:spPr>
          <a:xfrm>
            <a:off x="0" y="6396335"/>
            <a:ext cx="47355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Gaj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T, </a:t>
            </a:r>
            <a:r>
              <a:rPr lang="en-US" sz="1200" b="0" i="0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Sirk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SJ, Shui SL, Liu J. Genome-Editing Technologies: Principles and Applications.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Cold Spring </a:t>
            </a:r>
            <a:r>
              <a:rPr lang="en-US" sz="1200" b="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Harb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b="0" i="1" u="none" strike="noStrike" dirty="0" err="1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Perspect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 Biol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. 2016 Dec 1;8(12):a023754.</a:t>
            </a:r>
            <a:endParaRPr lang="zh-CN" altLang="en-US" sz="1200" dirty="0">
              <a:solidFill>
                <a:schemeClr val="accent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87288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Introduction </a:t>
            </a:r>
            <a:r>
              <a:rPr kumimoji="1" lang="en-US" altLang="zh-CN" sz="40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to CRISPR/Cas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976817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942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Long Story Short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12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Introduction</a:t>
              </a:r>
              <a:endParaRPr kumimoji="1" lang="zh-CN" altLang="en-US" sz="2000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Classification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524B0C95-654F-104B-8135-78A3F09B8416}"/>
              </a:ext>
            </a:extLst>
          </p:cNvPr>
          <p:cNvSpPr txBox="1"/>
          <p:nvPr/>
        </p:nvSpPr>
        <p:spPr>
          <a:xfrm>
            <a:off x="5995012" y="5253907"/>
            <a:ext cx="60501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i="1" dirty="0"/>
              <a:t>The Twenty-Year Story of CRISPR Unfolded across Twelve Cities in Nine Countries</a:t>
            </a:r>
            <a:endParaRPr kumimoji="1" lang="zh-CN" altLang="en-US" sz="1400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0EB69-FBB8-574F-8E3F-CFD1839E96DF}"/>
              </a:ext>
            </a:extLst>
          </p:cNvPr>
          <p:cNvSpPr txBox="1"/>
          <p:nvPr/>
        </p:nvSpPr>
        <p:spPr>
          <a:xfrm>
            <a:off x="325821" y="992811"/>
            <a:ext cx="5707206" cy="5122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1987: </a:t>
            </a:r>
            <a:r>
              <a:rPr kumimoji="1" lang="en-US" altLang="zh-CN" sz="2000" dirty="0"/>
              <a:t>The first description of CRISPR loci.</a:t>
            </a:r>
            <a:endParaRPr kumimoji="1" lang="en-CN" altLang="zh-CN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1993: </a:t>
            </a:r>
            <a:r>
              <a:rPr kumimoji="1" lang="en-US" altLang="zh-CN" sz="2000" dirty="0"/>
              <a:t>Repeated sequences separated by spacers were observed in </a:t>
            </a:r>
            <a:r>
              <a:rPr kumimoji="1" lang="en-US" altLang="zh-CN" sz="2000" i="1" dirty="0" err="1"/>
              <a:t>Haloferax</a:t>
            </a:r>
            <a:r>
              <a:rPr kumimoji="1" lang="en-US" altLang="zh-CN" sz="2000" i="1" dirty="0"/>
              <a:t> </a:t>
            </a:r>
            <a:r>
              <a:rPr kumimoji="1" lang="en-US" altLang="zh-CN" sz="2000" i="1" dirty="0" err="1"/>
              <a:t>mediterranei</a:t>
            </a:r>
            <a:r>
              <a:rPr kumimoji="1" lang="en-US" altLang="zh-CN" sz="2000" i="1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2002: CRISPR got its name - clustered regularly interspaced short palindromic repeats.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2003/2005: One spacer in </a:t>
            </a:r>
            <a:r>
              <a:rPr kumimoji="1" lang="en-US" altLang="zh-CN" sz="2000" i="1" dirty="0"/>
              <a:t>E. coli </a:t>
            </a:r>
            <a:r>
              <a:rPr kumimoji="1" lang="en-US" altLang="zh-CN" sz="2000" dirty="0"/>
              <a:t>was found</a:t>
            </a:r>
            <a:r>
              <a:rPr kumimoji="1" lang="en-US" altLang="zh-CN" sz="2000" i="1" dirty="0"/>
              <a:t> to</a:t>
            </a:r>
            <a:r>
              <a:rPr kumimoji="1" lang="en-US" altLang="zh-CN" sz="2000" dirty="0"/>
              <a:t> match the sequence of a P1 phage.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2006:</a:t>
            </a:r>
            <a:r>
              <a:rPr kumimoji="1" lang="zh-CN" altLang="en-US" sz="2000" dirty="0"/>
              <a:t> </a:t>
            </a:r>
            <a:r>
              <a:rPr kumimoji="1" lang="en-US" altLang="zh-CN" sz="2000" dirty="0"/>
              <a:t>Experiments showed that Cas9 was necessary for phage resistance in </a:t>
            </a:r>
            <a:r>
              <a:rPr kumimoji="1" lang="en-US" altLang="zh-CN" sz="2000" i="1" dirty="0"/>
              <a:t>S. thermophilus.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2008: First artificial CRISPR arrays were performed in </a:t>
            </a:r>
            <a:r>
              <a:rPr kumimoji="1" lang="en-US" altLang="zh-CN" sz="2000" i="1" dirty="0"/>
              <a:t>E. coli.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5E6BC10-5ED6-4341-9F38-77E6E63AB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027" y="1392865"/>
            <a:ext cx="5974089" cy="38036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64A65C2-E448-DC49-AD2B-16C2FDA29A97}"/>
              </a:ext>
            </a:extLst>
          </p:cNvPr>
          <p:cNvSpPr txBox="1"/>
          <p:nvPr/>
        </p:nvSpPr>
        <p:spPr>
          <a:xfrm>
            <a:off x="0" y="6115754"/>
            <a:ext cx="4596710" cy="278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Lander ES. The Heroes of CRISPR. </a:t>
            </a:r>
            <a:r>
              <a:rPr lang="en-US" sz="1200" b="0" i="1" u="none" strike="noStrike" dirty="0">
                <a:solidFill>
                  <a:schemeClr val="accent3"/>
                </a:solidFill>
                <a:effectLst/>
                <a:latin typeface="BlinkMacSystemFont"/>
              </a:rPr>
              <a:t>Cell</a:t>
            </a:r>
            <a:r>
              <a:rPr lang="en-US" sz="1200" b="0" i="0" u="none" strike="noStrike" dirty="0">
                <a:solidFill>
                  <a:schemeClr val="accent3"/>
                </a:solidFill>
                <a:effectLst/>
                <a:latin typeface="BlinkMacSystemFont"/>
              </a:rPr>
              <a:t>. 2016 Jan 14;164(1-2):18-28.</a:t>
            </a:r>
            <a:endParaRPr lang="zh-CN" altLang="en-US" sz="12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42789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149F9773-4F04-3647-9F75-EF6E44D637D4}"/>
              </a:ext>
            </a:extLst>
          </p:cNvPr>
          <p:cNvCxnSpPr>
            <a:cxnSpLocks/>
          </p:cNvCxnSpPr>
          <p:nvPr/>
        </p:nvCxnSpPr>
        <p:spPr>
          <a:xfrm>
            <a:off x="2521938" y="2599685"/>
            <a:ext cx="9541954" cy="4073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462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Components of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13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49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Introduction</a:t>
              </a:r>
              <a:endParaRPr kumimoji="1" lang="zh-CN" altLang="en-US" sz="2000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Classification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D0AFED4-7D1E-3A4E-AEE6-D1C253AB207B}"/>
              </a:ext>
            </a:extLst>
          </p:cNvPr>
          <p:cNvGrpSpPr/>
          <p:nvPr/>
        </p:nvGrpSpPr>
        <p:grpSpPr>
          <a:xfrm>
            <a:off x="469900" y="1193800"/>
            <a:ext cx="2133600" cy="2742720"/>
            <a:chOff x="469900" y="1193800"/>
            <a:chExt cx="2133600" cy="2742720"/>
          </a:xfrm>
        </p:grpSpPr>
        <p:pic>
          <p:nvPicPr>
            <p:cNvPr id="9" name="图片 2">
              <a:extLst>
                <a:ext uri="{FF2B5EF4-FFF2-40B4-BE49-F238E27FC236}">
                  <a16:creationId xmlns:a16="http://schemas.microsoft.com/office/drawing/2014/main" id="{C7DF41D5-2B09-854E-BEE2-1356861BEF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4356" t="9839" r="44174" b="64598"/>
            <a:stretch/>
          </p:blipFill>
          <p:spPr>
            <a:xfrm>
              <a:off x="469900" y="1193800"/>
              <a:ext cx="1346200" cy="266699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15CFF63-FB26-664A-A547-259094DDD2BE}"/>
                </a:ext>
              </a:extLst>
            </p:cNvPr>
            <p:cNvSpPr/>
            <p:nvPr/>
          </p:nvSpPr>
          <p:spPr>
            <a:xfrm>
              <a:off x="1524000" y="1193800"/>
              <a:ext cx="1079500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161DD78-F78A-3F47-A347-9AE52DA8EDF1}"/>
                </a:ext>
              </a:extLst>
            </p:cNvPr>
            <p:cNvSpPr/>
            <p:nvPr/>
          </p:nvSpPr>
          <p:spPr>
            <a:xfrm rot="2489708">
              <a:off x="846146" y="3718068"/>
              <a:ext cx="291504" cy="21845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24E0E77-9778-134D-9A7B-6B9BFA68EDB1}"/>
                </a:ext>
              </a:extLst>
            </p:cNvPr>
            <p:cNvSpPr/>
            <p:nvPr/>
          </p:nvSpPr>
          <p:spPr>
            <a:xfrm rot="19491949">
              <a:off x="1460500" y="1333500"/>
              <a:ext cx="127000" cy="304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6DFF389-BCE1-FF4C-81BB-4D8D55D2D73D}"/>
              </a:ext>
            </a:extLst>
          </p:cNvPr>
          <p:cNvSpPr/>
          <p:nvPr/>
        </p:nvSpPr>
        <p:spPr>
          <a:xfrm rot="2185965">
            <a:off x="699367" y="3471604"/>
            <a:ext cx="731313" cy="257855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175F48-DFE7-2343-8C03-A7E208054D7A}"/>
              </a:ext>
            </a:extLst>
          </p:cNvPr>
          <p:cNvSpPr txBox="1"/>
          <p:nvPr/>
        </p:nvSpPr>
        <p:spPr>
          <a:xfrm>
            <a:off x="1524000" y="1462412"/>
            <a:ext cx="1777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bacteria/archaea</a:t>
            </a:r>
            <a:endParaRPr kumimoji="1" lang="zh-CN" alt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F970DD0-D81D-BE4E-98C3-686AAC4956BC}"/>
              </a:ext>
            </a:extLst>
          </p:cNvPr>
          <p:cNvCxnSpPr>
            <a:cxnSpLocks/>
          </p:cNvCxnSpPr>
          <p:nvPr/>
        </p:nvCxnSpPr>
        <p:spPr>
          <a:xfrm flipV="1">
            <a:off x="1435782" y="2131947"/>
            <a:ext cx="1128649" cy="156776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DD63114-A7F4-3C40-866A-DCE7698C7C97}"/>
              </a:ext>
            </a:extLst>
          </p:cNvPr>
          <p:cNvCxnSpPr>
            <a:cxnSpLocks/>
          </p:cNvCxnSpPr>
          <p:nvPr/>
        </p:nvCxnSpPr>
        <p:spPr>
          <a:xfrm flipV="1">
            <a:off x="1275636" y="3173062"/>
            <a:ext cx="1327864" cy="754371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8436B34-AFD5-3147-AE76-ACBF611762AF}"/>
              </a:ext>
            </a:extLst>
          </p:cNvPr>
          <p:cNvSpPr txBox="1"/>
          <p:nvPr/>
        </p:nvSpPr>
        <p:spPr>
          <a:xfrm>
            <a:off x="167083" y="3779912"/>
            <a:ext cx="950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genome</a:t>
            </a:r>
            <a:endParaRPr kumimoji="1" lang="zh-CN" altLang="en-US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5436CA0-0086-E04A-9328-BCCD5DD9B90A}"/>
              </a:ext>
            </a:extLst>
          </p:cNvPr>
          <p:cNvSpPr/>
          <p:nvPr/>
        </p:nvSpPr>
        <p:spPr>
          <a:xfrm>
            <a:off x="8110586" y="2345665"/>
            <a:ext cx="25400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FB0CC2B0-9AF1-DA46-96B2-479191B04168}"/>
              </a:ext>
            </a:extLst>
          </p:cNvPr>
          <p:cNvSpPr/>
          <p:nvPr/>
        </p:nvSpPr>
        <p:spPr>
          <a:xfrm>
            <a:off x="8364585" y="2345664"/>
            <a:ext cx="270621" cy="514144"/>
          </a:xfrm>
          <a:prstGeom prst="rect">
            <a:avLst/>
          </a:prstGeom>
          <a:solidFill>
            <a:srgbClr val="FFAE47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1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66C1FB46-699B-FF43-87F0-1590A905F4A2}"/>
              </a:ext>
            </a:extLst>
          </p:cNvPr>
          <p:cNvSpPr/>
          <p:nvPr/>
        </p:nvSpPr>
        <p:spPr>
          <a:xfrm>
            <a:off x="8626896" y="2345666"/>
            <a:ext cx="262310" cy="514142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797549D-F444-2848-B319-2F0A613E9056}"/>
              </a:ext>
            </a:extLst>
          </p:cNvPr>
          <p:cNvSpPr/>
          <p:nvPr/>
        </p:nvSpPr>
        <p:spPr>
          <a:xfrm>
            <a:off x="8889206" y="2345666"/>
            <a:ext cx="270620" cy="514142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2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ED053AD-965A-014E-9B15-F5A632118BC6}"/>
              </a:ext>
            </a:extLst>
          </p:cNvPr>
          <p:cNvSpPr/>
          <p:nvPr/>
        </p:nvSpPr>
        <p:spPr>
          <a:xfrm>
            <a:off x="9151516" y="2345664"/>
            <a:ext cx="25400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797E2DEE-0D2E-9541-B40D-929EACB9F998}"/>
              </a:ext>
            </a:extLst>
          </p:cNvPr>
          <p:cNvSpPr/>
          <p:nvPr/>
        </p:nvSpPr>
        <p:spPr>
          <a:xfrm>
            <a:off x="9397206" y="2345664"/>
            <a:ext cx="270620" cy="514142"/>
          </a:xfrm>
          <a:prstGeom prst="rect">
            <a:avLst/>
          </a:prstGeom>
          <a:solidFill>
            <a:srgbClr val="FF7E7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3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0632798-09D8-8E46-B6CE-35B606633E49}"/>
              </a:ext>
            </a:extLst>
          </p:cNvPr>
          <p:cNvSpPr/>
          <p:nvPr/>
        </p:nvSpPr>
        <p:spPr>
          <a:xfrm>
            <a:off x="9667826" y="2345664"/>
            <a:ext cx="27907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EA097964-DBAB-D64F-8A5E-EC123FA5DD27}"/>
              </a:ext>
            </a:extLst>
          </p:cNvPr>
          <p:cNvSpPr/>
          <p:nvPr/>
        </p:nvSpPr>
        <p:spPr>
          <a:xfrm>
            <a:off x="9930136" y="2345664"/>
            <a:ext cx="262450" cy="514142"/>
          </a:xfrm>
          <a:prstGeom prst="rect">
            <a:avLst/>
          </a:prstGeom>
          <a:solidFill>
            <a:srgbClr val="FF000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4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DDCC95E-5FFF-1643-BE5D-16D00F707556}"/>
              </a:ext>
            </a:extLst>
          </p:cNvPr>
          <p:cNvSpPr/>
          <p:nvPr/>
        </p:nvSpPr>
        <p:spPr>
          <a:xfrm>
            <a:off x="10192586" y="2345664"/>
            <a:ext cx="25400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746876A-2ABA-664A-A01F-3DD9182DE7B0}"/>
              </a:ext>
            </a:extLst>
          </p:cNvPr>
          <p:cNvCxnSpPr>
            <a:cxnSpLocks/>
          </p:cNvCxnSpPr>
          <p:nvPr/>
        </p:nvCxnSpPr>
        <p:spPr>
          <a:xfrm flipV="1">
            <a:off x="8237586" y="2151791"/>
            <a:ext cx="0" cy="1324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F963DF1-A0D5-0C4A-888B-90A6A1934634}"/>
              </a:ext>
            </a:extLst>
          </p:cNvPr>
          <p:cNvSpPr txBox="1"/>
          <p:nvPr/>
        </p:nvSpPr>
        <p:spPr>
          <a:xfrm>
            <a:off x="9099220" y="1774441"/>
            <a:ext cx="889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repeats</a:t>
            </a:r>
            <a:endParaRPr kumimoji="1" lang="zh-CN" altLang="en-US" dirty="0"/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395F511-432D-1842-9F5A-BA5861401D7D}"/>
              </a:ext>
            </a:extLst>
          </p:cNvPr>
          <p:cNvCxnSpPr>
            <a:cxnSpLocks/>
          </p:cNvCxnSpPr>
          <p:nvPr/>
        </p:nvCxnSpPr>
        <p:spPr>
          <a:xfrm flipV="1">
            <a:off x="8758051" y="2151793"/>
            <a:ext cx="0" cy="13249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47DA0C4E-3F93-EB49-82A6-A7DE34778888}"/>
              </a:ext>
            </a:extLst>
          </p:cNvPr>
          <p:cNvCxnSpPr>
            <a:cxnSpLocks/>
          </p:cNvCxnSpPr>
          <p:nvPr/>
        </p:nvCxnSpPr>
        <p:spPr>
          <a:xfrm>
            <a:off x="8499049" y="2924547"/>
            <a:ext cx="847" cy="10946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DCC8985-763D-9E43-8956-25AF75A7B67D}"/>
              </a:ext>
            </a:extLst>
          </p:cNvPr>
          <p:cNvSpPr txBox="1"/>
          <p:nvPr/>
        </p:nvSpPr>
        <p:spPr>
          <a:xfrm>
            <a:off x="9092018" y="2993161"/>
            <a:ext cx="886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spacers</a:t>
            </a:r>
            <a:endParaRPr kumimoji="1" lang="zh-CN" altLang="en-US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FB720AA2-644C-B641-A1E6-025F70AF4380}"/>
              </a:ext>
            </a:extLst>
          </p:cNvPr>
          <p:cNvSpPr/>
          <p:nvPr/>
        </p:nvSpPr>
        <p:spPr>
          <a:xfrm>
            <a:off x="10719438" y="2345663"/>
            <a:ext cx="254000" cy="514143"/>
          </a:xfrm>
          <a:prstGeom prst="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06B7359A-A121-A343-804C-C794A6493CD0}"/>
              </a:ext>
            </a:extLst>
          </p:cNvPr>
          <p:cNvCxnSpPr>
            <a:cxnSpLocks/>
          </p:cNvCxnSpPr>
          <p:nvPr/>
        </p:nvCxnSpPr>
        <p:spPr>
          <a:xfrm flipV="1">
            <a:off x="10858500" y="2159298"/>
            <a:ext cx="0" cy="14000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FF33367D-FD4E-F94C-8D40-6DBB2B05F3E4}"/>
              </a:ext>
            </a:extLst>
          </p:cNvPr>
          <p:cNvSpPr/>
          <p:nvPr/>
        </p:nvSpPr>
        <p:spPr>
          <a:xfrm>
            <a:off x="10456988" y="2345662"/>
            <a:ext cx="262450" cy="514142"/>
          </a:xfrm>
          <a:prstGeom prst="rect">
            <a:avLst/>
          </a:prstGeom>
          <a:solidFill>
            <a:schemeClr val="accent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5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5F59DD7-518A-324D-9BA9-2A72ECA8ED62}"/>
              </a:ext>
            </a:extLst>
          </p:cNvPr>
          <p:cNvCxnSpPr>
            <a:cxnSpLocks/>
          </p:cNvCxnSpPr>
          <p:nvPr/>
        </p:nvCxnSpPr>
        <p:spPr>
          <a:xfrm flipH="1">
            <a:off x="8237586" y="2159298"/>
            <a:ext cx="2620914" cy="265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317305F-035C-1246-A647-9DB8BA8DD459}"/>
              </a:ext>
            </a:extLst>
          </p:cNvPr>
          <p:cNvCxnSpPr>
            <a:cxnSpLocks/>
          </p:cNvCxnSpPr>
          <p:nvPr/>
        </p:nvCxnSpPr>
        <p:spPr>
          <a:xfrm>
            <a:off x="8994612" y="2924547"/>
            <a:ext cx="0" cy="10297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4A1DA8C-71B7-BD43-AAC0-3BA845B9DBD2}"/>
              </a:ext>
            </a:extLst>
          </p:cNvPr>
          <p:cNvCxnSpPr>
            <a:cxnSpLocks/>
          </p:cNvCxnSpPr>
          <p:nvPr/>
        </p:nvCxnSpPr>
        <p:spPr>
          <a:xfrm>
            <a:off x="9531669" y="2918062"/>
            <a:ext cx="1" cy="10906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1CAA662-68B1-9143-BE9B-A7D5CFDD786E}"/>
              </a:ext>
            </a:extLst>
          </p:cNvPr>
          <p:cNvCxnSpPr>
            <a:cxnSpLocks/>
          </p:cNvCxnSpPr>
          <p:nvPr/>
        </p:nvCxnSpPr>
        <p:spPr>
          <a:xfrm flipH="1">
            <a:off x="10051621" y="2918062"/>
            <a:ext cx="574" cy="109063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44E80FE-54D0-5140-A5ED-118450ACA250}"/>
              </a:ext>
            </a:extLst>
          </p:cNvPr>
          <p:cNvCxnSpPr>
            <a:cxnSpLocks/>
          </p:cNvCxnSpPr>
          <p:nvPr/>
        </p:nvCxnSpPr>
        <p:spPr>
          <a:xfrm>
            <a:off x="10588213" y="2915391"/>
            <a:ext cx="1340" cy="116879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B97DC5D-9B2B-6149-AA27-5180A14EDBD0}"/>
              </a:ext>
            </a:extLst>
          </p:cNvPr>
          <p:cNvCxnSpPr>
            <a:cxnSpLocks/>
          </p:cNvCxnSpPr>
          <p:nvPr/>
        </p:nvCxnSpPr>
        <p:spPr>
          <a:xfrm>
            <a:off x="8499895" y="3027125"/>
            <a:ext cx="2088318" cy="688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B8A0403-9EF3-8C4F-A2FB-FDF3F5BABD5D}"/>
              </a:ext>
            </a:extLst>
          </p:cNvPr>
          <p:cNvCxnSpPr>
            <a:cxnSpLocks/>
          </p:cNvCxnSpPr>
          <p:nvPr/>
        </p:nvCxnSpPr>
        <p:spPr>
          <a:xfrm flipV="1">
            <a:off x="9267317" y="2159298"/>
            <a:ext cx="0" cy="13249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23478F2E-9C4C-8C4D-9F54-5339C9FE673F}"/>
              </a:ext>
            </a:extLst>
          </p:cNvPr>
          <p:cNvCxnSpPr>
            <a:cxnSpLocks/>
          </p:cNvCxnSpPr>
          <p:nvPr/>
        </p:nvCxnSpPr>
        <p:spPr>
          <a:xfrm flipV="1">
            <a:off x="9807360" y="2159298"/>
            <a:ext cx="0" cy="13249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0AC52B13-319D-7C42-974D-CE8C57B6D84D}"/>
              </a:ext>
            </a:extLst>
          </p:cNvPr>
          <p:cNvCxnSpPr>
            <a:cxnSpLocks/>
          </p:cNvCxnSpPr>
          <p:nvPr/>
        </p:nvCxnSpPr>
        <p:spPr>
          <a:xfrm flipV="1">
            <a:off x="10319586" y="2159298"/>
            <a:ext cx="0" cy="13249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6722DA6E-B403-2D46-936B-AC515E4AD1E8}"/>
              </a:ext>
            </a:extLst>
          </p:cNvPr>
          <p:cNvSpPr/>
          <p:nvPr/>
        </p:nvSpPr>
        <p:spPr>
          <a:xfrm>
            <a:off x="7698583" y="2345663"/>
            <a:ext cx="411863" cy="514143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ysClr val="windowText" lastClr="000000"/>
                </a:solidFill>
              </a:rPr>
              <a:t>L</a:t>
            </a:r>
            <a:endParaRPr kumimoji="1" lang="zh-CN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9CF2476-95FD-4D46-A115-F2DB62601834}"/>
              </a:ext>
            </a:extLst>
          </p:cNvPr>
          <p:cNvCxnSpPr>
            <a:cxnSpLocks/>
          </p:cNvCxnSpPr>
          <p:nvPr/>
        </p:nvCxnSpPr>
        <p:spPr>
          <a:xfrm>
            <a:off x="7889712" y="2924547"/>
            <a:ext cx="0" cy="10297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1E7A448F-BA1C-B44B-B59B-AAE78D723469}"/>
              </a:ext>
            </a:extLst>
          </p:cNvPr>
          <p:cNvSpPr txBox="1"/>
          <p:nvPr/>
        </p:nvSpPr>
        <p:spPr>
          <a:xfrm>
            <a:off x="7499220" y="2993161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/>
              <a:t>leader</a:t>
            </a:r>
            <a:endParaRPr kumimoji="1" lang="zh-CN" altLang="en-US" dirty="0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2DD942EA-4976-7F48-B6A1-22B59276B6F9}"/>
              </a:ext>
            </a:extLst>
          </p:cNvPr>
          <p:cNvSpPr/>
          <p:nvPr/>
        </p:nvSpPr>
        <p:spPr>
          <a:xfrm>
            <a:off x="3192986" y="2401819"/>
            <a:ext cx="1112636" cy="395731"/>
          </a:xfrm>
          <a:prstGeom prst="rightArrow">
            <a:avLst>
              <a:gd name="adj1" fmla="val 43504"/>
              <a:gd name="adj2" fmla="val 4042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2" name="Right Arrow 91">
            <a:extLst>
              <a:ext uri="{FF2B5EF4-FFF2-40B4-BE49-F238E27FC236}">
                <a16:creationId xmlns:a16="http://schemas.microsoft.com/office/drawing/2014/main" id="{9C6F7AF7-5747-464F-97B6-86A92AC96914}"/>
              </a:ext>
            </a:extLst>
          </p:cNvPr>
          <p:cNvSpPr/>
          <p:nvPr/>
        </p:nvSpPr>
        <p:spPr>
          <a:xfrm>
            <a:off x="4310940" y="2401819"/>
            <a:ext cx="545110" cy="395731"/>
          </a:xfrm>
          <a:prstGeom prst="rightArrow">
            <a:avLst>
              <a:gd name="adj1" fmla="val 43504"/>
              <a:gd name="adj2" fmla="val 40426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3" name="Right Arrow 92">
            <a:extLst>
              <a:ext uri="{FF2B5EF4-FFF2-40B4-BE49-F238E27FC236}">
                <a16:creationId xmlns:a16="http://schemas.microsoft.com/office/drawing/2014/main" id="{E4FB9ABA-FF83-3742-8F57-F0A3E5212A84}"/>
              </a:ext>
            </a:extLst>
          </p:cNvPr>
          <p:cNvSpPr/>
          <p:nvPr/>
        </p:nvSpPr>
        <p:spPr>
          <a:xfrm>
            <a:off x="4866017" y="2401819"/>
            <a:ext cx="1275185" cy="395731"/>
          </a:xfrm>
          <a:prstGeom prst="rightArrow">
            <a:avLst>
              <a:gd name="adj1" fmla="val 43504"/>
              <a:gd name="adj2" fmla="val 40426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4" name="Right Arrow 93">
            <a:extLst>
              <a:ext uri="{FF2B5EF4-FFF2-40B4-BE49-F238E27FC236}">
                <a16:creationId xmlns:a16="http://schemas.microsoft.com/office/drawing/2014/main" id="{8A49CE7E-E657-A549-AA19-FA89CFC2B746}"/>
              </a:ext>
            </a:extLst>
          </p:cNvPr>
          <p:cNvSpPr/>
          <p:nvPr/>
        </p:nvSpPr>
        <p:spPr>
          <a:xfrm>
            <a:off x="6135004" y="2401819"/>
            <a:ext cx="750701" cy="395731"/>
          </a:xfrm>
          <a:prstGeom prst="rightArrow">
            <a:avLst>
              <a:gd name="adj1" fmla="val 43504"/>
              <a:gd name="adj2" fmla="val 40426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7BA010F-60C8-4B47-BA33-5C3DC4794B5E}"/>
              </a:ext>
            </a:extLst>
          </p:cNvPr>
          <p:cNvCxnSpPr>
            <a:cxnSpLocks/>
          </p:cNvCxnSpPr>
          <p:nvPr/>
        </p:nvCxnSpPr>
        <p:spPr>
          <a:xfrm>
            <a:off x="3192986" y="2162845"/>
            <a:ext cx="37104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271D09E-1ABC-174C-9549-71469278BBA1}"/>
              </a:ext>
            </a:extLst>
          </p:cNvPr>
          <p:cNvSpPr txBox="1"/>
          <p:nvPr/>
        </p:nvSpPr>
        <p:spPr>
          <a:xfrm>
            <a:off x="3534131" y="1691418"/>
            <a:ext cx="2993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CRISPR-associated (</a:t>
            </a:r>
            <a:r>
              <a:rPr kumimoji="1" lang="en-US" altLang="zh-CN" i="1" dirty="0" err="1"/>
              <a:t>cas</a:t>
            </a:r>
            <a:r>
              <a:rPr kumimoji="1" lang="en-US" altLang="zh-CN" dirty="0"/>
              <a:t>) genes</a:t>
            </a:r>
            <a:endParaRPr kumimoji="1" lang="zh-CN" altLang="en-US" dirty="0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FB6941EB-11AC-2047-8E0E-9DCE5B9E5777}"/>
              </a:ext>
            </a:extLst>
          </p:cNvPr>
          <p:cNvCxnSpPr>
            <a:cxnSpLocks/>
          </p:cNvCxnSpPr>
          <p:nvPr/>
        </p:nvCxnSpPr>
        <p:spPr>
          <a:xfrm>
            <a:off x="7723983" y="1711530"/>
            <a:ext cx="324945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4A3D3852-4D9D-DC48-8943-B0D3AE9E34EE}"/>
              </a:ext>
            </a:extLst>
          </p:cNvPr>
          <p:cNvSpPr txBox="1"/>
          <p:nvPr/>
        </p:nvSpPr>
        <p:spPr>
          <a:xfrm>
            <a:off x="8796214" y="1311509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CRISPR loci</a:t>
            </a:r>
            <a:endParaRPr kumimoji="1" lang="zh-CN" altLang="en-US" dirty="0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00EDA0E-EF00-D148-86C0-3F911B9D629E}"/>
              </a:ext>
            </a:extLst>
          </p:cNvPr>
          <p:cNvCxnSpPr>
            <a:cxnSpLocks/>
          </p:cNvCxnSpPr>
          <p:nvPr/>
        </p:nvCxnSpPr>
        <p:spPr>
          <a:xfrm>
            <a:off x="5030696" y="2949497"/>
            <a:ext cx="0" cy="989522"/>
          </a:xfrm>
          <a:prstGeom prst="line">
            <a:avLst/>
          </a:prstGeom>
          <a:ln>
            <a:tailEnd type="stealt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8BC7B94-E81F-2443-8B9F-2DD9997EF186}"/>
              </a:ext>
            </a:extLst>
          </p:cNvPr>
          <p:cNvCxnSpPr/>
          <p:nvPr/>
        </p:nvCxnSpPr>
        <p:spPr>
          <a:xfrm flipH="1">
            <a:off x="9531668" y="3429000"/>
            <a:ext cx="1" cy="469566"/>
          </a:xfrm>
          <a:prstGeom prst="line">
            <a:avLst/>
          </a:prstGeom>
          <a:ln>
            <a:tailEnd type="stealt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5BC9A883-3ADC-5645-86C5-077C95940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2929" y="4093789"/>
            <a:ext cx="990600" cy="889000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EC7D203C-53BE-CF4E-BB2A-6F2C175EA254}"/>
              </a:ext>
            </a:extLst>
          </p:cNvPr>
          <p:cNvSpPr txBox="1"/>
          <p:nvPr/>
        </p:nvSpPr>
        <p:spPr>
          <a:xfrm>
            <a:off x="3332855" y="4223987"/>
            <a:ext cx="9727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CN" dirty="0"/>
              <a:t>Cas </a:t>
            </a:r>
          </a:p>
          <a:p>
            <a:pPr algn="ctr"/>
            <a:r>
              <a:rPr kumimoji="1" lang="en-US" altLang="zh-CN" dirty="0"/>
              <a:t>complex</a:t>
            </a:r>
            <a:endParaRPr kumimoji="1" lang="zh-CN" altLang="en-US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E00A25AF-2248-CF41-BD46-6581AE650C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0233" y="4914815"/>
            <a:ext cx="863600" cy="63500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88C1A24A-BECB-2F49-924C-87E3302D05B1}"/>
              </a:ext>
            </a:extLst>
          </p:cNvPr>
          <p:cNvSpPr txBox="1"/>
          <p:nvPr/>
        </p:nvSpPr>
        <p:spPr>
          <a:xfrm>
            <a:off x="8209031" y="5047649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crRNA</a:t>
            </a:r>
            <a:endParaRPr kumimoji="1" lang="zh-CN" altLang="en-US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6971A09E-52B9-9149-9C3B-B70C8A01BAC6}"/>
              </a:ext>
            </a:extLst>
          </p:cNvPr>
          <p:cNvCxnSpPr>
            <a:cxnSpLocks/>
          </p:cNvCxnSpPr>
          <p:nvPr/>
        </p:nvCxnSpPr>
        <p:spPr>
          <a:xfrm>
            <a:off x="7876383" y="4123685"/>
            <a:ext cx="386463" cy="0"/>
          </a:xfrm>
          <a:prstGeom prst="line">
            <a:avLst/>
          </a:prstGeom>
          <a:ln w="31750">
            <a:solidFill>
              <a:schemeClr val="accent3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F5889CC0-D737-734B-A7FA-618110FF10C7}"/>
              </a:ext>
            </a:extLst>
          </p:cNvPr>
          <p:cNvCxnSpPr>
            <a:cxnSpLocks/>
          </p:cNvCxnSpPr>
          <p:nvPr/>
        </p:nvCxnSpPr>
        <p:spPr>
          <a:xfrm>
            <a:off x="8262846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F3F7600D-3394-074B-B624-B995A7E3774A}"/>
              </a:ext>
            </a:extLst>
          </p:cNvPr>
          <p:cNvCxnSpPr>
            <a:cxnSpLocks/>
          </p:cNvCxnSpPr>
          <p:nvPr/>
        </p:nvCxnSpPr>
        <p:spPr>
          <a:xfrm>
            <a:off x="8516985" y="4123685"/>
            <a:ext cx="254139" cy="0"/>
          </a:xfrm>
          <a:prstGeom prst="line">
            <a:avLst/>
          </a:prstGeom>
          <a:ln w="31750">
            <a:solidFill>
              <a:srgbClr val="FFAE47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00006D56-37CA-154B-9C73-825973594DDE}"/>
              </a:ext>
            </a:extLst>
          </p:cNvPr>
          <p:cNvCxnSpPr>
            <a:cxnSpLocks/>
          </p:cNvCxnSpPr>
          <p:nvPr/>
        </p:nvCxnSpPr>
        <p:spPr>
          <a:xfrm>
            <a:off x="8765897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302EF0B2-B3AA-E948-989E-4DBEB9CD8C7C}"/>
              </a:ext>
            </a:extLst>
          </p:cNvPr>
          <p:cNvCxnSpPr>
            <a:cxnSpLocks/>
          </p:cNvCxnSpPr>
          <p:nvPr/>
        </p:nvCxnSpPr>
        <p:spPr>
          <a:xfrm>
            <a:off x="9011875" y="4123685"/>
            <a:ext cx="254139" cy="0"/>
          </a:xfrm>
          <a:prstGeom prst="line">
            <a:avLst/>
          </a:prstGeom>
          <a:ln w="31750">
            <a:solidFill>
              <a:srgbClr val="92D05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AEB51B6E-799E-0143-9ECD-8D1456BCE2A9}"/>
              </a:ext>
            </a:extLst>
          </p:cNvPr>
          <p:cNvCxnSpPr>
            <a:cxnSpLocks/>
          </p:cNvCxnSpPr>
          <p:nvPr/>
        </p:nvCxnSpPr>
        <p:spPr>
          <a:xfrm>
            <a:off x="9260787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23E321FA-2C18-2B49-9253-AF2218A2B0CE}"/>
              </a:ext>
            </a:extLst>
          </p:cNvPr>
          <p:cNvCxnSpPr>
            <a:cxnSpLocks/>
          </p:cNvCxnSpPr>
          <p:nvPr/>
        </p:nvCxnSpPr>
        <p:spPr>
          <a:xfrm>
            <a:off x="9503030" y="4123685"/>
            <a:ext cx="254139" cy="0"/>
          </a:xfrm>
          <a:prstGeom prst="line">
            <a:avLst/>
          </a:prstGeom>
          <a:ln w="31750">
            <a:solidFill>
              <a:srgbClr val="FF7E79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EBE2BF6D-D94E-9D48-956B-AA6683510725}"/>
              </a:ext>
            </a:extLst>
          </p:cNvPr>
          <p:cNvCxnSpPr>
            <a:cxnSpLocks/>
          </p:cNvCxnSpPr>
          <p:nvPr/>
        </p:nvCxnSpPr>
        <p:spPr>
          <a:xfrm>
            <a:off x="9751942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89D5E9C5-8531-A743-AF84-2C20C8D90CE2}"/>
              </a:ext>
            </a:extLst>
          </p:cNvPr>
          <p:cNvCxnSpPr>
            <a:cxnSpLocks/>
          </p:cNvCxnSpPr>
          <p:nvPr/>
        </p:nvCxnSpPr>
        <p:spPr>
          <a:xfrm>
            <a:off x="9977123" y="4123685"/>
            <a:ext cx="254139" cy="0"/>
          </a:xfrm>
          <a:prstGeom prst="line">
            <a:avLst/>
          </a:prstGeom>
          <a:ln w="31750"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1068C5B-641C-6347-B8EC-5C231B0708E1}"/>
              </a:ext>
            </a:extLst>
          </p:cNvPr>
          <p:cNvCxnSpPr>
            <a:cxnSpLocks/>
          </p:cNvCxnSpPr>
          <p:nvPr/>
        </p:nvCxnSpPr>
        <p:spPr>
          <a:xfrm>
            <a:off x="10226035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8C69418-F975-FB49-AEBF-0CADC2D44586}"/>
              </a:ext>
            </a:extLst>
          </p:cNvPr>
          <p:cNvCxnSpPr>
            <a:cxnSpLocks/>
          </p:cNvCxnSpPr>
          <p:nvPr/>
        </p:nvCxnSpPr>
        <p:spPr>
          <a:xfrm>
            <a:off x="10471916" y="4123685"/>
            <a:ext cx="254139" cy="0"/>
          </a:xfrm>
          <a:prstGeom prst="line">
            <a:avLst/>
          </a:prstGeom>
          <a:ln w="31750">
            <a:solidFill>
              <a:schemeClr val="accent5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FB1AF0A1-6261-8442-939C-CC0FC3B5156C}"/>
              </a:ext>
            </a:extLst>
          </p:cNvPr>
          <p:cNvCxnSpPr>
            <a:cxnSpLocks/>
          </p:cNvCxnSpPr>
          <p:nvPr/>
        </p:nvCxnSpPr>
        <p:spPr>
          <a:xfrm>
            <a:off x="10720828" y="4123685"/>
            <a:ext cx="25413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60A8D830-5A66-2440-964C-2200BAC95B18}"/>
              </a:ext>
            </a:extLst>
          </p:cNvPr>
          <p:cNvSpPr txBox="1"/>
          <p:nvPr/>
        </p:nvSpPr>
        <p:spPr>
          <a:xfrm>
            <a:off x="6664597" y="3939019"/>
            <a:ext cx="1154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pre-crRNA</a:t>
            </a:r>
            <a:endParaRPr kumimoji="1" lang="zh-CN" altLang="en-US" dirty="0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71BB50D8-CB68-E642-A2B1-673C0F4C7BAB}"/>
              </a:ext>
            </a:extLst>
          </p:cNvPr>
          <p:cNvCxnSpPr/>
          <p:nvPr/>
        </p:nvCxnSpPr>
        <p:spPr>
          <a:xfrm flipH="1">
            <a:off x="9531668" y="4337020"/>
            <a:ext cx="1" cy="469566"/>
          </a:xfrm>
          <a:prstGeom prst="line">
            <a:avLst/>
          </a:prstGeom>
          <a:ln>
            <a:tailEnd type="stealt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4" name="Picture 103">
            <a:extLst>
              <a:ext uri="{FF2B5EF4-FFF2-40B4-BE49-F238E27FC236}">
                <a16:creationId xmlns:a16="http://schemas.microsoft.com/office/drawing/2014/main" id="{189DE397-1F59-6144-993B-F4F0DA36D7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817472">
            <a:off x="6098069" y="4797659"/>
            <a:ext cx="1419727" cy="770021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58DBD628-CCB5-1A41-B4E1-9D7CBB4E1DA2}"/>
              </a:ext>
            </a:extLst>
          </p:cNvPr>
          <p:cNvSpPr txBox="1"/>
          <p:nvPr/>
        </p:nvSpPr>
        <p:spPr>
          <a:xfrm>
            <a:off x="6027351" y="5667683"/>
            <a:ext cx="1469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DNA cleavage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57699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14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35CCB867-0676-AA4A-A4A4-68370782E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7822" y="970364"/>
            <a:ext cx="5216354" cy="533028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CAE5001-32D9-994D-951B-6588E3BAFE18}"/>
              </a:ext>
            </a:extLst>
          </p:cNvPr>
          <p:cNvSpPr txBox="1"/>
          <p:nvPr/>
        </p:nvSpPr>
        <p:spPr>
          <a:xfrm>
            <a:off x="325821" y="464150"/>
            <a:ext cx="99793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CRISPR-Cas as an </a:t>
            </a:r>
            <a:r>
              <a:rPr kumimoji="1" lang="en-US" altLang="zh-CN" sz="3200" i="1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Inheritable</a:t>
            </a:r>
            <a:r>
              <a:rPr kumimoji="1" lang="zh-CN" altLang="en-US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</a:t>
            </a:r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and </a:t>
            </a:r>
            <a:r>
              <a:rPr kumimoji="1" lang="en-US" altLang="zh-CN" sz="3200" i="1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Adaptive</a:t>
            </a:r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 Immune System</a:t>
            </a:r>
            <a:endParaRPr kumimoji="1"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095506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925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Classification of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15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Classification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7C034AD-ABF1-DB44-8D00-CF873D18C839}"/>
              </a:ext>
            </a:extLst>
          </p:cNvPr>
          <p:cNvSpPr txBox="1"/>
          <p:nvPr/>
        </p:nvSpPr>
        <p:spPr>
          <a:xfrm>
            <a:off x="325821" y="992811"/>
            <a:ext cx="5707206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 classes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E8B8A6-44A1-8F4A-83B6-EABCBE578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613" y="1577586"/>
            <a:ext cx="10174774" cy="223097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8660136-3B0E-254B-8FA2-BC4B689BFFB6}"/>
              </a:ext>
            </a:extLst>
          </p:cNvPr>
          <p:cNvSpPr/>
          <p:nvPr/>
        </p:nvSpPr>
        <p:spPr>
          <a:xfrm>
            <a:off x="2257063" y="3032567"/>
            <a:ext cx="821803" cy="7759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59BFEC-639C-D14E-A8A0-3967A0FA037C}"/>
              </a:ext>
            </a:extLst>
          </p:cNvPr>
          <p:cNvSpPr/>
          <p:nvPr/>
        </p:nvSpPr>
        <p:spPr>
          <a:xfrm>
            <a:off x="3078867" y="1577585"/>
            <a:ext cx="4166886" cy="22309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06B660-180C-F448-9058-A194B6C5AD46}"/>
              </a:ext>
            </a:extLst>
          </p:cNvPr>
          <p:cNvSpPr txBox="1"/>
          <p:nvPr/>
        </p:nvSpPr>
        <p:spPr>
          <a:xfrm>
            <a:off x="325821" y="4062957"/>
            <a:ext cx="7554203" cy="1711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Class 1: Multiple Cas proteins form a crRNA-binding complex and function together in binding and processing of the target DNA.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Class 2: A single, multidomain crRNA-binding protein that is functionally analogous to the entire effector complex of class 1.</a:t>
            </a:r>
          </a:p>
        </p:txBody>
      </p:sp>
    </p:spTree>
    <p:extLst>
      <p:ext uri="{BB962C8B-B14F-4D97-AF65-F5344CB8AC3E}">
        <p14:creationId xmlns:p14="http://schemas.microsoft.com/office/powerpoint/2010/main" val="161641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7925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Classification of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16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Classification</a:t>
              </a:r>
              <a:endParaRPr kumimoji="1" lang="zh-CN" altLang="en-US" sz="2000" b="1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Mechanism</a:t>
              </a:r>
              <a:endParaRPr kumimoji="1" lang="zh-CN" altLang="en-US" sz="2000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7C034AD-ABF1-DB44-8D00-CF873D18C839}"/>
              </a:ext>
            </a:extLst>
          </p:cNvPr>
          <p:cNvSpPr txBox="1"/>
          <p:nvPr/>
        </p:nvSpPr>
        <p:spPr>
          <a:xfrm>
            <a:off x="325821" y="992811"/>
            <a:ext cx="5707206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2 classes further divide into 6 types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395F464-EED3-654D-91DA-BA80C72F07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95" y="1499103"/>
            <a:ext cx="10918209" cy="410280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8C805AA-287B-7249-A7EA-F72887CF2E10}"/>
              </a:ext>
            </a:extLst>
          </p:cNvPr>
          <p:cNvSpPr txBox="1"/>
          <p:nvPr/>
        </p:nvSpPr>
        <p:spPr>
          <a:xfrm>
            <a:off x="636894" y="5644474"/>
            <a:ext cx="10918209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Next, we focus on </a:t>
            </a:r>
            <a:r>
              <a:rPr kumimoji="1" lang="en-US" altLang="zh-CN" b="1" dirty="0"/>
              <a:t>Type I</a:t>
            </a:r>
            <a:r>
              <a:rPr kumimoji="1" lang="en-US" altLang="zh-CN" dirty="0"/>
              <a:t> and </a:t>
            </a:r>
            <a:r>
              <a:rPr kumimoji="1" lang="en-US" altLang="zh-CN" b="1" dirty="0"/>
              <a:t>II</a:t>
            </a:r>
            <a:r>
              <a:rPr kumimoji="1" lang="en-US" altLang="zh-CN" dirty="0"/>
              <a:t> to see how typical Cas protein(s) function together with crRNA to cleave DNA. </a:t>
            </a:r>
          </a:p>
        </p:txBody>
      </p:sp>
    </p:spTree>
    <p:extLst>
      <p:ext uri="{BB962C8B-B14F-4D97-AF65-F5344CB8AC3E}">
        <p14:creationId xmlns:p14="http://schemas.microsoft.com/office/powerpoint/2010/main" val="42336721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31347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Type I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17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3F53BF32-6746-4D41-9ACA-B071A134B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050" y="771982"/>
            <a:ext cx="2512618" cy="54870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099630-9377-584B-BD0D-29350C5A57A8}"/>
              </a:ext>
            </a:extLst>
          </p:cNvPr>
          <p:cNvSpPr txBox="1"/>
          <p:nvPr/>
        </p:nvSpPr>
        <p:spPr>
          <a:xfrm>
            <a:off x="325820" y="992811"/>
            <a:ext cx="8405592" cy="5266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Pre-crRNA forms </a:t>
            </a:r>
            <a:r>
              <a:rPr kumimoji="1" lang="en-CN" altLang="zh-CN" sz="2000" b="1" dirty="0"/>
              <a:t>stem-loop</a:t>
            </a:r>
            <a:r>
              <a:rPr kumimoji="1" lang="en-CN" altLang="zh-CN" sz="2000" dirty="0"/>
              <a:t> structures - </a:t>
            </a:r>
            <a:r>
              <a:rPr kumimoji="1" lang="en-US" altLang="zh-CN" sz="2000" dirty="0"/>
              <a:t>due to </a:t>
            </a:r>
            <a:r>
              <a:rPr kumimoji="1" lang="en-US" altLang="zh-CN" sz="2000" i="1" dirty="0"/>
              <a:t>palindromic</a:t>
            </a:r>
            <a:r>
              <a:rPr kumimoji="1" lang="en-US" altLang="zh-CN" sz="2000" dirty="0"/>
              <a:t> repeats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dirty="0"/>
              <a:t>Cas complex (namely Cascade) cleaves at the base of each stem-loop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Producing short crRNAs associated with Cascade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Cas-crRNA complex scans DNAs to find the sequence (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protospacer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) matching the crRNA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Cascade also needs to recognize a short sequence motif located </a:t>
            </a:r>
            <a:r>
              <a:rPr kumimoji="1" lang="en-US" altLang="zh-CN" i="1" dirty="0"/>
              <a:t>immediately upstream</a:t>
            </a:r>
            <a:r>
              <a:rPr kumimoji="1" lang="en-US" altLang="zh-CN" dirty="0"/>
              <a:t> of the 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protospacer</a:t>
            </a:r>
            <a:r>
              <a:rPr kumimoji="1" lang="en-US" altLang="zh-CN" dirty="0"/>
              <a:t> recognized by the crRNA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This short sequence motif is called</a:t>
            </a:r>
            <a:r>
              <a:rPr kumimoji="1" lang="en-US" altLang="zh-CN" dirty="0">
                <a:solidFill>
                  <a:schemeClr val="accent6"/>
                </a:solidFill>
              </a:rPr>
              <a:t> protospacer adjacent motif (PAM)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b="0" i="0" u="none" strike="noStrike" dirty="0">
                <a:solidFill>
                  <a:schemeClr val="accent5"/>
                </a:solidFill>
                <a:effectLst/>
                <a:latin typeface="system-ui"/>
              </a:rPr>
              <a:t>T</a:t>
            </a:r>
            <a:r>
              <a:rPr lang="en-US" b="0" i="0" u="none" strike="noStrike" dirty="0">
                <a:solidFill>
                  <a:schemeClr val="accent5"/>
                </a:solidFill>
                <a:effectLst/>
                <a:latin typeface="system-ui"/>
              </a:rPr>
              <a:t>wo-factor authentication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Cascade binds to the target 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Annealing of the crRNA to the target strand forms an </a:t>
            </a:r>
            <a:r>
              <a:rPr kumimoji="1" lang="en-US" altLang="zh-CN" b="1" dirty="0"/>
              <a:t>R-loop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Cas3 nuclease is recruited and cleaves </a:t>
            </a:r>
            <a:r>
              <a:rPr kumimoji="1" lang="en-US" altLang="zh-CN" i="1" dirty="0">
                <a:solidFill>
                  <a:srgbClr val="FF0000"/>
                </a:solidFill>
              </a:rPr>
              <a:t>single</a:t>
            </a:r>
            <a:r>
              <a:rPr kumimoji="1" lang="en-US" altLang="zh-CN" dirty="0"/>
              <a:t> strand of the target</a:t>
            </a:r>
          </a:p>
        </p:txBody>
      </p:sp>
    </p:spTree>
    <p:extLst>
      <p:ext uri="{BB962C8B-B14F-4D97-AF65-F5344CB8AC3E}">
        <p14:creationId xmlns:p14="http://schemas.microsoft.com/office/powerpoint/2010/main" val="101501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32389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Type II CRISPR-Cas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18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62ED3C3-3C0B-924F-8520-090E38F38EF9}"/>
              </a:ext>
            </a:extLst>
          </p:cNvPr>
          <p:cNvGrpSpPr/>
          <p:nvPr/>
        </p:nvGrpSpPr>
        <p:grpSpPr>
          <a:xfrm>
            <a:off x="8733071" y="1397000"/>
            <a:ext cx="3142208" cy="4064000"/>
            <a:chOff x="7386092" y="1397000"/>
            <a:chExt cx="3142208" cy="40640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507ADC4-CBC7-8746-889F-4FB0F5A35B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386092" y="1397000"/>
              <a:ext cx="2387600" cy="4064000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FF9944-16FD-944E-A962-7F783695B8CD}"/>
                </a:ext>
              </a:extLst>
            </p:cNvPr>
            <p:cNvSpPr/>
            <p:nvPr/>
          </p:nvSpPr>
          <p:spPr>
            <a:xfrm>
              <a:off x="9448800" y="2514600"/>
              <a:ext cx="1079500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701869A-AF22-D84F-8DA1-EB7C53A97766}"/>
              </a:ext>
            </a:extLst>
          </p:cNvPr>
          <p:cNvSpPr txBox="1"/>
          <p:nvPr/>
        </p:nvSpPr>
        <p:spPr>
          <a:xfrm>
            <a:off x="325819" y="992811"/>
            <a:ext cx="8301397" cy="44351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b="1" dirty="0"/>
              <a:t>No</a:t>
            </a:r>
            <a:r>
              <a:rPr kumimoji="1" lang="en-CN" altLang="zh-CN" sz="2000" dirty="0"/>
              <a:t> stem-loop structures in pre-crRNA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>
                <a:solidFill>
                  <a:srgbClr val="FF7E79"/>
                </a:solidFill>
              </a:rPr>
              <a:t>Trans-encoded crRNA (tracrRNA)</a:t>
            </a:r>
            <a:r>
              <a:rPr kumimoji="1" lang="en-CN" altLang="zh-CN" sz="2000" dirty="0"/>
              <a:t> links Cas9 and pre-crRNA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repeat/</a:t>
            </a:r>
            <a:r>
              <a:rPr kumimoji="1" lang="en-US" altLang="zh-CN" dirty="0" err="1"/>
              <a:t>tracrRNA</a:t>
            </a:r>
            <a:r>
              <a:rPr kumimoji="1" lang="en-US" altLang="zh-CN" dirty="0"/>
              <a:t> dsRNA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dsRNA is cleaved by RNase III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Producing short crRNAs (with a “repeat tail”) associated with Cas9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Cas-crRNA complex scans DNAs to find the 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protospacer</a:t>
            </a: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 matching the crRNA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  <a:defRPr/>
            </a:pPr>
            <a:r>
              <a:rPr kumimoji="1" lang="en-US" altLang="zh-CN" dirty="0"/>
              <a:t>Cas9 recognizes </a:t>
            </a:r>
            <a:r>
              <a:rPr kumimoji="1" lang="en-US" altLang="zh-CN" dirty="0">
                <a:solidFill>
                  <a:schemeClr val="accent6"/>
                </a:solidFill>
              </a:rPr>
              <a:t>PAM</a:t>
            </a:r>
            <a:r>
              <a:rPr kumimoji="1" lang="en-US" altLang="zh-CN" dirty="0"/>
              <a:t> </a:t>
            </a:r>
            <a:r>
              <a:rPr kumimoji="1" lang="en-US" altLang="zh-CN" i="1" dirty="0"/>
              <a:t>immediately downstream </a:t>
            </a:r>
            <a:r>
              <a:rPr kumimoji="1" lang="en-US" altLang="zh-CN" dirty="0"/>
              <a:t>of the </a:t>
            </a:r>
            <a:r>
              <a:rPr kumimoji="1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protospacer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等线" panose="02010600030101010101" pitchFamily="2" charset="-122"/>
                <a:cs typeface="+mn-cs"/>
              </a:rPr>
              <a:t>Cas9 binds to the target 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Annealing of the crRNA to the target strand forms an </a:t>
            </a:r>
            <a:r>
              <a:rPr kumimoji="1" lang="en-US" altLang="zh-CN" b="1" dirty="0"/>
              <a:t>R-loop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Nuclease domain of Cas9 cleaves</a:t>
            </a:r>
            <a:r>
              <a:rPr kumimoji="1" lang="en-US" altLang="zh-CN" i="1" dirty="0">
                <a:solidFill>
                  <a:srgbClr val="FF0000"/>
                </a:solidFill>
              </a:rPr>
              <a:t> double</a:t>
            </a:r>
            <a:r>
              <a:rPr kumimoji="1" lang="en-US" altLang="zh-CN" dirty="0"/>
              <a:t> strands of the target</a:t>
            </a:r>
          </a:p>
        </p:txBody>
      </p:sp>
    </p:spTree>
    <p:extLst>
      <p:ext uri="{BB962C8B-B14F-4D97-AF65-F5344CB8AC3E}">
        <p14:creationId xmlns:p14="http://schemas.microsoft.com/office/powerpoint/2010/main" val="648261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298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Seed Sequence and PAM</a:t>
            </a:r>
            <a:endParaRPr kumimoji="1" lang="zh-CN" alt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19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701869A-AF22-D84F-8DA1-EB7C53A97766}"/>
              </a:ext>
            </a:extLst>
          </p:cNvPr>
          <p:cNvSpPr txBox="1"/>
          <p:nvPr/>
        </p:nvSpPr>
        <p:spPr>
          <a:xfrm>
            <a:off x="325819" y="1100035"/>
            <a:ext cx="7942635" cy="4804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b="1" dirty="0"/>
              <a:t>Seed Sequence</a:t>
            </a:r>
            <a:r>
              <a:rPr kumimoji="1" lang="en-CN" altLang="zh-CN" sz="2000" dirty="0"/>
              <a:t>:</a:t>
            </a:r>
            <a:r>
              <a:rPr kumimoji="1" lang="zh-CN" altLang="en-US" sz="2000" dirty="0"/>
              <a:t> 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short, highly conserved sequence in the crRNA</a:t>
            </a:r>
            <a:r>
              <a:rPr lang="en-US" sz="2000" dirty="0">
                <a:solidFill>
                  <a:srgbClr val="000000"/>
                </a:solidFill>
                <a:latin typeface="-webkit-standard"/>
              </a:rPr>
              <a:t>,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critical for the </a:t>
            </a:r>
            <a:r>
              <a:rPr lang="en-US" sz="2000" b="1" i="0" u="none" strike="noStrike" dirty="0">
                <a:solidFill>
                  <a:srgbClr val="000000"/>
                </a:solidFill>
                <a:effectLst/>
                <a:latin typeface="-webkit-standard"/>
              </a:rPr>
              <a:t>crRNA recognition and binding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of the target DNA sequence.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>
                <a:solidFill>
                  <a:srgbClr val="000000"/>
                </a:solidFill>
                <a:latin typeface="-webkit-standard"/>
              </a:rPr>
              <a:t>Usually 6-8</a:t>
            </a:r>
            <a:r>
              <a:rPr kumimoji="1" lang="zh-CN" altLang="en-US" dirty="0">
                <a:solidFill>
                  <a:srgbClr val="000000"/>
                </a:solidFill>
                <a:latin typeface="-webkit-standard"/>
              </a:rPr>
              <a:t> </a:t>
            </a:r>
            <a:r>
              <a:rPr kumimoji="1" lang="en-US" altLang="zh-CN" dirty="0">
                <a:solidFill>
                  <a:srgbClr val="000000"/>
                </a:solidFill>
                <a:latin typeface="-webkit-standard"/>
              </a:rPr>
              <a:t>bases</a:t>
            </a:r>
            <a:endParaRPr kumimoji="1" lang="en-CN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b="1" dirty="0"/>
              <a:t>PAM</a:t>
            </a:r>
            <a:r>
              <a:rPr kumimoji="1" lang="en-CN" altLang="zh-CN" sz="2000" dirty="0"/>
              <a:t>: </a:t>
            </a:r>
            <a:r>
              <a:rPr kumimoji="1" lang="zh-CN" altLang="en-US" sz="2000" dirty="0"/>
              <a:t> 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short, conserved</a:t>
            </a:r>
            <a:r>
              <a:rPr lang="zh-CN" alt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sequence</a:t>
            </a:r>
            <a:r>
              <a:rPr lang="zh-CN" alt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 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required for </a:t>
            </a:r>
            <a:r>
              <a:rPr lang="en-US" sz="2000" b="1" i="0" u="none" strike="noStrike" dirty="0">
                <a:solidFill>
                  <a:srgbClr val="000000"/>
                </a:solidFill>
                <a:effectLst/>
                <a:latin typeface="-webkit-standard"/>
              </a:rPr>
              <a:t>Cas recognition</a:t>
            </a: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.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/>
              <a:t>Usually 3 bases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Cas9</a:t>
            </a:r>
            <a:r>
              <a:rPr kumimoji="1" lang="en-CN" altLang="zh-CN" dirty="0"/>
              <a:t>, e.g. </a:t>
            </a:r>
            <a:r>
              <a:rPr kumimoji="1" lang="en-CN" altLang="zh-CN" dirty="0">
                <a:solidFill>
                  <a:srgbClr val="FF0000"/>
                </a:solidFill>
              </a:rPr>
              <a:t>5’-NGG-3’</a:t>
            </a:r>
            <a:r>
              <a:rPr kumimoji="1" lang="en-CN" altLang="zh-CN" dirty="0"/>
              <a:t> for SpCas9 (Cas9 in </a:t>
            </a:r>
            <a:r>
              <a:rPr lang="en-US" b="0" i="1" u="none" strike="noStrike" dirty="0">
                <a:solidFill>
                  <a:srgbClr val="000000"/>
                </a:solidFill>
                <a:effectLst/>
                <a:latin typeface="-webkit-standard"/>
              </a:rPr>
              <a:t>Streptococcus pyogenes</a:t>
            </a:r>
            <a:r>
              <a:rPr kumimoji="1" lang="en-CN" altLang="zh-CN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Two-factor authentication to avoid </a:t>
            </a:r>
            <a:r>
              <a:rPr kumimoji="1" lang="en-CN" altLang="zh-CN" sz="2000" i="1" dirty="0"/>
              <a:t>auto-immunity</a:t>
            </a:r>
            <a:endParaRPr kumimoji="1" lang="en-US" altLang="zh-CN" sz="2000" i="1" dirty="0"/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Type I: crRNA and Cascade recognize the </a:t>
            </a:r>
            <a:r>
              <a:rPr kumimoji="1" lang="en-US" altLang="zh-CN" dirty="0">
                <a:solidFill>
                  <a:srgbClr val="FF0000"/>
                </a:solidFill>
              </a:rPr>
              <a:t>same </a:t>
            </a:r>
            <a:r>
              <a:rPr kumimoji="1" lang="en-US" altLang="zh-CN" dirty="0"/>
              <a:t>strand of DNA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Type II: crRNA and Cas9 recognize </a:t>
            </a:r>
            <a:r>
              <a:rPr kumimoji="1" lang="en-US" altLang="zh-CN" dirty="0">
                <a:solidFill>
                  <a:srgbClr val="FF0000"/>
                </a:solidFill>
              </a:rPr>
              <a:t>different</a:t>
            </a:r>
            <a:r>
              <a:rPr kumimoji="1" lang="en-US" altLang="zh-CN" dirty="0"/>
              <a:t> strands of DNA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Type III does not rely on PAM, instead relies on differential base pairing between crRNA tag and the target sequence</a:t>
            </a:r>
            <a:endParaRPr kumimoji="1" lang="en-CN" altLang="zh-CN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96F4E8D-A05F-9B41-8CCF-C6A1DBF43E2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8984" r="2560" b="18516"/>
          <a:stretch/>
        </p:blipFill>
        <p:spPr>
          <a:xfrm>
            <a:off x="8734567" y="2450699"/>
            <a:ext cx="2594897" cy="10228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25F1167-D279-994F-8E7F-D16D2403BDB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68869" b="18309"/>
          <a:stretch/>
        </p:blipFill>
        <p:spPr>
          <a:xfrm>
            <a:off x="8596911" y="1116318"/>
            <a:ext cx="3236306" cy="906190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91614887-C9C3-474E-A409-06B5B7CD4B7F}"/>
              </a:ext>
            </a:extLst>
          </p:cNvPr>
          <p:cNvGrpSpPr/>
          <p:nvPr/>
        </p:nvGrpSpPr>
        <p:grpSpPr>
          <a:xfrm>
            <a:off x="8534341" y="3848864"/>
            <a:ext cx="2565400" cy="2038978"/>
            <a:chOff x="8534341" y="3848864"/>
            <a:chExt cx="2565400" cy="2038978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C7DF7E0-B54E-944D-BB35-4E3C2D45C800}"/>
                </a:ext>
              </a:extLst>
            </p:cNvPr>
            <p:cNvGrpSpPr/>
            <p:nvPr/>
          </p:nvGrpSpPr>
          <p:grpSpPr>
            <a:xfrm>
              <a:off x="8534341" y="3848864"/>
              <a:ext cx="2565400" cy="2038978"/>
              <a:chOff x="8566434" y="4172310"/>
              <a:chExt cx="2565400" cy="2038978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39DBB0F6-67E4-C040-84C3-D0D5AE7A53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566434" y="4172310"/>
                <a:ext cx="2565400" cy="1663700"/>
              </a:xfrm>
              <a:prstGeom prst="rect">
                <a:avLst/>
              </a:prstGeom>
            </p:spPr>
          </p:pic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ABF0FAB-1864-2F44-9464-CBF4EA930913}"/>
                  </a:ext>
                </a:extLst>
              </p:cNvPr>
              <p:cNvSpPr/>
              <p:nvPr/>
            </p:nvSpPr>
            <p:spPr>
              <a:xfrm>
                <a:off x="9213850" y="5747138"/>
                <a:ext cx="469900" cy="46415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FCA9D16-DB83-D047-8F77-18D709ACADB7}"/>
                </a:ext>
              </a:extLst>
            </p:cNvPr>
            <p:cNvSpPr/>
            <p:nvPr/>
          </p:nvSpPr>
          <p:spPr>
            <a:xfrm>
              <a:off x="9980114" y="5256982"/>
              <a:ext cx="469900" cy="4641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4379412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20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CAE5001-32D9-994D-951B-6588E3BAFE18}"/>
              </a:ext>
            </a:extLst>
          </p:cNvPr>
          <p:cNvSpPr txBox="1"/>
          <p:nvPr/>
        </p:nvSpPr>
        <p:spPr>
          <a:xfrm>
            <a:off x="325821" y="464150"/>
            <a:ext cx="48660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Aside: CRISPR Immunization</a:t>
            </a:r>
            <a:endParaRPr kumimoji="1" lang="zh-CN" altLang="en-US" sz="32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F012B81-0A67-6146-862C-F3E2E9C66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4829" y="1362017"/>
            <a:ext cx="7183177" cy="420255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A2E7EF5-98C9-6049-8076-F3369710E79C}"/>
              </a:ext>
            </a:extLst>
          </p:cNvPr>
          <p:cNvSpPr txBox="1"/>
          <p:nvPr/>
        </p:nvSpPr>
        <p:spPr>
          <a:xfrm>
            <a:off x="325820" y="1100035"/>
            <a:ext cx="4232532" cy="3465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Spacer sampling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/>
              <a:t>Cas1&amp;2 are involved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/>
              <a:t>PAM (e.g., NGG) must be near the protospacer for Cas recognition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CN" altLang="zh-CN" dirty="0">
                <a:solidFill>
                  <a:schemeClr val="accent5"/>
                </a:solidFill>
              </a:rPr>
              <a:t>How to guarantee it?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CN" altLang="zh-CN" sz="2000" dirty="0"/>
              <a:t>Spacer integration (HGT)</a:t>
            </a:r>
          </a:p>
          <a:p>
            <a:pPr marL="742950" lvl="1" indent="-285750">
              <a:lnSpc>
                <a:spcPct val="150000"/>
              </a:lnSpc>
              <a:buFont typeface="Wingdings" pitchFamily="2" charset="2"/>
              <a:buChar char="ü"/>
            </a:pPr>
            <a:r>
              <a:rPr kumimoji="1" lang="en-US" altLang="zh-CN" dirty="0"/>
              <a:t>A reaction that resembles retroviral integration</a:t>
            </a:r>
            <a:endParaRPr kumimoji="1" lang="en-CN" altLang="zh-CN" dirty="0"/>
          </a:p>
        </p:txBody>
      </p:sp>
    </p:spTree>
    <p:extLst>
      <p:ext uri="{BB962C8B-B14F-4D97-AF65-F5344CB8AC3E}">
        <p14:creationId xmlns:p14="http://schemas.microsoft.com/office/powerpoint/2010/main" val="2569760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21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CAE5001-32D9-994D-951B-6588E3BAFE18}"/>
              </a:ext>
            </a:extLst>
          </p:cNvPr>
          <p:cNvSpPr txBox="1"/>
          <p:nvPr/>
        </p:nvSpPr>
        <p:spPr>
          <a:xfrm>
            <a:off x="325821" y="464150"/>
            <a:ext cx="6853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Aside: Discovery of the Role of </a:t>
            </a:r>
            <a:r>
              <a:rPr kumimoji="1" lang="en-US" altLang="zh-CN" sz="3200" dirty="0" err="1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tracrRNA</a:t>
            </a:r>
            <a:endParaRPr kumimoji="1" lang="zh-CN" altLang="en-US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0F43DE-E14E-0145-9349-5F6751539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821" y="2376948"/>
            <a:ext cx="6294556" cy="21041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08703E-CEA5-BE40-9728-F71DD28643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4709" y="1419220"/>
            <a:ext cx="3990299" cy="37958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A383E78-D31B-ED4B-9A9A-ECFD35A1FCC3}"/>
              </a:ext>
            </a:extLst>
          </p:cNvPr>
          <p:cNvSpPr txBox="1"/>
          <p:nvPr/>
        </p:nvSpPr>
        <p:spPr>
          <a:xfrm>
            <a:off x="7282214" y="5282483"/>
            <a:ext cx="38152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i="1" dirty="0"/>
              <a:t>Nobel Prize in Chemistry 2020, “</a:t>
            </a:r>
            <a:r>
              <a:rPr lang="en-US" sz="1400" b="0" i="1" u="none" strike="noStrike" dirty="0">
                <a:solidFill>
                  <a:srgbClr val="2E2A25"/>
                </a:solidFill>
                <a:effectLst/>
                <a:latin typeface="Alfred Serif"/>
              </a:rPr>
              <a:t>for the development of a method for genome editing</a:t>
            </a:r>
            <a:r>
              <a:rPr kumimoji="1" lang="en-US" altLang="zh-CN" sz="1400" i="1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973785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22</a:t>
            </a:fld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5DCF65-93BB-9C4B-A7D6-A30D1F6F2B65}"/>
              </a:ext>
            </a:extLst>
          </p:cNvPr>
          <p:cNvGrpSpPr/>
          <p:nvPr/>
        </p:nvGrpSpPr>
        <p:grpSpPr>
          <a:xfrm>
            <a:off x="0" y="6393850"/>
            <a:ext cx="12192000" cy="464151"/>
            <a:chOff x="0" y="6393850"/>
            <a:chExt cx="7962900" cy="46415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087F2F2-D715-C64B-B540-8DAC274AFED3}"/>
                </a:ext>
              </a:extLst>
            </p:cNvPr>
            <p:cNvSpPr/>
            <p:nvPr/>
          </p:nvSpPr>
          <p:spPr>
            <a:xfrm>
              <a:off x="0" y="6393851"/>
              <a:ext cx="2650603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Introduction</a:t>
              </a:r>
              <a:endParaRPr kumimoji="1" lang="zh-CN" altLang="en-US" sz="20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2A1F732-659B-224D-84D3-7EE3E45ACF93}"/>
                </a:ext>
              </a:extLst>
            </p:cNvPr>
            <p:cNvSpPr/>
            <p:nvPr/>
          </p:nvSpPr>
          <p:spPr>
            <a:xfrm>
              <a:off x="2650603" y="6393850"/>
              <a:ext cx="2661695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Composition</a:t>
              </a:r>
              <a:endParaRPr kumimoji="1" lang="zh-CN" altLang="en-US" sz="20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F58786-A380-B54C-872B-11A9266BE734}"/>
                </a:ext>
              </a:extLst>
            </p:cNvPr>
            <p:cNvSpPr/>
            <p:nvPr/>
          </p:nvSpPr>
          <p:spPr>
            <a:xfrm>
              <a:off x="5312297" y="6393850"/>
              <a:ext cx="2650603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Mechanism</a:t>
              </a:r>
              <a:endParaRPr kumimoji="1" lang="zh-CN" altLang="en-US" sz="2000" b="1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CAE5001-32D9-994D-951B-6588E3BAFE18}"/>
              </a:ext>
            </a:extLst>
          </p:cNvPr>
          <p:cNvSpPr txBox="1"/>
          <p:nvPr/>
        </p:nvSpPr>
        <p:spPr>
          <a:xfrm>
            <a:off x="325821" y="464150"/>
            <a:ext cx="6853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Aside: Discovery of the Role of </a:t>
            </a:r>
            <a:r>
              <a:rPr kumimoji="1" lang="en-US" altLang="zh-CN" sz="3200" dirty="0" err="1">
                <a:solidFill>
                  <a:prstClr val="black"/>
                </a:solidFill>
                <a:latin typeface="Calibri" panose="020F0502020204030204"/>
                <a:ea typeface="等线" panose="02010600030101010101" pitchFamily="2" charset="-122"/>
              </a:rPr>
              <a:t>tracrRNA</a:t>
            </a:r>
            <a:endParaRPr kumimoji="1"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416949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CRISPR/Cas-derived Genome Editing</a:t>
            </a:r>
          </a:p>
        </p:txBody>
      </p:sp>
    </p:spTree>
    <p:extLst>
      <p:ext uri="{BB962C8B-B14F-4D97-AF65-F5344CB8AC3E}">
        <p14:creationId xmlns:p14="http://schemas.microsoft.com/office/powerpoint/2010/main" val="1785770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66141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Class 2 CRISPR-Cas for Genome Editing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776E9A-5EC6-504C-ADE8-0F5CE1FAB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205" y="1277332"/>
            <a:ext cx="10174774" cy="223097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64CC262-F3C5-EA4C-8A15-71F952657804}"/>
              </a:ext>
            </a:extLst>
          </p:cNvPr>
          <p:cNvSpPr/>
          <p:nvPr/>
        </p:nvSpPr>
        <p:spPr>
          <a:xfrm>
            <a:off x="2311655" y="2732313"/>
            <a:ext cx="821803" cy="7759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EBC4C8-1BC1-3F47-B8EE-1B913AB17732}"/>
              </a:ext>
            </a:extLst>
          </p:cNvPr>
          <p:cNvSpPr/>
          <p:nvPr/>
        </p:nvSpPr>
        <p:spPr>
          <a:xfrm>
            <a:off x="3133459" y="1277331"/>
            <a:ext cx="4166886" cy="22309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B173F6C-9664-EC44-8630-8F392C85AB62}"/>
              </a:ext>
            </a:extLst>
          </p:cNvPr>
          <p:cNvCxnSpPr>
            <a:cxnSpLocks/>
          </p:cNvCxnSpPr>
          <p:nvPr/>
        </p:nvCxnSpPr>
        <p:spPr>
          <a:xfrm>
            <a:off x="7300344" y="3508302"/>
            <a:ext cx="634272" cy="36765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476A1DF-B98B-584A-846D-F1E9FEC08A16}"/>
              </a:ext>
            </a:extLst>
          </p:cNvPr>
          <p:cNvSpPr txBox="1"/>
          <p:nvPr/>
        </p:nvSpPr>
        <p:spPr>
          <a:xfrm>
            <a:off x="7934616" y="3762702"/>
            <a:ext cx="4166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This is why Class 2 CRISPR-Cas systems are selected to manipulate genome.</a:t>
            </a:r>
            <a:endParaRPr kumimoji="1" lang="zh-CN" altLang="en-US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27E806E-AFAB-9A49-ADA3-48AECCECDEB7}"/>
              </a:ext>
            </a:extLst>
          </p:cNvPr>
          <p:cNvCxnSpPr>
            <a:cxnSpLocks/>
          </p:cNvCxnSpPr>
          <p:nvPr/>
        </p:nvCxnSpPr>
        <p:spPr>
          <a:xfrm flipH="1" flipV="1">
            <a:off x="1828801" y="2606719"/>
            <a:ext cx="482854" cy="12559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788EC9-ED52-6A4F-825E-0C94F04BDE84}"/>
              </a:ext>
            </a:extLst>
          </p:cNvPr>
          <p:cNvSpPr txBox="1"/>
          <p:nvPr/>
        </p:nvSpPr>
        <p:spPr>
          <a:xfrm>
            <a:off x="54593" y="2139074"/>
            <a:ext cx="2257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This is why they need to be engineered.</a:t>
            </a:r>
            <a:endParaRPr kumimoji="1" lang="zh-CN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EA2FAC-1D46-7B41-8088-03EFABC1559D}"/>
              </a:ext>
            </a:extLst>
          </p:cNvPr>
          <p:cNvSpPr txBox="1"/>
          <p:nvPr/>
        </p:nvSpPr>
        <p:spPr>
          <a:xfrm>
            <a:off x="325821" y="4224367"/>
            <a:ext cx="7235038" cy="1891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Within class 2, Cas9 and Cas12 are the most widely used nucleases in the context of genome editing.</a:t>
            </a:r>
            <a:endParaRPr lang="en-US" b="0" i="0" u="none" strike="noStrike" dirty="0">
              <a:solidFill>
                <a:srgbClr val="000000"/>
              </a:solidFill>
              <a:effectLst/>
              <a:latin typeface="-webkit-standard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By default, our discussion below will mainly focus on Cas9 and Cas12 and related genome editing toolkits.</a:t>
            </a:r>
            <a:endParaRPr kumimoji="1" lang="en-CN" altLang="zh-CN" sz="2000" dirty="0"/>
          </a:p>
        </p:txBody>
      </p:sp>
    </p:spTree>
    <p:extLst>
      <p:ext uri="{BB962C8B-B14F-4D97-AF65-F5344CB8AC3E}">
        <p14:creationId xmlns:p14="http://schemas.microsoft.com/office/powerpoint/2010/main" val="3499025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81786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Engineer Class 2 CRISPR-Cas for Genome Editing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15693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8582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Nucleases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26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Nucleases</a:t>
              </a:r>
              <a:endParaRPr kumimoji="1" lang="zh-CN" altLang="en-US" sz="2000" b="1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Transposases/Recombinases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706815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2130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Base Editors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27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Base Editors</a:t>
              </a:r>
              <a:endParaRPr kumimoji="1" lang="zh-CN" altLang="en-US" sz="2000" b="1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Transposases/Recombinases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453238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45660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Transposes/Recombinases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28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Transposases/Recombinases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Prime Editors</a:t>
              </a:r>
              <a:endParaRPr kumimoji="1"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467259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24102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Prime Editors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02872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29</a:t>
            </a:fld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C774D4-7512-9149-A01B-49E452622E6B}"/>
              </a:ext>
            </a:extLst>
          </p:cNvPr>
          <p:cNvGrpSpPr/>
          <p:nvPr/>
        </p:nvGrpSpPr>
        <p:grpSpPr>
          <a:xfrm>
            <a:off x="-2" y="6393850"/>
            <a:ext cx="12192001" cy="464150"/>
            <a:chOff x="-1" y="6393850"/>
            <a:chExt cx="9399184" cy="4641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024AE81-3029-7947-9ABF-B46496598BFE}"/>
                </a:ext>
              </a:extLst>
            </p:cNvPr>
            <p:cNvSpPr/>
            <p:nvPr/>
          </p:nvSpPr>
          <p:spPr>
            <a:xfrm>
              <a:off x="-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Nucleases</a:t>
              </a:r>
              <a:endParaRPr kumimoji="1" lang="zh-CN" altLang="en-US" sz="20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F5CB423-90A9-784B-A2AD-94F04E57B41F}"/>
                </a:ext>
              </a:extLst>
            </p:cNvPr>
            <p:cNvSpPr/>
            <p:nvPr/>
          </p:nvSpPr>
          <p:spPr>
            <a:xfrm>
              <a:off x="2349795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dirty="0"/>
                <a:t>Base Editors</a:t>
              </a:r>
              <a:endParaRPr kumimoji="1" lang="zh-CN" altLang="en-US" sz="200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5CDFD0C-E607-7745-B18C-D019930DD3F3}"/>
                </a:ext>
              </a:extLst>
            </p:cNvPr>
            <p:cNvSpPr/>
            <p:nvPr/>
          </p:nvSpPr>
          <p:spPr>
            <a:xfrm>
              <a:off x="4699591" y="6393850"/>
              <a:ext cx="2349796" cy="464150"/>
            </a:xfrm>
            <a:prstGeom prst="rect">
              <a:avLst/>
            </a:prstGeom>
            <a:solidFill>
              <a:schemeClr val="accent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bg1"/>
                  </a:solidFill>
                  <a:latin typeface="Calibri" panose="020F0502020204030204"/>
                  <a:ea typeface="等线" panose="02010600030101010101" pitchFamily="2" charset="-122"/>
                </a:rPr>
                <a:t>Transposases/Recombinases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3353DF-7A57-F04F-BE45-7D2DBE611ECE}"/>
                </a:ext>
              </a:extLst>
            </p:cNvPr>
            <p:cNvSpPr/>
            <p:nvPr/>
          </p:nvSpPr>
          <p:spPr>
            <a:xfrm>
              <a:off x="7049387" y="6393850"/>
              <a:ext cx="2349796" cy="46415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000" b="1" dirty="0"/>
                <a:t>Prime Editors</a:t>
              </a:r>
              <a:endParaRPr kumimoji="1" lang="zh-CN" altLang="en-US" sz="20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5720596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dirty="0"/>
              <a:t>Future of Genome Editing</a:t>
            </a:r>
          </a:p>
        </p:txBody>
      </p:sp>
    </p:spTree>
    <p:extLst>
      <p:ext uri="{BB962C8B-B14F-4D97-AF65-F5344CB8AC3E}">
        <p14:creationId xmlns:p14="http://schemas.microsoft.com/office/powerpoint/2010/main" val="34664788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8526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Reference</a:t>
            </a:r>
            <a:endParaRPr kumimoji="1"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8268088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E00585-1364-6542-9D0E-647778AED91E}"/>
              </a:ext>
            </a:extLst>
          </p:cNvPr>
          <p:cNvSpPr txBox="1"/>
          <p:nvPr/>
        </p:nvSpPr>
        <p:spPr>
          <a:xfrm>
            <a:off x="325821" y="464150"/>
            <a:ext cx="12761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/>
              <a:t>Next…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CA4BA-E573-EF41-A9EE-F0FE45A1E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234E10DA-A4B5-3C41-BB56-C5CB7549EC2B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3590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89B2C29-6C36-CC44-A825-1EB7BA0CADF3}"/>
              </a:ext>
            </a:extLst>
          </p:cNvPr>
          <p:cNvSpPr txBox="1"/>
          <p:nvPr/>
        </p:nvSpPr>
        <p:spPr>
          <a:xfrm>
            <a:off x="2399176" y="2875002"/>
            <a:ext cx="581005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6600" dirty="0"/>
              <a:t>Thank</a:t>
            </a:r>
            <a:r>
              <a:rPr kumimoji="1" lang="zh-CN" altLang="en-US" sz="6600" dirty="0"/>
              <a:t> </a:t>
            </a:r>
            <a:r>
              <a:rPr kumimoji="1" lang="en-US" altLang="zh-CN" sz="6600" dirty="0"/>
              <a:t>you!</a:t>
            </a:r>
            <a:endParaRPr kumimoji="1" lang="zh-CN" altLang="en-US" sz="66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D235D95-BECE-4440-B239-5795A3025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6136" y="2585468"/>
            <a:ext cx="1854887" cy="1687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65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A090842-1323-DF41-83EF-BD22BD676106}"/>
              </a:ext>
            </a:extLst>
          </p:cNvPr>
          <p:cNvSpPr txBox="1">
            <a:spLocks/>
          </p:cNvSpPr>
          <p:nvPr/>
        </p:nvSpPr>
        <p:spPr>
          <a:xfrm>
            <a:off x="1524000" y="3183741"/>
            <a:ext cx="9144000" cy="70427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000" b="1" i="1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1504864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19156</TotalTime>
  <Words>1548</Words>
  <Application>Microsoft Macintosh PowerPoint</Application>
  <PresentationFormat>Widescreen</PresentationFormat>
  <Paragraphs>329</Paragraphs>
  <Slides>34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4" baseType="lpstr">
      <vt:lpstr>-webkit-standard</vt:lpstr>
      <vt:lpstr>Alfred Serif</vt:lpstr>
      <vt:lpstr>BlinkMacSystemFont</vt:lpstr>
      <vt:lpstr>system-ui</vt:lpstr>
      <vt:lpstr>Arial</vt:lpstr>
      <vt:lpstr>Calibri</vt:lpstr>
      <vt:lpstr>Calibri Light</vt:lpstr>
      <vt:lpstr>Cambria Math</vt:lpstr>
      <vt:lpstr>Wingdings</vt:lpstr>
      <vt:lpstr>Office Theme</vt:lpstr>
      <vt:lpstr>Genome Editing: Past, Present and Future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刘 沛雨</dc:creator>
  <cp:lastModifiedBy>刘 沛雨</cp:lastModifiedBy>
  <cp:revision>502</cp:revision>
  <dcterms:created xsi:type="dcterms:W3CDTF">2024-09-08T14:28:50Z</dcterms:created>
  <dcterms:modified xsi:type="dcterms:W3CDTF">2025-04-05T15:32:39Z</dcterms:modified>
</cp:coreProperties>
</file>