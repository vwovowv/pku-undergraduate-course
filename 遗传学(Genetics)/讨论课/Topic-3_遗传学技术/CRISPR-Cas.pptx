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6"/>
  </p:notesMasterIdLst>
  <p:sldIdLst>
    <p:sldId id="425" r:id="rId2"/>
    <p:sldId id="448" r:id="rId3"/>
    <p:sldId id="457" r:id="rId4"/>
    <p:sldId id="480" r:id="rId5"/>
    <p:sldId id="485" r:id="rId6"/>
    <p:sldId id="484" r:id="rId7"/>
    <p:sldId id="462" r:id="rId8"/>
    <p:sldId id="481" r:id="rId9"/>
    <p:sldId id="463" r:id="rId10"/>
    <p:sldId id="470" r:id="rId11"/>
    <p:sldId id="479" r:id="rId12"/>
    <p:sldId id="452" r:id="rId13"/>
    <p:sldId id="487" r:id="rId14"/>
    <p:sldId id="492" r:id="rId15"/>
    <p:sldId id="459" r:id="rId16"/>
    <p:sldId id="495" r:id="rId17"/>
    <p:sldId id="494" r:id="rId18"/>
    <p:sldId id="496" r:id="rId19"/>
    <p:sldId id="497" r:id="rId20"/>
    <p:sldId id="498" r:id="rId21"/>
    <p:sldId id="500" r:id="rId22"/>
    <p:sldId id="502" r:id="rId23"/>
    <p:sldId id="464" r:id="rId24"/>
    <p:sldId id="499" r:id="rId25"/>
    <p:sldId id="466" r:id="rId26"/>
    <p:sldId id="472" r:id="rId27"/>
    <p:sldId id="473" r:id="rId28"/>
    <p:sldId id="474" r:id="rId29"/>
    <p:sldId id="475" r:id="rId30"/>
    <p:sldId id="489" r:id="rId31"/>
    <p:sldId id="449" r:id="rId32"/>
    <p:sldId id="490" r:id="rId33"/>
    <p:sldId id="277" r:id="rId34"/>
    <p:sldId id="467" r:id="rId35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FFAE47"/>
    <a:srgbClr val="715FE0"/>
    <a:srgbClr val="A500A5"/>
    <a:srgbClr val="99FFCC"/>
    <a:srgbClr val="032F62"/>
    <a:srgbClr val="D83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570"/>
    <p:restoredTop sz="81258"/>
  </p:normalViewPr>
  <p:slideViewPr>
    <p:cSldViewPr snapToGrid="0" snapToObjects="1">
      <p:cViewPr>
        <p:scale>
          <a:sx n="94" d="100"/>
          <a:sy n="94" d="100"/>
        </p:scale>
        <p:origin x="49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2025/4/5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384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7059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Protocols and Apps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852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83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85072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TODO</a:t>
            </a:r>
            <a:r>
              <a:rPr kumimoji="1" lang="zh-CN" altLang="en-US" dirty="0"/>
              <a:t>：补充信息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40510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8786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331921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85133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9399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AE151-E8A8-E941-8185-5C82CF767F1D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18BB-4624-F549-B5B2-F3A6AFBD1386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EA6DC0-7002-3D41-871E-6A46BD026AD7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825FD-0353-D24E-92F3-965EF60F178F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CEAC0-DAA0-0541-99E4-1F63993A26F9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33E27-1ED9-E544-9569-1A5FBD27B944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60A5F-ABE0-614A-B33A-5093099DA492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904D2-8032-424F-9989-3BB75492C9F0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F47BD-DA07-B84C-B18C-005716E52A11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D6F0F-E760-474C-BA47-96878804B47C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2ADF-8BB3-CA4D-A291-1FC4FDC229F1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95BF6-8395-B948-A565-36B08AC42D31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53F7-14A7-E740-B5E2-36C20736F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41087"/>
            <a:ext cx="9144000" cy="2387600"/>
          </a:xfrm>
        </p:spPr>
        <p:txBody>
          <a:bodyPr>
            <a:noAutofit/>
          </a:bodyPr>
          <a:lstStyle/>
          <a:p>
            <a:r>
              <a:rPr lang="en-US" sz="4000" b="1" dirty="0"/>
              <a:t>Genome Editing: Past, Present and Future</a:t>
            </a:r>
          </a:p>
        </p:txBody>
      </p:sp>
    </p:spTree>
    <p:extLst>
      <p:ext uri="{BB962C8B-B14F-4D97-AF65-F5344CB8AC3E}">
        <p14:creationId xmlns:p14="http://schemas.microsoft.com/office/powerpoint/2010/main" val="2706249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Outline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6B7C4-301B-EC44-9432-0558C55E4E1B}"/>
              </a:ext>
            </a:extLst>
          </p:cNvPr>
          <p:cNvSpPr txBox="1"/>
          <p:nvPr/>
        </p:nvSpPr>
        <p:spPr>
          <a:xfrm>
            <a:off x="415515" y="1048925"/>
            <a:ext cx="5197877" cy="6097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Genome Editing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CRISPR-Cas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ZFN&amp;TALEN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CRISPR-Cas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Mechanism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CRISPR-Cas-derived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Base editors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Transposases/recombinases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Prime editors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Future of Genome Editing</a:t>
            </a:r>
            <a:endParaRPr kumimoji="1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4532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Genome Editing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038255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9553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 Basics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7130608" cy="5220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Concepts?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Goals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 </a:t>
            </a:r>
            <a:r>
              <a:rPr kumimoji="1" lang="en-CN" altLang="zh-CN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precision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: all sites edited are targeted sites</a:t>
            </a:r>
            <a:endParaRPr kumimoji="1" lang="en-CN" altLang="zh-CN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High </a:t>
            </a:r>
            <a:r>
              <a:rPr kumimoji="1" lang="en-CN" altLang="zh-CN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recall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 targeted sites are edited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Zinc-finger nucleases (</a:t>
            </a:r>
            <a:r>
              <a:rPr kumimoji="1" lang="en-CN" altLang="zh-CN" dirty="0"/>
              <a:t>ZFN)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Transcription activator-like effector nucleases (TALENs)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CRISPR-Cas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Possible outcomes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Indels introduced by DSB-induced NHEJ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Gene recombination introduced by DSB-induced HDR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Other non-DSB-induced outcomes (e.g., base editing)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A025E-B79A-A047-8938-087FB20F7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231177"/>
            <a:ext cx="5482730" cy="3535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1D1F86-35E4-9940-8ACE-71E6E87BFB7E}"/>
              </a:ext>
            </a:extLst>
          </p:cNvPr>
          <p:cNvSpPr txBox="1"/>
          <p:nvPr/>
        </p:nvSpPr>
        <p:spPr>
          <a:xfrm>
            <a:off x="6667500" y="4805636"/>
            <a:ext cx="49358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/>
              <a:t>DSB-induced genome-editing outcomes.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Indels and inversion introduced by NHEJ in the absence of a homologous donor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template DNA.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Recombination introduced by HDR in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the presence of the donor DNA.</a:t>
            </a:r>
          </a:p>
          <a:p>
            <a:r>
              <a:rPr kumimoji="1" lang="en-US" altLang="zh-CN" sz="1400" dirty="0"/>
              <a:t>Lightnings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represent DSB sites.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74484-218F-7B4E-9D58-C3DE5989BF41}"/>
              </a:ext>
            </a:extLst>
          </p:cNvPr>
          <p:cNvSpPr txBox="1"/>
          <p:nvPr/>
        </p:nvSpPr>
        <p:spPr>
          <a:xfrm>
            <a:off x="0" y="6444604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18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3281B-F852-9C49-8837-E02F9D79CE29}"/>
              </a:ext>
            </a:extLst>
          </p:cNvPr>
          <p:cNvSpPr txBox="1"/>
          <p:nvPr/>
        </p:nvSpPr>
        <p:spPr>
          <a:xfrm>
            <a:off x="325821" y="464150"/>
            <a:ext cx="45680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 Workflow</a:t>
            </a:r>
          </a:p>
        </p:txBody>
      </p:sp>
      <p:pic>
        <p:nvPicPr>
          <p:cNvPr id="1028" name="Picture 4" descr="Fig. 2">
            <a:extLst>
              <a:ext uri="{FF2B5EF4-FFF2-40B4-BE49-F238E27FC236}">
                <a16:creationId xmlns:a16="http://schemas.microsoft.com/office/drawing/2014/main" id="{D3244E41-0891-6C43-B0E7-5F8A6C13B1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71" t="52867" r="48958" b="41423"/>
          <a:stretch/>
        </p:blipFill>
        <p:spPr bwMode="auto">
          <a:xfrm>
            <a:off x="406102" y="2417780"/>
            <a:ext cx="14351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54AF4C-8278-184A-915F-DFD79DAA179E}"/>
              </a:ext>
            </a:extLst>
          </p:cNvPr>
          <p:cNvSpPr txBox="1"/>
          <p:nvPr/>
        </p:nvSpPr>
        <p:spPr>
          <a:xfrm>
            <a:off x="146205" y="2798780"/>
            <a:ext cx="1865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target sequencing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975CC0-C486-0147-ABDD-FA9EB6D2B277}"/>
              </a:ext>
            </a:extLst>
          </p:cNvPr>
          <p:cNvCxnSpPr>
            <a:cxnSpLocks/>
          </p:cNvCxnSpPr>
          <p:nvPr/>
        </p:nvCxnSpPr>
        <p:spPr>
          <a:xfrm>
            <a:off x="2138331" y="257018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260C00-7286-0B4F-836C-47C5C94B5E25}"/>
              </a:ext>
            </a:extLst>
          </p:cNvPr>
          <p:cNvSpPr txBox="1"/>
          <p:nvPr/>
        </p:nvSpPr>
        <p:spPr>
          <a:xfrm>
            <a:off x="2718733" y="2991530"/>
            <a:ext cx="2006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editor design</a:t>
            </a:r>
          </a:p>
          <a:p>
            <a:pPr algn="ctr"/>
            <a:r>
              <a:rPr kumimoji="1" lang="en-US" altLang="zh-CN" dirty="0"/>
              <a:t>vector construction</a:t>
            </a:r>
            <a:endParaRPr kumimoji="1" lang="zh-CN" alt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28D5854-FEA7-FA4C-B586-CA8767F970FA}"/>
              </a:ext>
            </a:extLst>
          </p:cNvPr>
          <p:cNvCxnSpPr>
            <a:cxnSpLocks/>
          </p:cNvCxnSpPr>
          <p:nvPr/>
        </p:nvCxnSpPr>
        <p:spPr>
          <a:xfrm>
            <a:off x="4714250" y="25320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A206DAB-768F-F94B-B211-8F3420D8A684}"/>
              </a:ext>
            </a:extLst>
          </p:cNvPr>
          <p:cNvSpPr txBox="1"/>
          <p:nvPr/>
        </p:nvSpPr>
        <p:spPr>
          <a:xfrm>
            <a:off x="8984807" y="3134816"/>
            <a:ext cx="802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screen</a:t>
            </a:r>
            <a:endParaRPr kumimoji="1" lang="zh-CN" altLang="en-US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B52C6A6-4C24-BA46-88B5-07E4E8EBB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752" y="1418294"/>
            <a:ext cx="1659378" cy="158229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E620AD9-1133-CA4E-B616-828419B64335}"/>
              </a:ext>
            </a:extLst>
          </p:cNvPr>
          <p:cNvSpPr txBox="1"/>
          <p:nvPr/>
        </p:nvSpPr>
        <p:spPr>
          <a:xfrm>
            <a:off x="6177143" y="3130029"/>
            <a:ext cx="930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delivery</a:t>
            </a:r>
            <a:endParaRPr kumimoji="1" lang="zh-CN" altLang="en-US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842D92C-0854-AD4F-866D-EEC0927FE437}"/>
              </a:ext>
            </a:extLst>
          </p:cNvPr>
          <p:cNvCxnSpPr>
            <a:cxnSpLocks/>
          </p:cNvCxnSpPr>
          <p:nvPr/>
        </p:nvCxnSpPr>
        <p:spPr>
          <a:xfrm>
            <a:off x="7816302" y="25193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3" name="Picture 42">
            <a:extLst>
              <a:ext uri="{FF2B5EF4-FFF2-40B4-BE49-F238E27FC236}">
                <a16:creationId xmlns:a16="http://schemas.microsoft.com/office/drawing/2014/main" id="{51F34EB6-A931-114F-93C6-AEECD8777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72" y="1606415"/>
            <a:ext cx="2006318" cy="138511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AE97190-79C9-F84A-A753-CF17C3F41E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0086" y="2011393"/>
            <a:ext cx="1391457" cy="800087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E444265-B724-4749-AA1D-E8F44F35226E}"/>
              </a:ext>
            </a:extLst>
          </p:cNvPr>
          <p:cNvCxnSpPr>
            <a:cxnSpLocks/>
          </p:cNvCxnSpPr>
          <p:nvPr/>
        </p:nvCxnSpPr>
        <p:spPr>
          <a:xfrm>
            <a:off x="10081543" y="25066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9813FEC-3D8E-A447-8E70-F350C71CF872}"/>
              </a:ext>
            </a:extLst>
          </p:cNvPr>
          <p:cNvSpPr txBox="1"/>
          <p:nvPr/>
        </p:nvSpPr>
        <p:spPr>
          <a:xfrm>
            <a:off x="10952307" y="2011393"/>
            <a:ext cx="1239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used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 research, treatment…</a:t>
            </a:r>
            <a:endParaRPr kumimoji="1" lang="zh-CN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F13188-1CA6-264C-9B85-5BB361996110}"/>
              </a:ext>
            </a:extLst>
          </p:cNvPr>
          <p:cNvSpPr txBox="1"/>
          <p:nvPr/>
        </p:nvSpPr>
        <p:spPr>
          <a:xfrm>
            <a:off x="277586" y="3954483"/>
            <a:ext cx="6457793" cy="2588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In practice, many factors need to be considered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Cell line or animal model?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i="1" dirty="0"/>
              <a:t>In vivo</a:t>
            </a:r>
            <a:r>
              <a:rPr kumimoji="1" lang="en-US" altLang="zh-CN" dirty="0"/>
              <a:t> or </a:t>
            </a:r>
            <a:r>
              <a:rPr kumimoji="1" lang="en-US" altLang="zh-CN" i="1" dirty="0"/>
              <a:t>in vitro</a:t>
            </a:r>
            <a:r>
              <a:rPr kumimoji="1" lang="en-US" altLang="zh-CN" dirty="0"/>
              <a:t>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Unconditional or conditional?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…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Detailed protocols depend on purposes of genome editing.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8157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CRISPR/Cas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744475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78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Zinc-Finger Nucleases (</a:t>
            </a:r>
            <a:r>
              <a:rPr kumimoji="1" lang="en-CN" altLang="zh-CN" sz="3200" dirty="0"/>
              <a:t>ZFN)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85EF36-6A6F-E04E-9AF2-49C11CC69B15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44E56E-D273-0840-AFB3-836B8AAB44F8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E73CA72-D9B2-3043-A53F-9B0A5A9E8A46}"/>
              </a:ext>
            </a:extLst>
          </p:cNvPr>
          <p:cNvSpPr/>
          <p:nvPr/>
        </p:nvSpPr>
        <p:spPr>
          <a:xfrm>
            <a:off x="586136" y="2264182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0BC63-10A7-864E-B589-1131B716F4EC}"/>
              </a:ext>
            </a:extLst>
          </p:cNvPr>
          <p:cNvSpPr txBox="1"/>
          <p:nvPr/>
        </p:nvSpPr>
        <p:spPr>
          <a:xfrm>
            <a:off x="915825" y="2203638"/>
            <a:ext cx="894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</a:t>
            </a:r>
            <a:r>
              <a:rPr kumimoji="1" lang="en-US" altLang="zh-CN" dirty="0"/>
              <a:t>, one of three zinc finger domains of zinc finger proteins (ZFPs)</a:t>
            </a:r>
            <a:endParaRPr kumimoji="1" lang="zh-CN" alt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44F431-8431-BC42-B7E3-03CE1CA1BB86}"/>
              </a:ext>
            </a:extLst>
          </p:cNvPr>
          <p:cNvCxnSpPr>
            <a:cxnSpLocks/>
          </p:cNvCxnSpPr>
          <p:nvPr/>
        </p:nvCxnSpPr>
        <p:spPr>
          <a:xfrm flipH="1">
            <a:off x="416717" y="2549220"/>
            <a:ext cx="226405" cy="5623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70144C-85B4-094E-8AAA-1EE6BD8DDA58}"/>
              </a:ext>
            </a:extLst>
          </p:cNvPr>
          <p:cNvGrpSpPr/>
          <p:nvPr/>
        </p:nvGrpSpPr>
        <p:grpSpPr>
          <a:xfrm>
            <a:off x="516731" y="2784991"/>
            <a:ext cx="1503009" cy="1412125"/>
            <a:chOff x="525816" y="3281058"/>
            <a:chExt cx="986512" cy="1070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DC8CBB2-8CAC-4A4A-B0C5-3DE913202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136" y="3281058"/>
              <a:ext cx="926192" cy="107091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99CD4E0-E94D-8843-8058-FA3140F425DC}"/>
                </a:ext>
              </a:extLst>
            </p:cNvPr>
            <p:cNvSpPr/>
            <p:nvPr/>
          </p:nvSpPr>
          <p:spPr>
            <a:xfrm rot="2350952">
              <a:off x="525816" y="3906252"/>
              <a:ext cx="849002" cy="285750"/>
            </a:xfrm>
            <a:prstGeom prst="rect">
              <a:avLst/>
            </a:prstGeom>
            <a:solidFill>
              <a:schemeClr val="accent1">
                <a:alpha val="401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77C112-5A3E-B641-BF9C-8E985EA41C4E}"/>
              </a:ext>
            </a:extLst>
          </p:cNvPr>
          <p:cNvCxnSpPr>
            <a:cxnSpLocks/>
          </p:cNvCxnSpPr>
          <p:nvPr/>
        </p:nvCxnSpPr>
        <p:spPr>
          <a:xfrm>
            <a:off x="902554" y="2501959"/>
            <a:ext cx="2151810" cy="29652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0B7170F-56CE-0B4A-9B97-BBF955E768A6}"/>
              </a:ext>
            </a:extLst>
          </p:cNvPr>
          <p:cNvSpPr txBox="1"/>
          <p:nvPr/>
        </p:nvSpPr>
        <p:spPr>
          <a:xfrm>
            <a:off x="325821" y="4284706"/>
            <a:ext cx="4102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30 residues, organized in </a:t>
            </a:r>
            <a:r>
              <a:rPr kumimoji="1" lang="el-GR" altLang="zh-CN" dirty="0" err="1"/>
              <a:t>ββα</a:t>
            </a:r>
            <a:r>
              <a:rPr kumimoji="1" lang="en-US" altLang="zh-CN" dirty="0"/>
              <a:t> motif</a:t>
            </a:r>
            <a:endParaRPr kumimoji="1"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DC7F18-D86E-1E47-9FAD-927763BCFD4A}"/>
              </a:ext>
            </a:extLst>
          </p:cNvPr>
          <p:cNvSpPr txBox="1"/>
          <p:nvPr/>
        </p:nvSpPr>
        <p:spPr>
          <a:xfrm>
            <a:off x="325819" y="4602727"/>
            <a:ext cx="7793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TGEKPYK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PE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GKSFS</a:t>
            </a:r>
            <a:r>
              <a:rPr kumimoji="1" lang="en-US" altLang="zh-CN" dirty="0">
                <a:solidFill>
                  <a:schemeClr val="accent1"/>
                </a:solidFill>
              </a:rPr>
              <a:t>XXXXXXX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  <a:r>
              <a:rPr kumimoji="1" lang="en-US" altLang="zh-CN" dirty="0"/>
              <a:t>QRT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</a:p>
          <a:p>
            <a:r>
              <a:rPr kumimoji="1" lang="en-US" altLang="zh-CN" dirty="0"/>
              <a:t>Cys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-His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 zinc finger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 could be any/one of most amino acid.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XXXXXXX (</a:t>
            </a:r>
            <a:r>
              <a:rPr kumimoji="1" lang="en-US" altLang="zh-CN" dirty="0">
                <a:solidFill>
                  <a:srgbClr val="FF0000"/>
                </a:solidFill>
              </a:rPr>
              <a:t>7 amino acids</a:t>
            </a:r>
            <a:r>
              <a:rPr kumimoji="1" lang="en-US" altLang="zh-CN" dirty="0">
                <a:solidFill>
                  <a:schemeClr val="accent1"/>
                </a:solidFill>
              </a:rPr>
              <a:t>)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3 bps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5EFA0B1-7E3B-454F-B841-CDCC286E576D}"/>
              </a:ext>
            </a:extLst>
          </p:cNvPr>
          <p:cNvCxnSpPr/>
          <p:nvPr/>
        </p:nvCxnSpPr>
        <p:spPr>
          <a:xfrm>
            <a:off x="5751752" y="3758003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2D7F31-2E50-1144-B946-DB82C412AD14}"/>
              </a:ext>
            </a:extLst>
          </p:cNvPr>
          <p:cNvCxnSpPr/>
          <p:nvPr/>
        </p:nvCxnSpPr>
        <p:spPr>
          <a:xfrm>
            <a:off x="5751752" y="4073959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A280CCC-9842-4B4C-AC0B-5C1AD2CB9C68}"/>
              </a:ext>
            </a:extLst>
          </p:cNvPr>
          <p:cNvCxnSpPr>
            <a:cxnSpLocks/>
          </p:cNvCxnSpPr>
          <p:nvPr/>
        </p:nvCxnSpPr>
        <p:spPr>
          <a:xfrm>
            <a:off x="593833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CB37102-FE96-A944-BB95-A91B74A2A52C}"/>
              </a:ext>
            </a:extLst>
          </p:cNvPr>
          <p:cNvCxnSpPr>
            <a:cxnSpLocks/>
          </p:cNvCxnSpPr>
          <p:nvPr/>
        </p:nvCxnSpPr>
        <p:spPr>
          <a:xfrm>
            <a:off x="60831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822E18-2AEA-A347-B860-8699FBFA9F76}"/>
              </a:ext>
            </a:extLst>
          </p:cNvPr>
          <p:cNvCxnSpPr>
            <a:cxnSpLocks/>
          </p:cNvCxnSpPr>
          <p:nvPr/>
        </p:nvCxnSpPr>
        <p:spPr>
          <a:xfrm>
            <a:off x="622027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098547-247A-AA41-9976-CDBF40F9A835}"/>
              </a:ext>
            </a:extLst>
          </p:cNvPr>
          <p:cNvCxnSpPr>
            <a:cxnSpLocks/>
          </p:cNvCxnSpPr>
          <p:nvPr/>
        </p:nvCxnSpPr>
        <p:spPr>
          <a:xfrm>
            <a:off x="63498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18EFA67-7F0E-2B48-BA10-B55B9EA19066}"/>
              </a:ext>
            </a:extLst>
          </p:cNvPr>
          <p:cNvCxnSpPr>
            <a:cxnSpLocks/>
          </p:cNvCxnSpPr>
          <p:nvPr/>
        </p:nvCxnSpPr>
        <p:spPr>
          <a:xfrm>
            <a:off x="647935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D7C89D-889B-3F43-9141-D8258E80E620}"/>
              </a:ext>
            </a:extLst>
          </p:cNvPr>
          <p:cNvCxnSpPr>
            <a:cxnSpLocks/>
          </p:cNvCxnSpPr>
          <p:nvPr/>
        </p:nvCxnSpPr>
        <p:spPr>
          <a:xfrm>
            <a:off x="661721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A706F8C-6D3F-1E40-B699-910C22F557A1}"/>
              </a:ext>
            </a:extLst>
          </p:cNvPr>
          <p:cNvCxnSpPr>
            <a:cxnSpLocks/>
          </p:cNvCxnSpPr>
          <p:nvPr/>
        </p:nvCxnSpPr>
        <p:spPr>
          <a:xfrm>
            <a:off x="67619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9F8401F-B370-D442-BB1E-1CC3EE6EE25B}"/>
              </a:ext>
            </a:extLst>
          </p:cNvPr>
          <p:cNvCxnSpPr>
            <a:cxnSpLocks/>
          </p:cNvCxnSpPr>
          <p:nvPr/>
        </p:nvCxnSpPr>
        <p:spPr>
          <a:xfrm>
            <a:off x="689915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107B9B-9A95-3E44-B6F1-A0307D6452DA}"/>
              </a:ext>
            </a:extLst>
          </p:cNvPr>
          <p:cNvCxnSpPr>
            <a:cxnSpLocks/>
          </p:cNvCxnSpPr>
          <p:nvPr/>
        </p:nvCxnSpPr>
        <p:spPr>
          <a:xfrm>
            <a:off x="70286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55DEBDD-F0FA-644B-B1FB-9007065D29AA}"/>
              </a:ext>
            </a:extLst>
          </p:cNvPr>
          <p:cNvCxnSpPr>
            <a:cxnSpLocks/>
          </p:cNvCxnSpPr>
          <p:nvPr/>
        </p:nvCxnSpPr>
        <p:spPr>
          <a:xfrm>
            <a:off x="715823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637E05-7C12-354E-AE11-FDA48A4CC7E8}"/>
              </a:ext>
            </a:extLst>
          </p:cNvPr>
          <p:cNvCxnSpPr>
            <a:cxnSpLocks/>
          </p:cNvCxnSpPr>
          <p:nvPr/>
        </p:nvCxnSpPr>
        <p:spPr>
          <a:xfrm>
            <a:off x="729608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DE3D4-F8D7-9F40-BABD-3EDBFBDBEA9E}"/>
              </a:ext>
            </a:extLst>
          </p:cNvPr>
          <p:cNvCxnSpPr>
            <a:cxnSpLocks/>
          </p:cNvCxnSpPr>
          <p:nvPr/>
        </p:nvCxnSpPr>
        <p:spPr>
          <a:xfrm>
            <a:off x="74408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30FAF1-D6DA-634A-B6D2-E6880E5DB0CE}"/>
              </a:ext>
            </a:extLst>
          </p:cNvPr>
          <p:cNvCxnSpPr>
            <a:cxnSpLocks/>
          </p:cNvCxnSpPr>
          <p:nvPr/>
        </p:nvCxnSpPr>
        <p:spPr>
          <a:xfrm>
            <a:off x="757802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9CD73B3-1844-4343-B6A8-D0ECD7ED6F2D}"/>
              </a:ext>
            </a:extLst>
          </p:cNvPr>
          <p:cNvCxnSpPr>
            <a:cxnSpLocks/>
          </p:cNvCxnSpPr>
          <p:nvPr/>
        </p:nvCxnSpPr>
        <p:spPr>
          <a:xfrm>
            <a:off x="77075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8532BD-CA16-A049-9EE9-624883C0E707}"/>
              </a:ext>
            </a:extLst>
          </p:cNvPr>
          <p:cNvCxnSpPr>
            <a:cxnSpLocks/>
          </p:cNvCxnSpPr>
          <p:nvPr/>
        </p:nvCxnSpPr>
        <p:spPr>
          <a:xfrm>
            <a:off x="783710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88DFE8D-0A15-454E-A5BD-5D77CDCFDD0B}"/>
              </a:ext>
            </a:extLst>
          </p:cNvPr>
          <p:cNvCxnSpPr>
            <a:cxnSpLocks/>
          </p:cNvCxnSpPr>
          <p:nvPr/>
        </p:nvCxnSpPr>
        <p:spPr>
          <a:xfrm>
            <a:off x="797495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1330D54-FA49-A940-9984-42EB25D050CC}"/>
              </a:ext>
            </a:extLst>
          </p:cNvPr>
          <p:cNvCxnSpPr>
            <a:cxnSpLocks/>
          </p:cNvCxnSpPr>
          <p:nvPr/>
        </p:nvCxnSpPr>
        <p:spPr>
          <a:xfrm>
            <a:off x="81197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7C16CE-AD66-3244-A585-37B5F721B810}"/>
              </a:ext>
            </a:extLst>
          </p:cNvPr>
          <p:cNvCxnSpPr>
            <a:cxnSpLocks/>
          </p:cNvCxnSpPr>
          <p:nvPr/>
        </p:nvCxnSpPr>
        <p:spPr>
          <a:xfrm>
            <a:off x="825689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13177CB-D233-A140-B3A2-7EC0EAE7484C}"/>
              </a:ext>
            </a:extLst>
          </p:cNvPr>
          <p:cNvCxnSpPr>
            <a:cxnSpLocks/>
          </p:cNvCxnSpPr>
          <p:nvPr/>
        </p:nvCxnSpPr>
        <p:spPr>
          <a:xfrm>
            <a:off x="83864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3F7FCA-0BBB-574B-9144-11068A2AB3D6}"/>
              </a:ext>
            </a:extLst>
          </p:cNvPr>
          <p:cNvCxnSpPr>
            <a:cxnSpLocks/>
          </p:cNvCxnSpPr>
          <p:nvPr/>
        </p:nvCxnSpPr>
        <p:spPr>
          <a:xfrm>
            <a:off x="851597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C9268C3-0421-9643-840C-E404482CFE08}"/>
              </a:ext>
            </a:extLst>
          </p:cNvPr>
          <p:cNvCxnSpPr>
            <a:cxnSpLocks/>
          </p:cNvCxnSpPr>
          <p:nvPr/>
        </p:nvCxnSpPr>
        <p:spPr>
          <a:xfrm>
            <a:off x="865383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B935C4-7A1C-484A-A38F-BD96E714C226}"/>
              </a:ext>
            </a:extLst>
          </p:cNvPr>
          <p:cNvCxnSpPr>
            <a:cxnSpLocks/>
          </p:cNvCxnSpPr>
          <p:nvPr/>
        </p:nvCxnSpPr>
        <p:spPr>
          <a:xfrm>
            <a:off x="87986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D8344FB-CA2B-B64D-AE02-64FD9DC36286}"/>
              </a:ext>
            </a:extLst>
          </p:cNvPr>
          <p:cNvCxnSpPr>
            <a:cxnSpLocks/>
          </p:cNvCxnSpPr>
          <p:nvPr/>
        </p:nvCxnSpPr>
        <p:spPr>
          <a:xfrm>
            <a:off x="893577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A47626-5852-1D47-9019-3F27A4C2CD0C}"/>
              </a:ext>
            </a:extLst>
          </p:cNvPr>
          <p:cNvCxnSpPr>
            <a:cxnSpLocks/>
          </p:cNvCxnSpPr>
          <p:nvPr/>
        </p:nvCxnSpPr>
        <p:spPr>
          <a:xfrm>
            <a:off x="90653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46D5769-BF89-7D47-A081-07F6219037CF}"/>
              </a:ext>
            </a:extLst>
          </p:cNvPr>
          <p:cNvCxnSpPr>
            <a:cxnSpLocks/>
          </p:cNvCxnSpPr>
          <p:nvPr/>
        </p:nvCxnSpPr>
        <p:spPr>
          <a:xfrm>
            <a:off x="919485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61F6326-1734-5C4B-898A-8FFCBA54CDC7}"/>
              </a:ext>
            </a:extLst>
          </p:cNvPr>
          <p:cNvCxnSpPr>
            <a:cxnSpLocks/>
          </p:cNvCxnSpPr>
          <p:nvPr/>
        </p:nvCxnSpPr>
        <p:spPr>
          <a:xfrm>
            <a:off x="93250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7720000-50BB-0F4B-A8B2-A28D8CCB557E}"/>
              </a:ext>
            </a:extLst>
          </p:cNvPr>
          <p:cNvCxnSpPr>
            <a:cxnSpLocks/>
          </p:cNvCxnSpPr>
          <p:nvPr/>
        </p:nvCxnSpPr>
        <p:spPr>
          <a:xfrm>
            <a:off x="946224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A97B87D-5D3E-7846-B3DB-8A12AAF36C56}"/>
              </a:ext>
            </a:extLst>
          </p:cNvPr>
          <p:cNvCxnSpPr>
            <a:cxnSpLocks/>
          </p:cNvCxnSpPr>
          <p:nvPr/>
        </p:nvCxnSpPr>
        <p:spPr>
          <a:xfrm>
            <a:off x="95917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010ED17-DCF5-EA4B-A8C2-82A6DCE36CA0}"/>
              </a:ext>
            </a:extLst>
          </p:cNvPr>
          <p:cNvCxnSpPr>
            <a:cxnSpLocks/>
          </p:cNvCxnSpPr>
          <p:nvPr/>
        </p:nvCxnSpPr>
        <p:spPr>
          <a:xfrm>
            <a:off x="9721323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4C99176-A41B-A841-B5B5-6E449FE3C4F0}"/>
              </a:ext>
            </a:extLst>
          </p:cNvPr>
          <p:cNvCxnSpPr>
            <a:cxnSpLocks/>
          </p:cNvCxnSpPr>
          <p:nvPr/>
        </p:nvCxnSpPr>
        <p:spPr>
          <a:xfrm>
            <a:off x="985917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28F7442-8E65-314E-8DF1-C44408031E09}"/>
              </a:ext>
            </a:extLst>
          </p:cNvPr>
          <p:cNvCxnSpPr>
            <a:cxnSpLocks/>
          </p:cNvCxnSpPr>
          <p:nvPr/>
        </p:nvCxnSpPr>
        <p:spPr>
          <a:xfrm>
            <a:off x="100039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6676F29-446C-674D-B4BB-756982DB884E}"/>
              </a:ext>
            </a:extLst>
          </p:cNvPr>
          <p:cNvCxnSpPr>
            <a:cxnSpLocks/>
          </p:cNvCxnSpPr>
          <p:nvPr/>
        </p:nvCxnSpPr>
        <p:spPr>
          <a:xfrm>
            <a:off x="1014111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BD28D57-8FE7-EE4D-80B1-D3C6781F1401}"/>
              </a:ext>
            </a:extLst>
          </p:cNvPr>
          <p:cNvCxnSpPr>
            <a:cxnSpLocks/>
          </p:cNvCxnSpPr>
          <p:nvPr/>
        </p:nvCxnSpPr>
        <p:spPr>
          <a:xfrm>
            <a:off x="102706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64ECB6A-A365-9343-87D6-006E4C7073F1}"/>
              </a:ext>
            </a:extLst>
          </p:cNvPr>
          <p:cNvCxnSpPr>
            <a:cxnSpLocks/>
          </p:cNvCxnSpPr>
          <p:nvPr/>
        </p:nvCxnSpPr>
        <p:spPr>
          <a:xfrm>
            <a:off x="1040019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F432C32-A6B3-8E4F-ABE2-5E3C7ECEFD8B}"/>
              </a:ext>
            </a:extLst>
          </p:cNvPr>
          <p:cNvCxnSpPr>
            <a:cxnSpLocks/>
          </p:cNvCxnSpPr>
          <p:nvPr/>
        </p:nvCxnSpPr>
        <p:spPr>
          <a:xfrm>
            <a:off x="1053804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CE01E0B-8573-DD4B-BAF4-F30912DD6844}"/>
              </a:ext>
            </a:extLst>
          </p:cNvPr>
          <p:cNvCxnSpPr>
            <a:cxnSpLocks/>
          </p:cNvCxnSpPr>
          <p:nvPr/>
        </p:nvCxnSpPr>
        <p:spPr>
          <a:xfrm>
            <a:off x="106828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E9206AB-36D1-3A4C-BA2A-DD6459312DE4}"/>
              </a:ext>
            </a:extLst>
          </p:cNvPr>
          <p:cNvCxnSpPr>
            <a:cxnSpLocks/>
          </p:cNvCxnSpPr>
          <p:nvPr/>
        </p:nvCxnSpPr>
        <p:spPr>
          <a:xfrm>
            <a:off x="1081998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A8B2A1C-EDD7-9942-8A6E-F2A942F0E9B9}"/>
              </a:ext>
            </a:extLst>
          </p:cNvPr>
          <p:cNvCxnSpPr>
            <a:cxnSpLocks/>
          </p:cNvCxnSpPr>
          <p:nvPr/>
        </p:nvCxnSpPr>
        <p:spPr>
          <a:xfrm>
            <a:off x="109495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1462180-95AE-B948-B77C-B911C66A4344}"/>
              </a:ext>
            </a:extLst>
          </p:cNvPr>
          <p:cNvCxnSpPr>
            <a:cxnSpLocks/>
          </p:cNvCxnSpPr>
          <p:nvPr/>
        </p:nvCxnSpPr>
        <p:spPr>
          <a:xfrm>
            <a:off x="1107906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BD64A4F-1779-1341-8851-D13523F8FB1D}"/>
              </a:ext>
            </a:extLst>
          </p:cNvPr>
          <p:cNvCxnSpPr/>
          <p:nvPr/>
        </p:nvCxnSpPr>
        <p:spPr>
          <a:xfrm>
            <a:off x="5591979" y="3931828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B1934176-E925-C949-A540-EFB4AF18F3FF}"/>
              </a:ext>
            </a:extLst>
          </p:cNvPr>
          <p:cNvSpPr txBox="1"/>
          <p:nvPr/>
        </p:nvSpPr>
        <p:spPr>
          <a:xfrm>
            <a:off x="5392358" y="357333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1C97CFB-A2EF-3541-82B3-BA7EB697D403}"/>
              </a:ext>
            </a:extLst>
          </p:cNvPr>
          <p:cNvSpPr txBox="1"/>
          <p:nvPr/>
        </p:nvSpPr>
        <p:spPr>
          <a:xfrm>
            <a:off x="5392358" y="3891358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E9F1BD6-E8B0-1748-9DA6-023C5BE21998}"/>
              </a:ext>
            </a:extLst>
          </p:cNvPr>
          <p:cNvSpPr txBox="1"/>
          <p:nvPr/>
        </p:nvSpPr>
        <p:spPr>
          <a:xfrm>
            <a:off x="11224386" y="388820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951A94-E629-CD40-97F0-ABB7C0E85003}"/>
              </a:ext>
            </a:extLst>
          </p:cNvPr>
          <p:cNvSpPr txBox="1"/>
          <p:nvPr/>
        </p:nvSpPr>
        <p:spPr>
          <a:xfrm>
            <a:off x="11225499" y="35738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CFA2F973-85A9-1D4B-903E-BF119EB5F2F2}"/>
              </a:ext>
            </a:extLst>
          </p:cNvPr>
          <p:cNvSpPr/>
          <p:nvPr/>
        </p:nvSpPr>
        <p:spPr>
          <a:xfrm>
            <a:off x="8488773" y="365835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3966A459-F40C-F045-B5DA-70AF602C9481}"/>
              </a:ext>
            </a:extLst>
          </p:cNvPr>
          <p:cNvSpPr/>
          <p:nvPr/>
        </p:nvSpPr>
        <p:spPr>
          <a:xfrm>
            <a:off x="6706367" y="417360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FAEDE10-DBAC-4741-B154-FA0EAA78581B}"/>
              </a:ext>
            </a:extLst>
          </p:cNvPr>
          <p:cNvSpPr/>
          <p:nvPr/>
        </p:nvSpPr>
        <p:spPr>
          <a:xfrm>
            <a:off x="7116815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5325F4D9-B558-9B4B-AFE8-4C5BF145B226}"/>
              </a:ext>
            </a:extLst>
          </p:cNvPr>
          <p:cNvSpPr/>
          <p:nvPr/>
        </p:nvSpPr>
        <p:spPr>
          <a:xfrm>
            <a:off x="7536180" y="4161714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DE6167DE-AE58-BB4F-8246-4DB0B22709E5}"/>
              </a:ext>
            </a:extLst>
          </p:cNvPr>
          <p:cNvSpPr/>
          <p:nvPr/>
        </p:nvSpPr>
        <p:spPr>
          <a:xfrm>
            <a:off x="7934368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A05399E-822C-314A-B575-3BA42AD4AC93}"/>
              </a:ext>
            </a:extLst>
          </p:cNvPr>
          <p:cNvGrpSpPr/>
          <p:nvPr/>
        </p:nvGrpSpPr>
        <p:grpSpPr>
          <a:xfrm>
            <a:off x="8308639" y="3266306"/>
            <a:ext cx="2518671" cy="793133"/>
            <a:chOff x="8308639" y="3431406"/>
            <a:chExt cx="2518671" cy="793133"/>
          </a:xfrm>
        </p:grpSpPr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98D5E6F9-EB37-6549-94AC-1CB114A0683B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BF4AA9D-319E-F54F-B188-A977C8C01DB9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3279C36-2BC2-1C40-8F86-D5D639F35896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2D0D6FC2-A692-064F-B71E-AF38760EC122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5B94C21-BD49-0A48-B2C1-0B4D88ADCFA3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0DF751C-7DBC-CB48-B1AB-2E91081EEAA9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15F3E2C7-2744-C04F-9CAA-EA2E8D331AF1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4CA7327-020A-F24C-91A0-E22A413D135D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A2DCF1A-5F71-5B49-9D99-A72C211B86C6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29" name="Freeform 128">
            <a:extLst>
              <a:ext uri="{FF2B5EF4-FFF2-40B4-BE49-F238E27FC236}">
                <a16:creationId xmlns:a16="http://schemas.microsoft.com/office/drawing/2014/main" id="{B1515E19-3718-7D46-8291-3045F4AAC3EE}"/>
              </a:ext>
            </a:extLst>
          </p:cNvPr>
          <p:cNvSpPr/>
          <p:nvPr/>
        </p:nvSpPr>
        <p:spPr>
          <a:xfrm rot="20361174" flipV="1">
            <a:off x="8250201" y="4356627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0279E90D-F14F-3D4B-AAA8-0240AA44FAEF}"/>
              </a:ext>
            </a:extLst>
          </p:cNvPr>
          <p:cNvSpPr/>
          <p:nvPr/>
        </p:nvSpPr>
        <p:spPr>
          <a:xfrm rot="20361174" flipV="1">
            <a:off x="7778563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5E5A0974-9BFD-4849-BD33-82FF5E8557ED}"/>
              </a:ext>
            </a:extLst>
          </p:cNvPr>
          <p:cNvSpPr/>
          <p:nvPr/>
        </p:nvSpPr>
        <p:spPr>
          <a:xfrm rot="9967244" flipV="1">
            <a:off x="7393245" y="4132834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57FDE7CF-26EF-D041-9020-611BE55EF96D}"/>
              </a:ext>
            </a:extLst>
          </p:cNvPr>
          <p:cNvSpPr/>
          <p:nvPr/>
        </p:nvSpPr>
        <p:spPr>
          <a:xfrm rot="20361174" flipV="1">
            <a:off x="6966106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ABD7915-0CFB-2B40-A032-00F56C3B775D}"/>
              </a:ext>
            </a:extLst>
          </p:cNvPr>
          <p:cNvSpPr txBox="1"/>
          <p:nvPr/>
        </p:nvSpPr>
        <p:spPr>
          <a:xfrm>
            <a:off x="5397928" y="4652408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ZFN.</a:t>
            </a:r>
            <a:endParaRPr kumimoji="1" lang="en-US" altLang="zh-CN" sz="1400" dirty="0"/>
          </a:p>
        </p:txBody>
      </p:sp>
      <p:sp>
        <p:nvSpPr>
          <p:cNvPr id="1024" name="Lightning Bolt 1023">
            <a:extLst>
              <a:ext uri="{FF2B5EF4-FFF2-40B4-BE49-F238E27FC236}">
                <a16:creationId xmlns:a16="http://schemas.microsoft.com/office/drawing/2014/main" id="{038DC9A1-1DE9-084C-9250-EF79E80B2E0E}"/>
              </a:ext>
            </a:extLst>
          </p:cNvPr>
          <p:cNvSpPr/>
          <p:nvPr/>
        </p:nvSpPr>
        <p:spPr>
          <a:xfrm flipH="1">
            <a:off x="8781963" y="3075908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81AEC5-911E-0548-AD0E-5F180B39621D}"/>
              </a:ext>
            </a:extLst>
          </p:cNvPr>
          <p:cNvCxnSpPr>
            <a:stCxn id="127" idx="1"/>
          </p:cNvCxnSpPr>
          <p:nvPr/>
        </p:nvCxnSpPr>
        <p:spPr>
          <a:xfrm flipV="1">
            <a:off x="10042854" y="2820557"/>
            <a:ext cx="357341" cy="44341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CE06C1D-792B-CE4A-8A2C-2B4C1765DAB1}"/>
              </a:ext>
            </a:extLst>
          </p:cNvPr>
          <p:cNvSpPr txBox="1"/>
          <p:nvPr/>
        </p:nvSpPr>
        <p:spPr>
          <a:xfrm>
            <a:off x="10367750" y="2543558"/>
            <a:ext cx="704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linker</a:t>
            </a:r>
            <a:endParaRPr kumimoji="1" lang="zh-CN" altLang="en-US" dirty="0"/>
          </a:p>
        </p:txBody>
      </p:sp>
      <p:pic>
        <p:nvPicPr>
          <p:cNvPr id="1026" name="Picture 2" descr="Schematic diagram of a C2H2 zinc-finger motif. The pair | Open-i">
            <a:extLst>
              <a:ext uri="{FF2B5EF4-FFF2-40B4-BE49-F238E27FC236}">
                <a16:creationId xmlns:a16="http://schemas.microsoft.com/office/drawing/2014/main" id="{8B3405D9-7B95-8743-862B-36F1909FA9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75"/>
          <a:stretch/>
        </p:blipFill>
        <p:spPr bwMode="auto">
          <a:xfrm>
            <a:off x="2017094" y="2921029"/>
            <a:ext cx="1842840" cy="1365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86872433-1F08-0344-8591-BADFD42037EE}"/>
              </a:ext>
            </a:extLst>
          </p:cNvPr>
          <p:cNvSpPr txBox="1"/>
          <p:nvPr/>
        </p:nvSpPr>
        <p:spPr>
          <a:xfrm>
            <a:off x="0" y="5930308"/>
            <a:ext cx="57794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</a:rPr>
              <a:t>Urnov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FD, Rebar EJ, Holmes MC, Zhang HS, Gregory PD. Genome editing with engineered zinc finger nucleases.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</a:rPr>
              <a:t>Nat Rev Genet.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2010 Sep;11(9):636-46.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3401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25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CN" altLang="zh-CN" sz="3200" dirty="0"/>
              <a:t>Problems of ZFN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4100F9F-2017-C845-942C-6B0D281529BE}"/>
              </a:ext>
            </a:extLst>
          </p:cNvPr>
          <p:cNvSpPr txBox="1"/>
          <p:nvPr/>
        </p:nvSpPr>
        <p:spPr>
          <a:xfrm>
            <a:off x="325821" y="1048925"/>
            <a:ext cx="9211879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amino acids map to 3 bp (a triplet)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</a:t>
            </a:r>
            <a:r>
              <a:rPr kumimoji="1" lang="zh-CN" altLang="en-US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arrangements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of triplets: 4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3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= 64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 arrangements of amino acids: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#1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high complexity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could be extremely hard to select 64 correct arangements from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options.</a:t>
            </a:r>
            <a:endParaRPr kumimoji="1" lang="en-CN" altLang="zh-CN" i="1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 fact,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remains challenging to create zinc-finger domains that can effectively recognize all DNA triplets.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#2: lack of target flexibility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Must find a triplet that can be targeted near targeted sites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#3: difficult and expensive to construct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zinc-finger arrays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Also time-consuming</a:t>
            </a:r>
            <a:endParaRPr kumimoji="1" lang="en-CN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004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4162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Transcription Activator-Like Effector Nucleases (TALENs)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  <a:solidFill>
            <a:schemeClr val="accent5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ZFN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B95D8345-2793-8347-A09F-6CDDDC128621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67B1E-752E-2A4C-8D6F-B7CBED29FD0C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39030F1-3E71-714B-9DED-E52228728190}"/>
              </a:ext>
            </a:extLst>
          </p:cNvPr>
          <p:cNvSpPr/>
          <p:nvPr/>
        </p:nvSpPr>
        <p:spPr>
          <a:xfrm>
            <a:off x="609600" y="2260600"/>
            <a:ext cx="1397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1CB37-4968-C64D-8020-90154BC8DD7F}"/>
              </a:ext>
            </a:extLst>
          </p:cNvPr>
          <p:cNvSpPr txBox="1"/>
          <p:nvPr/>
        </p:nvSpPr>
        <p:spPr>
          <a:xfrm>
            <a:off x="786607" y="2253734"/>
            <a:ext cx="4435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 </a:t>
            </a:r>
            <a:r>
              <a:rPr kumimoji="1" lang="en-US" altLang="zh-CN" dirty="0"/>
              <a:t>of TAL effector</a:t>
            </a:r>
            <a:endParaRPr kumimoji="1" lang="zh-CN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50F32-65D4-3844-A298-12D653A95310}"/>
              </a:ext>
            </a:extLst>
          </p:cNvPr>
          <p:cNvSpPr txBox="1"/>
          <p:nvPr/>
        </p:nvSpPr>
        <p:spPr>
          <a:xfrm>
            <a:off x="519821" y="2739201"/>
            <a:ext cx="61005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34 residues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position</a:t>
            </a:r>
            <a:r>
              <a:rPr kumimoji="1" lang="en-US" altLang="zh-CN" dirty="0">
                <a:solidFill>
                  <a:schemeClr val="accent1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12&amp;13</a:t>
            </a:r>
            <a:r>
              <a:rPr kumimoji="1" lang="en-US" altLang="zh-CN" dirty="0">
                <a:solidFill>
                  <a:schemeClr val="accent1"/>
                </a:solidFill>
              </a:rPr>
              <a:t>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1 bp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  <a:endParaRPr kumimoji="1" lang="zh-CN" alt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E74E04-5996-3249-ADAE-2C859D32C3CB}"/>
              </a:ext>
            </a:extLst>
          </p:cNvPr>
          <p:cNvCxnSpPr>
            <a:cxnSpLocks/>
          </p:cNvCxnSpPr>
          <p:nvPr/>
        </p:nvCxnSpPr>
        <p:spPr>
          <a:xfrm>
            <a:off x="4093239" y="411464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D84551-2834-8042-8CFE-21B5D2C7A350}"/>
              </a:ext>
            </a:extLst>
          </p:cNvPr>
          <p:cNvCxnSpPr/>
          <p:nvPr/>
        </p:nvCxnSpPr>
        <p:spPr>
          <a:xfrm>
            <a:off x="4093239" y="443060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625F08-107A-1D4A-89B9-20C268D9BF3D}"/>
              </a:ext>
            </a:extLst>
          </p:cNvPr>
          <p:cNvCxnSpPr>
            <a:cxnSpLocks/>
          </p:cNvCxnSpPr>
          <p:nvPr/>
        </p:nvCxnSpPr>
        <p:spPr>
          <a:xfrm>
            <a:off x="427982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DBD88B-6428-3C42-A34D-E864B93870FA}"/>
              </a:ext>
            </a:extLst>
          </p:cNvPr>
          <p:cNvCxnSpPr>
            <a:cxnSpLocks/>
          </p:cNvCxnSpPr>
          <p:nvPr/>
        </p:nvCxnSpPr>
        <p:spPr>
          <a:xfrm>
            <a:off x="44246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3213CE-97DA-434A-B7FF-0D9382CBE05C}"/>
              </a:ext>
            </a:extLst>
          </p:cNvPr>
          <p:cNvCxnSpPr>
            <a:cxnSpLocks/>
          </p:cNvCxnSpPr>
          <p:nvPr/>
        </p:nvCxnSpPr>
        <p:spPr>
          <a:xfrm>
            <a:off x="456176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245BB9C-31C6-F34B-9E09-B42ED0569306}"/>
              </a:ext>
            </a:extLst>
          </p:cNvPr>
          <p:cNvCxnSpPr>
            <a:cxnSpLocks/>
          </p:cNvCxnSpPr>
          <p:nvPr/>
        </p:nvCxnSpPr>
        <p:spPr>
          <a:xfrm>
            <a:off x="46913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EB2537-421D-BC4F-B3B7-E740B843EEC1}"/>
              </a:ext>
            </a:extLst>
          </p:cNvPr>
          <p:cNvCxnSpPr>
            <a:cxnSpLocks/>
          </p:cNvCxnSpPr>
          <p:nvPr/>
        </p:nvCxnSpPr>
        <p:spPr>
          <a:xfrm>
            <a:off x="482084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5D85FAF-7D35-FD4F-B1A8-4321DC476650}"/>
              </a:ext>
            </a:extLst>
          </p:cNvPr>
          <p:cNvCxnSpPr>
            <a:cxnSpLocks/>
          </p:cNvCxnSpPr>
          <p:nvPr/>
        </p:nvCxnSpPr>
        <p:spPr>
          <a:xfrm>
            <a:off x="495869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8CB1BF2-C424-444E-8D66-0ADB68EF2896}"/>
              </a:ext>
            </a:extLst>
          </p:cNvPr>
          <p:cNvCxnSpPr>
            <a:cxnSpLocks/>
          </p:cNvCxnSpPr>
          <p:nvPr/>
        </p:nvCxnSpPr>
        <p:spPr>
          <a:xfrm>
            <a:off x="51034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252510-B56E-7B41-A296-E706DF9E96E3}"/>
              </a:ext>
            </a:extLst>
          </p:cNvPr>
          <p:cNvCxnSpPr>
            <a:cxnSpLocks/>
          </p:cNvCxnSpPr>
          <p:nvPr/>
        </p:nvCxnSpPr>
        <p:spPr>
          <a:xfrm>
            <a:off x="524063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5E3BF55-451D-F049-AB55-BAFE4C8E58B7}"/>
              </a:ext>
            </a:extLst>
          </p:cNvPr>
          <p:cNvCxnSpPr>
            <a:cxnSpLocks/>
          </p:cNvCxnSpPr>
          <p:nvPr/>
        </p:nvCxnSpPr>
        <p:spPr>
          <a:xfrm>
            <a:off x="53701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F3FC424-D2D2-1340-A1B3-ED3626BB09DA}"/>
              </a:ext>
            </a:extLst>
          </p:cNvPr>
          <p:cNvCxnSpPr>
            <a:cxnSpLocks/>
          </p:cNvCxnSpPr>
          <p:nvPr/>
        </p:nvCxnSpPr>
        <p:spPr>
          <a:xfrm>
            <a:off x="549971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A5CB98-CD50-E045-96CE-039A8010684B}"/>
              </a:ext>
            </a:extLst>
          </p:cNvPr>
          <p:cNvCxnSpPr>
            <a:cxnSpLocks/>
          </p:cNvCxnSpPr>
          <p:nvPr/>
        </p:nvCxnSpPr>
        <p:spPr>
          <a:xfrm>
            <a:off x="563757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1377BC6-9C00-3946-B572-5C6B048B0C12}"/>
              </a:ext>
            </a:extLst>
          </p:cNvPr>
          <p:cNvCxnSpPr>
            <a:cxnSpLocks/>
          </p:cNvCxnSpPr>
          <p:nvPr/>
        </p:nvCxnSpPr>
        <p:spPr>
          <a:xfrm>
            <a:off x="57823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70EE0B-C398-5C4C-9C7E-CBF59054B4C1}"/>
              </a:ext>
            </a:extLst>
          </p:cNvPr>
          <p:cNvCxnSpPr>
            <a:cxnSpLocks/>
          </p:cNvCxnSpPr>
          <p:nvPr/>
        </p:nvCxnSpPr>
        <p:spPr>
          <a:xfrm>
            <a:off x="591951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EB3EBF-548B-784E-B437-49144AB145CC}"/>
              </a:ext>
            </a:extLst>
          </p:cNvPr>
          <p:cNvCxnSpPr>
            <a:cxnSpLocks/>
          </p:cNvCxnSpPr>
          <p:nvPr/>
        </p:nvCxnSpPr>
        <p:spPr>
          <a:xfrm>
            <a:off x="60490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ED3533C-02E9-664E-91E5-EB6B1196B940}"/>
              </a:ext>
            </a:extLst>
          </p:cNvPr>
          <p:cNvCxnSpPr>
            <a:cxnSpLocks/>
          </p:cNvCxnSpPr>
          <p:nvPr/>
        </p:nvCxnSpPr>
        <p:spPr>
          <a:xfrm>
            <a:off x="617859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04FCFA-F679-4840-AE1C-789EF935AB3E}"/>
              </a:ext>
            </a:extLst>
          </p:cNvPr>
          <p:cNvCxnSpPr>
            <a:cxnSpLocks/>
          </p:cNvCxnSpPr>
          <p:nvPr/>
        </p:nvCxnSpPr>
        <p:spPr>
          <a:xfrm>
            <a:off x="631644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0D2A20E-0965-0B49-9216-A14DB2982B69}"/>
              </a:ext>
            </a:extLst>
          </p:cNvPr>
          <p:cNvCxnSpPr>
            <a:cxnSpLocks/>
          </p:cNvCxnSpPr>
          <p:nvPr/>
        </p:nvCxnSpPr>
        <p:spPr>
          <a:xfrm>
            <a:off x="64612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F659BFD-1266-F849-A3D1-E5ED17FB5355}"/>
              </a:ext>
            </a:extLst>
          </p:cNvPr>
          <p:cNvCxnSpPr>
            <a:cxnSpLocks/>
          </p:cNvCxnSpPr>
          <p:nvPr/>
        </p:nvCxnSpPr>
        <p:spPr>
          <a:xfrm>
            <a:off x="659838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DFC34DB-1622-0746-BE9C-9ABA1BA30B8E}"/>
              </a:ext>
            </a:extLst>
          </p:cNvPr>
          <p:cNvCxnSpPr>
            <a:cxnSpLocks/>
          </p:cNvCxnSpPr>
          <p:nvPr/>
        </p:nvCxnSpPr>
        <p:spPr>
          <a:xfrm>
            <a:off x="67279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5558FAC-5C63-1E4A-8C7F-7B54C51B5DC1}"/>
              </a:ext>
            </a:extLst>
          </p:cNvPr>
          <p:cNvCxnSpPr>
            <a:cxnSpLocks/>
          </p:cNvCxnSpPr>
          <p:nvPr/>
        </p:nvCxnSpPr>
        <p:spPr>
          <a:xfrm>
            <a:off x="685746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FAD3801-F472-2340-B74E-6EAF398253E4}"/>
              </a:ext>
            </a:extLst>
          </p:cNvPr>
          <p:cNvCxnSpPr>
            <a:cxnSpLocks/>
          </p:cNvCxnSpPr>
          <p:nvPr/>
        </p:nvCxnSpPr>
        <p:spPr>
          <a:xfrm>
            <a:off x="699531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3C7BC8-7CBC-9D4C-9F1B-94E3D26F4878}"/>
              </a:ext>
            </a:extLst>
          </p:cNvPr>
          <p:cNvCxnSpPr>
            <a:cxnSpLocks/>
          </p:cNvCxnSpPr>
          <p:nvPr/>
        </p:nvCxnSpPr>
        <p:spPr>
          <a:xfrm>
            <a:off x="71400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1FD5491-CC9F-0744-9A00-1F8EDAF6C2FC}"/>
              </a:ext>
            </a:extLst>
          </p:cNvPr>
          <p:cNvCxnSpPr>
            <a:cxnSpLocks/>
          </p:cNvCxnSpPr>
          <p:nvPr/>
        </p:nvCxnSpPr>
        <p:spPr>
          <a:xfrm>
            <a:off x="727725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CD3E596-F92D-BE4B-883E-064F6E35192E}"/>
              </a:ext>
            </a:extLst>
          </p:cNvPr>
          <p:cNvCxnSpPr>
            <a:cxnSpLocks/>
          </p:cNvCxnSpPr>
          <p:nvPr/>
        </p:nvCxnSpPr>
        <p:spPr>
          <a:xfrm>
            <a:off x="74067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69BC06-A7B7-664C-AA7A-3C3A210E5E8F}"/>
              </a:ext>
            </a:extLst>
          </p:cNvPr>
          <p:cNvCxnSpPr>
            <a:cxnSpLocks/>
          </p:cNvCxnSpPr>
          <p:nvPr/>
        </p:nvCxnSpPr>
        <p:spPr>
          <a:xfrm>
            <a:off x="753633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CE4E58-DB37-F340-815C-E19CF02F7814}"/>
              </a:ext>
            </a:extLst>
          </p:cNvPr>
          <p:cNvCxnSpPr>
            <a:cxnSpLocks/>
          </p:cNvCxnSpPr>
          <p:nvPr/>
        </p:nvCxnSpPr>
        <p:spPr>
          <a:xfrm>
            <a:off x="76665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4790B5-F0E0-CE4C-BAE4-070E2EBD9914}"/>
              </a:ext>
            </a:extLst>
          </p:cNvPr>
          <p:cNvCxnSpPr>
            <a:cxnSpLocks/>
          </p:cNvCxnSpPr>
          <p:nvPr/>
        </p:nvCxnSpPr>
        <p:spPr>
          <a:xfrm>
            <a:off x="780373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E74321-EB30-CC41-9947-5BD5C5EB96C5}"/>
              </a:ext>
            </a:extLst>
          </p:cNvPr>
          <p:cNvCxnSpPr>
            <a:cxnSpLocks/>
          </p:cNvCxnSpPr>
          <p:nvPr/>
        </p:nvCxnSpPr>
        <p:spPr>
          <a:xfrm>
            <a:off x="79332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97AF8F1-B189-214B-BF5D-384B38D655D6}"/>
              </a:ext>
            </a:extLst>
          </p:cNvPr>
          <p:cNvCxnSpPr>
            <a:cxnSpLocks/>
          </p:cNvCxnSpPr>
          <p:nvPr/>
        </p:nvCxnSpPr>
        <p:spPr>
          <a:xfrm>
            <a:off x="8062810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592230F-E4DA-9843-B12F-E9F4DEF8CA08}"/>
              </a:ext>
            </a:extLst>
          </p:cNvPr>
          <p:cNvCxnSpPr>
            <a:cxnSpLocks/>
          </p:cNvCxnSpPr>
          <p:nvPr/>
        </p:nvCxnSpPr>
        <p:spPr>
          <a:xfrm>
            <a:off x="820066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54A581A-F1A4-5942-890C-1A3C4E887996}"/>
              </a:ext>
            </a:extLst>
          </p:cNvPr>
          <p:cNvCxnSpPr>
            <a:cxnSpLocks/>
          </p:cNvCxnSpPr>
          <p:nvPr/>
        </p:nvCxnSpPr>
        <p:spPr>
          <a:xfrm>
            <a:off x="83454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CC5EFE-E64D-D149-BAF4-A7B79A57BC01}"/>
              </a:ext>
            </a:extLst>
          </p:cNvPr>
          <p:cNvCxnSpPr>
            <a:cxnSpLocks/>
          </p:cNvCxnSpPr>
          <p:nvPr/>
        </p:nvCxnSpPr>
        <p:spPr>
          <a:xfrm>
            <a:off x="848260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3B2AA49-164F-994C-AF00-1DF5EC191492}"/>
              </a:ext>
            </a:extLst>
          </p:cNvPr>
          <p:cNvCxnSpPr>
            <a:cxnSpLocks/>
          </p:cNvCxnSpPr>
          <p:nvPr/>
        </p:nvCxnSpPr>
        <p:spPr>
          <a:xfrm>
            <a:off x="86121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E62AB85-5DF1-3245-A660-10FF2A931B14}"/>
              </a:ext>
            </a:extLst>
          </p:cNvPr>
          <p:cNvCxnSpPr>
            <a:cxnSpLocks/>
          </p:cNvCxnSpPr>
          <p:nvPr/>
        </p:nvCxnSpPr>
        <p:spPr>
          <a:xfrm>
            <a:off x="874168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6C721C5-8EE8-A74B-8B1C-D369F7262D95}"/>
              </a:ext>
            </a:extLst>
          </p:cNvPr>
          <p:cNvCxnSpPr>
            <a:cxnSpLocks/>
          </p:cNvCxnSpPr>
          <p:nvPr/>
        </p:nvCxnSpPr>
        <p:spPr>
          <a:xfrm>
            <a:off x="887953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AC04193-C60D-4042-A94F-ED9D081A314E}"/>
              </a:ext>
            </a:extLst>
          </p:cNvPr>
          <p:cNvCxnSpPr>
            <a:cxnSpLocks/>
          </p:cNvCxnSpPr>
          <p:nvPr/>
        </p:nvCxnSpPr>
        <p:spPr>
          <a:xfrm>
            <a:off x="90243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52A4461-82C5-084C-898B-232C8A5D9C9F}"/>
              </a:ext>
            </a:extLst>
          </p:cNvPr>
          <p:cNvCxnSpPr>
            <a:cxnSpLocks/>
          </p:cNvCxnSpPr>
          <p:nvPr/>
        </p:nvCxnSpPr>
        <p:spPr>
          <a:xfrm>
            <a:off x="916147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85DA981-9132-054F-BEAE-BC7C1CB274FB}"/>
              </a:ext>
            </a:extLst>
          </p:cNvPr>
          <p:cNvCxnSpPr>
            <a:cxnSpLocks/>
          </p:cNvCxnSpPr>
          <p:nvPr/>
        </p:nvCxnSpPr>
        <p:spPr>
          <a:xfrm>
            <a:off x="92910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B136454-1971-B040-8BF5-E73C56641F64}"/>
              </a:ext>
            </a:extLst>
          </p:cNvPr>
          <p:cNvCxnSpPr>
            <a:cxnSpLocks/>
          </p:cNvCxnSpPr>
          <p:nvPr/>
        </p:nvCxnSpPr>
        <p:spPr>
          <a:xfrm>
            <a:off x="942055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FBB10A4-0FD6-CF47-82C3-8F691D630B38}"/>
              </a:ext>
            </a:extLst>
          </p:cNvPr>
          <p:cNvCxnSpPr/>
          <p:nvPr/>
        </p:nvCxnSpPr>
        <p:spPr>
          <a:xfrm>
            <a:off x="3933466" y="428847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A68F1B1-C45E-004F-AE35-A9E4CD40D795}"/>
              </a:ext>
            </a:extLst>
          </p:cNvPr>
          <p:cNvSpPr txBox="1"/>
          <p:nvPr/>
        </p:nvSpPr>
        <p:spPr>
          <a:xfrm>
            <a:off x="3733845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5A3D7F-D54F-8843-9C61-99C085C1C80C}"/>
              </a:ext>
            </a:extLst>
          </p:cNvPr>
          <p:cNvSpPr txBox="1"/>
          <p:nvPr/>
        </p:nvSpPr>
        <p:spPr>
          <a:xfrm>
            <a:off x="3733845" y="424800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9ACAC5-77BE-EC4F-9C90-FB76193C48F1}"/>
              </a:ext>
            </a:extLst>
          </p:cNvPr>
          <p:cNvSpPr txBox="1"/>
          <p:nvPr/>
        </p:nvSpPr>
        <p:spPr>
          <a:xfrm>
            <a:off x="9587909" y="425039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E2F5047-004B-5749-87B7-84AEF5089B2C}"/>
              </a:ext>
            </a:extLst>
          </p:cNvPr>
          <p:cNvSpPr txBox="1"/>
          <p:nvPr/>
        </p:nvSpPr>
        <p:spPr>
          <a:xfrm>
            <a:off x="9587909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70" name="Freeform 69">
            <a:extLst>
              <a:ext uri="{FF2B5EF4-FFF2-40B4-BE49-F238E27FC236}">
                <a16:creationId xmlns:a16="http://schemas.microsoft.com/office/drawing/2014/main" id="{B4D9816F-206A-BD41-BF89-97124E745F99}"/>
              </a:ext>
            </a:extLst>
          </p:cNvPr>
          <p:cNvSpPr/>
          <p:nvPr/>
        </p:nvSpPr>
        <p:spPr>
          <a:xfrm>
            <a:off x="6583773" y="401499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97D77916-F7E2-F145-A07B-4ADB4DBEB567}"/>
              </a:ext>
            </a:extLst>
          </p:cNvPr>
          <p:cNvSpPr/>
          <p:nvPr/>
        </p:nvSpPr>
        <p:spPr>
          <a:xfrm>
            <a:off x="6403639" y="3667937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165620-2E41-5D40-8032-525AD46F295F}"/>
              </a:ext>
            </a:extLst>
          </p:cNvPr>
          <p:cNvSpPr txBox="1"/>
          <p:nvPr/>
        </p:nvSpPr>
        <p:spPr>
          <a:xfrm>
            <a:off x="2352905" y="5634252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</a:t>
            </a:r>
            <a:r>
              <a:rPr lang="en-US" altLang="zh-CN" sz="1400" dirty="0">
                <a:solidFill>
                  <a:srgbClr val="111111"/>
                </a:solidFill>
                <a:latin typeface="system-ui"/>
              </a:rPr>
              <a:t>TALEN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.</a:t>
            </a:r>
            <a:endParaRPr kumimoji="1" lang="en-US" altLang="zh-CN" sz="1400" dirty="0"/>
          </a:p>
        </p:txBody>
      </p:sp>
      <p:sp>
        <p:nvSpPr>
          <p:cNvPr id="90" name="Lightning Bolt 89">
            <a:extLst>
              <a:ext uri="{FF2B5EF4-FFF2-40B4-BE49-F238E27FC236}">
                <a16:creationId xmlns:a16="http://schemas.microsoft.com/office/drawing/2014/main" id="{63EB1E36-E130-B646-AAA2-6AB3820CC60F}"/>
              </a:ext>
            </a:extLst>
          </p:cNvPr>
          <p:cNvSpPr/>
          <p:nvPr/>
        </p:nvSpPr>
        <p:spPr>
          <a:xfrm flipH="1">
            <a:off x="6876963" y="343255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71021836-80AE-E14D-8D6E-A30482661D7C}"/>
              </a:ext>
            </a:extLst>
          </p:cNvPr>
          <p:cNvSpPr/>
          <p:nvPr/>
        </p:nvSpPr>
        <p:spPr>
          <a:xfrm>
            <a:off x="5882008" y="3641291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E6A9D298-B1EE-D540-A2BC-3232DF4F2057}"/>
              </a:ext>
            </a:extLst>
          </p:cNvPr>
          <p:cNvSpPr/>
          <p:nvPr/>
        </p:nvSpPr>
        <p:spPr>
          <a:xfrm rot="10800000">
            <a:off x="4187028" y="3638358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E0B14D81-5ABE-1546-92C7-0C8DA5352930}"/>
              </a:ext>
            </a:extLst>
          </p:cNvPr>
          <p:cNvSpPr/>
          <p:nvPr/>
        </p:nvSpPr>
        <p:spPr>
          <a:xfrm>
            <a:off x="5753277" y="3659764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1666B33E-EBC9-EC41-B78D-63B303C47B19}"/>
              </a:ext>
            </a:extLst>
          </p:cNvPr>
          <p:cNvSpPr/>
          <p:nvPr/>
        </p:nvSpPr>
        <p:spPr>
          <a:xfrm>
            <a:off x="5615964" y="3658772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4E59F79F-71E1-9143-B11D-31A16EC1EC4C}"/>
              </a:ext>
            </a:extLst>
          </p:cNvPr>
          <p:cNvSpPr/>
          <p:nvPr/>
        </p:nvSpPr>
        <p:spPr>
          <a:xfrm>
            <a:off x="5471972" y="3657666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3B0023B4-1CD6-8046-B75C-31AB0704FE92}"/>
              </a:ext>
            </a:extLst>
          </p:cNvPr>
          <p:cNvSpPr/>
          <p:nvPr/>
        </p:nvSpPr>
        <p:spPr>
          <a:xfrm>
            <a:off x="5333796" y="3657666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AB0B95A-81FD-F045-B924-AE5C47EB1CD4}"/>
              </a:ext>
            </a:extLst>
          </p:cNvPr>
          <p:cNvSpPr/>
          <p:nvPr/>
        </p:nvSpPr>
        <p:spPr>
          <a:xfrm>
            <a:off x="5192142" y="3657666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142579B4-2F36-994D-B1CB-303D25709408}"/>
              </a:ext>
            </a:extLst>
          </p:cNvPr>
          <p:cNvSpPr/>
          <p:nvPr/>
        </p:nvSpPr>
        <p:spPr>
          <a:xfrm>
            <a:off x="5060343" y="3659462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14CE2812-B567-FA4E-9092-68D248AFCF29}"/>
              </a:ext>
            </a:extLst>
          </p:cNvPr>
          <p:cNvSpPr/>
          <p:nvPr/>
        </p:nvSpPr>
        <p:spPr>
          <a:xfrm>
            <a:off x="4922692" y="3650613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BE19A28E-2561-F446-A3EA-A385A0CA1907}"/>
              </a:ext>
            </a:extLst>
          </p:cNvPr>
          <p:cNvSpPr/>
          <p:nvPr/>
        </p:nvSpPr>
        <p:spPr>
          <a:xfrm>
            <a:off x="4784516" y="3650613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40EFE168-EA0F-804F-A539-B037D7BF183E}"/>
              </a:ext>
            </a:extLst>
          </p:cNvPr>
          <p:cNvSpPr/>
          <p:nvPr/>
        </p:nvSpPr>
        <p:spPr>
          <a:xfrm>
            <a:off x="4642862" y="3650613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4F07AD3-C995-174A-86CC-F5B8906D898A}"/>
              </a:ext>
            </a:extLst>
          </p:cNvPr>
          <p:cNvSpPr/>
          <p:nvPr/>
        </p:nvSpPr>
        <p:spPr>
          <a:xfrm>
            <a:off x="4511063" y="3652409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632C5365-5A27-384F-B8CF-C6209ECA25F6}"/>
              </a:ext>
            </a:extLst>
          </p:cNvPr>
          <p:cNvSpPr/>
          <p:nvPr/>
        </p:nvSpPr>
        <p:spPr>
          <a:xfrm rot="11058474" flipV="1">
            <a:off x="6149207" y="3691982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7" name="Freeform 106">
            <a:extLst>
              <a:ext uri="{FF2B5EF4-FFF2-40B4-BE49-F238E27FC236}">
                <a16:creationId xmlns:a16="http://schemas.microsoft.com/office/drawing/2014/main" id="{8C77FD07-B8C3-9840-AB3A-E76F1BBA577D}"/>
              </a:ext>
            </a:extLst>
          </p:cNvPr>
          <p:cNvSpPr/>
          <p:nvPr/>
        </p:nvSpPr>
        <p:spPr>
          <a:xfrm>
            <a:off x="9246217" y="447822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E57C1235-37F9-0F4E-99E2-8BEE58BF72EB}"/>
              </a:ext>
            </a:extLst>
          </p:cNvPr>
          <p:cNvSpPr/>
          <p:nvPr/>
        </p:nvSpPr>
        <p:spPr>
          <a:xfrm rot="10800000">
            <a:off x="7551237" y="447529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E959DE44-8E17-1741-B18C-FAFFA2073DC3}"/>
              </a:ext>
            </a:extLst>
          </p:cNvPr>
          <p:cNvSpPr/>
          <p:nvPr/>
        </p:nvSpPr>
        <p:spPr>
          <a:xfrm>
            <a:off x="9117486" y="449669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A8B399F1-9D0C-E641-82ED-AC721410EBF2}"/>
              </a:ext>
            </a:extLst>
          </p:cNvPr>
          <p:cNvSpPr/>
          <p:nvPr/>
        </p:nvSpPr>
        <p:spPr>
          <a:xfrm>
            <a:off x="8980173" y="449570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972BBBA-56D6-6C44-8042-6215AD16ED5F}"/>
              </a:ext>
            </a:extLst>
          </p:cNvPr>
          <p:cNvSpPr/>
          <p:nvPr/>
        </p:nvSpPr>
        <p:spPr>
          <a:xfrm>
            <a:off x="8836181" y="449459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F08B2173-9009-8243-9D9D-F079003C6EBB}"/>
              </a:ext>
            </a:extLst>
          </p:cNvPr>
          <p:cNvSpPr/>
          <p:nvPr/>
        </p:nvSpPr>
        <p:spPr>
          <a:xfrm>
            <a:off x="8698005" y="449459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505C5603-7635-404C-8126-A0A52E8319C4}"/>
              </a:ext>
            </a:extLst>
          </p:cNvPr>
          <p:cNvSpPr/>
          <p:nvPr/>
        </p:nvSpPr>
        <p:spPr>
          <a:xfrm>
            <a:off x="8556351" y="449459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FFCEC910-A995-4A40-B803-A5C005CB8132}"/>
              </a:ext>
            </a:extLst>
          </p:cNvPr>
          <p:cNvSpPr/>
          <p:nvPr/>
        </p:nvSpPr>
        <p:spPr>
          <a:xfrm>
            <a:off x="8424552" y="449639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CF4B7D5A-90B5-344C-A3F4-22B7D1EFEE04}"/>
              </a:ext>
            </a:extLst>
          </p:cNvPr>
          <p:cNvSpPr/>
          <p:nvPr/>
        </p:nvSpPr>
        <p:spPr>
          <a:xfrm>
            <a:off x="8286901" y="448754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05585FE3-2BC0-1F41-8E48-ECC5109A8922}"/>
              </a:ext>
            </a:extLst>
          </p:cNvPr>
          <p:cNvSpPr/>
          <p:nvPr/>
        </p:nvSpPr>
        <p:spPr>
          <a:xfrm>
            <a:off x="8148725" y="448754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3339DF4-6428-CA45-B377-04C2C9B19E56}"/>
              </a:ext>
            </a:extLst>
          </p:cNvPr>
          <p:cNvSpPr/>
          <p:nvPr/>
        </p:nvSpPr>
        <p:spPr>
          <a:xfrm>
            <a:off x="8007071" y="448754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400F4722-F6EB-DA47-B8F6-85A6C4C4DF11}"/>
              </a:ext>
            </a:extLst>
          </p:cNvPr>
          <p:cNvSpPr/>
          <p:nvPr/>
        </p:nvSpPr>
        <p:spPr>
          <a:xfrm>
            <a:off x="7875272" y="448934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F531653D-2C1B-784E-8341-7213D3493CE9}"/>
              </a:ext>
            </a:extLst>
          </p:cNvPr>
          <p:cNvSpPr/>
          <p:nvPr/>
        </p:nvSpPr>
        <p:spPr>
          <a:xfrm rot="787176" flipV="1">
            <a:off x="7129506" y="4652619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B0EF79-68D0-7143-8021-6856D5FDA433}"/>
              </a:ext>
            </a:extLst>
          </p:cNvPr>
          <p:cNvSpPr txBox="1"/>
          <p:nvPr/>
        </p:nvSpPr>
        <p:spPr>
          <a:xfrm>
            <a:off x="7154195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5ACD79F-4C54-1B42-A4C3-E323B9B6BB26}"/>
              </a:ext>
            </a:extLst>
          </p:cNvPr>
          <p:cNvSpPr txBox="1"/>
          <p:nvPr/>
        </p:nvSpPr>
        <p:spPr>
          <a:xfrm>
            <a:off x="8867724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61182DA-B27B-8446-A47C-4C60D86700DC}"/>
              </a:ext>
            </a:extLst>
          </p:cNvPr>
          <p:cNvGrpSpPr/>
          <p:nvPr/>
        </p:nvGrpSpPr>
        <p:grpSpPr>
          <a:xfrm>
            <a:off x="2817148" y="4055562"/>
            <a:ext cx="662687" cy="1336552"/>
            <a:chOff x="2147913" y="3875724"/>
            <a:chExt cx="833095" cy="1773455"/>
          </a:xfrm>
        </p:grpSpPr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975EB7A4-E2BB-9C41-A923-33BD1AF86C23}"/>
                </a:ext>
              </a:extLst>
            </p:cNvPr>
            <p:cNvSpPr/>
            <p:nvPr/>
          </p:nvSpPr>
          <p:spPr>
            <a:xfrm>
              <a:off x="2151038" y="3917758"/>
              <a:ext cx="103141" cy="355600"/>
            </a:xfrm>
            <a:prstGeom prst="roundRect">
              <a:avLst/>
            </a:prstGeom>
            <a:solidFill>
              <a:srgbClr val="FF7E79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252B28A8-9D17-9841-B633-1AD4DA122D6C}"/>
                </a:ext>
              </a:extLst>
            </p:cNvPr>
            <p:cNvSpPr/>
            <p:nvPr/>
          </p:nvSpPr>
          <p:spPr>
            <a:xfrm>
              <a:off x="2147914" y="4360070"/>
              <a:ext cx="103141" cy="355600"/>
            </a:xfrm>
            <a:prstGeom prst="roundRect">
              <a:avLst/>
            </a:pr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A1671666-5663-B04E-B11D-0FFD72D2E47D}"/>
                </a:ext>
              </a:extLst>
            </p:cNvPr>
            <p:cNvSpPr/>
            <p:nvPr/>
          </p:nvSpPr>
          <p:spPr>
            <a:xfrm>
              <a:off x="2147914" y="4813448"/>
              <a:ext cx="103141" cy="35560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6" name="Rounded Rectangle 125">
              <a:extLst>
                <a:ext uri="{FF2B5EF4-FFF2-40B4-BE49-F238E27FC236}">
                  <a16:creationId xmlns:a16="http://schemas.microsoft.com/office/drawing/2014/main" id="{61007415-856E-B64F-BD84-6311D2290642}"/>
                </a:ext>
              </a:extLst>
            </p:cNvPr>
            <p:cNvSpPr/>
            <p:nvPr/>
          </p:nvSpPr>
          <p:spPr>
            <a:xfrm>
              <a:off x="2147913" y="5259975"/>
              <a:ext cx="104795" cy="355600"/>
            </a:xfrm>
            <a:prstGeom prst="roundRect">
              <a:avLst/>
            </a:prstGeom>
            <a:solidFill>
              <a:srgbClr val="99FFC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EE9E177-6FAC-5241-966B-AA34EB750379}"/>
                </a:ext>
              </a:extLst>
            </p:cNvPr>
            <p:cNvSpPr txBox="1"/>
            <p:nvPr/>
          </p:nvSpPr>
          <p:spPr>
            <a:xfrm>
              <a:off x="2216426" y="3875724"/>
              <a:ext cx="7420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NG: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T</a:t>
              </a:r>
              <a:endParaRPr kumimoji="1" lang="zh-CN" altLang="en-US" sz="1400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D22C5BF-2782-9642-912B-BE90C7F1EE59}"/>
                </a:ext>
              </a:extLst>
            </p:cNvPr>
            <p:cNvSpPr txBox="1"/>
            <p:nvPr/>
          </p:nvSpPr>
          <p:spPr>
            <a:xfrm>
              <a:off x="2208778" y="4330435"/>
              <a:ext cx="6755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NI: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</a:t>
              </a:r>
              <a:endParaRPr kumimoji="1" lang="zh-CN" altLang="en-US" sz="1400" dirty="0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EA161A0-7014-3740-A254-BAB151049D85}"/>
                </a:ext>
              </a:extLst>
            </p:cNvPr>
            <p:cNvSpPr txBox="1"/>
            <p:nvPr/>
          </p:nvSpPr>
          <p:spPr>
            <a:xfrm>
              <a:off x="2216025" y="4785614"/>
              <a:ext cx="744019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HD: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C</a:t>
              </a:r>
              <a:endParaRPr kumimoji="1" lang="zh-CN" altLang="en-US" sz="1400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DF89E2A-EC00-3D4B-BED2-A77154F6E940}"/>
                </a:ext>
              </a:extLst>
            </p:cNvPr>
            <p:cNvSpPr txBox="1"/>
            <p:nvPr/>
          </p:nvSpPr>
          <p:spPr>
            <a:xfrm>
              <a:off x="2208778" y="5240793"/>
              <a:ext cx="772230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NH: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G</a:t>
              </a:r>
              <a:endParaRPr kumimoji="1" lang="zh-CN" altLang="en-US" sz="1400" dirty="0"/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787E4F1A-AD35-9542-9F15-297A0859792A}"/>
              </a:ext>
            </a:extLst>
          </p:cNvPr>
          <p:cNvSpPr txBox="1"/>
          <p:nvPr/>
        </p:nvSpPr>
        <p:spPr>
          <a:xfrm>
            <a:off x="2266052" y="3515023"/>
            <a:ext cx="16259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/>
              <a:t>Repeat variable diresidues (RVDs)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F405EBA-4F79-644F-93AB-E10DA1F39771}"/>
              </a:ext>
            </a:extLst>
          </p:cNvPr>
          <p:cNvSpPr txBox="1"/>
          <p:nvPr/>
        </p:nvSpPr>
        <p:spPr>
          <a:xfrm>
            <a:off x="0" y="5946429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633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3824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Summary: Protein-Guided Nucleases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10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2A0F9B-A800-8F45-BD89-E13375AA649D}"/>
              </a:ext>
            </a:extLst>
          </p:cNvPr>
          <p:cNvCxnSpPr/>
          <p:nvPr/>
        </p:nvCxnSpPr>
        <p:spPr>
          <a:xfrm>
            <a:off x="808692" y="229308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11E47A-6D6B-0743-8463-AE653EBFEBC2}"/>
              </a:ext>
            </a:extLst>
          </p:cNvPr>
          <p:cNvCxnSpPr/>
          <p:nvPr/>
        </p:nvCxnSpPr>
        <p:spPr>
          <a:xfrm>
            <a:off x="808692" y="260904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946E3A-6BFF-784C-B92A-3B3C1E15E4E3}"/>
              </a:ext>
            </a:extLst>
          </p:cNvPr>
          <p:cNvCxnSpPr>
            <a:cxnSpLocks/>
          </p:cNvCxnSpPr>
          <p:nvPr/>
        </p:nvCxnSpPr>
        <p:spPr>
          <a:xfrm>
            <a:off x="99527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ECF60E-2A22-9549-92AD-5D16DE57B275}"/>
              </a:ext>
            </a:extLst>
          </p:cNvPr>
          <p:cNvCxnSpPr>
            <a:cxnSpLocks/>
          </p:cNvCxnSpPr>
          <p:nvPr/>
        </p:nvCxnSpPr>
        <p:spPr>
          <a:xfrm>
            <a:off x="11400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0CA37D-C44C-B94F-A031-3C5DEDB97716}"/>
              </a:ext>
            </a:extLst>
          </p:cNvPr>
          <p:cNvCxnSpPr>
            <a:cxnSpLocks/>
          </p:cNvCxnSpPr>
          <p:nvPr/>
        </p:nvCxnSpPr>
        <p:spPr>
          <a:xfrm>
            <a:off x="127721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8CE2F9-151A-A547-A2A9-1DCD927AC735}"/>
              </a:ext>
            </a:extLst>
          </p:cNvPr>
          <p:cNvCxnSpPr>
            <a:cxnSpLocks/>
          </p:cNvCxnSpPr>
          <p:nvPr/>
        </p:nvCxnSpPr>
        <p:spPr>
          <a:xfrm>
            <a:off x="14067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C86B52-460C-D747-941F-E753642128D0}"/>
              </a:ext>
            </a:extLst>
          </p:cNvPr>
          <p:cNvCxnSpPr>
            <a:cxnSpLocks/>
          </p:cNvCxnSpPr>
          <p:nvPr/>
        </p:nvCxnSpPr>
        <p:spPr>
          <a:xfrm>
            <a:off x="153629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AD3B31-C2B9-AB44-8B2E-83784F380CCF}"/>
              </a:ext>
            </a:extLst>
          </p:cNvPr>
          <p:cNvCxnSpPr>
            <a:cxnSpLocks/>
          </p:cNvCxnSpPr>
          <p:nvPr/>
        </p:nvCxnSpPr>
        <p:spPr>
          <a:xfrm>
            <a:off x="167415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171C57-F134-D040-81E8-2FFE9DBE7326}"/>
              </a:ext>
            </a:extLst>
          </p:cNvPr>
          <p:cNvCxnSpPr>
            <a:cxnSpLocks/>
          </p:cNvCxnSpPr>
          <p:nvPr/>
        </p:nvCxnSpPr>
        <p:spPr>
          <a:xfrm>
            <a:off x="18189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37BAB2-8B69-1C4A-86BB-A49878F941B5}"/>
              </a:ext>
            </a:extLst>
          </p:cNvPr>
          <p:cNvCxnSpPr>
            <a:cxnSpLocks/>
          </p:cNvCxnSpPr>
          <p:nvPr/>
        </p:nvCxnSpPr>
        <p:spPr>
          <a:xfrm>
            <a:off x="195609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3C738E-66FF-E04D-878D-B21E7029796B}"/>
              </a:ext>
            </a:extLst>
          </p:cNvPr>
          <p:cNvCxnSpPr>
            <a:cxnSpLocks/>
          </p:cNvCxnSpPr>
          <p:nvPr/>
        </p:nvCxnSpPr>
        <p:spPr>
          <a:xfrm>
            <a:off x="20856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EB6507-5089-5845-BC15-187514BCA90C}"/>
              </a:ext>
            </a:extLst>
          </p:cNvPr>
          <p:cNvCxnSpPr>
            <a:cxnSpLocks/>
          </p:cNvCxnSpPr>
          <p:nvPr/>
        </p:nvCxnSpPr>
        <p:spPr>
          <a:xfrm>
            <a:off x="221517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5522E-15B2-B84C-A952-328BA5D78FA5}"/>
              </a:ext>
            </a:extLst>
          </p:cNvPr>
          <p:cNvCxnSpPr>
            <a:cxnSpLocks/>
          </p:cNvCxnSpPr>
          <p:nvPr/>
        </p:nvCxnSpPr>
        <p:spPr>
          <a:xfrm>
            <a:off x="235302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D9A68BB-1269-8547-8059-E75F5BC54CA3}"/>
              </a:ext>
            </a:extLst>
          </p:cNvPr>
          <p:cNvCxnSpPr>
            <a:cxnSpLocks/>
          </p:cNvCxnSpPr>
          <p:nvPr/>
        </p:nvCxnSpPr>
        <p:spPr>
          <a:xfrm>
            <a:off x="24978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EE2218-2A37-CF4A-A120-09DB593CD08D}"/>
              </a:ext>
            </a:extLst>
          </p:cNvPr>
          <p:cNvCxnSpPr>
            <a:cxnSpLocks/>
          </p:cNvCxnSpPr>
          <p:nvPr/>
        </p:nvCxnSpPr>
        <p:spPr>
          <a:xfrm>
            <a:off x="263496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8AF46DE-7F6B-6B41-AF8E-C67D79EF7880}"/>
              </a:ext>
            </a:extLst>
          </p:cNvPr>
          <p:cNvCxnSpPr>
            <a:cxnSpLocks/>
          </p:cNvCxnSpPr>
          <p:nvPr/>
        </p:nvCxnSpPr>
        <p:spPr>
          <a:xfrm>
            <a:off x="27645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BF926E4-6FF7-5041-A4EA-3D616BEDBA89}"/>
              </a:ext>
            </a:extLst>
          </p:cNvPr>
          <p:cNvCxnSpPr>
            <a:cxnSpLocks/>
          </p:cNvCxnSpPr>
          <p:nvPr/>
        </p:nvCxnSpPr>
        <p:spPr>
          <a:xfrm>
            <a:off x="289404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616140-6735-204F-ADF7-AA13397B138D}"/>
              </a:ext>
            </a:extLst>
          </p:cNvPr>
          <p:cNvCxnSpPr>
            <a:cxnSpLocks/>
          </p:cNvCxnSpPr>
          <p:nvPr/>
        </p:nvCxnSpPr>
        <p:spPr>
          <a:xfrm>
            <a:off x="303189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4C833B-5EAB-CF42-8EE4-3622D65623CA}"/>
              </a:ext>
            </a:extLst>
          </p:cNvPr>
          <p:cNvCxnSpPr>
            <a:cxnSpLocks/>
          </p:cNvCxnSpPr>
          <p:nvPr/>
        </p:nvCxnSpPr>
        <p:spPr>
          <a:xfrm>
            <a:off x="31766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271BE-E63E-B34B-BD76-5F59D1458054}"/>
              </a:ext>
            </a:extLst>
          </p:cNvPr>
          <p:cNvCxnSpPr>
            <a:cxnSpLocks/>
          </p:cNvCxnSpPr>
          <p:nvPr/>
        </p:nvCxnSpPr>
        <p:spPr>
          <a:xfrm>
            <a:off x="331383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08EA02-74A2-824B-82BF-D0256F39C39D}"/>
              </a:ext>
            </a:extLst>
          </p:cNvPr>
          <p:cNvCxnSpPr>
            <a:cxnSpLocks/>
          </p:cNvCxnSpPr>
          <p:nvPr/>
        </p:nvCxnSpPr>
        <p:spPr>
          <a:xfrm>
            <a:off x="34433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8C9259-30A7-5941-B5AB-0614EDCA7B1B}"/>
              </a:ext>
            </a:extLst>
          </p:cNvPr>
          <p:cNvCxnSpPr>
            <a:cxnSpLocks/>
          </p:cNvCxnSpPr>
          <p:nvPr/>
        </p:nvCxnSpPr>
        <p:spPr>
          <a:xfrm>
            <a:off x="357291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9DD92E-F6CC-3545-A42E-1677BB245F4A}"/>
              </a:ext>
            </a:extLst>
          </p:cNvPr>
          <p:cNvCxnSpPr>
            <a:cxnSpLocks/>
          </p:cNvCxnSpPr>
          <p:nvPr/>
        </p:nvCxnSpPr>
        <p:spPr>
          <a:xfrm>
            <a:off x="371077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D1441B4-385E-C74A-B3E1-91B1592BF009}"/>
              </a:ext>
            </a:extLst>
          </p:cNvPr>
          <p:cNvCxnSpPr>
            <a:cxnSpLocks/>
          </p:cNvCxnSpPr>
          <p:nvPr/>
        </p:nvCxnSpPr>
        <p:spPr>
          <a:xfrm>
            <a:off x="38555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9E3E861-040C-5A4B-B067-F7F728A3E6AA}"/>
              </a:ext>
            </a:extLst>
          </p:cNvPr>
          <p:cNvCxnSpPr>
            <a:cxnSpLocks/>
          </p:cNvCxnSpPr>
          <p:nvPr/>
        </p:nvCxnSpPr>
        <p:spPr>
          <a:xfrm>
            <a:off x="399271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87947DE-8F0E-1E47-BFA4-94AB70D44EBC}"/>
              </a:ext>
            </a:extLst>
          </p:cNvPr>
          <p:cNvCxnSpPr>
            <a:cxnSpLocks/>
          </p:cNvCxnSpPr>
          <p:nvPr/>
        </p:nvCxnSpPr>
        <p:spPr>
          <a:xfrm>
            <a:off x="41222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C0B7D0-5219-034A-BA1C-5471CFA03C76}"/>
              </a:ext>
            </a:extLst>
          </p:cNvPr>
          <p:cNvCxnSpPr>
            <a:cxnSpLocks/>
          </p:cNvCxnSpPr>
          <p:nvPr/>
        </p:nvCxnSpPr>
        <p:spPr>
          <a:xfrm>
            <a:off x="425179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DB72E18-4174-234B-8A06-2D9340EF7B9B}"/>
              </a:ext>
            </a:extLst>
          </p:cNvPr>
          <p:cNvCxnSpPr>
            <a:cxnSpLocks/>
          </p:cNvCxnSpPr>
          <p:nvPr/>
        </p:nvCxnSpPr>
        <p:spPr>
          <a:xfrm>
            <a:off x="43820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AFE885B-58B8-EC45-A3A8-61232D66CE81}"/>
              </a:ext>
            </a:extLst>
          </p:cNvPr>
          <p:cNvCxnSpPr>
            <a:cxnSpLocks/>
          </p:cNvCxnSpPr>
          <p:nvPr/>
        </p:nvCxnSpPr>
        <p:spPr>
          <a:xfrm>
            <a:off x="451918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8C1E10-890A-904C-871A-B02A76810DCC}"/>
              </a:ext>
            </a:extLst>
          </p:cNvPr>
          <p:cNvCxnSpPr>
            <a:cxnSpLocks/>
          </p:cNvCxnSpPr>
          <p:nvPr/>
        </p:nvCxnSpPr>
        <p:spPr>
          <a:xfrm>
            <a:off x="46487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852855-9E61-AB46-B9A5-A0002199DC27}"/>
              </a:ext>
            </a:extLst>
          </p:cNvPr>
          <p:cNvCxnSpPr>
            <a:cxnSpLocks/>
          </p:cNvCxnSpPr>
          <p:nvPr/>
        </p:nvCxnSpPr>
        <p:spPr>
          <a:xfrm>
            <a:off x="4778263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F1999BB-14CF-314D-AD4F-EE5144E1D1D3}"/>
              </a:ext>
            </a:extLst>
          </p:cNvPr>
          <p:cNvCxnSpPr>
            <a:cxnSpLocks/>
          </p:cNvCxnSpPr>
          <p:nvPr/>
        </p:nvCxnSpPr>
        <p:spPr>
          <a:xfrm>
            <a:off x="491611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BF0046-D690-CB48-B9D6-8A70AEDCB549}"/>
              </a:ext>
            </a:extLst>
          </p:cNvPr>
          <p:cNvCxnSpPr>
            <a:cxnSpLocks/>
          </p:cNvCxnSpPr>
          <p:nvPr/>
        </p:nvCxnSpPr>
        <p:spPr>
          <a:xfrm>
            <a:off x="50608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DA487A9-2F19-AA4E-A69A-ED478298CCA2}"/>
              </a:ext>
            </a:extLst>
          </p:cNvPr>
          <p:cNvCxnSpPr>
            <a:cxnSpLocks/>
          </p:cNvCxnSpPr>
          <p:nvPr/>
        </p:nvCxnSpPr>
        <p:spPr>
          <a:xfrm>
            <a:off x="519805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9696660-92B6-A145-8A2A-51F1086B7620}"/>
              </a:ext>
            </a:extLst>
          </p:cNvPr>
          <p:cNvCxnSpPr>
            <a:cxnSpLocks/>
          </p:cNvCxnSpPr>
          <p:nvPr/>
        </p:nvCxnSpPr>
        <p:spPr>
          <a:xfrm>
            <a:off x="53275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D70F5D0-A094-D141-AD37-31EF73C237E5}"/>
              </a:ext>
            </a:extLst>
          </p:cNvPr>
          <p:cNvCxnSpPr>
            <a:cxnSpLocks/>
          </p:cNvCxnSpPr>
          <p:nvPr/>
        </p:nvCxnSpPr>
        <p:spPr>
          <a:xfrm>
            <a:off x="545713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E8182AA-9A3E-6149-B879-00CCF59ECD78}"/>
              </a:ext>
            </a:extLst>
          </p:cNvPr>
          <p:cNvCxnSpPr>
            <a:cxnSpLocks/>
          </p:cNvCxnSpPr>
          <p:nvPr/>
        </p:nvCxnSpPr>
        <p:spPr>
          <a:xfrm>
            <a:off x="559498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2CD8FD-B93D-F440-A860-C4DC42B851E8}"/>
              </a:ext>
            </a:extLst>
          </p:cNvPr>
          <p:cNvCxnSpPr>
            <a:cxnSpLocks/>
          </p:cNvCxnSpPr>
          <p:nvPr/>
        </p:nvCxnSpPr>
        <p:spPr>
          <a:xfrm>
            <a:off x="57397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325DE8-A33C-7C42-89BE-5587F49160A0}"/>
              </a:ext>
            </a:extLst>
          </p:cNvPr>
          <p:cNvCxnSpPr>
            <a:cxnSpLocks/>
          </p:cNvCxnSpPr>
          <p:nvPr/>
        </p:nvCxnSpPr>
        <p:spPr>
          <a:xfrm>
            <a:off x="587692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9F4D8BF-6210-5D41-BF0D-C065D33B21EC}"/>
              </a:ext>
            </a:extLst>
          </p:cNvPr>
          <p:cNvCxnSpPr>
            <a:cxnSpLocks/>
          </p:cNvCxnSpPr>
          <p:nvPr/>
        </p:nvCxnSpPr>
        <p:spPr>
          <a:xfrm>
            <a:off x="60064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33D809A-A525-8A48-ABF8-4D227B75B8A6}"/>
              </a:ext>
            </a:extLst>
          </p:cNvPr>
          <p:cNvCxnSpPr>
            <a:cxnSpLocks/>
          </p:cNvCxnSpPr>
          <p:nvPr/>
        </p:nvCxnSpPr>
        <p:spPr>
          <a:xfrm>
            <a:off x="613600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E42D398-D702-604D-93E8-C2688CAB5031}"/>
              </a:ext>
            </a:extLst>
          </p:cNvPr>
          <p:cNvCxnSpPr/>
          <p:nvPr/>
        </p:nvCxnSpPr>
        <p:spPr>
          <a:xfrm>
            <a:off x="648919" y="246691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008C8AB-47E6-DA48-ADFB-D720EE764DBF}"/>
              </a:ext>
            </a:extLst>
          </p:cNvPr>
          <p:cNvSpPr txBox="1"/>
          <p:nvPr/>
        </p:nvSpPr>
        <p:spPr>
          <a:xfrm>
            <a:off x="449298" y="21084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534512-00B0-C847-A298-A9303F0411D4}"/>
              </a:ext>
            </a:extLst>
          </p:cNvPr>
          <p:cNvSpPr txBox="1"/>
          <p:nvPr/>
        </p:nvSpPr>
        <p:spPr>
          <a:xfrm>
            <a:off x="449298" y="242644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A892B4-EBB2-8E4C-BA18-BBFFF3E1DCC0}"/>
              </a:ext>
            </a:extLst>
          </p:cNvPr>
          <p:cNvSpPr txBox="1"/>
          <p:nvPr/>
        </p:nvSpPr>
        <p:spPr>
          <a:xfrm>
            <a:off x="6281326" y="242329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0FA3D-AB45-A94F-81C1-C62489ADB802}"/>
              </a:ext>
            </a:extLst>
          </p:cNvPr>
          <p:cNvSpPr txBox="1"/>
          <p:nvPr/>
        </p:nvSpPr>
        <p:spPr>
          <a:xfrm>
            <a:off x="6282439" y="210890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7F41C1D0-AADE-6E40-BE68-CBFE696B23DB}"/>
              </a:ext>
            </a:extLst>
          </p:cNvPr>
          <p:cNvSpPr/>
          <p:nvPr/>
        </p:nvSpPr>
        <p:spPr>
          <a:xfrm>
            <a:off x="3545713" y="219343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2D8C4CB4-6F49-3449-8FD0-7DF672DB4B0C}"/>
              </a:ext>
            </a:extLst>
          </p:cNvPr>
          <p:cNvSpPr/>
          <p:nvPr/>
        </p:nvSpPr>
        <p:spPr>
          <a:xfrm>
            <a:off x="1763307" y="270868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52B4BC94-2AF5-EF40-A9BA-B536CBD615E5}"/>
              </a:ext>
            </a:extLst>
          </p:cNvPr>
          <p:cNvSpPr/>
          <p:nvPr/>
        </p:nvSpPr>
        <p:spPr>
          <a:xfrm>
            <a:off x="2173755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E9B4074D-5670-9841-A580-66293886350A}"/>
              </a:ext>
            </a:extLst>
          </p:cNvPr>
          <p:cNvSpPr/>
          <p:nvPr/>
        </p:nvSpPr>
        <p:spPr>
          <a:xfrm>
            <a:off x="2593120" y="2696797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4206E9E0-56A0-6F42-868C-C6EE9FCE3AF0}"/>
              </a:ext>
            </a:extLst>
          </p:cNvPr>
          <p:cNvSpPr/>
          <p:nvPr/>
        </p:nvSpPr>
        <p:spPr>
          <a:xfrm>
            <a:off x="2991308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684E568-1640-3B49-AD32-B6180E4C4AE2}"/>
              </a:ext>
            </a:extLst>
          </p:cNvPr>
          <p:cNvGrpSpPr/>
          <p:nvPr/>
        </p:nvGrpSpPr>
        <p:grpSpPr>
          <a:xfrm>
            <a:off x="3365579" y="1801389"/>
            <a:ext cx="2518671" cy="793133"/>
            <a:chOff x="8308639" y="3431406"/>
            <a:chExt cx="2518671" cy="793133"/>
          </a:xfrm>
        </p:grpSpPr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83F66F3-0C99-AE45-B328-8607E20F6109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BF48A6B-8EE7-B845-A2BB-9F301BBC37FC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F64A46A-9BBE-904B-B5B6-CD0BCDAE70C9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DE1769B-2145-6945-A1D0-5E286D0464A0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1AF418-34AA-F34D-B0FA-5FD6EB81783D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02E3E71C-C431-644D-9B27-AB22FEA9CCF6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C9FB3AF-0C94-4341-8A21-E075EF04B735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DECD7E9-C82C-8541-95F4-3D6C5DFE2CE9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D4DE462-38DD-4040-95DC-5E9B262135C7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71" name="Freeform 70">
            <a:extLst>
              <a:ext uri="{FF2B5EF4-FFF2-40B4-BE49-F238E27FC236}">
                <a16:creationId xmlns:a16="http://schemas.microsoft.com/office/drawing/2014/main" id="{6D827F1C-6574-8140-9F29-50C11CA97406}"/>
              </a:ext>
            </a:extLst>
          </p:cNvPr>
          <p:cNvSpPr/>
          <p:nvPr/>
        </p:nvSpPr>
        <p:spPr>
          <a:xfrm rot="20361174" flipV="1">
            <a:off x="3307141" y="2891710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Freeform 71">
            <a:extLst>
              <a:ext uri="{FF2B5EF4-FFF2-40B4-BE49-F238E27FC236}">
                <a16:creationId xmlns:a16="http://schemas.microsoft.com/office/drawing/2014/main" id="{247E7DB8-20E9-314E-A63E-C821FCC128D2}"/>
              </a:ext>
            </a:extLst>
          </p:cNvPr>
          <p:cNvSpPr/>
          <p:nvPr/>
        </p:nvSpPr>
        <p:spPr>
          <a:xfrm rot="20361174" flipV="1">
            <a:off x="2835503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D205603-16A4-AC41-B72E-AF166A0A868C}"/>
              </a:ext>
            </a:extLst>
          </p:cNvPr>
          <p:cNvSpPr/>
          <p:nvPr/>
        </p:nvSpPr>
        <p:spPr>
          <a:xfrm rot="9967244" flipV="1">
            <a:off x="2450185" y="2667917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8F70C25D-1077-CA44-811B-B77B3C6DE551}"/>
              </a:ext>
            </a:extLst>
          </p:cNvPr>
          <p:cNvSpPr/>
          <p:nvPr/>
        </p:nvSpPr>
        <p:spPr>
          <a:xfrm rot="20361174" flipV="1">
            <a:off x="2023046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5" name="Lightning Bolt 74">
            <a:extLst>
              <a:ext uri="{FF2B5EF4-FFF2-40B4-BE49-F238E27FC236}">
                <a16:creationId xmlns:a16="http://schemas.microsoft.com/office/drawing/2014/main" id="{0AE70164-A7E3-7842-968A-212B2EA4C4AC}"/>
              </a:ext>
            </a:extLst>
          </p:cNvPr>
          <p:cNvSpPr/>
          <p:nvPr/>
        </p:nvSpPr>
        <p:spPr>
          <a:xfrm flipH="1">
            <a:off x="3838903" y="161099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3F2C7BB-E90A-3644-9D5E-32FC319897C3}"/>
              </a:ext>
            </a:extLst>
          </p:cNvPr>
          <p:cNvCxnSpPr>
            <a:cxnSpLocks/>
          </p:cNvCxnSpPr>
          <p:nvPr/>
        </p:nvCxnSpPr>
        <p:spPr>
          <a:xfrm>
            <a:off x="872040" y="4219398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13752CF-F5EB-6B42-B4A4-DECB01F4F881}"/>
              </a:ext>
            </a:extLst>
          </p:cNvPr>
          <p:cNvCxnSpPr/>
          <p:nvPr/>
        </p:nvCxnSpPr>
        <p:spPr>
          <a:xfrm>
            <a:off x="872040" y="4535354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C992AC-8BD2-8449-BD9A-66A5AA2C64E2}"/>
              </a:ext>
            </a:extLst>
          </p:cNvPr>
          <p:cNvCxnSpPr>
            <a:cxnSpLocks/>
          </p:cNvCxnSpPr>
          <p:nvPr/>
        </p:nvCxnSpPr>
        <p:spPr>
          <a:xfrm>
            <a:off x="105862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4274E06-4D29-6942-A6BD-780A1F48886B}"/>
              </a:ext>
            </a:extLst>
          </p:cNvPr>
          <p:cNvCxnSpPr>
            <a:cxnSpLocks/>
          </p:cNvCxnSpPr>
          <p:nvPr/>
        </p:nvCxnSpPr>
        <p:spPr>
          <a:xfrm>
            <a:off x="12034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AD78413-6C29-C14D-B8BA-4C179F9DA174}"/>
              </a:ext>
            </a:extLst>
          </p:cNvPr>
          <p:cNvCxnSpPr>
            <a:cxnSpLocks/>
          </p:cNvCxnSpPr>
          <p:nvPr/>
        </p:nvCxnSpPr>
        <p:spPr>
          <a:xfrm>
            <a:off x="134056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8B0D709-C49F-8745-9FB8-6E2DD250EEF2}"/>
              </a:ext>
            </a:extLst>
          </p:cNvPr>
          <p:cNvCxnSpPr>
            <a:cxnSpLocks/>
          </p:cNvCxnSpPr>
          <p:nvPr/>
        </p:nvCxnSpPr>
        <p:spPr>
          <a:xfrm>
            <a:off x="14701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38AF168-B20C-9E48-A2C5-C3FD30A2A641}"/>
              </a:ext>
            </a:extLst>
          </p:cNvPr>
          <p:cNvCxnSpPr>
            <a:cxnSpLocks/>
          </p:cNvCxnSpPr>
          <p:nvPr/>
        </p:nvCxnSpPr>
        <p:spPr>
          <a:xfrm>
            <a:off x="159964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2CF82A4-4CE2-EC4C-9F4B-903174412CE6}"/>
              </a:ext>
            </a:extLst>
          </p:cNvPr>
          <p:cNvCxnSpPr>
            <a:cxnSpLocks/>
          </p:cNvCxnSpPr>
          <p:nvPr/>
        </p:nvCxnSpPr>
        <p:spPr>
          <a:xfrm>
            <a:off x="173750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0C01C71-9437-2847-A865-94D467E15BB0}"/>
              </a:ext>
            </a:extLst>
          </p:cNvPr>
          <p:cNvCxnSpPr>
            <a:cxnSpLocks/>
          </p:cNvCxnSpPr>
          <p:nvPr/>
        </p:nvCxnSpPr>
        <p:spPr>
          <a:xfrm>
            <a:off x="18822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B87907C-4FAD-3544-A119-6E0226A2A553}"/>
              </a:ext>
            </a:extLst>
          </p:cNvPr>
          <p:cNvCxnSpPr>
            <a:cxnSpLocks/>
          </p:cNvCxnSpPr>
          <p:nvPr/>
        </p:nvCxnSpPr>
        <p:spPr>
          <a:xfrm>
            <a:off x="201944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F9D9B48-BB0E-F545-9F64-32F5A4E9DCC7}"/>
              </a:ext>
            </a:extLst>
          </p:cNvPr>
          <p:cNvCxnSpPr>
            <a:cxnSpLocks/>
          </p:cNvCxnSpPr>
          <p:nvPr/>
        </p:nvCxnSpPr>
        <p:spPr>
          <a:xfrm>
            <a:off x="21489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B2CEEF2-D8A7-7542-8AD3-9C192BE5ED2C}"/>
              </a:ext>
            </a:extLst>
          </p:cNvPr>
          <p:cNvCxnSpPr>
            <a:cxnSpLocks/>
          </p:cNvCxnSpPr>
          <p:nvPr/>
        </p:nvCxnSpPr>
        <p:spPr>
          <a:xfrm>
            <a:off x="227852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261E8D0-2688-2D4B-94AE-B75D3CE535BF}"/>
              </a:ext>
            </a:extLst>
          </p:cNvPr>
          <p:cNvCxnSpPr>
            <a:cxnSpLocks/>
          </p:cNvCxnSpPr>
          <p:nvPr/>
        </p:nvCxnSpPr>
        <p:spPr>
          <a:xfrm>
            <a:off x="241637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7633437-7E1B-624C-9820-69F0B429AA76}"/>
              </a:ext>
            </a:extLst>
          </p:cNvPr>
          <p:cNvCxnSpPr>
            <a:cxnSpLocks/>
          </p:cNvCxnSpPr>
          <p:nvPr/>
        </p:nvCxnSpPr>
        <p:spPr>
          <a:xfrm>
            <a:off x="25611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8F4627C-AFF1-0045-BD6B-68621A9681FC}"/>
              </a:ext>
            </a:extLst>
          </p:cNvPr>
          <p:cNvCxnSpPr>
            <a:cxnSpLocks/>
          </p:cNvCxnSpPr>
          <p:nvPr/>
        </p:nvCxnSpPr>
        <p:spPr>
          <a:xfrm>
            <a:off x="269831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F7EC3D3-10B2-A941-88BE-08E58AA9545B}"/>
              </a:ext>
            </a:extLst>
          </p:cNvPr>
          <p:cNvCxnSpPr>
            <a:cxnSpLocks/>
          </p:cNvCxnSpPr>
          <p:nvPr/>
        </p:nvCxnSpPr>
        <p:spPr>
          <a:xfrm>
            <a:off x="28278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44BAC2A-FBA9-C544-939B-32E8B63DC0DC}"/>
              </a:ext>
            </a:extLst>
          </p:cNvPr>
          <p:cNvCxnSpPr>
            <a:cxnSpLocks/>
          </p:cNvCxnSpPr>
          <p:nvPr/>
        </p:nvCxnSpPr>
        <p:spPr>
          <a:xfrm>
            <a:off x="295739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2436750-88FC-CD49-ADCE-B4D8F09369E4}"/>
              </a:ext>
            </a:extLst>
          </p:cNvPr>
          <p:cNvCxnSpPr>
            <a:cxnSpLocks/>
          </p:cNvCxnSpPr>
          <p:nvPr/>
        </p:nvCxnSpPr>
        <p:spPr>
          <a:xfrm>
            <a:off x="309524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51B5EB7-EB35-634F-AAA4-41FCA9A9944F}"/>
              </a:ext>
            </a:extLst>
          </p:cNvPr>
          <p:cNvCxnSpPr>
            <a:cxnSpLocks/>
          </p:cNvCxnSpPr>
          <p:nvPr/>
        </p:nvCxnSpPr>
        <p:spPr>
          <a:xfrm>
            <a:off x="32400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50489DA-240F-9C40-A495-CFF31803EAF0}"/>
              </a:ext>
            </a:extLst>
          </p:cNvPr>
          <p:cNvCxnSpPr>
            <a:cxnSpLocks/>
          </p:cNvCxnSpPr>
          <p:nvPr/>
        </p:nvCxnSpPr>
        <p:spPr>
          <a:xfrm>
            <a:off x="337718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9B716DE-D47B-7F4F-B28A-3E86507B006F}"/>
              </a:ext>
            </a:extLst>
          </p:cNvPr>
          <p:cNvCxnSpPr>
            <a:cxnSpLocks/>
          </p:cNvCxnSpPr>
          <p:nvPr/>
        </p:nvCxnSpPr>
        <p:spPr>
          <a:xfrm>
            <a:off x="35067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7371EAE-0802-F441-86BE-6A7CC5FF8503}"/>
              </a:ext>
            </a:extLst>
          </p:cNvPr>
          <p:cNvCxnSpPr>
            <a:cxnSpLocks/>
          </p:cNvCxnSpPr>
          <p:nvPr/>
        </p:nvCxnSpPr>
        <p:spPr>
          <a:xfrm>
            <a:off x="363626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17BA93A-196A-6642-9597-401F8262D4B9}"/>
              </a:ext>
            </a:extLst>
          </p:cNvPr>
          <p:cNvCxnSpPr>
            <a:cxnSpLocks/>
          </p:cNvCxnSpPr>
          <p:nvPr/>
        </p:nvCxnSpPr>
        <p:spPr>
          <a:xfrm>
            <a:off x="377411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35F98C4-A36A-E445-89B8-F2DAEEACE20A}"/>
              </a:ext>
            </a:extLst>
          </p:cNvPr>
          <p:cNvCxnSpPr>
            <a:cxnSpLocks/>
          </p:cNvCxnSpPr>
          <p:nvPr/>
        </p:nvCxnSpPr>
        <p:spPr>
          <a:xfrm>
            <a:off x="39188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419C1A8-9537-CF49-AB6A-5F8308C8075C}"/>
              </a:ext>
            </a:extLst>
          </p:cNvPr>
          <p:cNvCxnSpPr>
            <a:cxnSpLocks/>
          </p:cNvCxnSpPr>
          <p:nvPr/>
        </p:nvCxnSpPr>
        <p:spPr>
          <a:xfrm>
            <a:off x="405605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2DEC512E-333A-1B4C-A32D-C024A132BB75}"/>
              </a:ext>
            </a:extLst>
          </p:cNvPr>
          <p:cNvCxnSpPr>
            <a:cxnSpLocks/>
          </p:cNvCxnSpPr>
          <p:nvPr/>
        </p:nvCxnSpPr>
        <p:spPr>
          <a:xfrm>
            <a:off x="41855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2B51657-3ADF-3C41-88CF-DCEE58A431DB}"/>
              </a:ext>
            </a:extLst>
          </p:cNvPr>
          <p:cNvCxnSpPr>
            <a:cxnSpLocks/>
          </p:cNvCxnSpPr>
          <p:nvPr/>
        </p:nvCxnSpPr>
        <p:spPr>
          <a:xfrm>
            <a:off x="431513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F9D82E-5B5C-4E4E-A30D-D45FCD5900BC}"/>
              </a:ext>
            </a:extLst>
          </p:cNvPr>
          <p:cNvCxnSpPr>
            <a:cxnSpLocks/>
          </p:cNvCxnSpPr>
          <p:nvPr/>
        </p:nvCxnSpPr>
        <p:spPr>
          <a:xfrm>
            <a:off x="44453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230F7D6B-D560-F84B-9F90-37D07E15E427}"/>
              </a:ext>
            </a:extLst>
          </p:cNvPr>
          <p:cNvCxnSpPr>
            <a:cxnSpLocks/>
          </p:cNvCxnSpPr>
          <p:nvPr/>
        </p:nvCxnSpPr>
        <p:spPr>
          <a:xfrm>
            <a:off x="458253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5F907BB-C602-184E-A877-CEF37A532F14}"/>
              </a:ext>
            </a:extLst>
          </p:cNvPr>
          <p:cNvCxnSpPr>
            <a:cxnSpLocks/>
          </p:cNvCxnSpPr>
          <p:nvPr/>
        </p:nvCxnSpPr>
        <p:spPr>
          <a:xfrm>
            <a:off x="47120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6F9FD34-4DD1-4F45-A824-9FE3F47F9254}"/>
              </a:ext>
            </a:extLst>
          </p:cNvPr>
          <p:cNvCxnSpPr>
            <a:cxnSpLocks/>
          </p:cNvCxnSpPr>
          <p:nvPr/>
        </p:nvCxnSpPr>
        <p:spPr>
          <a:xfrm>
            <a:off x="4841611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EDB9B27-9069-6F4B-A0B2-C507C5F5A728}"/>
              </a:ext>
            </a:extLst>
          </p:cNvPr>
          <p:cNvCxnSpPr>
            <a:cxnSpLocks/>
          </p:cNvCxnSpPr>
          <p:nvPr/>
        </p:nvCxnSpPr>
        <p:spPr>
          <a:xfrm>
            <a:off x="497946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C1055-6D9B-8F4F-8E75-025095A39F63}"/>
              </a:ext>
            </a:extLst>
          </p:cNvPr>
          <p:cNvCxnSpPr>
            <a:cxnSpLocks/>
          </p:cNvCxnSpPr>
          <p:nvPr/>
        </p:nvCxnSpPr>
        <p:spPr>
          <a:xfrm>
            <a:off x="51242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4B4C502-5030-B041-B456-1673935017A4}"/>
              </a:ext>
            </a:extLst>
          </p:cNvPr>
          <p:cNvCxnSpPr>
            <a:cxnSpLocks/>
          </p:cNvCxnSpPr>
          <p:nvPr/>
        </p:nvCxnSpPr>
        <p:spPr>
          <a:xfrm>
            <a:off x="526140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8A01530-5855-534C-9235-988590ACF9B6}"/>
              </a:ext>
            </a:extLst>
          </p:cNvPr>
          <p:cNvCxnSpPr>
            <a:cxnSpLocks/>
          </p:cNvCxnSpPr>
          <p:nvPr/>
        </p:nvCxnSpPr>
        <p:spPr>
          <a:xfrm>
            <a:off x="53909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A6AD419-01ED-764F-9BE7-1739F575CBD5}"/>
              </a:ext>
            </a:extLst>
          </p:cNvPr>
          <p:cNvCxnSpPr>
            <a:cxnSpLocks/>
          </p:cNvCxnSpPr>
          <p:nvPr/>
        </p:nvCxnSpPr>
        <p:spPr>
          <a:xfrm>
            <a:off x="552048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33DA583-A56E-4A46-9AE1-A976FDFFE8B3}"/>
              </a:ext>
            </a:extLst>
          </p:cNvPr>
          <p:cNvCxnSpPr>
            <a:cxnSpLocks/>
          </p:cNvCxnSpPr>
          <p:nvPr/>
        </p:nvCxnSpPr>
        <p:spPr>
          <a:xfrm>
            <a:off x="565833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FC8B7-22BC-8C4D-8A78-1A2AB11D7C5E}"/>
              </a:ext>
            </a:extLst>
          </p:cNvPr>
          <p:cNvCxnSpPr>
            <a:cxnSpLocks/>
          </p:cNvCxnSpPr>
          <p:nvPr/>
        </p:nvCxnSpPr>
        <p:spPr>
          <a:xfrm>
            <a:off x="58031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C21564-3C9B-D140-9A17-C397DB98D5A6}"/>
              </a:ext>
            </a:extLst>
          </p:cNvPr>
          <p:cNvCxnSpPr>
            <a:cxnSpLocks/>
          </p:cNvCxnSpPr>
          <p:nvPr/>
        </p:nvCxnSpPr>
        <p:spPr>
          <a:xfrm>
            <a:off x="594027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86087C3-0ED2-3B41-BE6D-A52B574B2A12}"/>
              </a:ext>
            </a:extLst>
          </p:cNvPr>
          <p:cNvCxnSpPr>
            <a:cxnSpLocks/>
          </p:cNvCxnSpPr>
          <p:nvPr/>
        </p:nvCxnSpPr>
        <p:spPr>
          <a:xfrm>
            <a:off x="60698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0ED76E5-6187-AD4D-9301-0B4CCE8A5F97}"/>
              </a:ext>
            </a:extLst>
          </p:cNvPr>
          <p:cNvCxnSpPr>
            <a:cxnSpLocks/>
          </p:cNvCxnSpPr>
          <p:nvPr/>
        </p:nvCxnSpPr>
        <p:spPr>
          <a:xfrm>
            <a:off x="619935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FA277CAA-7522-D743-AA1C-28299319F175}"/>
              </a:ext>
            </a:extLst>
          </p:cNvPr>
          <p:cNvCxnSpPr/>
          <p:nvPr/>
        </p:nvCxnSpPr>
        <p:spPr>
          <a:xfrm>
            <a:off x="712267" y="4393223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E94AF451-22D2-6248-83C2-403E5886334E}"/>
              </a:ext>
            </a:extLst>
          </p:cNvPr>
          <p:cNvSpPr txBox="1"/>
          <p:nvPr/>
        </p:nvSpPr>
        <p:spPr>
          <a:xfrm>
            <a:off x="512646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838463F-CC11-D94F-8937-73B18BCAAC71}"/>
              </a:ext>
            </a:extLst>
          </p:cNvPr>
          <p:cNvSpPr txBox="1"/>
          <p:nvPr/>
        </p:nvSpPr>
        <p:spPr>
          <a:xfrm>
            <a:off x="512646" y="435275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3AF208A-68A8-574D-BBA3-0F254CA4EB18}"/>
              </a:ext>
            </a:extLst>
          </p:cNvPr>
          <p:cNvSpPr txBox="1"/>
          <p:nvPr/>
        </p:nvSpPr>
        <p:spPr>
          <a:xfrm>
            <a:off x="6366710" y="4355144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346304-CF9B-034E-9169-7F8A8F912EC8}"/>
              </a:ext>
            </a:extLst>
          </p:cNvPr>
          <p:cNvSpPr txBox="1"/>
          <p:nvPr/>
        </p:nvSpPr>
        <p:spPr>
          <a:xfrm>
            <a:off x="6366710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FB2D1995-8B29-164C-9905-72E60B3FEFB1}"/>
              </a:ext>
            </a:extLst>
          </p:cNvPr>
          <p:cNvSpPr/>
          <p:nvPr/>
        </p:nvSpPr>
        <p:spPr>
          <a:xfrm>
            <a:off x="3362574" y="4119751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5" name="Freeform 124">
            <a:extLst>
              <a:ext uri="{FF2B5EF4-FFF2-40B4-BE49-F238E27FC236}">
                <a16:creationId xmlns:a16="http://schemas.microsoft.com/office/drawing/2014/main" id="{C1B0582C-146C-8E45-9744-2D28C6B1FC97}"/>
              </a:ext>
            </a:extLst>
          </p:cNvPr>
          <p:cNvSpPr/>
          <p:nvPr/>
        </p:nvSpPr>
        <p:spPr>
          <a:xfrm>
            <a:off x="3182440" y="377268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6" name="Lightning Bolt 125">
            <a:extLst>
              <a:ext uri="{FF2B5EF4-FFF2-40B4-BE49-F238E27FC236}">
                <a16:creationId xmlns:a16="http://schemas.microsoft.com/office/drawing/2014/main" id="{E2BE8C6F-CD5F-BA4D-90F5-2F8672E23F97}"/>
              </a:ext>
            </a:extLst>
          </p:cNvPr>
          <p:cNvSpPr/>
          <p:nvPr/>
        </p:nvSpPr>
        <p:spPr>
          <a:xfrm flipH="1">
            <a:off x="3655764" y="3537303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0256D5A2-9FDB-484C-A148-3B9A311385A8}"/>
              </a:ext>
            </a:extLst>
          </p:cNvPr>
          <p:cNvSpPr/>
          <p:nvPr/>
        </p:nvSpPr>
        <p:spPr>
          <a:xfrm>
            <a:off x="2660809" y="374604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14EA5B0-1FBC-5248-8FED-F02A47587C8D}"/>
              </a:ext>
            </a:extLst>
          </p:cNvPr>
          <p:cNvSpPr/>
          <p:nvPr/>
        </p:nvSpPr>
        <p:spPr>
          <a:xfrm rot="10800000">
            <a:off x="965829" y="374311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Rounded Rectangle 128">
            <a:extLst>
              <a:ext uri="{FF2B5EF4-FFF2-40B4-BE49-F238E27FC236}">
                <a16:creationId xmlns:a16="http://schemas.microsoft.com/office/drawing/2014/main" id="{BB9F2E89-DE1B-A143-968B-1245370F5A4F}"/>
              </a:ext>
            </a:extLst>
          </p:cNvPr>
          <p:cNvSpPr/>
          <p:nvPr/>
        </p:nvSpPr>
        <p:spPr>
          <a:xfrm>
            <a:off x="2532078" y="376451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A69795F8-202E-FB47-823E-0F935DB73C53}"/>
              </a:ext>
            </a:extLst>
          </p:cNvPr>
          <p:cNvSpPr/>
          <p:nvPr/>
        </p:nvSpPr>
        <p:spPr>
          <a:xfrm>
            <a:off x="2394765" y="376352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15A904B1-E0C3-D94A-B1DA-A967480E4662}"/>
              </a:ext>
            </a:extLst>
          </p:cNvPr>
          <p:cNvSpPr/>
          <p:nvPr/>
        </p:nvSpPr>
        <p:spPr>
          <a:xfrm>
            <a:off x="2250773" y="376241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39EF9851-9918-1D4F-87BF-05129B687398}"/>
              </a:ext>
            </a:extLst>
          </p:cNvPr>
          <p:cNvSpPr/>
          <p:nvPr/>
        </p:nvSpPr>
        <p:spPr>
          <a:xfrm>
            <a:off x="2112597" y="376241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5A75275-4A77-AB4B-ABAC-04074B116D52}"/>
              </a:ext>
            </a:extLst>
          </p:cNvPr>
          <p:cNvSpPr/>
          <p:nvPr/>
        </p:nvSpPr>
        <p:spPr>
          <a:xfrm>
            <a:off x="1970943" y="376241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E667186-AD36-C840-923B-566999A0DBF5}"/>
              </a:ext>
            </a:extLst>
          </p:cNvPr>
          <p:cNvSpPr/>
          <p:nvPr/>
        </p:nvSpPr>
        <p:spPr>
          <a:xfrm>
            <a:off x="1839144" y="376421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9CB79699-D0D9-4147-8EC8-B3FB71945504}"/>
              </a:ext>
            </a:extLst>
          </p:cNvPr>
          <p:cNvSpPr/>
          <p:nvPr/>
        </p:nvSpPr>
        <p:spPr>
          <a:xfrm>
            <a:off x="1701493" y="375536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53C7E80-49CA-FB41-9E42-5E1D30D2A923}"/>
              </a:ext>
            </a:extLst>
          </p:cNvPr>
          <p:cNvSpPr/>
          <p:nvPr/>
        </p:nvSpPr>
        <p:spPr>
          <a:xfrm>
            <a:off x="1563317" y="375536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266E50B8-BB1A-1945-B997-31B0D8071C66}"/>
              </a:ext>
            </a:extLst>
          </p:cNvPr>
          <p:cNvSpPr/>
          <p:nvPr/>
        </p:nvSpPr>
        <p:spPr>
          <a:xfrm>
            <a:off x="1421663" y="375536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8" name="Rounded Rectangle 137">
            <a:extLst>
              <a:ext uri="{FF2B5EF4-FFF2-40B4-BE49-F238E27FC236}">
                <a16:creationId xmlns:a16="http://schemas.microsoft.com/office/drawing/2014/main" id="{4BAF3711-7B27-B642-ACCC-67EFC8B1C0A0}"/>
              </a:ext>
            </a:extLst>
          </p:cNvPr>
          <p:cNvSpPr/>
          <p:nvPr/>
        </p:nvSpPr>
        <p:spPr>
          <a:xfrm>
            <a:off x="1289864" y="375716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D8519BC-82C9-E14E-A714-406B5978D17C}"/>
              </a:ext>
            </a:extLst>
          </p:cNvPr>
          <p:cNvSpPr/>
          <p:nvPr/>
        </p:nvSpPr>
        <p:spPr>
          <a:xfrm rot="11058474" flipV="1">
            <a:off x="2928008" y="3796734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4AF9695B-C83C-444A-AD62-8319059EEAB2}"/>
              </a:ext>
            </a:extLst>
          </p:cNvPr>
          <p:cNvSpPr/>
          <p:nvPr/>
        </p:nvSpPr>
        <p:spPr>
          <a:xfrm>
            <a:off x="6025018" y="4582975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61625CB0-32C5-1149-ADA8-17CB631762BF}"/>
              </a:ext>
            </a:extLst>
          </p:cNvPr>
          <p:cNvSpPr/>
          <p:nvPr/>
        </p:nvSpPr>
        <p:spPr>
          <a:xfrm rot="10800000">
            <a:off x="4330038" y="4580042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79092BD8-6AF4-C440-9DBF-D451EB1FE43B}"/>
              </a:ext>
            </a:extLst>
          </p:cNvPr>
          <p:cNvSpPr/>
          <p:nvPr/>
        </p:nvSpPr>
        <p:spPr>
          <a:xfrm>
            <a:off x="5896287" y="4601448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7C851F96-0BF7-084A-8550-3ABF835E948A}"/>
              </a:ext>
            </a:extLst>
          </p:cNvPr>
          <p:cNvSpPr/>
          <p:nvPr/>
        </p:nvSpPr>
        <p:spPr>
          <a:xfrm>
            <a:off x="5758974" y="4600456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26839930-C962-4644-BFB8-0CC8AF965FC5}"/>
              </a:ext>
            </a:extLst>
          </p:cNvPr>
          <p:cNvSpPr/>
          <p:nvPr/>
        </p:nvSpPr>
        <p:spPr>
          <a:xfrm>
            <a:off x="5614982" y="4599350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54FE2274-C049-D64E-9F3B-DA4F5FE8E3EC}"/>
              </a:ext>
            </a:extLst>
          </p:cNvPr>
          <p:cNvSpPr/>
          <p:nvPr/>
        </p:nvSpPr>
        <p:spPr>
          <a:xfrm>
            <a:off x="5476806" y="4599350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4EBDE17A-5389-9B48-8319-4FD1B8A27E9C}"/>
              </a:ext>
            </a:extLst>
          </p:cNvPr>
          <p:cNvSpPr/>
          <p:nvPr/>
        </p:nvSpPr>
        <p:spPr>
          <a:xfrm>
            <a:off x="5335152" y="4599350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id="{C8F91D67-17A2-5A4F-99D3-87519F12E294}"/>
              </a:ext>
            </a:extLst>
          </p:cNvPr>
          <p:cNvSpPr/>
          <p:nvPr/>
        </p:nvSpPr>
        <p:spPr>
          <a:xfrm>
            <a:off x="5203353" y="4601146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F840673-5733-6449-855E-4B548009708B}"/>
              </a:ext>
            </a:extLst>
          </p:cNvPr>
          <p:cNvSpPr/>
          <p:nvPr/>
        </p:nvSpPr>
        <p:spPr>
          <a:xfrm>
            <a:off x="5065702" y="4592297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BA0BDC06-5139-F742-9F72-BFB7858216AC}"/>
              </a:ext>
            </a:extLst>
          </p:cNvPr>
          <p:cNvSpPr/>
          <p:nvPr/>
        </p:nvSpPr>
        <p:spPr>
          <a:xfrm>
            <a:off x="4927526" y="4592297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E401986A-74B0-5D40-AE08-00312FAFF2EE}"/>
              </a:ext>
            </a:extLst>
          </p:cNvPr>
          <p:cNvSpPr/>
          <p:nvPr/>
        </p:nvSpPr>
        <p:spPr>
          <a:xfrm>
            <a:off x="4785872" y="4592297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678E30E6-5024-9B48-AF5D-5A872D176E2B}"/>
              </a:ext>
            </a:extLst>
          </p:cNvPr>
          <p:cNvSpPr/>
          <p:nvPr/>
        </p:nvSpPr>
        <p:spPr>
          <a:xfrm>
            <a:off x="4654073" y="4594093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0FAF83A-FF96-6E40-BFAE-FCAA8F263695}"/>
              </a:ext>
            </a:extLst>
          </p:cNvPr>
          <p:cNvSpPr/>
          <p:nvPr/>
        </p:nvSpPr>
        <p:spPr>
          <a:xfrm rot="787176" flipV="1">
            <a:off x="3908307" y="4757371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CFED20-DC15-8749-8B5F-F183DFDB5A52}"/>
              </a:ext>
            </a:extLst>
          </p:cNvPr>
          <p:cNvSpPr txBox="1"/>
          <p:nvPr/>
        </p:nvSpPr>
        <p:spPr>
          <a:xfrm>
            <a:off x="3932996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B84440C8-092B-E841-837D-5EAD0D8C7DC6}"/>
              </a:ext>
            </a:extLst>
          </p:cNvPr>
          <p:cNvSpPr txBox="1"/>
          <p:nvPr/>
        </p:nvSpPr>
        <p:spPr>
          <a:xfrm>
            <a:off x="5646525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400FD-793F-714F-AD66-0D6B0B762190}"/>
              </a:ext>
            </a:extLst>
          </p:cNvPr>
          <p:cNvSpPr txBox="1"/>
          <p:nvPr/>
        </p:nvSpPr>
        <p:spPr>
          <a:xfrm>
            <a:off x="6941115" y="2093899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ZFN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9616404-ED4B-B54E-B100-523FA3B736B4}"/>
              </a:ext>
            </a:extLst>
          </p:cNvPr>
          <p:cNvSpPr txBox="1"/>
          <p:nvPr/>
        </p:nvSpPr>
        <p:spPr>
          <a:xfrm>
            <a:off x="6938928" y="4416268"/>
            <a:ext cx="770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TALEN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43486BBD-4B34-D24E-814A-B45E66A17291}"/>
              </a:ext>
            </a:extLst>
          </p:cNvPr>
          <p:cNvCxnSpPr>
            <a:cxnSpLocks/>
          </p:cNvCxnSpPr>
          <p:nvPr/>
        </p:nvCxnSpPr>
        <p:spPr>
          <a:xfrm>
            <a:off x="6904383" y="3346174"/>
            <a:ext cx="5287617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/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7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design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(4</a:t>
                </a:r>
                <a:r>
                  <a:rPr kumimoji="1" lang="en-US" altLang="zh-CN" baseline="30000" dirty="0"/>
                  <a:t>3</a:t>
                </a:r>
                <a:r>
                  <a:rPr kumimoji="1" lang="en-US" altLang="zh-CN" dirty="0"/>
                  <a:t>/20</a:t>
                </a:r>
                <a:r>
                  <a:rPr kumimoji="1" lang="en-US" altLang="zh-CN" baseline="30000" dirty="0"/>
                  <a:t>7)</a:t>
                </a:r>
                <a:endParaRPr kumimoji="1" lang="en-US" altLang="zh-CN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Zinc-finger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domain: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hard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assemble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18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36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High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blipFill>
                <a:blip r:embed="rId2"/>
                <a:stretch>
                  <a:fillRect l="-880" b="-41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/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2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4/400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24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40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Increased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affinity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target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DNA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(higher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  <a:r>
                  <a:rPr kumimoji="1" lang="en-US" altLang="zh-CN" dirty="0"/>
                  <a:t>)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Relatively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large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difficult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delivery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r>
                  <a:rPr kumimoji="1" lang="zh-CN" altLang="en-US" dirty="0"/>
                  <a:t> </a:t>
                </a:r>
                <a:endParaRPr kumimoji="1" lang="en-US" altLang="zh-CN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blipFill>
                <a:blip r:embed="rId3"/>
                <a:stretch>
                  <a:fillRect l="-870" b="-29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C88B3D8C-B6D2-A442-9BFD-36E1BFDEA467}"/>
              </a:ext>
            </a:extLst>
          </p:cNvPr>
          <p:cNvSpPr txBox="1"/>
          <p:nvPr/>
        </p:nvSpPr>
        <p:spPr>
          <a:xfrm>
            <a:off x="0" y="6396335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728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CRISPR/Cas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7681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42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Long Story Short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24B0C95-654F-104B-8135-78A3F09B8416}"/>
              </a:ext>
            </a:extLst>
          </p:cNvPr>
          <p:cNvSpPr txBox="1"/>
          <p:nvPr/>
        </p:nvSpPr>
        <p:spPr>
          <a:xfrm>
            <a:off x="5995012" y="5253907"/>
            <a:ext cx="60501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/>
              <a:t>The Twenty-Year Story of CRISPR Unfolded across Twelve Cities in Nine Countries</a:t>
            </a:r>
            <a:endParaRPr kumimoji="1" lang="zh-CN" altLang="en-US" sz="14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0EB69-FBB8-574F-8E3F-CFD1839E96DF}"/>
              </a:ext>
            </a:extLst>
          </p:cNvPr>
          <p:cNvSpPr txBox="1"/>
          <p:nvPr/>
        </p:nvSpPr>
        <p:spPr>
          <a:xfrm>
            <a:off x="325821" y="992811"/>
            <a:ext cx="5707206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1987: </a:t>
            </a:r>
            <a:r>
              <a:rPr kumimoji="1" lang="en-US" altLang="zh-CN" sz="2000" dirty="0"/>
              <a:t>The first description of CRISPR loci.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1993: </a:t>
            </a:r>
            <a:r>
              <a:rPr kumimoji="1" lang="en-US" altLang="zh-CN" sz="2000" dirty="0"/>
              <a:t>Repeated sequences separated by spacers were observed in </a:t>
            </a:r>
            <a:r>
              <a:rPr kumimoji="1" lang="en-US" altLang="zh-CN" sz="2000" i="1" dirty="0" err="1"/>
              <a:t>Haloferax</a:t>
            </a:r>
            <a:r>
              <a:rPr kumimoji="1" lang="en-US" altLang="zh-CN" sz="2000" i="1" dirty="0"/>
              <a:t> </a:t>
            </a:r>
            <a:r>
              <a:rPr kumimoji="1" lang="en-US" altLang="zh-CN" sz="2000" i="1" dirty="0" err="1"/>
              <a:t>mediterranei</a:t>
            </a:r>
            <a:r>
              <a:rPr kumimoji="1" lang="en-US" altLang="zh-CN" sz="2000" i="1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2002: CRISPR got its name - clustered regularly interspaced short palindromic repeats.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2003/2005: One spacer in </a:t>
            </a:r>
            <a:r>
              <a:rPr kumimoji="1" lang="en-US" altLang="zh-CN" sz="2000" i="1" dirty="0"/>
              <a:t>E. coli </a:t>
            </a:r>
            <a:r>
              <a:rPr kumimoji="1" lang="en-US" altLang="zh-CN" sz="2000" dirty="0"/>
              <a:t>was found</a:t>
            </a:r>
            <a:r>
              <a:rPr kumimoji="1" lang="en-US" altLang="zh-CN" sz="2000" i="1" dirty="0"/>
              <a:t> to</a:t>
            </a:r>
            <a:r>
              <a:rPr kumimoji="1" lang="en-US" altLang="zh-CN" sz="2000" dirty="0"/>
              <a:t> match the sequence of a P1 phage.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2006: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Experiments showed that Cas9 was necessary for phage resistance in </a:t>
            </a:r>
            <a:r>
              <a:rPr kumimoji="1" lang="en-US" altLang="zh-CN" sz="2000" i="1" dirty="0"/>
              <a:t>S. thermophilus.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2008: First artificial CRISPR arrays were performed in </a:t>
            </a:r>
            <a:r>
              <a:rPr kumimoji="1" lang="en-US" altLang="zh-CN" sz="2000" i="1" dirty="0"/>
              <a:t>E. coli.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E6BC10-5ED6-4341-9F38-77E6E63AB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027" y="1392865"/>
            <a:ext cx="5974089" cy="380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4A65C2-E448-DC49-AD2B-16C2FDA29A97}"/>
              </a:ext>
            </a:extLst>
          </p:cNvPr>
          <p:cNvSpPr txBox="1"/>
          <p:nvPr/>
        </p:nvSpPr>
        <p:spPr>
          <a:xfrm>
            <a:off x="0" y="6115754"/>
            <a:ext cx="4596710" cy="278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Lander ES. The Heroes of CRISPR.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Cell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. 2016 Jan 14;164(1-2):18-28.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4278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49F9773-4F04-3647-9F75-EF6E44D637D4}"/>
              </a:ext>
            </a:extLst>
          </p:cNvPr>
          <p:cNvCxnSpPr>
            <a:cxnSpLocks/>
          </p:cNvCxnSpPr>
          <p:nvPr/>
        </p:nvCxnSpPr>
        <p:spPr>
          <a:xfrm>
            <a:off x="2521938" y="2599685"/>
            <a:ext cx="9541954" cy="4073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4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Components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167083" y="6404483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D0AFED4-7D1E-3A4E-AEE6-D1C253AB207B}"/>
              </a:ext>
            </a:extLst>
          </p:cNvPr>
          <p:cNvGrpSpPr/>
          <p:nvPr/>
        </p:nvGrpSpPr>
        <p:grpSpPr>
          <a:xfrm>
            <a:off x="469900" y="1193800"/>
            <a:ext cx="2133600" cy="2742720"/>
            <a:chOff x="469900" y="1193800"/>
            <a:chExt cx="2133600" cy="2742720"/>
          </a:xfrm>
        </p:grpSpPr>
        <p:pic>
          <p:nvPicPr>
            <p:cNvPr id="9" name="图片 2">
              <a:extLst>
                <a:ext uri="{FF2B5EF4-FFF2-40B4-BE49-F238E27FC236}">
                  <a16:creationId xmlns:a16="http://schemas.microsoft.com/office/drawing/2014/main" id="{C7DF41D5-2B09-854E-BEE2-1356861BEF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4356" t="9839" r="44174" b="64598"/>
            <a:stretch/>
          </p:blipFill>
          <p:spPr>
            <a:xfrm>
              <a:off x="469900" y="1193800"/>
              <a:ext cx="1346200" cy="266699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5CFF63-FB26-664A-A547-259094DDD2BE}"/>
                </a:ext>
              </a:extLst>
            </p:cNvPr>
            <p:cNvSpPr/>
            <p:nvPr/>
          </p:nvSpPr>
          <p:spPr>
            <a:xfrm>
              <a:off x="1524000" y="11938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161DD78-F78A-3F47-A347-9AE52DA8EDF1}"/>
                </a:ext>
              </a:extLst>
            </p:cNvPr>
            <p:cNvSpPr/>
            <p:nvPr/>
          </p:nvSpPr>
          <p:spPr>
            <a:xfrm rot="2489708">
              <a:off x="846146" y="3718068"/>
              <a:ext cx="291504" cy="2184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4E0E77-9778-134D-9A7B-6B9BFA68EDB1}"/>
                </a:ext>
              </a:extLst>
            </p:cNvPr>
            <p:cNvSpPr/>
            <p:nvPr/>
          </p:nvSpPr>
          <p:spPr>
            <a:xfrm rot="19491949">
              <a:off x="1460500" y="1333500"/>
              <a:ext cx="127000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6DFF389-BCE1-FF4C-81BB-4D8D55D2D73D}"/>
              </a:ext>
            </a:extLst>
          </p:cNvPr>
          <p:cNvSpPr/>
          <p:nvPr/>
        </p:nvSpPr>
        <p:spPr>
          <a:xfrm rot="2185965">
            <a:off x="699367" y="3471604"/>
            <a:ext cx="731313" cy="25785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175F48-DFE7-2343-8C03-A7E208054D7A}"/>
              </a:ext>
            </a:extLst>
          </p:cNvPr>
          <p:cNvSpPr txBox="1"/>
          <p:nvPr/>
        </p:nvSpPr>
        <p:spPr>
          <a:xfrm>
            <a:off x="1524000" y="1462412"/>
            <a:ext cx="177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bacteria/archaea</a:t>
            </a:r>
            <a:endParaRPr kumimoji="1" lang="zh-CN" alt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970DD0-D81D-BE4E-98C3-686AAC4956BC}"/>
              </a:ext>
            </a:extLst>
          </p:cNvPr>
          <p:cNvCxnSpPr>
            <a:cxnSpLocks/>
          </p:cNvCxnSpPr>
          <p:nvPr/>
        </p:nvCxnSpPr>
        <p:spPr>
          <a:xfrm flipV="1">
            <a:off x="1435782" y="2131947"/>
            <a:ext cx="1128649" cy="15677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D63114-A7F4-3C40-866A-DCE7698C7C97}"/>
              </a:ext>
            </a:extLst>
          </p:cNvPr>
          <p:cNvCxnSpPr>
            <a:cxnSpLocks/>
          </p:cNvCxnSpPr>
          <p:nvPr/>
        </p:nvCxnSpPr>
        <p:spPr>
          <a:xfrm flipV="1">
            <a:off x="1275636" y="3173062"/>
            <a:ext cx="1327864" cy="75437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8436B34-AFD5-3147-AE76-ACBF611762AF}"/>
              </a:ext>
            </a:extLst>
          </p:cNvPr>
          <p:cNvSpPr txBox="1"/>
          <p:nvPr/>
        </p:nvSpPr>
        <p:spPr>
          <a:xfrm>
            <a:off x="167083" y="3779912"/>
            <a:ext cx="950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genome</a:t>
            </a:r>
            <a:endParaRPr kumimoji="1" lang="zh-CN" altLang="en-US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5436CA0-0086-E04A-9328-BCCD5DD9B90A}"/>
              </a:ext>
            </a:extLst>
          </p:cNvPr>
          <p:cNvSpPr/>
          <p:nvPr/>
        </p:nvSpPr>
        <p:spPr>
          <a:xfrm>
            <a:off x="8110586" y="2345665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B0CC2B0-9AF1-DA46-96B2-479191B04168}"/>
              </a:ext>
            </a:extLst>
          </p:cNvPr>
          <p:cNvSpPr/>
          <p:nvPr/>
        </p:nvSpPr>
        <p:spPr>
          <a:xfrm>
            <a:off x="8364585" y="2345664"/>
            <a:ext cx="270621" cy="514144"/>
          </a:xfrm>
          <a:prstGeom prst="rect">
            <a:avLst/>
          </a:prstGeom>
          <a:solidFill>
            <a:srgbClr val="FFAE47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1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6C1FB46-699B-FF43-87F0-1590A905F4A2}"/>
              </a:ext>
            </a:extLst>
          </p:cNvPr>
          <p:cNvSpPr/>
          <p:nvPr/>
        </p:nvSpPr>
        <p:spPr>
          <a:xfrm>
            <a:off x="8626896" y="2345666"/>
            <a:ext cx="262310" cy="514142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797549D-F444-2848-B319-2F0A613E9056}"/>
              </a:ext>
            </a:extLst>
          </p:cNvPr>
          <p:cNvSpPr/>
          <p:nvPr/>
        </p:nvSpPr>
        <p:spPr>
          <a:xfrm>
            <a:off x="8889206" y="2345666"/>
            <a:ext cx="270620" cy="514142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2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ED053AD-965A-014E-9B15-F5A632118BC6}"/>
              </a:ext>
            </a:extLst>
          </p:cNvPr>
          <p:cNvSpPr/>
          <p:nvPr/>
        </p:nvSpPr>
        <p:spPr>
          <a:xfrm>
            <a:off x="915151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97E2DEE-0D2E-9541-B40D-929EACB9F998}"/>
              </a:ext>
            </a:extLst>
          </p:cNvPr>
          <p:cNvSpPr/>
          <p:nvPr/>
        </p:nvSpPr>
        <p:spPr>
          <a:xfrm>
            <a:off x="9397206" y="2345664"/>
            <a:ext cx="270620" cy="514142"/>
          </a:xfrm>
          <a:prstGeom prst="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3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0632798-09D8-8E46-B6CE-35B606633E49}"/>
              </a:ext>
            </a:extLst>
          </p:cNvPr>
          <p:cNvSpPr/>
          <p:nvPr/>
        </p:nvSpPr>
        <p:spPr>
          <a:xfrm>
            <a:off x="9667826" y="2345664"/>
            <a:ext cx="27907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A097964-DBAB-D64F-8A5E-EC123FA5DD27}"/>
              </a:ext>
            </a:extLst>
          </p:cNvPr>
          <p:cNvSpPr/>
          <p:nvPr/>
        </p:nvSpPr>
        <p:spPr>
          <a:xfrm>
            <a:off x="9930136" y="2345664"/>
            <a:ext cx="262450" cy="514142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4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DDCC95E-5FFF-1643-BE5D-16D00F707556}"/>
              </a:ext>
            </a:extLst>
          </p:cNvPr>
          <p:cNvSpPr/>
          <p:nvPr/>
        </p:nvSpPr>
        <p:spPr>
          <a:xfrm>
            <a:off x="1019258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746876A-2ABA-664A-A01F-3DD9182DE7B0}"/>
              </a:ext>
            </a:extLst>
          </p:cNvPr>
          <p:cNvCxnSpPr>
            <a:cxnSpLocks/>
          </p:cNvCxnSpPr>
          <p:nvPr/>
        </p:nvCxnSpPr>
        <p:spPr>
          <a:xfrm flipV="1">
            <a:off x="8237586" y="2151791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F963DF1-A0D5-0C4A-888B-90A6A1934634}"/>
              </a:ext>
            </a:extLst>
          </p:cNvPr>
          <p:cNvSpPr txBox="1"/>
          <p:nvPr/>
        </p:nvSpPr>
        <p:spPr>
          <a:xfrm>
            <a:off x="9099220" y="1774441"/>
            <a:ext cx="889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repeats</a:t>
            </a:r>
            <a:endParaRPr kumimoji="1" lang="zh-CN" altLang="en-US" dirty="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95F511-432D-1842-9F5A-BA5861401D7D}"/>
              </a:ext>
            </a:extLst>
          </p:cNvPr>
          <p:cNvCxnSpPr>
            <a:cxnSpLocks/>
          </p:cNvCxnSpPr>
          <p:nvPr/>
        </p:nvCxnSpPr>
        <p:spPr>
          <a:xfrm flipV="1">
            <a:off x="8758051" y="2151793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7DA0C4E-3F93-EB49-82A6-A7DE34778888}"/>
              </a:ext>
            </a:extLst>
          </p:cNvPr>
          <p:cNvCxnSpPr>
            <a:cxnSpLocks/>
          </p:cNvCxnSpPr>
          <p:nvPr/>
        </p:nvCxnSpPr>
        <p:spPr>
          <a:xfrm>
            <a:off x="8499049" y="2924547"/>
            <a:ext cx="847" cy="1094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DCC8985-763D-9E43-8956-25AF75A7B67D}"/>
              </a:ext>
            </a:extLst>
          </p:cNvPr>
          <p:cNvSpPr txBox="1"/>
          <p:nvPr/>
        </p:nvSpPr>
        <p:spPr>
          <a:xfrm>
            <a:off x="9092018" y="2993161"/>
            <a:ext cx="886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spacers</a:t>
            </a:r>
            <a:endParaRPr kumimoji="1" lang="zh-CN" altLang="en-US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FB720AA2-644C-B641-A1E6-025F70AF4380}"/>
              </a:ext>
            </a:extLst>
          </p:cNvPr>
          <p:cNvSpPr/>
          <p:nvPr/>
        </p:nvSpPr>
        <p:spPr>
          <a:xfrm>
            <a:off x="10719438" y="2345663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06B7359A-A121-A343-804C-C794A6493CD0}"/>
              </a:ext>
            </a:extLst>
          </p:cNvPr>
          <p:cNvCxnSpPr>
            <a:cxnSpLocks/>
          </p:cNvCxnSpPr>
          <p:nvPr/>
        </p:nvCxnSpPr>
        <p:spPr>
          <a:xfrm flipV="1">
            <a:off x="10858500" y="2159298"/>
            <a:ext cx="0" cy="1400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FF33367D-FD4E-F94C-8D40-6DBB2B05F3E4}"/>
              </a:ext>
            </a:extLst>
          </p:cNvPr>
          <p:cNvSpPr/>
          <p:nvPr/>
        </p:nvSpPr>
        <p:spPr>
          <a:xfrm>
            <a:off x="10456988" y="2345662"/>
            <a:ext cx="262450" cy="51414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5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5F59DD7-518A-324D-9BA9-2A72ECA8ED62}"/>
              </a:ext>
            </a:extLst>
          </p:cNvPr>
          <p:cNvCxnSpPr>
            <a:cxnSpLocks/>
          </p:cNvCxnSpPr>
          <p:nvPr/>
        </p:nvCxnSpPr>
        <p:spPr>
          <a:xfrm flipH="1">
            <a:off x="8237586" y="2159298"/>
            <a:ext cx="2620914" cy="26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317305F-035C-1246-A647-9DB8BA8DD459}"/>
              </a:ext>
            </a:extLst>
          </p:cNvPr>
          <p:cNvCxnSpPr>
            <a:cxnSpLocks/>
          </p:cNvCxnSpPr>
          <p:nvPr/>
        </p:nvCxnSpPr>
        <p:spPr>
          <a:xfrm>
            <a:off x="89946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4A1DA8C-71B7-BD43-AAC0-3BA845B9DBD2}"/>
              </a:ext>
            </a:extLst>
          </p:cNvPr>
          <p:cNvCxnSpPr>
            <a:cxnSpLocks/>
          </p:cNvCxnSpPr>
          <p:nvPr/>
        </p:nvCxnSpPr>
        <p:spPr>
          <a:xfrm>
            <a:off x="9531669" y="2918062"/>
            <a:ext cx="1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1CAA662-68B1-9143-BE9B-A7D5CFDD786E}"/>
              </a:ext>
            </a:extLst>
          </p:cNvPr>
          <p:cNvCxnSpPr>
            <a:cxnSpLocks/>
          </p:cNvCxnSpPr>
          <p:nvPr/>
        </p:nvCxnSpPr>
        <p:spPr>
          <a:xfrm flipH="1">
            <a:off x="10051621" y="2918062"/>
            <a:ext cx="574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44E80FE-54D0-5140-A5ED-118450ACA250}"/>
              </a:ext>
            </a:extLst>
          </p:cNvPr>
          <p:cNvCxnSpPr>
            <a:cxnSpLocks/>
          </p:cNvCxnSpPr>
          <p:nvPr/>
        </p:nvCxnSpPr>
        <p:spPr>
          <a:xfrm>
            <a:off x="10588213" y="2915391"/>
            <a:ext cx="1340" cy="11687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B97DC5D-9B2B-6149-AA27-5180A14EDBD0}"/>
              </a:ext>
            </a:extLst>
          </p:cNvPr>
          <p:cNvCxnSpPr>
            <a:cxnSpLocks/>
          </p:cNvCxnSpPr>
          <p:nvPr/>
        </p:nvCxnSpPr>
        <p:spPr>
          <a:xfrm>
            <a:off x="8499895" y="3027125"/>
            <a:ext cx="2088318" cy="688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B8A0403-9EF3-8C4F-A2FB-FDF3F5BABD5D}"/>
              </a:ext>
            </a:extLst>
          </p:cNvPr>
          <p:cNvCxnSpPr>
            <a:cxnSpLocks/>
          </p:cNvCxnSpPr>
          <p:nvPr/>
        </p:nvCxnSpPr>
        <p:spPr>
          <a:xfrm flipV="1">
            <a:off x="9267317" y="2159298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3478F2E-9C4C-8C4D-9F54-5339C9FE673F}"/>
              </a:ext>
            </a:extLst>
          </p:cNvPr>
          <p:cNvCxnSpPr>
            <a:cxnSpLocks/>
          </p:cNvCxnSpPr>
          <p:nvPr/>
        </p:nvCxnSpPr>
        <p:spPr>
          <a:xfrm flipV="1">
            <a:off x="9807360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AC52B13-319D-7C42-974D-CE8C57B6D84D}"/>
              </a:ext>
            </a:extLst>
          </p:cNvPr>
          <p:cNvCxnSpPr>
            <a:cxnSpLocks/>
          </p:cNvCxnSpPr>
          <p:nvPr/>
        </p:nvCxnSpPr>
        <p:spPr>
          <a:xfrm flipV="1">
            <a:off x="10319586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6722DA6E-B403-2D46-936B-AC515E4AD1E8}"/>
              </a:ext>
            </a:extLst>
          </p:cNvPr>
          <p:cNvSpPr/>
          <p:nvPr/>
        </p:nvSpPr>
        <p:spPr>
          <a:xfrm>
            <a:off x="7698583" y="2345663"/>
            <a:ext cx="411863" cy="514143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L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9CF2476-95FD-4D46-A115-F2DB62601834}"/>
              </a:ext>
            </a:extLst>
          </p:cNvPr>
          <p:cNvCxnSpPr>
            <a:cxnSpLocks/>
          </p:cNvCxnSpPr>
          <p:nvPr/>
        </p:nvCxnSpPr>
        <p:spPr>
          <a:xfrm>
            <a:off x="78897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E7A448F-BA1C-B44B-B59B-AAE78D723469}"/>
              </a:ext>
            </a:extLst>
          </p:cNvPr>
          <p:cNvSpPr txBox="1"/>
          <p:nvPr/>
        </p:nvSpPr>
        <p:spPr>
          <a:xfrm>
            <a:off x="7499220" y="2993161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leader</a:t>
            </a:r>
            <a:endParaRPr kumimoji="1" lang="zh-CN" altLang="en-US" dirty="0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2DD942EA-4976-7F48-B6A1-22B59276B6F9}"/>
              </a:ext>
            </a:extLst>
          </p:cNvPr>
          <p:cNvSpPr/>
          <p:nvPr/>
        </p:nvSpPr>
        <p:spPr>
          <a:xfrm>
            <a:off x="3192986" y="2401819"/>
            <a:ext cx="1112636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2" name="Right Arrow 91">
            <a:extLst>
              <a:ext uri="{FF2B5EF4-FFF2-40B4-BE49-F238E27FC236}">
                <a16:creationId xmlns:a16="http://schemas.microsoft.com/office/drawing/2014/main" id="{9C6F7AF7-5747-464F-97B6-86A92AC96914}"/>
              </a:ext>
            </a:extLst>
          </p:cNvPr>
          <p:cNvSpPr/>
          <p:nvPr/>
        </p:nvSpPr>
        <p:spPr>
          <a:xfrm>
            <a:off x="4310940" y="2401819"/>
            <a:ext cx="545110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3" name="Right Arrow 92">
            <a:extLst>
              <a:ext uri="{FF2B5EF4-FFF2-40B4-BE49-F238E27FC236}">
                <a16:creationId xmlns:a16="http://schemas.microsoft.com/office/drawing/2014/main" id="{E4FB9ABA-FF83-3742-8F57-F0A3E5212A84}"/>
              </a:ext>
            </a:extLst>
          </p:cNvPr>
          <p:cNvSpPr/>
          <p:nvPr/>
        </p:nvSpPr>
        <p:spPr>
          <a:xfrm>
            <a:off x="4866017" y="2401819"/>
            <a:ext cx="1275185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Right Arrow 93">
            <a:extLst>
              <a:ext uri="{FF2B5EF4-FFF2-40B4-BE49-F238E27FC236}">
                <a16:creationId xmlns:a16="http://schemas.microsoft.com/office/drawing/2014/main" id="{8A49CE7E-E657-A549-AA19-FA89CFC2B746}"/>
              </a:ext>
            </a:extLst>
          </p:cNvPr>
          <p:cNvSpPr/>
          <p:nvPr/>
        </p:nvSpPr>
        <p:spPr>
          <a:xfrm>
            <a:off x="6135004" y="2401819"/>
            <a:ext cx="750701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7BA010F-60C8-4B47-BA33-5C3DC4794B5E}"/>
              </a:ext>
            </a:extLst>
          </p:cNvPr>
          <p:cNvCxnSpPr>
            <a:cxnSpLocks/>
          </p:cNvCxnSpPr>
          <p:nvPr/>
        </p:nvCxnSpPr>
        <p:spPr>
          <a:xfrm>
            <a:off x="3192986" y="2162845"/>
            <a:ext cx="37104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271D09E-1ABC-174C-9549-71469278BBA1}"/>
              </a:ext>
            </a:extLst>
          </p:cNvPr>
          <p:cNvSpPr txBox="1"/>
          <p:nvPr/>
        </p:nvSpPr>
        <p:spPr>
          <a:xfrm>
            <a:off x="3534131" y="169141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CRISPR-associated (</a:t>
            </a:r>
            <a:r>
              <a:rPr kumimoji="1" lang="en-US" altLang="zh-CN" i="1" dirty="0" err="1"/>
              <a:t>cas</a:t>
            </a:r>
            <a:r>
              <a:rPr kumimoji="1" lang="en-US" altLang="zh-CN" dirty="0"/>
              <a:t>) genes</a:t>
            </a:r>
            <a:endParaRPr kumimoji="1" lang="zh-CN" altLang="en-US" dirty="0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B6941EB-11AC-2047-8E0E-9DCE5B9E5777}"/>
              </a:ext>
            </a:extLst>
          </p:cNvPr>
          <p:cNvCxnSpPr>
            <a:cxnSpLocks/>
          </p:cNvCxnSpPr>
          <p:nvPr/>
        </p:nvCxnSpPr>
        <p:spPr>
          <a:xfrm>
            <a:off x="7723983" y="1711530"/>
            <a:ext cx="324945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4A3D3852-4D9D-DC48-8943-B0D3AE9E34EE}"/>
              </a:ext>
            </a:extLst>
          </p:cNvPr>
          <p:cNvSpPr txBox="1"/>
          <p:nvPr/>
        </p:nvSpPr>
        <p:spPr>
          <a:xfrm>
            <a:off x="8796214" y="1311509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 loci</a:t>
            </a:r>
            <a:endParaRPr kumimoji="1" lang="zh-CN" alt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EDA0E-EF00-D148-86C0-3F911B9D629E}"/>
              </a:ext>
            </a:extLst>
          </p:cNvPr>
          <p:cNvCxnSpPr>
            <a:cxnSpLocks/>
          </p:cNvCxnSpPr>
          <p:nvPr/>
        </p:nvCxnSpPr>
        <p:spPr>
          <a:xfrm>
            <a:off x="5030696" y="2949497"/>
            <a:ext cx="0" cy="989522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8BC7B94-E81F-2443-8B9F-2DD9997EF186}"/>
              </a:ext>
            </a:extLst>
          </p:cNvPr>
          <p:cNvCxnSpPr/>
          <p:nvPr/>
        </p:nvCxnSpPr>
        <p:spPr>
          <a:xfrm flipH="1">
            <a:off x="9531668" y="342900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5BC9A883-3ADC-5645-86C5-077C95940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929" y="4093789"/>
            <a:ext cx="990600" cy="88900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C7D203C-53BE-CF4E-BB2A-6F2C175EA254}"/>
              </a:ext>
            </a:extLst>
          </p:cNvPr>
          <p:cNvSpPr txBox="1"/>
          <p:nvPr/>
        </p:nvSpPr>
        <p:spPr>
          <a:xfrm>
            <a:off x="3332855" y="4223987"/>
            <a:ext cx="9727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Cas </a:t>
            </a:r>
          </a:p>
          <a:p>
            <a:pPr algn="ctr"/>
            <a:r>
              <a:rPr kumimoji="1" lang="en-US" altLang="zh-CN" dirty="0"/>
              <a:t>complex</a:t>
            </a:r>
            <a:endParaRPr kumimoji="1" lang="zh-CN" altLang="en-US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00A25AF-2248-CF41-BD46-6581AE650C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0233" y="4914815"/>
            <a:ext cx="863600" cy="63500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88C1A24A-BECB-2F49-924C-87E3302D05B1}"/>
              </a:ext>
            </a:extLst>
          </p:cNvPr>
          <p:cNvSpPr txBox="1"/>
          <p:nvPr/>
        </p:nvSpPr>
        <p:spPr>
          <a:xfrm>
            <a:off x="8209031" y="5047649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crRNA</a:t>
            </a:r>
            <a:endParaRPr kumimoji="1" lang="zh-CN" altLang="en-US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971A09E-52B9-9149-9C3B-B70C8A01BAC6}"/>
              </a:ext>
            </a:extLst>
          </p:cNvPr>
          <p:cNvCxnSpPr>
            <a:cxnSpLocks/>
          </p:cNvCxnSpPr>
          <p:nvPr/>
        </p:nvCxnSpPr>
        <p:spPr>
          <a:xfrm>
            <a:off x="7876383" y="4123685"/>
            <a:ext cx="386463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5889CC0-D737-734B-A7FA-618110FF10C7}"/>
              </a:ext>
            </a:extLst>
          </p:cNvPr>
          <p:cNvCxnSpPr>
            <a:cxnSpLocks/>
          </p:cNvCxnSpPr>
          <p:nvPr/>
        </p:nvCxnSpPr>
        <p:spPr>
          <a:xfrm>
            <a:off x="8262846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3F7600D-3394-074B-B624-B995A7E3774A}"/>
              </a:ext>
            </a:extLst>
          </p:cNvPr>
          <p:cNvCxnSpPr>
            <a:cxnSpLocks/>
          </p:cNvCxnSpPr>
          <p:nvPr/>
        </p:nvCxnSpPr>
        <p:spPr>
          <a:xfrm>
            <a:off x="8516985" y="4123685"/>
            <a:ext cx="254139" cy="0"/>
          </a:xfrm>
          <a:prstGeom prst="line">
            <a:avLst/>
          </a:prstGeom>
          <a:ln w="31750">
            <a:solidFill>
              <a:srgbClr val="FFAE4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0006D56-37CA-154B-9C73-825973594DDE}"/>
              </a:ext>
            </a:extLst>
          </p:cNvPr>
          <p:cNvCxnSpPr>
            <a:cxnSpLocks/>
          </p:cNvCxnSpPr>
          <p:nvPr/>
        </p:nvCxnSpPr>
        <p:spPr>
          <a:xfrm>
            <a:off x="876589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302EF0B2-B3AA-E948-989E-4DBEB9CD8C7C}"/>
              </a:ext>
            </a:extLst>
          </p:cNvPr>
          <p:cNvCxnSpPr>
            <a:cxnSpLocks/>
          </p:cNvCxnSpPr>
          <p:nvPr/>
        </p:nvCxnSpPr>
        <p:spPr>
          <a:xfrm>
            <a:off x="9011875" y="4123685"/>
            <a:ext cx="254139" cy="0"/>
          </a:xfrm>
          <a:prstGeom prst="line">
            <a:avLst/>
          </a:prstGeom>
          <a:ln w="31750">
            <a:solidFill>
              <a:srgbClr val="92D05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EB51B6E-799E-0143-9ECD-8D1456BCE2A9}"/>
              </a:ext>
            </a:extLst>
          </p:cNvPr>
          <p:cNvCxnSpPr>
            <a:cxnSpLocks/>
          </p:cNvCxnSpPr>
          <p:nvPr/>
        </p:nvCxnSpPr>
        <p:spPr>
          <a:xfrm>
            <a:off x="926078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3E321FA-2C18-2B49-9253-AF2218A2B0CE}"/>
              </a:ext>
            </a:extLst>
          </p:cNvPr>
          <p:cNvCxnSpPr>
            <a:cxnSpLocks/>
          </p:cNvCxnSpPr>
          <p:nvPr/>
        </p:nvCxnSpPr>
        <p:spPr>
          <a:xfrm>
            <a:off x="9503030" y="4123685"/>
            <a:ext cx="254139" cy="0"/>
          </a:xfrm>
          <a:prstGeom prst="line">
            <a:avLst/>
          </a:prstGeom>
          <a:ln w="31750">
            <a:solidFill>
              <a:srgbClr val="FF7E79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EBE2BF6D-D94E-9D48-956B-AA6683510725}"/>
              </a:ext>
            </a:extLst>
          </p:cNvPr>
          <p:cNvCxnSpPr>
            <a:cxnSpLocks/>
          </p:cNvCxnSpPr>
          <p:nvPr/>
        </p:nvCxnSpPr>
        <p:spPr>
          <a:xfrm>
            <a:off x="9751942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9D5E9C5-8531-A743-AF84-2C20C8D90CE2}"/>
              </a:ext>
            </a:extLst>
          </p:cNvPr>
          <p:cNvCxnSpPr>
            <a:cxnSpLocks/>
          </p:cNvCxnSpPr>
          <p:nvPr/>
        </p:nvCxnSpPr>
        <p:spPr>
          <a:xfrm>
            <a:off x="9977123" y="4123685"/>
            <a:ext cx="254139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068C5B-641C-6347-B8EC-5C231B0708E1}"/>
              </a:ext>
            </a:extLst>
          </p:cNvPr>
          <p:cNvCxnSpPr>
            <a:cxnSpLocks/>
          </p:cNvCxnSpPr>
          <p:nvPr/>
        </p:nvCxnSpPr>
        <p:spPr>
          <a:xfrm>
            <a:off x="10226035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8C69418-F975-FB49-AEBF-0CADC2D44586}"/>
              </a:ext>
            </a:extLst>
          </p:cNvPr>
          <p:cNvCxnSpPr>
            <a:cxnSpLocks/>
          </p:cNvCxnSpPr>
          <p:nvPr/>
        </p:nvCxnSpPr>
        <p:spPr>
          <a:xfrm>
            <a:off x="10471916" y="4123685"/>
            <a:ext cx="254139" cy="0"/>
          </a:xfrm>
          <a:prstGeom prst="line">
            <a:avLst/>
          </a:prstGeom>
          <a:ln w="31750">
            <a:solidFill>
              <a:schemeClr val="accent5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B1AF0A1-6261-8442-939C-CC0FC3B5156C}"/>
              </a:ext>
            </a:extLst>
          </p:cNvPr>
          <p:cNvCxnSpPr>
            <a:cxnSpLocks/>
          </p:cNvCxnSpPr>
          <p:nvPr/>
        </p:nvCxnSpPr>
        <p:spPr>
          <a:xfrm>
            <a:off x="10720828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0A8D830-5A66-2440-964C-2200BAC95B18}"/>
              </a:ext>
            </a:extLst>
          </p:cNvPr>
          <p:cNvSpPr txBox="1"/>
          <p:nvPr/>
        </p:nvSpPr>
        <p:spPr>
          <a:xfrm>
            <a:off x="6664597" y="3939019"/>
            <a:ext cx="115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pre-crRNA</a:t>
            </a:r>
            <a:endParaRPr kumimoji="1" lang="zh-CN" altLang="en-US" dirty="0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1BB50D8-CB68-E642-A2B1-673C0F4C7BAB}"/>
              </a:ext>
            </a:extLst>
          </p:cNvPr>
          <p:cNvCxnSpPr/>
          <p:nvPr/>
        </p:nvCxnSpPr>
        <p:spPr>
          <a:xfrm flipH="1">
            <a:off x="9531668" y="433702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89DE397-1F59-6144-993B-F4F0DA36D7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17472">
            <a:off x="6098069" y="4797659"/>
            <a:ext cx="1419727" cy="770021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58DBD628-CCB5-1A41-B4E1-9D7CBB4E1DA2}"/>
              </a:ext>
            </a:extLst>
          </p:cNvPr>
          <p:cNvSpPr txBox="1"/>
          <p:nvPr/>
        </p:nvSpPr>
        <p:spPr>
          <a:xfrm>
            <a:off x="6027351" y="5667683"/>
            <a:ext cx="1469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DNA cleavage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57699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5CCB867-0676-AA4A-A4A4-68370782E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822" y="970364"/>
            <a:ext cx="5216354" cy="53302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99793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as an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Inheritable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and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Adaptive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Immune System</a:t>
            </a:r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95506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E8B8A6-44A1-8F4A-83B6-EABCBE578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13" y="1577586"/>
            <a:ext cx="10174774" cy="223097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660136-3B0E-254B-8FA2-BC4B689BFFB6}"/>
              </a:ext>
            </a:extLst>
          </p:cNvPr>
          <p:cNvSpPr/>
          <p:nvPr/>
        </p:nvSpPr>
        <p:spPr>
          <a:xfrm>
            <a:off x="2257063" y="3032567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59BFEC-639C-D14E-A8A0-3967A0FA037C}"/>
              </a:ext>
            </a:extLst>
          </p:cNvPr>
          <p:cNvSpPr/>
          <p:nvPr/>
        </p:nvSpPr>
        <p:spPr>
          <a:xfrm>
            <a:off x="3078867" y="1577585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06B660-180C-F448-9058-A194B6C5AD46}"/>
              </a:ext>
            </a:extLst>
          </p:cNvPr>
          <p:cNvSpPr txBox="1"/>
          <p:nvPr/>
        </p:nvSpPr>
        <p:spPr>
          <a:xfrm>
            <a:off x="325821" y="4062957"/>
            <a:ext cx="7554203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1: Multiple Cas proteins form a crRNA-binding complex and function together in binding and processing of the target DNA.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2: A single, multidomain crRNA-binding protein that is functionally analogous to the entire effector complex of class 1.</a:t>
            </a:r>
          </a:p>
        </p:txBody>
      </p:sp>
    </p:spTree>
    <p:extLst>
      <p:ext uri="{BB962C8B-B14F-4D97-AF65-F5344CB8AC3E}">
        <p14:creationId xmlns:p14="http://schemas.microsoft.com/office/powerpoint/2010/main" val="161641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 further divide into 6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95F464-EED3-654D-91DA-BA80C72F0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95" y="1499103"/>
            <a:ext cx="10918209" cy="410280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8C805AA-287B-7249-A7EA-F72887CF2E10}"/>
              </a:ext>
            </a:extLst>
          </p:cNvPr>
          <p:cNvSpPr txBox="1"/>
          <p:nvPr/>
        </p:nvSpPr>
        <p:spPr>
          <a:xfrm>
            <a:off x="636894" y="5644474"/>
            <a:ext cx="10918209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Next, we focus on </a:t>
            </a:r>
            <a:r>
              <a:rPr kumimoji="1" lang="en-US" altLang="zh-CN" b="1" dirty="0"/>
              <a:t>Type I</a:t>
            </a:r>
            <a:r>
              <a:rPr kumimoji="1" lang="en-US" altLang="zh-CN" dirty="0"/>
              <a:t> and </a:t>
            </a:r>
            <a:r>
              <a:rPr kumimoji="1" lang="en-US" altLang="zh-CN" b="1" dirty="0"/>
              <a:t>II</a:t>
            </a:r>
            <a:r>
              <a:rPr kumimoji="1" lang="en-US" altLang="zh-CN" dirty="0"/>
              <a:t> to see how typical Cas protein(s) function together with crRNA to cleave DNA. </a:t>
            </a:r>
          </a:p>
        </p:txBody>
      </p:sp>
    </p:spTree>
    <p:extLst>
      <p:ext uri="{BB962C8B-B14F-4D97-AF65-F5344CB8AC3E}">
        <p14:creationId xmlns:p14="http://schemas.microsoft.com/office/powerpoint/2010/main" val="4233672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134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F53BF32-6746-4D41-9ACA-B071A134B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050" y="771982"/>
            <a:ext cx="2512618" cy="54870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099630-9377-584B-BD0D-29350C5A57A8}"/>
              </a:ext>
            </a:extLst>
          </p:cNvPr>
          <p:cNvSpPr txBox="1"/>
          <p:nvPr/>
        </p:nvSpPr>
        <p:spPr>
          <a:xfrm>
            <a:off x="325820" y="992811"/>
            <a:ext cx="8405592" cy="5266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Pre-crRNA forms </a:t>
            </a:r>
            <a:r>
              <a:rPr kumimoji="1" lang="en-CN" altLang="zh-CN" sz="2000" b="1" dirty="0"/>
              <a:t>stem-loop</a:t>
            </a:r>
            <a:r>
              <a:rPr kumimoji="1" lang="en-CN" altLang="zh-CN" sz="2000" dirty="0"/>
              <a:t> structures - </a:t>
            </a:r>
            <a:r>
              <a:rPr kumimoji="1" lang="en-US" altLang="zh-CN" sz="2000" dirty="0"/>
              <a:t>due to </a:t>
            </a:r>
            <a:r>
              <a:rPr kumimoji="1" lang="en-US" altLang="zh-CN" sz="2000" i="1" dirty="0"/>
              <a:t>palindromic</a:t>
            </a:r>
            <a:r>
              <a:rPr kumimoji="1" lang="en-US" altLang="zh-CN" sz="2000" dirty="0"/>
              <a:t> repeats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Cas complex (namely Cascade) cleaves at the base of each stem-loop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associated with Cascade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Cas-crRNA complex scans DNAs to find the sequence (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)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Cascade also needs to recognize a short sequence motif located </a:t>
            </a:r>
            <a:r>
              <a:rPr kumimoji="1" lang="en-US" altLang="zh-CN" i="1" dirty="0"/>
              <a:t>immediately upstream</a:t>
            </a:r>
            <a:r>
              <a:rPr kumimoji="1" lang="en-US" altLang="zh-CN" dirty="0"/>
              <a:t> 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dirty="0"/>
              <a:t> recognized by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This short sequence motif is called</a:t>
            </a:r>
            <a:r>
              <a:rPr kumimoji="1" lang="en-US" altLang="zh-CN" dirty="0">
                <a:solidFill>
                  <a:schemeClr val="accent6"/>
                </a:solidFill>
              </a:rPr>
              <a:t> protospacer adjacent motif (PAM)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T</a:t>
            </a:r>
            <a:r>
              <a:rPr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wo-factor authentication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Cascade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Cas3 nuclease is recruited and cleaves </a:t>
            </a:r>
            <a:r>
              <a:rPr kumimoji="1" lang="en-US" altLang="zh-CN" i="1" dirty="0">
                <a:solidFill>
                  <a:srgbClr val="FF0000"/>
                </a:solidFill>
              </a:rPr>
              <a:t>single</a:t>
            </a:r>
            <a:r>
              <a:rPr kumimoji="1" lang="en-US" altLang="zh-CN" dirty="0"/>
              <a:t> strand of the target</a:t>
            </a:r>
          </a:p>
        </p:txBody>
      </p:sp>
    </p:spTree>
    <p:extLst>
      <p:ext uri="{BB962C8B-B14F-4D97-AF65-F5344CB8AC3E}">
        <p14:creationId xmlns:p14="http://schemas.microsoft.com/office/powerpoint/2010/main" val="10150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2389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62ED3C3-3C0B-924F-8520-090E38F38EF9}"/>
              </a:ext>
            </a:extLst>
          </p:cNvPr>
          <p:cNvGrpSpPr/>
          <p:nvPr/>
        </p:nvGrpSpPr>
        <p:grpSpPr>
          <a:xfrm>
            <a:off x="8733071" y="1397000"/>
            <a:ext cx="3142208" cy="4064000"/>
            <a:chOff x="7386092" y="1397000"/>
            <a:chExt cx="3142208" cy="4064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507ADC4-CBC7-8746-889F-4FB0F5A35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86092" y="1397000"/>
              <a:ext cx="2387600" cy="406400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FF9944-16FD-944E-A962-7F783695B8CD}"/>
                </a:ext>
              </a:extLst>
            </p:cNvPr>
            <p:cNvSpPr/>
            <p:nvPr/>
          </p:nvSpPr>
          <p:spPr>
            <a:xfrm>
              <a:off x="9448800" y="25146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19" y="992811"/>
            <a:ext cx="8301397" cy="44351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No</a:t>
            </a:r>
            <a:r>
              <a:rPr kumimoji="1" lang="en-CN" altLang="zh-CN" sz="2000" dirty="0"/>
              <a:t> stem-loop structures in pre-crRNA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srgbClr val="FF7E79"/>
                </a:solidFill>
              </a:rPr>
              <a:t>Trans-encoded crRNA (tracrRNA)</a:t>
            </a:r>
            <a:r>
              <a:rPr kumimoji="1" lang="en-CN" altLang="zh-CN" sz="2000" dirty="0"/>
              <a:t> links Cas9 and pre-crRNA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repeat/</a:t>
            </a:r>
            <a:r>
              <a:rPr kumimoji="1" lang="en-US" altLang="zh-CN" dirty="0" err="1"/>
              <a:t>tracrRNA</a:t>
            </a:r>
            <a:r>
              <a:rPr kumimoji="1" lang="en-US" altLang="zh-CN" dirty="0"/>
              <a:t> dsRNA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dsRNA is cleaved by RNase III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(with a “repeat tail”) associated with Cas9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Cas-crRNA complex scans DNAs to find the 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/>
              <a:t>Cas9 recognizes </a:t>
            </a:r>
            <a:r>
              <a:rPr kumimoji="1" lang="en-US" altLang="zh-CN" dirty="0">
                <a:solidFill>
                  <a:schemeClr val="accent6"/>
                </a:solidFill>
              </a:rPr>
              <a:t>PAM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immediately downstream </a:t>
            </a:r>
            <a:r>
              <a:rPr kumimoji="1" lang="en-US" altLang="zh-CN" dirty="0"/>
              <a:t>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Cas9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Nuclease domain of Cas9 cleaves</a:t>
            </a:r>
            <a:r>
              <a:rPr kumimoji="1" lang="en-US" altLang="zh-CN" i="1" dirty="0">
                <a:solidFill>
                  <a:srgbClr val="FF0000"/>
                </a:solidFill>
              </a:rPr>
              <a:t> double</a:t>
            </a:r>
            <a:r>
              <a:rPr kumimoji="1" lang="en-US" altLang="zh-CN" dirty="0"/>
              <a:t> strands of the target</a:t>
            </a:r>
          </a:p>
        </p:txBody>
      </p:sp>
    </p:spTree>
    <p:extLst>
      <p:ext uri="{BB962C8B-B14F-4D97-AF65-F5344CB8AC3E}">
        <p14:creationId xmlns:p14="http://schemas.microsoft.com/office/powerpoint/2010/main" val="64826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298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Seed Sequence and PAM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19" y="1100035"/>
            <a:ext cx="7942635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Seed Sequence</a:t>
            </a:r>
            <a:r>
              <a:rPr kumimoji="1" lang="en-CN" altLang="zh-CN" sz="2000" dirty="0"/>
              <a:t>: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highly conserved sequence in the crRNA</a:t>
            </a:r>
            <a:r>
              <a:rPr lang="en-US" sz="2000" dirty="0">
                <a:solidFill>
                  <a:srgbClr val="000000"/>
                </a:solidFill>
                <a:latin typeface="-webkit-standard"/>
              </a:rPr>
              <a:t>,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critical for the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crRNA recognition and binding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of the target DNA sequence.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srgbClr val="000000"/>
                </a:solidFill>
                <a:latin typeface="-webkit-standard"/>
              </a:rPr>
              <a:t>Usually 6-8</a:t>
            </a:r>
            <a:r>
              <a:rPr kumimoji="1" lang="zh-CN" altLang="en-US" dirty="0">
                <a:solidFill>
                  <a:srgbClr val="000000"/>
                </a:solidFill>
                <a:latin typeface="-webkit-standard"/>
              </a:rPr>
              <a:t> </a:t>
            </a:r>
            <a:r>
              <a:rPr kumimoji="1" lang="en-US" altLang="zh-CN" dirty="0">
                <a:solidFill>
                  <a:srgbClr val="000000"/>
                </a:solidFill>
                <a:latin typeface="-webkit-standard"/>
              </a:rPr>
              <a:t>bases</a:t>
            </a:r>
            <a:endParaRPr kumimoji="1" lang="en-CN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PAM</a:t>
            </a:r>
            <a:r>
              <a:rPr kumimoji="1" lang="en-CN" altLang="zh-CN" sz="2000" dirty="0"/>
              <a:t>: 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conserved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sequence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required for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Cas recognition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Usually 3 bases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Cas9</a:t>
            </a:r>
            <a:r>
              <a:rPr kumimoji="1" lang="en-CN" altLang="zh-CN" dirty="0"/>
              <a:t>, e.g. </a:t>
            </a:r>
            <a:r>
              <a:rPr kumimoji="1" lang="en-CN" altLang="zh-CN" dirty="0">
                <a:solidFill>
                  <a:srgbClr val="FF0000"/>
                </a:solidFill>
              </a:rPr>
              <a:t>5’-NGG-3’</a:t>
            </a:r>
            <a:r>
              <a:rPr kumimoji="1" lang="en-CN" altLang="zh-CN" dirty="0"/>
              <a:t> for SpCas9 (Cas9 in </a:t>
            </a:r>
            <a:r>
              <a:rPr lang="en-US" b="0" i="1" u="none" strike="noStrike" dirty="0">
                <a:solidFill>
                  <a:srgbClr val="000000"/>
                </a:solidFill>
                <a:effectLst/>
                <a:latin typeface="-webkit-standard"/>
              </a:rPr>
              <a:t>Streptococcus pyogenes</a:t>
            </a:r>
            <a:r>
              <a:rPr kumimoji="1" lang="en-CN" altLang="zh-CN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Two-factor authentication to avoid </a:t>
            </a:r>
            <a:r>
              <a:rPr kumimoji="1" lang="en-CN" altLang="zh-CN" sz="2000" i="1" dirty="0"/>
              <a:t>auto-immunity</a:t>
            </a:r>
            <a:endParaRPr kumimoji="1" lang="en-US" altLang="zh-CN" sz="2000" i="1" dirty="0"/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I: crRNA and Cascade recognize the </a:t>
            </a:r>
            <a:r>
              <a:rPr kumimoji="1" lang="en-US" altLang="zh-CN" dirty="0">
                <a:solidFill>
                  <a:srgbClr val="FF0000"/>
                </a:solidFill>
              </a:rPr>
              <a:t>same </a:t>
            </a:r>
            <a:r>
              <a:rPr kumimoji="1" lang="en-US" altLang="zh-CN" dirty="0"/>
              <a:t>strand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II: crRNA and Cas9 recognize </a:t>
            </a:r>
            <a:r>
              <a:rPr kumimoji="1" lang="en-US" altLang="zh-CN" dirty="0">
                <a:solidFill>
                  <a:srgbClr val="FF0000"/>
                </a:solidFill>
              </a:rPr>
              <a:t>different</a:t>
            </a:r>
            <a:r>
              <a:rPr kumimoji="1" lang="en-US" altLang="zh-CN" dirty="0"/>
              <a:t> strands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III does not rely on PAM, instead relies on differential base pairing between crRNA tag and the target sequence</a:t>
            </a:r>
            <a:endParaRPr kumimoji="1" lang="en-CN" altLang="zh-C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6F4E8D-A05F-9B41-8CCF-C6A1DBF43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8984" r="2560" b="18516"/>
          <a:stretch/>
        </p:blipFill>
        <p:spPr>
          <a:xfrm>
            <a:off x="8734567" y="2450699"/>
            <a:ext cx="2594897" cy="1022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5F1167-D279-994F-8E7F-D16D2403BD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8869" b="18309"/>
          <a:stretch/>
        </p:blipFill>
        <p:spPr>
          <a:xfrm>
            <a:off x="8596911" y="1116318"/>
            <a:ext cx="3236306" cy="90619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1614887-C9C3-474E-A409-06B5B7CD4B7F}"/>
              </a:ext>
            </a:extLst>
          </p:cNvPr>
          <p:cNvGrpSpPr/>
          <p:nvPr/>
        </p:nvGrpSpPr>
        <p:grpSpPr>
          <a:xfrm>
            <a:off x="8534341" y="3848864"/>
            <a:ext cx="2565400" cy="2038978"/>
            <a:chOff x="8534341" y="3848864"/>
            <a:chExt cx="2565400" cy="2038978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C7DF7E0-B54E-944D-BB35-4E3C2D45C800}"/>
                </a:ext>
              </a:extLst>
            </p:cNvPr>
            <p:cNvGrpSpPr/>
            <p:nvPr/>
          </p:nvGrpSpPr>
          <p:grpSpPr>
            <a:xfrm>
              <a:off x="8534341" y="3848864"/>
              <a:ext cx="2565400" cy="2038978"/>
              <a:chOff x="8566434" y="4172310"/>
              <a:chExt cx="2565400" cy="2038978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39DBB0F6-67E4-C040-84C3-D0D5AE7A53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66434" y="4172310"/>
                <a:ext cx="2565400" cy="1663700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ABF0FAB-1864-2F44-9464-CBF4EA930913}"/>
                  </a:ext>
                </a:extLst>
              </p:cNvPr>
              <p:cNvSpPr/>
              <p:nvPr/>
            </p:nvSpPr>
            <p:spPr>
              <a:xfrm>
                <a:off x="9213850" y="5747138"/>
                <a:ext cx="469900" cy="464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FCA9D16-DB83-D047-8F77-18D709ACADB7}"/>
                </a:ext>
              </a:extLst>
            </p:cNvPr>
            <p:cNvSpPr/>
            <p:nvPr/>
          </p:nvSpPr>
          <p:spPr>
            <a:xfrm>
              <a:off x="9980114" y="5256982"/>
              <a:ext cx="469900" cy="464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37941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48660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CRISPR Immunization</a:t>
            </a:r>
            <a:endParaRPr kumimoji="1" lang="zh-CN" altLang="en-US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012B81-0A67-6146-862C-F3E2E9C66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4829" y="1362017"/>
            <a:ext cx="7183177" cy="42025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A2E7EF5-98C9-6049-8076-F3369710E79C}"/>
              </a:ext>
            </a:extLst>
          </p:cNvPr>
          <p:cNvSpPr txBox="1"/>
          <p:nvPr/>
        </p:nvSpPr>
        <p:spPr>
          <a:xfrm>
            <a:off x="325820" y="1100035"/>
            <a:ext cx="4232532" cy="3465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sampling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Cas1&amp;2 are involved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PAM (e.g., NGG) must be near the protospacer for Cas recognition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schemeClr val="accent5"/>
                </a:solidFill>
              </a:rPr>
              <a:t>How to guarantee it?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integration (HGT)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 reaction that resembles retroviral integration</a:t>
            </a:r>
            <a:endParaRPr kumimoji="1" lang="en-CN" altLang="zh-CN" dirty="0"/>
          </a:p>
        </p:txBody>
      </p:sp>
    </p:spTree>
    <p:extLst>
      <p:ext uri="{BB962C8B-B14F-4D97-AF65-F5344CB8AC3E}">
        <p14:creationId xmlns:p14="http://schemas.microsoft.com/office/powerpoint/2010/main" val="2569760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6853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Discovery of the Role of </a:t>
            </a:r>
            <a:r>
              <a:rPr kumimoji="1" lang="en-US" altLang="zh-CN" sz="3200" dirty="0" err="1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tracrRNA</a:t>
            </a:r>
            <a:endParaRPr kumimoji="1" lang="zh-CN" alt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F43DE-E14E-0145-9349-5F6751539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21" y="2376948"/>
            <a:ext cx="6294556" cy="2104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08703E-CEA5-BE40-9728-F71DD2864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709" y="1419220"/>
            <a:ext cx="3990299" cy="37958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A383E78-D31B-ED4B-9A9A-ECFD35A1FCC3}"/>
              </a:ext>
            </a:extLst>
          </p:cNvPr>
          <p:cNvSpPr txBox="1"/>
          <p:nvPr/>
        </p:nvSpPr>
        <p:spPr>
          <a:xfrm>
            <a:off x="7282214" y="5282483"/>
            <a:ext cx="38152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i="1" dirty="0"/>
              <a:t>Nobel Prize in Chemistry 2020, “</a:t>
            </a:r>
            <a:r>
              <a:rPr lang="en-US" sz="1400" b="0" i="1" u="none" strike="noStrike" dirty="0">
                <a:solidFill>
                  <a:srgbClr val="2E2A25"/>
                </a:solidFill>
                <a:effectLst/>
                <a:latin typeface="Alfred Serif"/>
              </a:rPr>
              <a:t>for the development of a method for genome editing</a:t>
            </a:r>
            <a:r>
              <a:rPr kumimoji="1" lang="en-US" altLang="zh-CN" sz="1400" i="1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73785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6853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Discovery of the Role of </a:t>
            </a:r>
            <a:r>
              <a:rPr kumimoji="1" lang="en-US" altLang="zh-CN" sz="3200" dirty="0" err="1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tracrRNA</a:t>
            </a:r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416949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CRISPR/Cas-derived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1785770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6141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Class 2 CRISPR-Cas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776E9A-5EC6-504C-ADE8-0F5CE1FAB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05" y="1277332"/>
            <a:ext cx="10174774" cy="223097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64CC262-F3C5-EA4C-8A15-71F952657804}"/>
              </a:ext>
            </a:extLst>
          </p:cNvPr>
          <p:cNvSpPr/>
          <p:nvPr/>
        </p:nvSpPr>
        <p:spPr>
          <a:xfrm>
            <a:off x="2311655" y="2732313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EBC4C8-1BC1-3F47-B8EE-1B913AB17732}"/>
              </a:ext>
            </a:extLst>
          </p:cNvPr>
          <p:cNvSpPr/>
          <p:nvPr/>
        </p:nvSpPr>
        <p:spPr>
          <a:xfrm>
            <a:off x="3133459" y="1277331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B173F6C-9664-EC44-8630-8F392C85AB62}"/>
              </a:ext>
            </a:extLst>
          </p:cNvPr>
          <p:cNvCxnSpPr>
            <a:cxnSpLocks/>
          </p:cNvCxnSpPr>
          <p:nvPr/>
        </p:nvCxnSpPr>
        <p:spPr>
          <a:xfrm>
            <a:off x="7300344" y="3508302"/>
            <a:ext cx="634272" cy="36765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476A1DF-B98B-584A-846D-F1E9FEC08A16}"/>
              </a:ext>
            </a:extLst>
          </p:cNvPr>
          <p:cNvSpPr txBox="1"/>
          <p:nvPr/>
        </p:nvSpPr>
        <p:spPr>
          <a:xfrm>
            <a:off x="7934616" y="3762702"/>
            <a:ext cx="4166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Class 2 CRISPR-Cas systems are selected to manipulate genome.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7E806E-AFAB-9A49-ADA3-48AECCECDEB7}"/>
              </a:ext>
            </a:extLst>
          </p:cNvPr>
          <p:cNvCxnSpPr>
            <a:cxnSpLocks/>
          </p:cNvCxnSpPr>
          <p:nvPr/>
        </p:nvCxnSpPr>
        <p:spPr>
          <a:xfrm flipH="1" flipV="1">
            <a:off x="1828801" y="2606719"/>
            <a:ext cx="482854" cy="1255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788EC9-ED52-6A4F-825E-0C94F04BDE84}"/>
              </a:ext>
            </a:extLst>
          </p:cNvPr>
          <p:cNvSpPr txBox="1"/>
          <p:nvPr/>
        </p:nvSpPr>
        <p:spPr>
          <a:xfrm>
            <a:off x="54593" y="2139074"/>
            <a:ext cx="2257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they need to be engineered.</a:t>
            </a:r>
            <a:endParaRPr kumimoji="1"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EA2FAC-1D46-7B41-8088-03EFABC1559D}"/>
              </a:ext>
            </a:extLst>
          </p:cNvPr>
          <p:cNvSpPr txBox="1"/>
          <p:nvPr/>
        </p:nvSpPr>
        <p:spPr>
          <a:xfrm>
            <a:off x="325821" y="4224367"/>
            <a:ext cx="7235038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Within class 2, Cas9 and Cas12 are the most widely used nucleases in the context of genome editing.</a:t>
            </a:r>
            <a:endParaRPr lang="en-US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By default, our discussion below will mainly focus on Cas9 and Cas12 and related genome editing toolkits.</a:t>
            </a:r>
            <a:endParaRPr kumimoji="1" lang="en-CN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499025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8178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Engineer Class 2 CRISPR-Cas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1569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82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Nucleases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70681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213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Base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27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53238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566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Transposes/Recombinases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28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67259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410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Prime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Prime Editors</a:t>
              </a:r>
              <a:endParaRPr kumimoji="1" lang="zh-CN" alt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72059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Future of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3466478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826808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2761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Next…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590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B2C29-6C36-CC44-A825-1EB7BA0CADF3}"/>
              </a:ext>
            </a:extLst>
          </p:cNvPr>
          <p:cNvSpPr txBox="1"/>
          <p:nvPr/>
        </p:nvSpPr>
        <p:spPr>
          <a:xfrm>
            <a:off x="2399176" y="2875002"/>
            <a:ext cx="58100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600" dirty="0"/>
              <a:t>Thank</a:t>
            </a:r>
            <a:r>
              <a:rPr kumimoji="1" lang="zh-CN" altLang="en-US" sz="6600" dirty="0"/>
              <a:t> </a:t>
            </a:r>
            <a:r>
              <a:rPr kumimoji="1" lang="en-US" altLang="zh-CN" sz="6600" dirty="0"/>
              <a:t>you!</a:t>
            </a:r>
            <a:endParaRPr kumimoji="1" lang="zh-CN" altLang="en-US" sz="6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235D95-BECE-4440-B239-5795A3025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136" y="2585468"/>
            <a:ext cx="1854887" cy="168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65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i="1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504864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19117</TotalTime>
  <Words>1548</Words>
  <Application>Microsoft Macintosh PowerPoint</Application>
  <PresentationFormat>Widescreen</PresentationFormat>
  <Paragraphs>329</Paragraphs>
  <Slides>34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-webkit-standard</vt:lpstr>
      <vt:lpstr>Alfred Serif</vt:lpstr>
      <vt:lpstr>BlinkMacSystemFont</vt:lpstr>
      <vt:lpstr>system-ui</vt:lpstr>
      <vt:lpstr>Arial</vt:lpstr>
      <vt:lpstr>Calibri</vt:lpstr>
      <vt:lpstr>Calibri Light</vt:lpstr>
      <vt:lpstr>Cambria Math</vt:lpstr>
      <vt:lpstr>Wingdings</vt:lpstr>
      <vt:lpstr>Office Theme</vt:lpstr>
      <vt:lpstr>Genome Editing: Past, Present and Future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刘 沛雨</cp:lastModifiedBy>
  <cp:revision>500</cp:revision>
  <dcterms:created xsi:type="dcterms:W3CDTF">2024-09-08T14:28:50Z</dcterms:created>
  <dcterms:modified xsi:type="dcterms:W3CDTF">2025-04-05T14:42:35Z</dcterms:modified>
</cp:coreProperties>
</file>