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4"/>
  </p:notesMasterIdLst>
  <p:sldIdLst>
    <p:sldId id="425" r:id="rId2"/>
    <p:sldId id="448" r:id="rId3"/>
    <p:sldId id="457" r:id="rId4"/>
    <p:sldId id="480" r:id="rId5"/>
    <p:sldId id="485" r:id="rId6"/>
    <p:sldId id="484" r:id="rId7"/>
    <p:sldId id="462" r:id="rId8"/>
    <p:sldId id="481" r:id="rId9"/>
    <p:sldId id="463" r:id="rId10"/>
    <p:sldId id="470" r:id="rId11"/>
    <p:sldId id="479" r:id="rId12"/>
    <p:sldId id="452" r:id="rId13"/>
    <p:sldId id="487" r:id="rId14"/>
    <p:sldId id="459" r:id="rId15"/>
    <p:sldId id="495" r:id="rId16"/>
    <p:sldId id="492" r:id="rId17"/>
    <p:sldId id="494" r:id="rId18"/>
    <p:sldId id="496" r:id="rId19"/>
    <p:sldId id="501" r:id="rId20"/>
    <p:sldId id="497" r:id="rId21"/>
    <p:sldId id="498" r:id="rId22"/>
    <p:sldId id="464" r:id="rId23"/>
    <p:sldId id="499" r:id="rId24"/>
    <p:sldId id="466" r:id="rId25"/>
    <p:sldId id="512" r:id="rId26"/>
    <p:sldId id="502" r:id="rId27"/>
    <p:sldId id="506" r:id="rId28"/>
    <p:sldId id="505" r:id="rId29"/>
    <p:sldId id="513" r:id="rId30"/>
    <p:sldId id="514" r:id="rId31"/>
    <p:sldId id="515" r:id="rId32"/>
    <p:sldId id="507" r:id="rId33"/>
    <p:sldId id="535" r:id="rId34"/>
    <p:sldId id="516" r:id="rId35"/>
    <p:sldId id="517" r:id="rId36"/>
    <p:sldId id="536" r:id="rId37"/>
    <p:sldId id="472" r:id="rId38"/>
    <p:sldId id="519" r:id="rId39"/>
    <p:sldId id="520" r:id="rId40"/>
    <p:sldId id="521" r:id="rId41"/>
    <p:sldId id="534" r:id="rId42"/>
    <p:sldId id="473" r:id="rId43"/>
    <p:sldId id="522" r:id="rId44"/>
    <p:sldId id="523" r:id="rId45"/>
    <p:sldId id="527" r:id="rId46"/>
    <p:sldId id="474" r:id="rId47"/>
    <p:sldId id="524" r:id="rId48"/>
    <p:sldId id="525" r:id="rId49"/>
    <p:sldId id="526" r:id="rId50"/>
    <p:sldId id="531" r:id="rId51"/>
    <p:sldId id="528" r:id="rId52"/>
    <p:sldId id="537" r:id="rId53"/>
    <p:sldId id="518" r:id="rId54"/>
    <p:sldId id="532" r:id="rId55"/>
    <p:sldId id="508" r:id="rId56"/>
    <p:sldId id="277" r:id="rId57"/>
    <p:sldId id="467" r:id="rId58"/>
    <p:sldId id="540" r:id="rId59"/>
    <p:sldId id="541" r:id="rId60"/>
    <p:sldId id="543" r:id="rId61"/>
    <p:sldId id="544" r:id="rId62"/>
    <p:sldId id="545" r:id="rId6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  <a:srgbClr val="FFAE47"/>
    <a:srgbClr val="715FE0"/>
    <a:srgbClr val="A500A5"/>
    <a:srgbClr val="99FFCC"/>
    <a:srgbClr val="032F62"/>
    <a:srgbClr val="D83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16"/>
    <p:restoredTop sz="81259"/>
  </p:normalViewPr>
  <p:slideViewPr>
    <p:cSldViewPr snapToGrid="0" snapToObjects="1">
      <p:cViewPr varScale="1">
        <p:scale>
          <a:sx n="101" d="100"/>
          <a:sy n="101" d="100"/>
        </p:scale>
        <p:origin x="11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6D7121-F3D1-7F44-B365-80E67D71FC67}" type="datetimeFigureOut">
              <a:rPr kumimoji="1" lang="zh-CN" altLang="en-US" smtClean="0"/>
              <a:t>2025/5/21</a:t>
            </a:fld>
            <a:endParaRPr kumimoji="1"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zh-CN"/>
              <a:t>Click to edit Master text styles</a:t>
            </a:r>
          </a:p>
          <a:p>
            <a:pPr lvl="1"/>
            <a:r>
              <a:rPr kumimoji="1" lang="en-US" altLang="zh-CN"/>
              <a:t>Second level</a:t>
            </a:r>
          </a:p>
          <a:p>
            <a:pPr lvl="2"/>
            <a:r>
              <a:rPr kumimoji="1" lang="en-US" altLang="zh-CN"/>
              <a:t>Third level</a:t>
            </a:r>
          </a:p>
          <a:p>
            <a:pPr lvl="3"/>
            <a:r>
              <a:rPr kumimoji="1" lang="en-US" altLang="zh-CN"/>
              <a:t>Fourth level</a:t>
            </a:r>
          </a:p>
          <a:p>
            <a:pPr lvl="4"/>
            <a:r>
              <a:rPr kumimoji="1" lang="en-US" altLang="zh-CN"/>
              <a:t>Fifth level</a:t>
            </a:r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B1C4C-66EF-0F4C-B7A3-FECCA39F5A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6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主讲人信息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6384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7725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9705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52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3483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8507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0510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Makarova KS, Wolf YI,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Iranzo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J,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Shmakov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SA,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Alkhnbashi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OS,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Brouns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SJJ, Charpentier E, Cheng D, Haft DH, Horvath P,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Moineau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S, Mojica FJM, Scott D, Shah SA,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Siksnys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V, Terns MP,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Venclovas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Č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, White MF, Yakunin AF, Yan W, Zhang F, Garrett RA,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Backofen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R, van der Oost J,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Barrangou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R,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Koonin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EV. Evolutionary classification of CRISPR-Cas systems: a burst of class 2 and derived variants. Nat Rev Microbiol. 2020 Feb;18(2):67-83.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doi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: 10.1038/s41579-019-0299-x.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Epub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2019 Dec 19. PMID: 31857715; PMCID: PMC8905525.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82187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1146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video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94177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8786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74018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42797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Anzalone, A.V., </a:t>
            </a:r>
            <a:r>
              <a:rPr lang="en-US" b="0" i="0" u="none" strike="noStrike" dirty="0" err="1">
                <a:solidFill>
                  <a:srgbClr val="222222"/>
                </a:solidFill>
                <a:effectLst/>
                <a:latin typeface="-apple-system"/>
              </a:rPr>
              <a:t>Koblan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, L.W. &amp; Liu, D.R. Genome editing with CRISPR–Cas nucleases, base editors, transposases and prime editors. </a:t>
            </a:r>
            <a:r>
              <a:rPr lang="en-US" b="0" i="1" u="none" strike="noStrike" dirty="0">
                <a:solidFill>
                  <a:srgbClr val="222222"/>
                </a:solidFill>
                <a:effectLst/>
                <a:latin typeface="-apple-system"/>
              </a:rPr>
              <a:t>Nat </a:t>
            </a:r>
            <a:r>
              <a:rPr lang="en-US" b="0" i="1" u="none" strike="noStrike" dirty="0" err="1">
                <a:solidFill>
                  <a:srgbClr val="222222"/>
                </a:solidFill>
                <a:effectLst/>
                <a:latin typeface="-apple-system"/>
              </a:rPr>
              <a:t>Biotechnol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 </a:t>
            </a:r>
            <a:r>
              <a:rPr lang="en-US" b="1" i="0" u="none" strike="noStrike" dirty="0">
                <a:solidFill>
                  <a:srgbClr val="222222"/>
                </a:solidFill>
                <a:effectLst/>
                <a:latin typeface="-apple-system"/>
              </a:rPr>
              <a:t>38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, 824–844 (2020).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0213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Anzalone, A.V., </a:t>
            </a:r>
            <a:r>
              <a:rPr lang="en-US" b="0" i="0" u="none" strike="noStrike" dirty="0" err="1">
                <a:solidFill>
                  <a:srgbClr val="222222"/>
                </a:solidFill>
                <a:effectLst/>
                <a:latin typeface="-apple-system"/>
              </a:rPr>
              <a:t>Koblan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, L.W. &amp; Liu, D.R. Genome editing with CRISPR–Cas nucleases, base editors, transposases and prime editors. </a:t>
            </a:r>
            <a:r>
              <a:rPr lang="en-US" b="0" i="1" u="none" strike="noStrike" dirty="0">
                <a:solidFill>
                  <a:srgbClr val="222222"/>
                </a:solidFill>
                <a:effectLst/>
                <a:latin typeface="-apple-system"/>
              </a:rPr>
              <a:t>Nat </a:t>
            </a:r>
            <a:r>
              <a:rPr lang="en-US" b="0" i="1" u="none" strike="noStrike" dirty="0" err="1">
                <a:solidFill>
                  <a:srgbClr val="222222"/>
                </a:solidFill>
                <a:effectLst/>
                <a:latin typeface="-apple-system"/>
              </a:rPr>
              <a:t>Biotechnol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 </a:t>
            </a:r>
            <a:r>
              <a:rPr lang="en-US" b="1" i="0" u="none" strike="noStrike" dirty="0">
                <a:solidFill>
                  <a:srgbClr val="222222"/>
                </a:solidFill>
                <a:effectLst/>
                <a:latin typeface="-apple-system"/>
              </a:rPr>
              <a:t>38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-apple-system"/>
              </a:rPr>
              <a:t>, 824–844 (2020).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11932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08577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Slaymaker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et al. Rationally engineered Cas9 nucleases with improved specificity. Science. 2016 Jan 1;351(6268):84-8.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39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57882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Fu et al. Improving CRISPR-Cas nuclease specificity using truncated guide RNAs. Nat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Biotechnol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. 2014 Mar;32(3):279-284.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409812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38185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903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Klompe</a:t>
            </a:r>
            <a:r>
              <a:rPr lang="zh-CN" alt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 </a:t>
            </a:r>
            <a:r>
              <a:rPr lang="en-US" altLang="zh-CN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et al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. Transposon-encoded CRISPR-Cas systems direct RNA-guided DNA integration. Nature. 2019 Jul;571(7764):219-225.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1534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0257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Lampe </a:t>
            </a:r>
            <a:r>
              <a:rPr lang="en-US" b="0" i="1" u="none" strike="noStrike" dirty="0">
                <a:solidFill>
                  <a:srgbClr val="212121"/>
                </a:solidFill>
                <a:effectLst/>
                <a:latin typeface="BlinkMacSystemFont"/>
              </a:rPr>
              <a:t>et al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. Targeted DNA integration in human cells without double-strand breaks using CRISPR-associated transposases. Nat </a:t>
            </a:r>
            <a:r>
              <a:rPr lang="en-US" b="0" i="0" u="none" strike="noStrike" dirty="0" err="1">
                <a:solidFill>
                  <a:srgbClr val="212121"/>
                </a:solidFill>
                <a:effectLst/>
                <a:latin typeface="BlinkMacSystemFont"/>
              </a:rPr>
              <a:t>Biotechnol</a:t>
            </a:r>
            <a:r>
              <a:rPr lang="en-US" b="0" i="0" u="none" strike="noStrike" dirty="0">
                <a:solidFill>
                  <a:srgbClr val="212121"/>
                </a:solidFill>
                <a:effectLst/>
                <a:latin typeface="BlinkMacSystemFont"/>
              </a:rPr>
              <a:t>. 2024 Jan;42(1):87-98.</a:t>
            </a:r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49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89347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14267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79408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93992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36916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59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09419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60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78651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61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153273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B1C4C-66EF-0F4C-B7A3-FECCA39F5AC9}" type="slidenum">
              <a:rPr kumimoji="1" lang="zh-CN" altLang="en-US" smtClean="0"/>
              <a:t>62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4649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33CB2-1833-6446-A58B-BEBE6542E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FFF91-2EF8-A14C-8D6E-2B415D670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FBB7F-1F1F-3041-8F34-551E53C23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AE151-E8A8-E941-8185-5C82CF767F1D}" type="datetime1">
              <a:rPr lang="en-US" altLang="zh-CN" smtClean="0"/>
              <a:t>5/21/25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CDE26-F415-E744-8334-737A7B9D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80306-4003-1944-95E0-41599C6B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81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4003-1CF9-4C49-A837-08724456D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B51C4-2549-FC4F-BDA5-F5A602F3F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2E324-444F-9548-B027-17ACC2FC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18BB-4624-F549-B5B2-F3A6AFBD1386}" type="datetime1">
              <a:rPr lang="en-US" altLang="zh-CN" smtClean="0"/>
              <a:t>5/21/25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DBAA2-8C85-9745-85A2-B41016CB6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870CA-67CB-D947-B79B-24FC521B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D370-A91D-7A4D-ADC1-8DB123A08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5780B-CE87-3A4B-A7D2-4A7F24DF5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3DD42-A223-9545-ADF3-BC52370E0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A6DC0-7002-3D41-871E-6A46BD026AD7}" type="datetime1">
              <a:rPr lang="en-US" altLang="zh-CN" smtClean="0"/>
              <a:t>5/21/25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D4323-9031-DC47-8A94-A29335B17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D6BC-9512-A841-B1C3-7903D18E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93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50F54-9BA1-B247-9E3B-D4E932B44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711D2-B35F-3F47-A8AB-22CE38A25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8E9B7-C6E3-AC4A-803D-9E61265A9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AC729-0C67-9342-95AD-9C732DB49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25FD-0353-D24E-92F3-965EF60F178F}" type="datetime1">
              <a:rPr lang="en-US" altLang="zh-CN" smtClean="0"/>
              <a:t>5/21/25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E346A-9DE9-E145-BECE-596797C09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6A837-D9D0-6146-AEC5-C35121FB6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56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F5876-C723-9744-BF58-EFB872D56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35E38-1170-5149-A855-7CBDCBFD2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2E9E2-0892-F446-8EC6-B8B00DE8A9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D4CB34-5AEB-F54E-AFF0-B66A8CD4F7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2C53D7-FBC1-1747-9350-41EBBB255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6BB04-91F7-B241-B009-701C0A537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CEAC0-DAA0-0541-99E4-1F63993A26F9}" type="datetime1">
              <a:rPr lang="en-US" altLang="zh-CN" smtClean="0"/>
              <a:t>5/21/25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127985-26B7-5741-8D93-99E60FE60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363637-43DC-C54C-984F-098B7918A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43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D1EDF-179A-0C49-895A-2CEEB3A8C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67691-EB33-0242-A864-323F5DEF0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33E27-1ED9-E544-9569-1A5FBD27B944}" type="datetime1">
              <a:rPr lang="en-US" altLang="zh-CN" smtClean="0"/>
              <a:t>5/21/25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41A9A-DE87-6E45-9DE0-DABFF5C09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888DC-681B-1341-9420-5B959877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46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17ED2C-2CF1-ED42-BEDB-CF3138B19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60A5F-ABE0-614A-B33A-5093099DA492}" type="datetime1">
              <a:rPr lang="en-US" altLang="zh-CN" smtClean="0"/>
              <a:t>5/21/25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62B63-CB01-1C43-8129-3486B4900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F36FC-3BEE-8C41-81C3-F2D77D532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73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0CC0-08A9-9843-8945-D77059896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B4A4E-73BF-9944-9344-6B1CF5C14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32A37-9369-7448-9ABE-B54AD56AF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141C0-2267-0244-BE62-A04B3A4D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904D2-8032-424F-9989-3BB75492C9F0}" type="datetime1">
              <a:rPr lang="en-US" altLang="zh-CN" smtClean="0"/>
              <a:t>5/21/25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8F276-CF22-8A4E-9CB9-B2EF60F4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D4CAB-D56F-454F-9F7A-5354596D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05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90B6A-D032-8D48-AD3C-703F016DE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F44685-8048-A147-9613-C2895F7AB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4F0BB-CBF4-D849-8CEE-9C459734D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86F97-06C9-F340-9B2C-E83F5150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47BD-DA07-B84C-B18C-005716E52A11}" type="datetime1">
              <a:rPr lang="en-US" altLang="zh-CN" smtClean="0"/>
              <a:t>5/21/25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B4FC2-462A-8847-B71A-17754A9C1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E4660-7CD5-BF45-A535-740346E8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90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DAEC2-52BA-024C-8C6C-BED550CB0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E96FE-CB14-1B4A-85E1-5E8513611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F4636-F688-CE46-B139-313977579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D6F0F-E760-474C-BA47-96878804B47C}" type="datetime1">
              <a:rPr lang="en-US" altLang="zh-CN" smtClean="0"/>
              <a:t>5/21/25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A7477-485C-4A4E-A893-61CFDB41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933B9-FD9F-1C40-89F4-1C7EAA8D0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15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75246-F61B-A441-9874-62E185482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F60BD-3BDF-7945-A4E7-1F5DF859A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51581-7D0A-CE4B-AA9F-4C887158A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12ADF-8BB3-CA4D-A291-1FC4FDC229F1}" type="datetime1">
              <a:rPr lang="en-US" altLang="zh-CN" smtClean="0"/>
              <a:t>5/21/25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E9E29-8E4E-C14A-8B17-5566A0F0C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DB503-7F83-9649-BA45-24F26623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58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6C6EE-F9D2-6148-A0B0-FA9944B3B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F61F9-840F-D740-95CA-FD5EE46D3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B176A-AC6F-F140-B22E-3EF286D94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95BF6-8395-B948-A565-36B08AC42D31}" type="datetime1">
              <a:rPr lang="en-US" altLang="zh-CN" smtClean="0"/>
              <a:t>5/21/25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8B022-53E5-1F49-B0C5-55161277A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B7C76-189B-1F4E-96DB-3B5B83733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E10DA-A4B5-3C41-BB56-C5CB7549EC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7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Aqw4DihmoQY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9.png"/><Relationship Id="rId7" Type="http://schemas.openxmlformats.org/officeDocument/2006/relationships/image" Target="../media/image6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jpeg"/><Relationship Id="rId5" Type="http://schemas.openxmlformats.org/officeDocument/2006/relationships/image" Target="../media/image60.jpeg"/><Relationship Id="rId4" Type="http://schemas.microsoft.com/office/2007/relationships/hdphoto" Target="../media/hdphoto1.wdp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F53F7-14A7-E740-B5E2-36C20736F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264887"/>
            <a:ext cx="9144000" cy="2387600"/>
          </a:xfrm>
        </p:spPr>
        <p:txBody>
          <a:bodyPr>
            <a:noAutofit/>
          </a:bodyPr>
          <a:lstStyle/>
          <a:p>
            <a:r>
              <a:rPr lang="en-US" sz="4000" b="1" dirty="0"/>
              <a:t>Genome Editing: Past, Present and Future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579968-1EC6-8E4D-9322-3A0545372D51}"/>
              </a:ext>
            </a:extLst>
          </p:cNvPr>
          <p:cNvSpPr txBox="1"/>
          <p:nvPr/>
        </p:nvSpPr>
        <p:spPr>
          <a:xfrm>
            <a:off x="5448899" y="3898900"/>
            <a:ext cx="1294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Peiyu Liu</a:t>
            </a:r>
            <a:endParaRPr kumimoji="1" lang="zh-CN" altLang="en-US" sz="2400" dirty="0"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249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4205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Outline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86B7C4-301B-EC44-9432-0558C55E4E1B}"/>
              </a:ext>
            </a:extLst>
          </p:cNvPr>
          <p:cNvSpPr txBox="1"/>
          <p:nvPr/>
        </p:nvSpPr>
        <p:spPr>
          <a:xfrm>
            <a:off x="325821" y="1048925"/>
            <a:ext cx="5197877" cy="6097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Introduction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Genome Editing before CRISPR-Cas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ZFN&amp;TALEN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CRISPR-Cas Immune System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Introduction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Classification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Mechanism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CRISPR-Cas-derived Genome Editing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Nucleases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Base editors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Transposases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Prime editors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Summary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endParaRPr kumimoji="1" lang="en-US" altLang="zh-CN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5324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83741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038255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0659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Genome Editing: Basics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5CDEA0-63AA-8942-8FB1-8E48524D0D9B}"/>
              </a:ext>
            </a:extLst>
          </p:cNvPr>
          <p:cNvSpPr txBox="1"/>
          <p:nvPr/>
        </p:nvSpPr>
        <p:spPr>
          <a:xfrm>
            <a:off x="325821" y="1048925"/>
            <a:ext cx="7130608" cy="5173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Goals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High </a:t>
            </a:r>
            <a:r>
              <a:rPr kumimoji="1" lang="en-CN" altLang="zh-CN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precision</a:t>
            </a:r>
            <a:r>
              <a:rPr kumimoji="1" lang="en-CN" altLang="zh-CN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: all sites edited are targeted sites</a:t>
            </a:r>
            <a:endParaRPr kumimoji="1" lang="en-CN" altLang="zh-CN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High </a:t>
            </a:r>
            <a:r>
              <a:rPr kumimoji="1" lang="en-CN" altLang="zh-CN" i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recall</a:t>
            </a: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: </a:t>
            </a:r>
            <a:r>
              <a:rPr kumimoji="1" lang="en-CN" altLang="zh-CN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all targeted sites are edited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Simple, versatile and cheap to apply</a:t>
            </a:r>
            <a:endParaRPr kumimoji="1" lang="en-CN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Methods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Zinc-finger nucleases (</a:t>
            </a:r>
            <a:r>
              <a:rPr kumimoji="1" lang="en-CN" altLang="zh-CN" dirty="0"/>
              <a:t>ZFN)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Transcription activator-like effector nucleases (TALENs)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CRISPR-Cas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Possible outcomes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DSB-induced NHEJ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DSB-induced HDR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Other non-DSB-induced outcomes (e.g., base editing)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EA025E-B79A-A047-8938-087FB20F7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231177"/>
            <a:ext cx="5482730" cy="35357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1D1F86-35E4-9940-8ACE-71E6E87BFB7E}"/>
              </a:ext>
            </a:extLst>
          </p:cNvPr>
          <p:cNvSpPr txBox="1"/>
          <p:nvPr/>
        </p:nvSpPr>
        <p:spPr>
          <a:xfrm>
            <a:off x="6667500" y="4805636"/>
            <a:ext cx="493588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DSB-induced genome-editing outcomes. </a:t>
            </a:r>
          </a:p>
          <a:p>
            <a:pPr marL="342900" indent="-342900">
              <a:buAutoNum type="alphaUcPeriod"/>
            </a:pPr>
            <a:r>
              <a:rPr kumimoji="1" lang="en-US" altLang="zh-CN" sz="1400" dirty="0"/>
              <a:t>Indels and inversion introduced by NHEJ in the absence of a homologous donor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template DNA. </a:t>
            </a:r>
          </a:p>
          <a:p>
            <a:pPr marL="342900" indent="-342900">
              <a:buAutoNum type="alphaUcPeriod"/>
            </a:pPr>
            <a:r>
              <a:rPr kumimoji="1" lang="en-US" altLang="zh-CN" sz="1400" dirty="0"/>
              <a:t>Recombination introduced by HDR in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the presence of the donor DNA.</a:t>
            </a:r>
          </a:p>
          <a:p>
            <a:r>
              <a:rPr kumimoji="1" lang="en-US" altLang="zh-CN" sz="1400" dirty="0"/>
              <a:t>Lightnings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represent DSB sites.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74484-218F-7B4E-9D58-C3DE5989BF41}"/>
              </a:ext>
            </a:extLst>
          </p:cNvPr>
          <p:cNvSpPr txBox="1"/>
          <p:nvPr/>
        </p:nvSpPr>
        <p:spPr>
          <a:xfrm>
            <a:off x="6767654" y="6180696"/>
            <a:ext cx="4735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Gaj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T, </a:t>
            </a:r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Sirk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SJ, Shui SL, Liu J. Genome-Editing Technologies: Principles and Applications.</a:t>
            </a:r>
            <a:r>
              <a:rPr lang="en-US" sz="120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Cold Spring </a:t>
            </a:r>
            <a:r>
              <a:rPr lang="en-US" sz="120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Harb</a:t>
            </a:r>
            <a:r>
              <a:rPr lang="en-US" sz="120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Perspect</a:t>
            </a:r>
            <a:r>
              <a:rPr lang="en-US" sz="120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Biol</a:t>
            </a:r>
            <a:r>
              <a:rPr lang="en-US" sz="120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2016 Dec 1;8(12):a023754.</a:t>
            </a:r>
            <a:endParaRPr lang="zh-CN" altLang="en-US" sz="12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183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53281B-F852-9C49-8837-E02F9D79CE29}"/>
              </a:ext>
            </a:extLst>
          </p:cNvPr>
          <p:cNvSpPr txBox="1"/>
          <p:nvPr/>
        </p:nvSpPr>
        <p:spPr>
          <a:xfrm>
            <a:off x="325821" y="464150"/>
            <a:ext cx="46786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Genome Editing: Workflow</a:t>
            </a:r>
          </a:p>
        </p:txBody>
      </p:sp>
      <p:pic>
        <p:nvPicPr>
          <p:cNvPr id="1028" name="Picture 4" descr="Fig. 2">
            <a:extLst>
              <a:ext uri="{FF2B5EF4-FFF2-40B4-BE49-F238E27FC236}">
                <a16:creationId xmlns:a16="http://schemas.microsoft.com/office/drawing/2014/main" id="{D3244E41-0891-6C43-B0E7-5F8A6C13B1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71" t="52867" r="48958" b="41423"/>
          <a:stretch/>
        </p:blipFill>
        <p:spPr bwMode="auto">
          <a:xfrm>
            <a:off x="406102" y="2417780"/>
            <a:ext cx="14351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54AF4C-8278-184A-915F-DFD79DAA179E}"/>
              </a:ext>
            </a:extLst>
          </p:cNvPr>
          <p:cNvSpPr txBox="1"/>
          <p:nvPr/>
        </p:nvSpPr>
        <p:spPr>
          <a:xfrm>
            <a:off x="146205" y="2798780"/>
            <a:ext cx="1865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target sequencing</a:t>
            </a:r>
            <a:endParaRPr kumimoji="1" lang="zh-CN" alt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975CC0-C486-0147-ABDD-FA9EB6D2B277}"/>
              </a:ext>
            </a:extLst>
          </p:cNvPr>
          <p:cNvCxnSpPr>
            <a:cxnSpLocks/>
          </p:cNvCxnSpPr>
          <p:nvPr/>
        </p:nvCxnSpPr>
        <p:spPr>
          <a:xfrm>
            <a:off x="2138331" y="2570180"/>
            <a:ext cx="5588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3260C00-7286-0B4F-836C-47C5C94B5E25}"/>
              </a:ext>
            </a:extLst>
          </p:cNvPr>
          <p:cNvSpPr txBox="1"/>
          <p:nvPr/>
        </p:nvSpPr>
        <p:spPr>
          <a:xfrm>
            <a:off x="2718733" y="2991530"/>
            <a:ext cx="20063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editor design</a:t>
            </a:r>
          </a:p>
          <a:p>
            <a:pPr algn="ctr"/>
            <a:r>
              <a:rPr kumimoji="1" lang="en-US" altLang="zh-CN" dirty="0"/>
              <a:t>vector construction</a:t>
            </a:r>
            <a:endParaRPr kumimoji="1" lang="zh-CN" alt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28D5854-FEA7-FA4C-B586-CA8767F970FA}"/>
              </a:ext>
            </a:extLst>
          </p:cNvPr>
          <p:cNvCxnSpPr>
            <a:cxnSpLocks/>
          </p:cNvCxnSpPr>
          <p:nvPr/>
        </p:nvCxnSpPr>
        <p:spPr>
          <a:xfrm>
            <a:off x="4714250" y="2532080"/>
            <a:ext cx="723163" cy="0"/>
          </a:xfrm>
          <a:prstGeom prst="straightConnector1">
            <a:avLst/>
          </a:prstGeom>
          <a:ln>
            <a:headEnd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A206DAB-768F-F94B-B211-8F3420D8A684}"/>
              </a:ext>
            </a:extLst>
          </p:cNvPr>
          <p:cNvSpPr txBox="1"/>
          <p:nvPr/>
        </p:nvSpPr>
        <p:spPr>
          <a:xfrm>
            <a:off x="8984807" y="3134816"/>
            <a:ext cx="802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screen</a:t>
            </a:r>
            <a:endParaRPr kumimoji="1" lang="zh-CN" alt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B52C6A6-4C24-BA46-88B5-07E4E8EBB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6752" y="1418294"/>
            <a:ext cx="1659378" cy="158229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E620AD9-1133-CA4E-B616-828419B64335}"/>
              </a:ext>
            </a:extLst>
          </p:cNvPr>
          <p:cNvSpPr txBox="1"/>
          <p:nvPr/>
        </p:nvSpPr>
        <p:spPr>
          <a:xfrm>
            <a:off x="6177143" y="3130029"/>
            <a:ext cx="93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delivery</a:t>
            </a:r>
            <a:endParaRPr kumimoji="1" lang="zh-CN" altLang="en-US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842D92C-0854-AD4F-866D-EEC0927FE437}"/>
              </a:ext>
            </a:extLst>
          </p:cNvPr>
          <p:cNvCxnSpPr>
            <a:cxnSpLocks/>
          </p:cNvCxnSpPr>
          <p:nvPr/>
        </p:nvCxnSpPr>
        <p:spPr>
          <a:xfrm>
            <a:off x="7816302" y="2519380"/>
            <a:ext cx="723163" cy="0"/>
          </a:xfrm>
          <a:prstGeom prst="straightConnector1">
            <a:avLst/>
          </a:prstGeom>
          <a:ln>
            <a:headEnd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51F34EB6-A931-114F-93C6-AEECD8777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9272" y="1606415"/>
            <a:ext cx="2006318" cy="138511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AE97190-79C9-F84A-A753-CF17C3F41E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0086" y="2011393"/>
            <a:ext cx="1391457" cy="800087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E444265-B724-4749-AA1D-E8F44F35226E}"/>
              </a:ext>
            </a:extLst>
          </p:cNvPr>
          <p:cNvCxnSpPr>
            <a:cxnSpLocks/>
          </p:cNvCxnSpPr>
          <p:nvPr/>
        </p:nvCxnSpPr>
        <p:spPr>
          <a:xfrm>
            <a:off x="10081543" y="2506680"/>
            <a:ext cx="723163" cy="0"/>
          </a:xfrm>
          <a:prstGeom prst="straightConnector1">
            <a:avLst/>
          </a:prstGeom>
          <a:ln>
            <a:headEnd w="med" len="med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9813FEC-3D8E-A447-8E70-F350C71CF872}"/>
              </a:ext>
            </a:extLst>
          </p:cNvPr>
          <p:cNvSpPr txBox="1"/>
          <p:nvPr/>
        </p:nvSpPr>
        <p:spPr>
          <a:xfrm>
            <a:off x="10952307" y="2011393"/>
            <a:ext cx="12396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used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 research, treatment…</a:t>
            </a:r>
            <a:endParaRPr kumimoji="1" lang="zh-CN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F13188-1CA6-264C-9B85-5BB361996110}"/>
              </a:ext>
            </a:extLst>
          </p:cNvPr>
          <p:cNvSpPr txBox="1"/>
          <p:nvPr/>
        </p:nvSpPr>
        <p:spPr>
          <a:xfrm>
            <a:off x="277586" y="3954483"/>
            <a:ext cx="6457793" cy="2588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In practice, many factors need to be considered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Cell line or animal model?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i="1" dirty="0"/>
              <a:t>In vivo</a:t>
            </a:r>
            <a:r>
              <a:rPr kumimoji="1" lang="en-US" altLang="zh-CN" dirty="0"/>
              <a:t> or </a:t>
            </a:r>
            <a:r>
              <a:rPr kumimoji="1" lang="en-US" altLang="zh-CN" i="1" dirty="0"/>
              <a:t>in vitro</a:t>
            </a:r>
            <a:r>
              <a:rPr kumimoji="1" lang="en-US" altLang="zh-CN" dirty="0"/>
              <a:t>?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Unconditional or conditional?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…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Detailed protocols depend on purposes of genome editing.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8157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  <p:bldP spid="21" grpId="0"/>
      <p:bldP spid="30" grpId="0"/>
      <p:bldP spid="48" grpId="0"/>
      <p:bldP spid="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83741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zh-CN" sz="4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Genome Editing before CRISPR-Cas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744475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71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Zinc Finger Nucleases (</a:t>
            </a:r>
            <a:r>
              <a:rPr kumimoji="1" lang="en-CN" altLang="zh-CN" sz="3200" dirty="0"/>
              <a:t>ZFN)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-1" y="6393850"/>
            <a:ext cx="12192001" cy="464150"/>
            <a:chOff x="2650603" y="6393850"/>
            <a:chExt cx="5312297" cy="4641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ZFN</a:t>
              </a:r>
              <a:endParaRPr kumimoji="1" lang="zh-CN" altLang="en-US" sz="2000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TALEN</a:t>
              </a:r>
            </a:p>
          </p:txBody>
        </p:sp>
      </p:grpSp>
      <p:sp>
        <p:nvSpPr>
          <p:cNvPr id="12" name="Freeform 11">
            <a:extLst>
              <a:ext uri="{FF2B5EF4-FFF2-40B4-BE49-F238E27FC236}">
                <a16:creationId xmlns:a16="http://schemas.microsoft.com/office/drawing/2014/main" id="{A885EF36-6A6F-E04E-9AF2-49C11CC69B15}"/>
              </a:ext>
            </a:extLst>
          </p:cNvPr>
          <p:cNvSpPr/>
          <p:nvPr/>
        </p:nvSpPr>
        <p:spPr>
          <a:xfrm>
            <a:off x="416717" y="1199136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44E56E-D273-0840-AFB3-836B8AAB44F8}"/>
              </a:ext>
            </a:extLst>
          </p:cNvPr>
          <p:cNvSpPr txBox="1"/>
          <p:nvPr/>
        </p:nvSpPr>
        <p:spPr>
          <a:xfrm>
            <a:off x="1156498" y="1388542"/>
            <a:ext cx="7415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: </a:t>
            </a:r>
            <a:r>
              <a:rPr kumimoji="1" lang="en-US" altLang="zh-CN" b="1" dirty="0"/>
              <a:t>non-specific</a:t>
            </a:r>
            <a:r>
              <a:rPr kumimoji="1" lang="en-US" altLang="zh-CN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nuclease domain</a:t>
            </a:r>
            <a:r>
              <a:rPr kumimoji="1" lang="en-US" altLang="zh-CN" dirty="0"/>
              <a:t> of </a:t>
            </a:r>
            <a:r>
              <a:rPr kumimoji="1" lang="en-US" altLang="zh-CN" i="1" dirty="0" err="1"/>
              <a:t>Fok</a:t>
            </a:r>
            <a:r>
              <a:rPr kumimoji="1" lang="en-US" altLang="zh-CN" dirty="0" err="1"/>
              <a:t>I</a:t>
            </a:r>
            <a:r>
              <a:rPr kumimoji="1" lang="en-US" altLang="zh-CN" dirty="0"/>
              <a:t> restriction enzyme, function as </a:t>
            </a:r>
            <a:r>
              <a:rPr kumimoji="1" lang="en-US" altLang="zh-CN" b="1" dirty="0"/>
              <a:t>dimer</a:t>
            </a:r>
            <a:endParaRPr kumimoji="1" lang="zh-CN" altLang="en-US" b="1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9E73CA72-D9B2-3043-A53F-9B0A5A9E8A46}"/>
              </a:ext>
            </a:extLst>
          </p:cNvPr>
          <p:cNvSpPr/>
          <p:nvPr/>
        </p:nvSpPr>
        <p:spPr>
          <a:xfrm>
            <a:off x="586136" y="2264182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D0BC63-10A7-864E-B589-1131B716F4EC}"/>
              </a:ext>
            </a:extLst>
          </p:cNvPr>
          <p:cNvSpPr txBox="1"/>
          <p:nvPr/>
        </p:nvSpPr>
        <p:spPr>
          <a:xfrm>
            <a:off x="915825" y="2203638"/>
            <a:ext cx="7367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: </a:t>
            </a:r>
            <a:r>
              <a:rPr kumimoji="1" lang="en-US" altLang="zh-CN" b="1" dirty="0"/>
              <a:t>specific</a:t>
            </a:r>
            <a:r>
              <a:rPr kumimoji="1" lang="en-US" altLang="zh-CN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DNA-binding domain</a:t>
            </a:r>
            <a:r>
              <a:rPr kumimoji="1" lang="en-US" altLang="zh-CN" dirty="0"/>
              <a:t>, one zinc finger domain of zinc finger proteins</a:t>
            </a:r>
            <a:endParaRPr kumimoji="1" lang="zh-CN" alt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244F431-8431-BC42-B7E3-03CE1CA1BB86}"/>
              </a:ext>
            </a:extLst>
          </p:cNvPr>
          <p:cNvCxnSpPr>
            <a:cxnSpLocks/>
          </p:cNvCxnSpPr>
          <p:nvPr/>
        </p:nvCxnSpPr>
        <p:spPr>
          <a:xfrm flipH="1">
            <a:off x="416717" y="2549220"/>
            <a:ext cx="226405" cy="56233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A70144C-85B4-094E-8AAA-1EE6BD8DDA58}"/>
              </a:ext>
            </a:extLst>
          </p:cNvPr>
          <p:cNvGrpSpPr/>
          <p:nvPr/>
        </p:nvGrpSpPr>
        <p:grpSpPr>
          <a:xfrm>
            <a:off x="516731" y="2784991"/>
            <a:ext cx="1503009" cy="1412125"/>
            <a:chOff x="525816" y="3281058"/>
            <a:chExt cx="986512" cy="1070910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DC8CBB2-8CAC-4A4A-B0C5-3DE913202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6136" y="3281058"/>
              <a:ext cx="926192" cy="107091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99CD4E0-E94D-8843-8058-FA3140F425DC}"/>
                </a:ext>
              </a:extLst>
            </p:cNvPr>
            <p:cNvSpPr/>
            <p:nvPr/>
          </p:nvSpPr>
          <p:spPr>
            <a:xfrm rot="2350952">
              <a:off x="525816" y="3906252"/>
              <a:ext cx="849002" cy="285750"/>
            </a:xfrm>
            <a:prstGeom prst="rect">
              <a:avLst/>
            </a:prstGeom>
            <a:solidFill>
              <a:schemeClr val="accent1">
                <a:alpha val="40163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77C112-5A3E-B641-BF9C-8E985EA41C4E}"/>
              </a:ext>
            </a:extLst>
          </p:cNvPr>
          <p:cNvCxnSpPr>
            <a:cxnSpLocks/>
          </p:cNvCxnSpPr>
          <p:nvPr/>
        </p:nvCxnSpPr>
        <p:spPr>
          <a:xfrm>
            <a:off x="902554" y="2501959"/>
            <a:ext cx="2151810" cy="29652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0B7170F-56CE-0B4A-9B97-BBF955E768A6}"/>
              </a:ext>
            </a:extLst>
          </p:cNvPr>
          <p:cNvSpPr txBox="1"/>
          <p:nvPr/>
        </p:nvSpPr>
        <p:spPr>
          <a:xfrm>
            <a:off x="325821" y="4284706"/>
            <a:ext cx="4102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about 30 residues, organized in </a:t>
            </a:r>
            <a:r>
              <a:rPr kumimoji="1" lang="el-GR" altLang="zh-CN" dirty="0" err="1"/>
              <a:t>ββα</a:t>
            </a:r>
            <a:r>
              <a:rPr kumimoji="1" lang="en-US" altLang="zh-CN" dirty="0"/>
              <a:t> motif</a:t>
            </a:r>
            <a:endParaRPr kumimoji="1" lang="zh-CN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DC7F18-D86E-1E47-9FAD-927763BCFD4A}"/>
              </a:ext>
            </a:extLst>
          </p:cNvPr>
          <p:cNvSpPr txBox="1"/>
          <p:nvPr/>
        </p:nvSpPr>
        <p:spPr>
          <a:xfrm>
            <a:off x="325819" y="4602727"/>
            <a:ext cx="54259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TGEKPYK</a:t>
            </a:r>
            <a:r>
              <a:rPr kumimoji="1" lang="en-US" altLang="zh-CN" dirty="0">
                <a:highlight>
                  <a:srgbClr val="FFFF00"/>
                </a:highlight>
              </a:rPr>
              <a:t>C</a:t>
            </a:r>
            <a:r>
              <a:rPr kumimoji="1" lang="en-US" altLang="zh-CN" dirty="0"/>
              <a:t>PE</a:t>
            </a:r>
            <a:r>
              <a:rPr kumimoji="1" lang="en-US" altLang="zh-CN" dirty="0">
                <a:highlight>
                  <a:srgbClr val="FFFF00"/>
                </a:highlight>
              </a:rPr>
              <a:t>C</a:t>
            </a:r>
            <a:r>
              <a:rPr kumimoji="1" lang="en-US" altLang="zh-CN" dirty="0"/>
              <a:t>GKSFS</a:t>
            </a:r>
            <a:r>
              <a:rPr kumimoji="1" lang="en-US" altLang="zh-CN" dirty="0">
                <a:solidFill>
                  <a:schemeClr val="accent1"/>
                </a:solidFill>
              </a:rPr>
              <a:t>XXXXXXX</a:t>
            </a:r>
            <a:r>
              <a:rPr kumimoji="1" lang="en-US" altLang="zh-CN" dirty="0">
                <a:highlight>
                  <a:srgbClr val="00FFFF"/>
                </a:highlight>
              </a:rPr>
              <a:t>H</a:t>
            </a:r>
            <a:r>
              <a:rPr kumimoji="1" lang="en-US" altLang="zh-CN" dirty="0"/>
              <a:t>QRT</a:t>
            </a:r>
            <a:r>
              <a:rPr kumimoji="1" lang="en-US" altLang="zh-CN" dirty="0">
                <a:highlight>
                  <a:srgbClr val="00FFFF"/>
                </a:highlight>
              </a:rPr>
              <a:t>H</a:t>
            </a:r>
          </a:p>
          <a:p>
            <a:r>
              <a:rPr kumimoji="1" lang="en-US" altLang="zh-CN" dirty="0"/>
              <a:t>Cys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-His</a:t>
            </a:r>
            <a:r>
              <a:rPr kumimoji="1" lang="en-US" altLang="zh-CN" baseline="-25000" dirty="0"/>
              <a:t>2</a:t>
            </a:r>
            <a:r>
              <a:rPr kumimoji="1" lang="en-US" altLang="zh-CN" dirty="0"/>
              <a:t> zinc finger</a:t>
            </a:r>
          </a:p>
          <a:p>
            <a:r>
              <a:rPr kumimoji="1" lang="en-US" altLang="zh-CN" dirty="0">
                <a:solidFill>
                  <a:schemeClr val="accent1"/>
                </a:solidFill>
              </a:rPr>
              <a:t>XXXXXXX (</a:t>
            </a:r>
            <a:r>
              <a:rPr kumimoji="1" lang="en-US" altLang="zh-CN" dirty="0">
                <a:solidFill>
                  <a:srgbClr val="FF0000"/>
                </a:solidFill>
              </a:rPr>
              <a:t>7 amino acids</a:t>
            </a:r>
            <a:r>
              <a:rPr kumimoji="1" lang="en-US" altLang="zh-CN" dirty="0">
                <a:solidFill>
                  <a:schemeClr val="accent1"/>
                </a:solidFill>
              </a:rPr>
              <a:t>) recognize and bind to </a:t>
            </a:r>
            <a:r>
              <a:rPr kumimoji="1" lang="en-US" altLang="zh-CN" dirty="0">
                <a:solidFill>
                  <a:srgbClr val="FF0000"/>
                </a:solidFill>
              </a:rPr>
              <a:t>3 bps of DNA</a:t>
            </a:r>
            <a:r>
              <a:rPr kumimoji="1" lang="en-US" altLang="zh-CN" dirty="0">
                <a:solidFill>
                  <a:schemeClr val="accent1"/>
                </a:solidFill>
              </a:rPr>
              <a:t>, </a:t>
            </a:r>
            <a:r>
              <a:rPr kumimoji="1" lang="en-US" altLang="zh-CN" b="1" dirty="0">
                <a:solidFill>
                  <a:schemeClr val="accent1"/>
                </a:solidFill>
              </a:rPr>
              <a:t>specifically</a:t>
            </a:r>
            <a:r>
              <a:rPr kumimoji="1" lang="en-US" altLang="zh-CN" dirty="0">
                <a:solidFill>
                  <a:schemeClr val="accent1"/>
                </a:solidFill>
              </a:rPr>
              <a:t>.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5EFA0B1-7E3B-454F-B841-CDCC286E576D}"/>
              </a:ext>
            </a:extLst>
          </p:cNvPr>
          <p:cNvCxnSpPr/>
          <p:nvPr/>
        </p:nvCxnSpPr>
        <p:spPr>
          <a:xfrm>
            <a:off x="5751752" y="3758003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F2D7F31-2E50-1144-B946-DB82C412AD14}"/>
              </a:ext>
            </a:extLst>
          </p:cNvPr>
          <p:cNvCxnSpPr/>
          <p:nvPr/>
        </p:nvCxnSpPr>
        <p:spPr>
          <a:xfrm>
            <a:off x="5751752" y="4073959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A280CCC-9842-4B4C-AC0B-5C1AD2CB9C68}"/>
              </a:ext>
            </a:extLst>
          </p:cNvPr>
          <p:cNvCxnSpPr>
            <a:cxnSpLocks/>
          </p:cNvCxnSpPr>
          <p:nvPr/>
        </p:nvCxnSpPr>
        <p:spPr>
          <a:xfrm>
            <a:off x="5938339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CB37102-FE96-A944-BB95-A91B74A2A52C}"/>
              </a:ext>
            </a:extLst>
          </p:cNvPr>
          <p:cNvCxnSpPr>
            <a:cxnSpLocks/>
          </p:cNvCxnSpPr>
          <p:nvPr/>
        </p:nvCxnSpPr>
        <p:spPr>
          <a:xfrm>
            <a:off x="6083119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A822E18-2AEA-A347-B860-8699FBFA9F76}"/>
              </a:ext>
            </a:extLst>
          </p:cNvPr>
          <p:cNvCxnSpPr>
            <a:cxnSpLocks/>
          </p:cNvCxnSpPr>
          <p:nvPr/>
        </p:nvCxnSpPr>
        <p:spPr>
          <a:xfrm>
            <a:off x="6220279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0098547-247A-AA41-9976-CDBF40F9A835}"/>
              </a:ext>
            </a:extLst>
          </p:cNvPr>
          <p:cNvCxnSpPr>
            <a:cxnSpLocks/>
          </p:cNvCxnSpPr>
          <p:nvPr/>
        </p:nvCxnSpPr>
        <p:spPr>
          <a:xfrm>
            <a:off x="6349819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18EFA67-7F0E-2B48-BA10-B55B9EA19066}"/>
              </a:ext>
            </a:extLst>
          </p:cNvPr>
          <p:cNvCxnSpPr>
            <a:cxnSpLocks/>
          </p:cNvCxnSpPr>
          <p:nvPr/>
        </p:nvCxnSpPr>
        <p:spPr>
          <a:xfrm>
            <a:off x="6479359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2D7C89D-889B-3F43-9141-D8258E80E620}"/>
              </a:ext>
            </a:extLst>
          </p:cNvPr>
          <p:cNvCxnSpPr>
            <a:cxnSpLocks/>
          </p:cNvCxnSpPr>
          <p:nvPr/>
        </p:nvCxnSpPr>
        <p:spPr>
          <a:xfrm>
            <a:off x="6617212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A706F8C-6D3F-1E40-B699-910C22F557A1}"/>
              </a:ext>
            </a:extLst>
          </p:cNvPr>
          <p:cNvCxnSpPr>
            <a:cxnSpLocks/>
          </p:cNvCxnSpPr>
          <p:nvPr/>
        </p:nvCxnSpPr>
        <p:spPr>
          <a:xfrm>
            <a:off x="6761992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9F8401F-B370-D442-BB1E-1CC3EE6EE25B}"/>
              </a:ext>
            </a:extLst>
          </p:cNvPr>
          <p:cNvCxnSpPr>
            <a:cxnSpLocks/>
          </p:cNvCxnSpPr>
          <p:nvPr/>
        </p:nvCxnSpPr>
        <p:spPr>
          <a:xfrm>
            <a:off x="6899152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7107B9B-9A95-3E44-B6F1-A0307D6452DA}"/>
              </a:ext>
            </a:extLst>
          </p:cNvPr>
          <p:cNvCxnSpPr>
            <a:cxnSpLocks/>
          </p:cNvCxnSpPr>
          <p:nvPr/>
        </p:nvCxnSpPr>
        <p:spPr>
          <a:xfrm>
            <a:off x="7028692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955DEBDD-F0FA-644B-B1FB-9007065D29AA}"/>
              </a:ext>
            </a:extLst>
          </p:cNvPr>
          <p:cNvCxnSpPr>
            <a:cxnSpLocks/>
          </p:cNvCxnSpPr>
          <p:nvPr/>
        </p:nvCxnSpPr>
        <p:spPr>
          <a:xfrm>
            <a:off x="7158232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6637E05-7C12-354E-AE11-FDA48A4CC7E8}"/>
              </a:ext>
            </a:extLst>
          </p:cNvPr>
          <p:cNvCxnSpPr>
            <a:cxnSpLocks/>
          </p:cNvCxnSpPr>
          <p:nvPr/>
        </p:nvCxnSpPr>
        <p:spPr>
          <a:xfrm>
            <a:off x="7296085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01DE3D4-F8D7-9F40-BABD-3EDBFBDBEA9E}"/>
              </a:ext>
            </a:extLst>
          </p:cNvPr>
          <p:cNvCxnSpPr>
            <a:cxnSpLocks/>
          </p:cNvCxnSpPr>
          <p:nvPr/>
        </p:nvCxnSpPr>
        <p:spPr>
          <a:xfrm>
            <a:off x="7440865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030FAF1-D6DA-634A-B6D2-E6880E5DB0CE}"/>
              </a:ext>
            </a:extLst>
          </p:cNvPr>
          <p:cNvCxnSpPr>
            <a:cxnSpLocks/>
          </p:cNvCxnSpPr>
          <p:nvPr/>
        </p:nvCxnSpPr>
        <p:spPr>
          <a:xfrm>
            <a:off x="7578025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9CD73B3-1844-4343-B6A8-D0ECD7ED6F2D}"/>
              </a:ext>
            </a:extLst>
          </p:cNvPr>
          <p:cNvCxnSpPr>
            <a:cxnSpLocks/>
          </p:cNvCxnSpPr>
          <p:nvPr/>
        </p:nvCxnSpPr>
        <p:spPr>
          <a:xfrm>
            <a:off x="7707565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B8532BD-CA16-A049-9EE9-624883C0E707}"/>
              </a:ext>
            </a:extLst>
          </p:cNvPr>
          <p:cNvCxnSpPr>
            <a:cxnSpLocks/>
          </p:cNvCxnSpPr>
          <p:nvPr/>
        </p:nvCxnSpPr>
        <p:spPr>
          <a:xfrm>
            <a:off x="7837105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88DFE8D-0A15-454E-A5BD-5D77CDCFDD0B}"/>
              </a:ext>
            </a:extLst>
          </p:cNvPr>
          <p:cNvCxnSpPr>
            <a:cxnSpLocks/>
          </p:cNvCxnSpPr>
          <p:nvPr/>
        </p:nvCxnSpPr>
        <p:spPr>
          <a:xfrm>
            <a:off x="7974957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1330D54-FA49-A940-9984-42EB25D050CC}"/>
              </a:ext>
            </a:extLst>
          </p:cNvPr>
          <p:cNvCxnSpPr>
            <a:cxnSpLocks/>
          </p:cNvCxnSpPr>
          <p:nvPr/>
        </p:nvCxnSpPr>
        <p:spPr>
          <a:xfrm>
            <a:off x="8119737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87C16CE-AD66-3244-A585-37B5F721B810}"/>
              </a:ext>
            </a:extLst>
          </p:cNvPr>
          <p:cNvCxnSpPr>
            <a:cxnSpLocks/>
          </p:cNvCxnSpPr>
          <p:nvPr/>
        </p:nvCxnSpPr>
        <p:spPr>
          <a:xfrm>
            <a:off x="8256897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13177CB-D233-A140-B3A2-7EC0EAE7484C}"/>
              </a:ext>
            </a:extLst>
          </p:cNvPr>
          <p:cNvCxnSpPr>
            <a:cxnSpLocks/>
          </p:cNvCxnSpPr>
          <p:nvPr/>
        </p:nvCxnSpPr>
        <p:spPr>
          <a:xfrm>
            <a:off x="8386437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53F7FCA-0BBB-574B-9144-11068A2AB3D6}"/>
              </a:ext>
            </a:extLst>
          </p:cNvPr>
          <p:cNvCxnSpPr>
            <a:cxnSpLocks/>
          </p:cNvCxnSpPr>
          <p:nvPr/>
        </p:nvCxnSpPr>
        <p:spPr>
          <a:xfrm>
            <a:off x="8515977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C9268C3-0421-9643-840C-E404482CFE08}"/>
              </a:ext>
            </a:extLst>
          </p:cNvPr>
          <p:cNvCxnSpPr>
            <a:cxnSpLocks/>
          </p:cNvCxnSpPr>
          <p:nvPr/>
        </p:nvCxnSpPr>
        <p:spPr>
          <a:xfrm>
            <a:off x="8653830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7B935C4-7A1C-484A-A38F-BD96E714C226}"/>
              </a:ext>
            </a:extLst>
          </p:cNvPr>
          <p:cNvCxnSpPr>
            <a:cxnSpLocks/>
          </p:cNvCxnSpPr>
          <p:nvPr/>
        </p:nvCxnSpPr>
        <p:spPr>
          <a:xfrm>
            <a:off x="8798610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D8344FB-CA2B-B64D-AE02-64FD9DC36286}"/>
              </a:ext>
            </a:extLst>
          </p:cNvPr>
          <p:cNvCxnSpPr>
            <a:cxnSpLocks/>
          </p:cNvCxnSpPr>
          <p:nvPr/>
        </p:nvCxnSpPr>
        <p:spPr>
          <a:xfrm>
            <a:off x="8935770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2A47626-5852-1D47-9019-3F27A4C2CD0C}"/>
              </a:ext>
            </a:extLst>
          </p:cNvPr>
          <p:cNvCxnSpPr>
            <a:cxnSpLocks/>
          </p:cNvCxnSpPr>
          <p:nvPr/>
        </p:nvCxnSpPr>
        <p:spPr>
          <a:xfrm>
            <a:off x="9065310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46D5769-BF89-7D47-A081-07F6219037CF}"/>
              </a:ext>
            </a:extLst>
          </p:cNvPr>
          <p:cNvCxnSpPr>
            <a:cxnSpLocks/>
          </p:cNvCxnSpPr>
          <p:nvPr/>
        </p:nvCxnSpPr>
        <p:spPr>
          <a:xfrm>
            <a:off x="9194850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61F6326-1734-5C4B-898A-8FFCBA54CDC7}"/>
              </a:ext>
            </a:extLst>
          </p:cNvPr>
          <p:cNvCxnSpPr>
            <a:cxnSpLocks/>
          </p:cNvCxnSpPr>
          <p:nvPr/>
        </p:nvCxnSpPr>
        <p:spPr>
          <a:xfrm>
            <a:off x="9325083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7720000-50BB-0F4B-A8B2-A28D8CCB557E}"/>
              </a:ext>
            </a:extLst>
          </p:cNvPr>
          <p:cNvCxnSpPr>
            <a:cxnSpLocks/>
          </p:cNvCxnSpPr>
          <p:nvPr/>
        </p:nvCxnSpPr>
        <p:spPr>
          <a:xfrm>
            <a:off x="9462243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A97B87D-5D3E-7846-B3DB-8A12AAF36C56}"/>
              </a:ext>
            </a:extLst>
          </p:cNvPr>
          <p:cNvCxnSpPr>
            <a:cxnSpLocks/>
          </p:cNvCxnSpPr>
          <p:nvPr/>
        </p:nvCxnSpPr>
        <p:spPr>
          <a:xfrm>
            <a:off x="9591783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010ED17-DCF5-EA4B-A8C2-82A6DCE36CA0}"/>
              </a:ext>
            </a:extLst>
          </p:cNvPr>
          <p:cNvCxnSpPr>
            <a:cxnSpLocks/>
          </p:cNvCxnSpPr>
          <p:nvPr/>
        </p:nvCxnSpPr>
        <p:spPr>
          <a:xfrm>
            <a:off x="9721323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4C99176-A41B-A841-B5B5-6E449FE3C4F0}"/>
              </a:ext>
            </a:extLst>
          </p:cNvPr>
          <p:cNvCxnSpPr>
            <a:cxnSpLocks/>
          </p:cNvCxnSpPr>
          <p:nvPr/>
        </p:nvCxnSpPr>
        <p:spPr>
          <a:xfrm>
            <a:off x="9859175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628F7442-8E65-314E-8DF1-C44408031E09}"/>
              </a:ext>
            </a:extLst>
          </p:cNvPr>
          <p:cNvCxnSpPr>
            <a:cxnSpLocks/>
          </p:cNvCxnSpPr>
          <p:nvPr/>
        </p:nvCxnSpPr>
        <p:spPr>
          <a:xfrm>
            <a:off x="10003955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6676F29-446C-674D-B4BB-756982DB884E}"/>
              </a:ext>
            </a:extLst>
          </p:cNvPr>
          <p:cNvCxnSpPr>
            <a:cxnSpLocks/>
          </p:cNvCxnSpPr>
          <p:nvPr/>
        </p:nvCxnSpPr>
        <p:spPr>
          <a:xfrm>
            <a:off x="10141115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BD28D57-8FE7-EE4D-80B1-D3C6781F1401}"/>
              </a:ext>
            </a:extLst>
          </p:cNvPr>
          <p:cNvCxnSpPr>
            <a:cxnSpLocks/>
          </p:cNvCxnSpPr>
          <p:nvPr/>
        </p:nvCxnSpPr>
        <p:spPr>
          <a:xfrm>
            <a:off x="10270655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64ECB6A-A365-9343-87D6-006E4C7073F1}"/>
              </a:ext>
            </a:extLst>
          </p:cNvPr>
          <p:cNvCxnSpPr>
            <a:cxnSpLocks/>
          </p:cNvCxnSpPr>
          <p:nvPr/>
        </p:nvCxnSpPr>
        <p:spPr>
          <a:xfrm>
            <a:off x="10400195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F432C32-A6B3-8E4F-ABE2-5E3C7ECEFD8B}"/>
              </a:ext>
            </a:extLst>
          </p:cNvPr>
          <p:cNvCxnSpPr>
            <a:cxnSpLocks/>
          </p:cNvCxnSpPr>
          <p:nvPr/>
        </p:nvCxnSpPr>
        <p:spPr>
          <a:xfrm>
            <a:off x="10538048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5CE01E0B-8573-DD4B-BAF4-F30912DD6844}"/>
              </a:ext>
            </a:extLst>
          </p:cNvPr>
          <p:cNvCxnSpPr>
            <a:cxnSpLocks/>
          </p:cNvCxnSpPr>
          <p:nvPr/>
        </p:nvCxnSpPr>
        <p:spPr>
          <a:xfrm>
            <a:off x="10682828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E9206AB-36D1-3A4C-BA2A-DD6459312DE4}"/>
              </a:ext>
            </a:extLst>
          </p:cNvPr>
          <p:cNvCxnSpPr>
            <a:cxnSpLocks/>
          </p:cNvCxnSpPr>
          <p:nvPr/>
        </p:nvCxnSpPr>
        <p:spPr>
          <a:xfrm>
            <a:off x="10819988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6A8B2A1C-EDD7-9942-8A6E-F2A942F0E9B9}"/>
              </a:ext>
            </a:extLst>
          </p:cNvPr>
          <p:cNvCxnSpPr>
            <a:cxnSpLocks/>
          </p:cNvCxnSpPr>
          <p:nvPr/>
        </p:nvCxnSpPr>
        <p:spPr>
          <a:xfrm>
            <a:off x="10949528" y="3743482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1462180-95AE-B948-B77C-B911C66A4344}"/>
              </a:ext>
            </a:extLst>
          </p:cNvPr>
          <p:cNvCxnSpPr>
            <a:cxnSpLocks/>
          </p:cNvCxnSpPr>
          <p:nvPr/>
        </p:nvCxnSpPr>
        <p:spPr>
          <a:xfrm>
            <a:off x="11079068" y="3758003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BD64A4F-1779-1341-8851-D13523F8FB1D}"/>
              </a:ext>
            </a:extLst>
          </p:cNvPr>
          <p:cNvCxnSpPr/>
          <p:nvPr/>
        </p:nvCxnSpPr>
        <p:spPr>
          <a:xfrm>
            <a:off x="5591979" y="3931828"/>
            <a:ext cx="5639493" cy="0"/>
          </a:xfrm>
          <a:prstGeom prst="line">
            <a:avLst/>
          </a:prstGeom>
          <a:ln w="539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B1934176-E925-C949-A540-EFB4AF18F3FF}"/>
              </a:ext>
            </a:extLst>
          </p:cNvPr>
          <p:cNvSpPr txBox="1"/>
          <p:nvPr/>
        </p:nvSpPr>
        <p:spPr>
          <a:xfrm>
            <a:off x="5392358" y="357333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1C97CFB-A2EF-3541-82B3-BA7EB697D403}"/>
              </a:ext>
            </a:extLst>
          </p:cNvPr>
          <p:cNvSpPr txBox="1"/>
          <p:nvPr/>
        </p:nvSpPr>
        <p:spPr>
          <a:xfrm>
            <a:off x="5392358" y="389135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E9F1BD6-E8B0-1748-9DA6-023C5BE21998}"/>
              </a:ext>
            </a:extLst>
          </p:cNvPr>
          <p:cNvSpPr txBox="1"/>
          <p:nvPr/>
        </p:nvSpPr>
        <p:spPr>
          <a:xfrm>
            <a:off x="11224386" y="3888207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E951A94-E629-CD40-97F0-ABB7C0E85003}"/>
              </a:ext>
            </a:extLst>
          </p:cNvPr>
          <p:cNvSpPr txBox="1"/>
          <p:nvPr/>
        </p:nvSpPr>
        <p:spPr>
          <a:xfrm>
            <a:off x="11225499" y="357382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104" name="Freeform 103">
            <a:extLst>
              <a:ext uri="{FF2B5EF4-FFF2-40B4-BE49-F238E27FC236}">
                <a16:creationId xmlns:a16="http://schemas.microsoft.com/office/drawing/2014/main" id="{CFA2F973-85A9-1D4B-903E-BF119EB5F2F2}"/>
              </a:ext>
            </a:extLst>
          </p:cNvPr>
          <p:cNvSpPr/>
          <p:nvPr/>
        </p:nvSpPr>
        <p:spPr>
          <a:xfrm>
            <a:off x="8488773" y="3658356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114" name="Freeform 113">
            <a:extLst>
              <a:ext uri="{FF2B5EF4-FFF2-40B4-BE49-F238E27FC236}">
                <a16:creationId xmlns:a16="http://schemas.microsoft.com/office/drawing/2014/main" id="{3966A459-F40C-F045-B5DA-70AF602C9481}"/>
              </a:ext>
            </a:extLst>
          </p:cNvPr>
          <p:cNvSpPr/>
          <p:nvPr/>
        </p:nvSpPr>
        <p:spPr>
          <a:xfrm>
            <a:off x="6706367" y="4173606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sp>
        <p:nvSpPr>
          <p:cNvPr id="115" name="Freeform 114">
            <a:extLst>
              <a:ext uri="{FF2B5EF4-FFF2-40B4-BE49-F238E27FC236}">
                <a16:creationId xmlns:a16="http://schemas.microsoft.com/office/drawing/2014/main" id="{FFAEDE10-DBAC-4741-B154-FA0EAA78581B}"/>
              </a:ext>
            </a:extLst>
          </p:cNvPr>
          <p:cNvSpPr/>
          <p:nvPr/>
        </p:nvSpPr>
        <p:spPr>
          <a:xfrm>
            <a:off x="7116815" y="4160146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sp>
        <p:nvSpPr>
          <p:cNvPr id="116" name="Freeform 115">
            <a:extLst>
              <a:ext uri="{FF2B5EF4-FFF2-40B4-BE49-F238E27FC236}">
                <a16:creationId xmlns:a16="http://schemas.microsoft.com/office/drawing/2014/main" id="{5325F4D9-B558-9B4B-AFE8-4C5BF145B226}"/>
              </a:ext>
            </a:extLst>
          </p:cNvPr>
          <p:cNvSpPr/>
          <p:nvPr/>
        </p:nvSpPr>
        <p:spPr>
          <a:xfrm>
            <a:off x="7536180" y="4161714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sp>
        <p:nvSpPr>
          <p:cNvPr id="117" name="Freeform 116">
            <a:extLst>
              <a:ext uri="{FF2B5EF4-FFF2-40B4-BE49-F238E27FC236}">
                <a16:creationId xmlns:a16="http://schemas.microsoft.com/office/drawing/2014/main" id="{DE6167DE-AE58-BB4F-8246-4DB0B22709E5}"/>
              </a:ext>
            </a:extLst>
          </p:cNvPr>
          <p:cNvSpPr/>
          <p:nvPr/>
        </p:nvSpPr>
        <p:spPr>
          <a:xfrm>
            <a:off x="7934368" y="4160146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A05399E-822C-314A-B575-3BA42AD4AC93}"/>
              </a:ext>
            </a:extLst>
          </p:cNvPr>
          <p:cNvGrpSpPr/>
          <p:nvPr/>
        </p:nvGrpSpPr>
        <p:grpSpPr>
          <a:xfrm>
            <a:off x="8308639" y="3266306"/>
            <a:ext cx="2518671" cy="793133"/>
            <a:chOff x="8308639" y="3431406"/>
            <a:chExt cx="2518671" cy="793133"/>
          </a:xfrm>
        </p:grpSpPr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98D5E6F9-EB37-6549-94AC-1CB114A0683B}"/>
                </a:ext>
              </a:extLst>
            </p:cNvPr>
            <p:cNvSpPr/>
            <p:nvPr/>
          </p:nvSpPr>
          <p:spPr>
            <a:xfrm>
              <a:off x="8308639" y="3476394"/>
              <a:ext cx="739781" cy="748145"/>
            </a:xfrm>
            <a:custGeom>
              <a:avLst/>
              <a:gdLst>
                <a:gd name="connsiteX0" fmla="*/ 86639 w 739781"/>
                <a:gd name="connsiteY0" fmla="*/ 273132 h 748145"/>
                <a:gd name="connsiteX1" fmla="*/ 169766 w 739781"/>
                <a:gd name="connsiteY1" fmla="*/ 225631 h 748145"/>
                <a:gd name="connsiteX2" fmla="*/ 205392 w 739781"/>
                <a:gd name="connsiteY2" fmla="*/ 190005 h 748145"/>
                <a:gd name="connsiteX3" fmla="*/ 241018 w 739781"/>
                <a:gd name="connsiteY3" fmla="*/ 166254 h 748145"/>
                <a:gd name="connsiteX4" fmla="*/ 264768 w 739781"/>
                <a:gd name="connsiteY4" fmla="*/ 130628 h 748145"/>
                <a:gd name="connsiteX5" fmla="*/ 300394 w 739781"/>
                <a:gd name="connsiteY5" fmla="*/ 106878 h 748145"/>
                <a:gd name="connsiteX6" fmla="*/ 383522 w 739781"/>
                <a:gd name="connsiteY6" fmla="*/ 11875 h 748145"/>
                <a:gd name="connsiteX7" fmla="*/ 419148 w 739781"/>
                <a:gd name="connsiteY7" fmla="*/ 0 h 748145"/>
                <a:gd name="connsiteX8" fmla="*/ 549776 w 739781"/>
                <a:gd name="connsiteY8" fmla="*/ 23750 h 748145"/>
                <a:gd name="connsiteX9" fmla="*/ 621028 w 739781"/>
                <a:gd name="connsiteY9" fmla="*/ 71252 h 748145"/>
                <a:gd name="connsiteX10" fmla="*/ 692280 w 739781"/>
                <a:gd name="connsiteY10" fmla="*/ 142504 h 748145"/>
                <a:gd name="connsiteX11" fmla="*/ 739781 w 739781"/>
                <a:gd name="connsiteY11" fmla="*/ 213756 h 748145"/>
                <a:gd name="connsiteX12" fmla="*/ 727906 w 739781"/>
                <a:gd name="connsiteY12" fmla="*/ 427512 h 748145"/>
                <a:gd name="connsiteX13" fmla="*/ 609153 w 739781"/>
                <a:gd name="connsiteY13" fmla="*/ 546265 h 748145"/>
                <a:gd name="connsiteX14" fmla="*/ 573527 w 739781"/>
                <a:gd name="connsiteY14" fmla="*/ 570015 h 748145"/>
                <a:gd name="connsiteX15" fmla="*/ 537901 w 739781"/>
                <a:gd name="connsiteY15" fmla="*/ 593766 h 748145"/>
                <a:gd name="connsiteX16" fmla="*/ 466649 w 739781"/>
                <a:gd name="connsiteY16" fmla="*/ 641267 h 748145"/>
                <a:gd name="connsiteX17" fmla="*/ 395397 w 739781"/>
                <a:gd name="connsiteY17" fmla="*/ 688769 h 748145"/>
                <a:gd name="connsiteX18" fmla="*/ 359771 w 739781"/>
                <a:gd name="connsiteY18" fmla="*/ 712519 h 748145"/>
                <a:gd name="connsiteX19" fmla="*/ 288519 w 739781"/>
                <a:gd name="connsiteY19" fmla="*/ 736270 h 748145"/>
                <a:gd name="connsiteX20" fmla="*/ 252893 w 739781"/>
                <a:gd name="connsiteY20" fmla="*/ 748145 h 748145"/>
                <a:gd name="connsiteX21" fmla="*/ 217267 w 739781"/>
                <a:gd name="connsiteY21" fmla="*/ 736270 h 748145"/>
                <a:gd name="connsiteX22" fmla="*/ 146015 w 739781"/>
                <a:gd name="connsiteY22" fmla="*/ 676893 h 748145"/>
                <a:gd name="connsiteX23" fmla="*/ 98514 w 739781"/>
                <a:gd name="connsiteY23" fmla="*/ 605641 h 748145"/>
                <a:gd name="connsiteX24" fmla="*/ 27262 w 739781"/>
                <a:gd name="connsiteY24" fmla="*/ 558140 h 748145"/>
                <a:gd name="connsiteX25" fmla="*/ 3511 w 739781"/>
                <a:gd name="connsiteY25" fmla="*/ 522514 h 748145"/>
                <a:gd name="connsiteX26" fmla="*/ 39137 w 739781"/>
                <a:gd name="connsiteY26" fmla="*/ 391886 h 748145"/>
                <a:gd name="connsiteX27" fmla="*/ 62888 w 739781"/>
                <a:gd name="connsiteY27" fmla="*/ 320634 h 748145"/>
                <a:gd name="connsiteX28" fmla="*/ 86639 w 739781"/>
                <a:gd name="connsiteY28" fmla="*/ 273132 h 748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39781" h="748145">
                  <a:moveTo>
                    <a:pt x="86639" y="273132"/>
                  </a:moveTo>
                  <a:cubicBezTo>
                    <a:pt x="114348" y="257298"/>
                    <a:pt x="143621" y="243932"/>
                    <a:pt x="169766" y="225631"/>
                  </a:cubicBezTo>
                  <a:cubicBezTo>
                    <a:pt x="183524" y="216000"/>
                    <a:pt x="192490" y="200756"/>
                    <a:pt x="205392" y="190005"/>
                  </a:cubicBezTo>
                  <a:cubicBezTo>
                    <a:pt x="216356" y="180868"/>
                    <a:pt x="229143" y="174171"/>
                    <a:pt x="241018" y="166254"/>
                  </a:cubicBezTo>
                  <a:cubicBezTo>
                    <a:pt x="248935" y="154379"/>
                    <a:pt x="254676" y="140720"/>
                    <a:pt x="264768" y="130628"/>
                  </a:cubicBezTo>
                  <a:cubicBezTo>
                    <a:pt x="274860" y="120536"/>
                    <a:pt x="290996" y="117619"/>
                    <a:pt x="300394" y="106878"/>
                  </a:cubicBezTo>
                  <a:cubicBezTo>
                    <a:pt x="355811" y="43545"/>
                    <a:pt x="324146" y="41563"/>
                    <a:pt x="383522" y="11875"/>
                  </a:cubicBezTo>
                  <a:cubicBezTo>
                    <a:pt x="394718" y="6277"/>
                    <a:pt x="407273" y="3958"/>
                    <a:pt x="419148" y="0"/>
                  </a:cubicBezTo>
                  <a:cubicBezTo>
                    <a:pt x="423174" y="503"/>
                    <a:pt x="524430" y="6853"/>
                    <a:pt x="549776" y="23750"/>
                  </a:cubicBezTo>
                  <a:cubicBezTo>
                    <a:pt x="638735" y="83055"/>
                    <a:pt x="536315" y="43013"/>
                    <a:pt x="621028" y="71252"/>
                  </a:cubicBezTo>
                  <a:cubicBezTo>
                    <a:pt x="644779" y="95003"/>
                    <a:pt x="673649" y="114557"/>
                    <a:pt x="692280" y="142504"/>
                  </a:cubicBezTo>
                  <a:lnTo>
                    <a:pt x="739781" y="213756"/>
                  </a:lnTo>
                  <a:cubicBezTo>
                    <a:pt x="735823" y="285008"/>
                    <a:pt x="742460" y="357650"/>
                    <a:pt x="727906" y="427512"/>
                  </a:cubicBezTo>
                  <a:cubicBezTo>
                    <a:pt x="715137" y="488802"/>
                    <a:pt x="653588" y="516642"/>
                    <a:pt x="609153" y="546265"/>
                  </a:cubicBezTo>
                  <a:lnTo>
                    <a:pt x="573527" y="570015"/>
                  </a:lnTo>
                  <a:cubicBezTo>
                    <a:pt x="561652" y="577932"/>
                    <a:pt x="547993" y="583674"/>
                    <a:pt x="537901" y="593766"/>
                  </a:cubicBezTo>
                  <a:cubicBezTo>
                    <a:pt x="493424" y="638243"/>
                    <a:pt x="518207" y="624081"/>
                    <a:pt x="466649" y="641267"/>
                  </a:cubicBezTo>
                  <a:lnTo>
                    <a:pt x="395397" y="688769"/>
                  </a:lnTo>
                  <a:cubicBezTo>
                    <a:pt x="383522" y="696686"/>
                    <a:pt x="373311" y="708006"/>
                    <a:pt x="359771" y="712519"/>
                  </a:cubicBezTo>
                  <a:lnTo>
                    <a:pt x="288519" y="736270"/>
                  </a:lnTo>
                  <a:lnTo>
                    <a:pt x="252893" y="748145"/>
                  </a:lnTo>
                  <a:cubicBezTo>
                    <a:pt x="241018" y="744187"/>
                    <a:pt x="228463" y="741868"/>
                    <a:pt x="217267" y="736270"/>
                  </a:cubicBezTo>
                  <a:cubicBezTo>
                    <a:pt x="192318" y="723795"/>
                    <a:pt x="162727" y="698380"/>
                    <a:pt x="146015" y="676893"/>
                  </a:cubicBezTo>
                  <a:cubicBezTo>
                    <a:pt x="128490" y="654361"/>
                    <a:pt x="122265" y="621475"/>
                    <a:pt x="98514" y="605641"/>
                  </a:cubicBezTo>
                  <a:lnTo>
                    <a:pt x="27262" y="558140"/>
                  </a:lnTo>
                  <a:cubicBezTo>
                    <a:pt x="19345" y="546265"/>
                    <a:pt x="4803" y="536728"/>
                    <a:pt x="3511" y="522514"/>
                  </a:cubicBezTo>
                  <a:cubicBezTo>
                    <a:pt x="-7657" y="399667"/>
                    <a:pt x="8782" y="460185"/>
                    <a:pt x="39137" y="391886"/>
                  </a:cubicBezTo>
                  <a:cubicBezTo>
                    <a:pt x="49305" y="369008"/>
                    <a:pt x="54971" y="344385"/>
                    <a:pt x="62888" y="320634"/>
                  </a:cubicBezTo>
                  <a:lnTo>
                    <a:pt x="86639" y="273132"/>
                  </a:lnTo>
                  <a:close/>
                </a:path>
              </a:pathLst>
            </a:custGeom>
            <a:solidFill>
              <a:schemeClr val="accent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FokI</a:t>
              </a:r>
              <a:endParaRPr kumimoji="1" lang="zh-CN" altLang="en-US" dirty="0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DBF4AA9D-319E-F54F-B188-A977C8C01DB9}"/>
                </a:ext>
              </a:extLst>
            </p:cNvPr>
            <p:cNvSpPr/>
            <p:nvPr/>
          </p:nvSpPr>
          <p:spPr>
            <a:xfrm>
              <a:off x="9269620" y="3507686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B3279C36-2BC2-1C40-8F86-D5D639F35896}"/>
                </a:ext>
              </a:extLst>
            </p:cNvPr>
            <p:cNvSpPr/>
            <p:nvPr/>
          </p:nvSpPr>
          <p:spPr>
            <a:xfrm>
              <a:off x="9680068" y="3494226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2D0D6FC2-A692-064F-B71E-AF38760EC122}"/>
                </a:ext>
              </a:extLst>
            </p:cNvPr>
            <p:cNvSpPr/>
            <p:nvPr/>
          </p:nvSpPr>
          <p:spPr>
            <a:xfrm>
              <a:off x="10099433" y="3495794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75B94C21-BD49-0A48-B2C1-0B4D88ADCFA3}"/>
                </a:ext>
              </a:extLst>
            </p:cNvPr>
            <p:cNvSpPr/>
            <p:nvPr/>
          </p:nvSpPr>
          <p:spPr>
            <a:xfrm>
              <a:off x="10497621" y="3494226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70DF751C-7DBC-CB48-B1AB-2E91081EEAA9}"/>
                </a:ext>
              </a:extLst>
            </p:cNvPr>
            <p:cNvSpPr/>
            <p:nvPr/>
          </p:nvSpPr>
          <p:spPr>
            <a:xfrm>
              <a:off x="8975304" y="3476393"/>
              <a:ext cx="329689" cy="109673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15F3E2C7-2744-C04F-9CAA-EA2E8D331AF1}"/>
                </a:ext>
              </a:extLst>
            </p:cNvPr>
            <p:cNvSpPr/>
            <p:nvPr/>
          </p:nvSpPr>
          <p:spPr>
            <a:xfrm rot="10800000">
              <a:off x="9442379" y="3792096"/>
              <a:ext cx="336654" cy="45719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94CA7327-020A-F24C-91A0-E22A413D135D}"/>
                </a:ext>
              </a:extLst>
            </p:cNvPr>
            <p:cNvSpPr/>
            <p:nvPr/>
          </p:nvSpPr>
          <p:spPr>
            <a:xfrm rot="432198">
              <a:off x="9871220" y="3431406"/>
              <a:ext cx="387928" cy="83941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FA2DCF1A-5F71-5B49-9D99-A72C211B86C6}"/>
                </a:ext>
              </a:extLst>
            </p:cNvPr>
            <p:cNvSpPr/>
            <p:nvPr/>
          </p:nvSpPr>
          <p:spPr>
            <a:xfrm rot="10800000">
              <a:off x="10285727" y="3791884"/>
              <a:ext cx="336654" cy="45719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9" name="Freeform 128">
            <a:extLst>
              <a:ext uri="{FF2B5EF4-FFF2-40B4-BE49-F238E27FC236}">
                <a16:creationId xmlns:a16="http://schemas.microsoft.com/office/drawing/2014/main" id="{B1515E19-3718-7D46-8291-3045F4AAC3EE}"/>
              </a:ext>
            </a:extLst>
          </p:cNvPr>
          <p:cNvSpPr/>
          <p:nvPr/>
        </p:nvSpPr>
        <p:spPr>
          <a:xfrm rot="20361174" flipV="1">
            <a:off x="8250201" y="4356627"/>
            <a:ext cx="389769" cy="4571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0" name="Freeform 129">
            <a:extLst>
              <a:ext uri="{FF2B5EF4-FFF2-40B4-BE49-F238E27FC236}">
                <a16:creationId xmlns:a16="http://schemas.microsoft.com/office/drawing/2014/main" id="{0279E90D-F14F-3D4B-AAA8-0240AA44FAEF}"/>
              </a:ext>
            </a:extLst>
          </p:cNvPr>
          <p:cNvSpPr/>
          <p:nvPr/>
        </p:nvSpPr>
        <p:spPr>
          <a:xfrm rot="20361174" flipV="1">
            <a:off x="7778563" y="4418321"/>
            <a:ext cx="182513" cy="4571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1" name="Freeform 130">
            <a:extLst>
              <a:ext uri="{FF2B5EF4-FFF2-40B4-BE49-F238E27FC236}">
                <a16:creationId xmlns:a16="http://schemas.microsoft.com/office/drawing/2014/main" id="{5E5A0974-9BFD-4849-BD33-82FF5E8557ED}"/>
              </a:ext>
            </a:extLst>
          </p:cNvPr>
          <p:cNvSpPr/>
          <p:nvPr/>
        </p:nvSpPr>
        <p:spPr>
          <a:xfrm rot="9967244" flipV="1">
            <a:off x="7393245" y="4132834"/>
            <a:ext cx="189718" cy="75674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2" name="Freeform 131">
            <a:extLst>
              <a:ext uri="{FF2B5EF4-FFF2-40B4-BE49-F238E27FC236}">
                <a16:creationId xmlns:a16="http://schemas.microsoft.com/office/drawing/2014/main" id="{57FDE7CF-26EF-D041-9020-611BE55EF96D}"/>
              </a:ext>
            </a:extLst>
          </p:cNvPr>
          <p:cNvSpPr/>
          <p:nvPr/>
        </p:nvSpPr>
        <p:spPr>
          <a:xfrm rot="20361174" flipV="1">
            <a:off x="6966106" y="4418321"/>
            <a:ext cx="182513" cy="4571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ABD7915-0CFB-2B40-A032-00F56C3B775D}"/>
              </a:ext>
            </a:extLst>
          </p:cNvPr>
          <p:cNvSpPr txBox="1"/>
          <p:nvPr/>
        </p:nvSpPr>
        <p:spPr>
          <a:xfrm>
            <a:off x="5397928" y="4652408"/>
            <a:ext cx="4935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Schematic diagram</a:t>
            </a:r>
            <a:r>
              <a:rPr lang="zh-CN" altLang="en-US" sz="14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 </a:t>
            </a:r>
            <a:r>
              <a:rPr lang="en-US" altLang="zh-CN" sz="14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of ZFN.</a:t>
            </a:r>
            <a:endParaRPr kumimoji="1" lang="en-US" altLang="zh-CN" sz="1400" dirty="0"/>
          </a:p>
        </p:txBody>
      </p:sp>
      <p:sp>
        <p:nvSpPr>
          <p:cNvPr id="1024" name="Lightning Bolt 1023">
            <a:extLst>
              <a:ext uri="{FF2B5EF4-FFF2-40B4-BE49-F238E27FC236}">
                <a16:creationId xmlns:a16="http://schemas.microsoft.com/office/drawing/2014/main" id="{038DC9A1-1DE9-084C-9250-EF79E80B2E0E}"/>
              </a:ext>
            </a:extLst>
          </p:cNvPr>
          <p:cNvSpPr/>
          <p:nvPr/>
        </p:nvSpPr>
        <p:spPr>
          <a:xfrm flipH="1">
            <a:off x="8781963" y="3075908"/>
            <a:ext cx="445533" cy="810767"/>
          </a:xfrm>
          <a:prstGeom prst="lightningBol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81AEC5-911E-0548-AD0E-5F180B39621D}"/>
              </a:ext>
            </a:extLst>
          </p:cNvPr>
          <p:cNvCxnSpPr>
            <a:stCxn id="127" idx="1"/>
          </p:cNvCxnSpPr>
          <p:nvPr/>
        </p:nvCxnSpPr>
        <p:spPr>
          <a:xfrm flipV="1">
            <a:off x="10042854" y="2820557"/>
            <a:ext cx="357341" cy="44341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CE06C1D-792B-CE4A-8A2C-2B4C1765DAB1}"/>
              </a:ext>
            </a:extLst>
          </p:cNvPr>
          <p:cNvSpPr txBox="1"/>
          <p:nvPr/>
        </p:nvSpPr>
        <p:spPr>
          <a:xfrm>
            <a:off x="10367750" y="2543558"/>
            <a:ext cx="704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linker</a:t>
            </a:r>
            <a:endParaRPr kumimoji="1" lang="zh-CN" altLang="en-US" dirty="0"/>
          </a:p>
        </p:txBody>
      </p:sp>
      <p:pic>
        <p:nvPicPr>
          <p:cNvPr id="1026" name="Picture 2" descr="Schematic diagram of a C2H2 zinc-finger motif. The pair | Open-i">
            <a:extLst>
              <a:ext uri="{FF2B5EF4-FFF2-40B4-BE49-F238E27FC236}">
                <a16:creationId xmlns:a16="http://schemas.microsoft.com/office/drawing/2014/main" id="{8B3405D9-7B95-8743-862B-36F1909FA9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675"/>
          <a:stretch/>
        </p:blipFill>
        <p:spPr bwMode="auto">
          <a:xfrm>
            <a:off x="2017094" y="2921029"/>
            <a:ext cx="1842840" cy="1365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86872433-1F08-0344-8591-BADFD42037EE}"/>
              </a:ext>
            </a:extLst>
          </p:cNvPr>
          <p:cNvSpPr txBox="1"/>
          <p:nvPr/>
        </p:nvSpPr>
        <p:spPr>
          <a:xfrm>
            <a:off x="0" y="5930308"/>
            <a:ext cx="57794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0" i="0" u="none" strike="noStrike" dirty="0" err="1">
                <a:solidFill>
                  <a:schemeClr val="accent3"/>
                </a:solidFill>
                <a:effectLst/>
              </a:rPr>
              <a:t>Urnov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</a:rPr>
              <a:t> FD, Rebar EJ, Holmes MC, Zhang HS, Gregory PD. Genome editing with engineered zinc finger nucleases.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</a:rPr>
              <a:t>Nat Rev Genet.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</a:rPr>
              <a:t> 2010 Sep;11(9):636-46.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401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5" grpId="0" animBg="1"/>
      <p:bldP spid="16" grpId="0"/>
      <p:bldP spid="27" grpId="0"/>
      <p:bldP spid="33" grpId="0"/>
      <p:bldP spid="97" grpId="0"/>
      <p:bldP spid="100" grpId="0"/>
      <p:bldP spid="101" grpId="0"/>
      <p:bldP spid="102" grpId="0"/>
      <p:bldP spid="104" grpId="0" animBg="1"/>
      <p:bldP spid="114" grpId="0" animBg="1"/>
      <p:bldP spid="115" grpId="0" animBg="1"/>
      <p:bldP spid="116" grpId="0" animBg="1"/>
      <p:bldP spid="117" grpId="0" animBg="1"/>
      <p:bldP spid="129" grpId="0" animBg="1"/>
      <p:bldP spid="130" grpId="0" animBg="1"/>
      <p:bldP spid="131" grpId="0" animBg="1"/>
      <p:bldP spid="132" grpId="0" animBg="1"/>
      <p:bldP spid="134" grpId="0"/>
      <p:bldP spid="1024" grpId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925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CN" altLang="zh-CN" sz="3200" dirty="0"/>
              <a:t>Problems of ZFN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-1" y="6393850"/>
            <a:ext cx="12192001" cy="464150"/>
            <a:chOff x="2650603" y="6393850"/>
            <a:chExt cx="5312297" cy="4641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ZFN</a:t>
              </a:r>
              <a:endParaRPr kumimoji="1" lang="zh-CN" altLang="en-US" sz="2000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TALEN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F4100F9F-2017-C845-942C-6B0D281529BE}"/>
              </a:ext>
            </a:extLst>
          </p:cNvPr>
          <p:cNvSpPr txBox="1"/>
          <p:nvPr/>
        </p:nvSpPr>
        <p:spPr>
          <a:xfrm>
            <a:off x="325821" y="1048925"/>
            <a:ext cx="9211879" cy="4804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7 amino acids map to 3 bp (a triplet) of DNA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# of possible</a:t>
            </a:r>
            <a:r>
              <a:rPr kumimoji="1" lang="zh-CN" altLang="en-US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arrangements</a:t>
            </a: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of triplets: </a:t>
            </a:r>
            <a:r>
              <a:rPr kumimoji="1" lang="en-CN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4</a:t>
            </a:r>
            <a:r>
              <a:rPr kumimoji="1" lang="en-CN" altLang="zh-CN" baseline="30000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3</a:t>
            </a:r>
            <a:r>
              <a:rPr kumimoji="1" lang="en-CN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 = 64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# of possible arrangements of amino acids: </a:t>
            </a:r>
            <a:r>
              <a:rPr kumimoji="1" lang="en-CN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20</a:t>
            </a:r>
            <a:r>
              <a:rPr kumimoji="1" lang="en-CN" altLang="zh-CN" baseline="30000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7</a:t>
            </a:r>
            <a:endParaRPr kumimoji="1" lang="en-CN" altLang="zh-CN" dirty="0">
              <a:solidFill>
                <a:srgbClr val="FF0000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Problem </a:t>
            </a: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#1</a:t>
            </a: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: high complexity</a:t>
            </a:r>
            <a:endParaRPr kumimoji="1" lang="en-CN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It could be extremely hard to select </a:t>
            </a:r>
            <a:r>
              <a:rPr kumimoji="1" lang="en-CN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64</a:t>
            </a: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correct arangements from </a:t>
            </a:r>
            <a:r>
              <a:rPr kumimoji="1" lang="en-CN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20</a:t>
            </a:r>
            <a:r>
              <a:rPr kumimoji="1" lang="en-CN" altLang="zh-CN" baseline="30000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7</a:t>
            </a:r>
            <a:r>
              <a:rPr kumimoji="1" lang="en-CN" altLang="zh-CN" baseline="30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options.</a:t>
            </a:r>
            <a:endParaRPr kumimoji="1" lang="en-CN" altLang="zh-CN" i="1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In fact, 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it remains challenging to create zinc-finger domains that can effectively recognize all DNA triplets.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Problem #2: lack of target flexibility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Must find </a:t>
            </a:r>
            <a:r>
              <a:rPr kumimoji="1" lang="en-CN" altLang="zh-CN" dirty="0">
                <a:solidFill>
                  <a:schemeClr val="accent5"/>
                </a:solidFill>
                <a:latin typeface="Calibri" panose="020F0502020204030204"/>
                <a:ea typeface="等线" panose="02010600030101010101" pitchFamily="2" charset="-122"/>
              </a:rPr>
              <a:t>several continue triplets</a:t>
            </a: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that can be targeted near target sites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Problem #3: difficult and expensive to construct </a:t>
            </a: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zinc-finger arrays</a:t>
            </a:r>
            <a:endParaRPr kumimoji="1" lang="en-CN" altLang="zh-CN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Also time-consuming</a:t>
            </a:r>
            <a:endParaRPr kumimoji="1" lang="en-CN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0045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94162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Transcription Activator-like Effector Nucleases (TALENs)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-1" y="6393850"/>
            <a:ext cx="12192001" cy="464150"/>
            <a:chOff x="2650603" y="6393850"/>
            <a:chExt cx="5312297" cy="464150"/>
          </a:xfrm>
          <a:solidFill>
            <a:schemeClr val="accent5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ZFN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TALEN</a:t>
              </a:r>
            </a:p>
          </p:txBody>
        </p:sp>
      </p:grpSp>
      <p:sp>
        <p:nvSpPr>
          <p:cNvPr id="9" name="Freeform 8">
            <a:extLst>
              <a:ext uri="{FF2B5EF4-FFF2-40B4-BE49-F238E27FC236}">
                <a16:creationId xmlns:a16="http://schemas.microsoft.com/office/drawing/2014/main" id="{B95D8345-2793-8347-A09F-6CDDDC128621}"/>
              </a:ext>
            </a:extLst>
          </p:cNvPr>
          <p:cNvSpPr/>
          <p:nvPr/>
        </p:nvSpPr>
        <p:spPr>
          <a:xfrm>
            <a:off x="416717" y="1199136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967B1E-752E-2A4C-8D6F-B7CBED29FD0C}"/>
              </a:ext>
            </a:extLst>
          </p:cNvPr>
          <p:cNvSpPr txBox="1"/>
          <p:nvPr/>
        </p:nvSpPr>
        <p:spPr>
          <a:xfrm>
            <a:off x="1156498" y="1388542"/>
            <a:ext cx="7415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: </a:t>
            </a:r>
            <a:r>
              <a:rPr kumimoji="1" lang="en-US" altLang="zh-CN" b="1" dirty="0"/>
              <a:t>non-specific</a:t>
            </a:r>
            <a:r>
              <a:rPr kumimoji="1" lang="en-US" altLang="zh-CN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nuclease domain</a:t>
            </a:r>
            <a:r>
              <a:rPr kumimoji="1" lang="en-US" altLang="zh-CN" dirty="0"/>
              <a:t> of </a:t>
            </a:r>
            <a:r>
              <a:rPr kumimoji="1" lang="en-US" altLang="zh-CN" i="1" dirty="0" err="1"/>
              <a:t>Fok</a:t>
            </a:r>
            <a:r>
              <a:rPr kumimoji="1" lang="en-US" altLang="zh-CN" dirty="0" err="1"/>
              <a:t>I</a:t>
            </a:r>
            <a:r>
              <a:rPr kumimoji="1" lang="en-US" altLang="zh-CN" dirty="0"/>
              <a:t> restriction enzyme, function as dimers</a:t>
            </a:r>
            <a:endParaRPr kumimoji="1" lang="zh-CN" alt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39030F1-3E71-714B-9DED-E52228728190}"/>
              </a:ext>
            </a:extLst>
          </p:cNvPr>
          <p:cNvSpPr/>
          <p:nvPr/>
        </p:nvSpPr>
        <p:spPr>
          <a:xfrm>
            <a:off x="609600" y="2260600"/>
            <a:ext cx="1397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A1CB37-4968-C64D-8020-90154BC8DD7F}"/>
              </a:ext>
            </a:extLst>
          </p:cNvPr>
          <p:cNvSpPr txBox="1"/>
          <p:nvPr/>
        </p:nvSpPr>
        <p:spPr>
          <a:xfrm>
            <a:off x="786607" y="2253734"/>
            <a:ext cx="4435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: </a:t>
            </a:r>
            <a:r>
              <a:rPr kumimoji="1" lang="en-US" altLang="zh-CN" b="1" dirty="0"/>
              <a:t>specific</a:t>
            </a:r>
            <a:r>
              <a:rPr kumimoji="1" lang="en-US" altLang="zh-CN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DNA-binding domain </a:t>
            </a:r>
            <a:r>
              <a:rPr kumimoji="1" lang="en-US" altLang="zh-CN" dirty="0"/>
              <a:t>of TAL effector</a:t>
            </a:r>
            <a:endParaRPr kumimoji="1" lang="zh-CN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750F32-65D4-3844-A298-12D653A95310}"/>
              </a:ext>
            </a:extLst>
          </p:cNvPr>
          <p:cNvSpPr txBox="1"/>
          <p:nvPr/>
        </p:nvSpPr>
        <p:spPr>
          <a:xfrm>
            <a:off x="519821" y="2739201"/>
            <a:ext cx="60535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about 34 residues</a:t>
            </a:r>
          </a:p>
          <a:p>
            <a:r>
              <a:rPr kumimoji="1" lang="en-US" altLang="zh-CN" dirty="0">
                <a:solidFill>
                  <a:srgbClr val="FF0000"/>
                </a:solidFill>
              </a:rPr>
              <a:t>position</a:t>
            </a:r>
            <a:r>
              <a:rPr kumimoji="1" lang="en-US" altLang="zh-CN" dirty="0">
                <a:solidFill>
                  <a:schemeClr val="accent1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12&amp;13</a:t>
            </a:r>
            <a:r>
              <a:rPr kumimoji="1" lang="en-US" altLang="zh-CN" dirty="0">
                <a:solidFill>
                  <a:schemeClr val="accent1"/>
                </a:solidFill>
              </a:rPr>
              <a:t> recognize and bind to </a:t>
            </a:r>
            <a:r>
              <a:rPr kumimoji="1" lang="en-US" altLang="zh-CN" dirty="0">
                <a:solidFill>
                  <a:srgbClr val="FF0000"/>
                </a:solidFill>
              </a:rPr>
              <a:t>1 bp of DNA</a:t>
            </a:r>
            <a:r>
              <a:rPr kumimoji="1" lang="en-US" altLang="zh-CN" dirty="0">
                <a:solidFill>
                  <a:schemeClr val="accent1"/>
                </a:solidFill>
              </a:rPr>
              <a:t>, </a:t>
            </a:r>
            <a:r>
              <a:rPr kumimoji="1" lang="en-US" altLang="zh-CN" b="1" dirty="0">
                <a:solidFill>
                  <a:schemeClr val="accent1"/>
                </a:solidFill>
              </a:rPr>
              <a:t>specifically</a:t>
            </a:r>
            <a:r>
              <a:rPr kumimoji="1" lang="en-US" altLang="zh-CN" dirty="0">
                <a:solidFill>
                  <a:schemeClr val="accent1"/>
                </a:solidFill>
              </a:rPr>
              <a:t>.</a:t>
            </a:r>
            <a:endParaRPr kumimoji="1" lang="zh-CN" alt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E74E04-5996-3249-ADAE-2C859D32C3CB}"/>
              </a:ext>
            </a:extLst>
          </p:cNvPr>
          <p:cNvCxnSpPr>
            <a:cxnSpLocks/>
          </p:cNvCxnSpPr>
          <p:nvPr/>
        </p:nvCxnSpPr>
        <p:spPr>
          <a:xfrm>
            <a:off x="4093239" y="4114646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5D84551-2834-8042-8CFE-21B5D2C7A350}"/>
              </a:ext>
            </a:extLst>
          </p:cNvPr>
          <p:cNvCxnSpPr/>
          <p:nvPr/>
        </p:nvCxnSpPr>
        <p:spPr>
          <a:xfrm>
            <a:off x="4093239" y="4430602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9625F08-107A-1D4A-89B9-20C268D9BF3D}"/>
              </a:ext>
            </a:extLst>
          </p:cNvPr>
          <p:cNvCxnSpPr>
            <a:cxnSpLocks/>
          </p:cNvCxnSpPr>
          <p:nvPr/>
        </p:nvCxnSpPr>
        <p:spPr>
          <a:xfrm>
            <a:off x="4279826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5DBD88B-6428-3C42-A34D-E864B93870FA}"/>
              </a:ext>
            </a:extLst>
          </p:cNvPr>
          <p:cNvCxnSpPr>
            <a:cxnSpLocks/>
          </p:cNvCxnSpPr>
          <p:nvPr/>
        </p:nvCxnSpPr>
        <p:spPr>
          <a:xfrm>
            <a:off x="4424606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E3213CE-97DA-434A-B7FF-0D9382CBE05C}"/>
              </a:ext>
            </a:extLst>
          </p:cNvPr>
          <p:cNvCxnSpPr>
            <a:cxnSpLocks/>
          </p:cNvCxnSpPr>
          <p:nvPr/>
        </p:nvCxnSpPr>
        <p:spPr>
          <a:xfrm>
            <a:off x="4561766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245BB9C-31C6-F34B-9E09-B42ED0569306}"/>
              </a:ext>
            </a:extLst>
          </p:cNvPr>
          <p:cNvCxnSpPr>
            <a:cxnSpLocks/>
          </p:cNvCxnSpPr>
          <p:nvPr/>
        </p:nvCxnSpPr>
        <p:spPr>
          <a:xfrm>
            <a:off x="4691306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CEB2537-421D-BC4F-B3B7-E740B843EEC1}"/>
              </a:ext>
            </a:extLst>
          </p:cNvPr>
          <p:cNvCxnSpPr>
            <a:cxnSpLocks/>
          </p:cNvCxnSpPr>
          <p:nvPr/>
        </p:nvCxnSpPr>
        <p:spPr>
          <a:xfrm>
            <a:off x="4820846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5D85FAF-7D35-FD4F-B1A8-4321DC476650}"/>
              </a:ext>
            </a:extLst>
          </p:cNvPr>
          <p:cNvCxnSpPr>
            <a:cxnSpLocks/>
          </p:cNvCxnSpPr>
          <p:nvPr/>
        </p:nvCxnSpPr>
        <p:spPr>
          <a:xfrm>
            <a:off x="4958699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CB1BF2-C424-444E-8D66-0ADB68EF2896}"/>
              </a:ext>
            </a:extLst>
          </p:cNvPr>
          <p:cNvCxnSpPr>
            <a:cxnSpLocks/>
          </p:cNvCxnSpPr>
          <p:nvPr/>
        </p:nvCxnSpPr>
        <p:spPr>
          <a:xfrm>
            <a:off x="5103479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C252510-B56E-7B41-A296-E706DF9E96E3}"/>
              </a:ext>
            </a:extLst>
          </p:cNvPr>
          <p:cNvCxnSpPr>
            <a:cxnSpLocks/>
          </p:cNvCxnSpPr>
          <p:nvPr/>
        </p:nvCxnSpPr>
        <p:spPr>
          <a:xfrm>
            <a:off x="5240639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5E3BF55-451D-F049-AB55-BAFE4C8E58B7}"/>
              </a:ext>
            </a:extLst>
          </p:cNvPr>
          <p:cNvCxnSpPr>
            <a:cxnSpLocks/>
          </p:cNvCxnSpPr>
          <p:nvPr/>
        </p:nvCxnSpPr>
        <p:spPr>
          <a:xfrm>
            <a:off x="5370179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F3FC424-D2D2-1340-A1B3-ED3626BB09DA}"/>
              </a:ext>
            </a:extLst>
          </p:cNvPr>
          <p:cNvCxnSpPr>
            <a:cxnSpLocks/>
          </p:cNvCxnSpPr>
          <p:nvPr/>
        </p:nvCxnSpPr>
        <p:spPr>
          <a:xfrm>
            <a:off x="5499719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6A5CB98-CD50-E045-96CE-039A8010684B}"/>
              </a:ext>
            </a:extLst>
          </p:cNvPr>
          <p:cNvCxnSpPr>
            <a:cxnSpLocks/>
          </p:cNvCxnSpPr>
          <p:nvPr/>
        </p:nvCxnSpPr>
        <p:spPr>
          <a:xfrm>
            <a:off x="5637572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1377BC6-9C00-3946-B572-5C6B048B0C12}"/>
              </a:ext>
            </a:extLst>
          </p:cNvPr>
          <p:cNvCxnSpPr>
            <a:cxnSpLocks/>
          </p:cNvCxnSpPr>
          <p:nvPr/>
        </p:nvCxnSpPr>
        <p:spPr>
          <a:xfrm>
            <a:off x="5782352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170EE0B-C398-5C4C-9C7E-CBF59054B4C1}"/>
              </a:ext>
            </a:extLst>
          </p:cNvPr>
          <p:cNvCxnSpPr>
            <a:cxnSpLocks/>
          </p:cNvCxnSpPr>
          <p:nvPr/>
        </p:nvCxnSpPr>
        <p:spPr>
          <a:xfrm>
            <a:off x="5919512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1EB3EBF-548B-784E-B437-49144AB145CC}"/>
              </a:ext>
            </a:extLst>
          </p:cNvPr>
          <p:cNvCxnSpPr>
            <a:cxnSpLocks/>
          </p:cNvCxnSpPr>
          <p:nvPr/>
        </p:nvCxnSpPr>
        <p:spPr>
          <a:xfrm>
            <a:off x="6049052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ED3533C-02E9-664E-91E5-EB6B1196B940}"/>
              </a:ext>
            </a:extLst>
          </p:cNvPr>
          <p:cNvCxnSpPr>
            <a:cxnSpLocks/>
          </p:cNvCxnSpPr>
          <p:nvPr/>
        </p:nvCxnSpPr>
        <p:spPr>
          <a:xfrm>
            <a:off x="6178592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004FCFA-F679-4840-AE1C-789EF935AB3E}"/>
              </a:ext>
            </a:extLst>
          </p:cNvPr>
          <p:cNvCxnSpPr>
            <a:cxnSpLocks/>
          </p:cNvCxnSpPr>
          <p:nvPr/>
        </p:nvCxnSpPr>
        <p:spPr>
          <a:xfrm>
            <a:off x="6316444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0D2A20E-0965-0B49-9216-A14DB2982B69}"/>
              </a:ext>
            </a:extLst>
          </p:cNvPr>
          <p:cNvCxnSpPr>
            <a:cxnSpLocks/>
          </p:cNvCxnSpPr>
          <p:nvPr/>
        </p:nvCxnSpPr>
        <p:spPr>
          <a:xfrm>
            <a:off x="6461224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F659BFD-1266-F849-A3D1-E5ED17FB5355}"/>
              </a:ext>
            </a:extLst>
          </p:cNvPr>
          <p:cNvCxnSpPr>
            <a:cxnSpLocks/>
          </p:cNvCxnSpPr>
          <p:nvPr/>
        </p:nvCxnSpPr>
        <p:spPr>
          <a:xfrm>
            <a:off x="6598384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DFC34DB-1622-0746-BE9C-9ABA1BA30B8E}"/>
              </a:ext>
            </a:extLst>
          </p:cNvPr>
          <p:cNvCxnSpPr>
            <a:cxnSpLocks/>
          </p:cNvCxnSpPr>
          <p:nvPr/>
        </p:nvCxnSpPr>
        <p:spPr>
          <a:xfrm>
            <a:off x="6727924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5558FAC-5C63-1E4A-8C7F-7B54C51B5DC1}"/>
              </a:ext>
            </a:extLst>
          </p:cNvPr>
          <p:cNvCxnSpPr>
            <a:cxnSpLocks/>
          </p:cNvCxnSpPr>
          <p:nvPr/>
        </p:nvCxnSpPr>
        <p:spPr>
          <a:xfrm>
            <a:off x="6857464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FAD3801-F472-2340-B74E-6EAF398253E4}"/>
              </a:ext>
            </a:extLst>
          </p:cNvPr>
          <p:cNvCxnSpPr>
            <a:cxnSpLocks/>
          </p:cNvCxnSpPr>
          <p:nvPr/>
        </p:nvCxnSpPr>
        <p:spPr>
          <a:xfrm>
            <a:off x="6995317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B3C7BC8-7CBC-9D4C-9F1B-94E3D26F4878}"/>
              </a:ext>
            </a:extLst>
          </p:cNvPr>
          <p:cNvCxnSpPr>
            <a:cxnSpLocks/>
          </p:cNvCxnSpPr>
          <p:nvPr/>
        </p:nvCxnSpPr>
        <p:spPr>
          <a:xfrm>
            <a:off x="7140097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1FD5491-CC9F-0744-9A00-1F8EDAF6C2FC}"/>
              </a:ext>
            </a:extLst>
          </p:cNvPr>
          <p:cNvCxnSpPr>
            <a:cxnSpLocks/>
          </p:cNvCxnSpPr>
          <p:nvPr/>
        </p:nvCxnSpPr>
        <p:spPr>
          <a:xfrm>
            <a:off x="7277257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CD3E596-F92D-BE4B-883E-064F6E35192E}"/>
              </a:ext>
            </a:extLst>
          </p:cNvPr>
          <p:cNvCxnSpPr>
            <a:cxnSpLocks/>
          </p:cNvCxnSpPr>
          <p:nvPr/>
        </p:nvCxnSpPr>
        <p:spPr>
          <a:xfrm>
            <a:off x="7406797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769BC06-A7B7-664C-AA7A-3C3A210E5E8F}"/>
              </a:ext>
            </a:extLst>
          </p:cNvPr>
          <p:cNvCxnSpPr>
            <a:cxnSpLocks/>
          </p:cNvCxnSpPr>
          <p:nvPr/>
        </p:nvCxnSpPr>
        <p:spPr>
          <a:xfrm>
            <a:off x="7536337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CCE4E58-DB37-F340-815C-E19CF02F7814}"/>
              </a:ext>
            </a:extLst>
          </p:cNvPr>
          <p:cNvCxnSpPr>
            <a:cxnSpLocks/>
          </p:cNvCxnSpPr>
          <p:nvPr/>
        </p:nvCxnSpPr>
        <p:spPr>
          <a:xfrm>
            <a:off x="7666570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F4790B5-F0E0-CE4C-BAE4-070E2EBD9914}"/>
              </a:ext>
            </a:extLst>
          </p:cNvPr>
          <p:cNvCxnSpPr>
            <a:cxnSpLocks/>
          </p:cNvCxnSpPr>
          <p:nvPr/>
        </p:nvCxnSpPr>
        <p:spPr>
          <a:xfrm>
            <a:off x="7803730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9E74321-EB30-CC41-9947-5BD5C5EB96C5}"/>
              </a:ext>
            </a:extLst>
          </p:cNvPr>
          <p:cNvCxnSpPr>
            <a:cxnSpLocks/>
          </p:cNvCxnSpPr>
          <p:nvPr/>
        </p:nvCxnSpPr>
        <p:spPr>
          <a:xfrm>
            <a:off x="7933270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97AF8F1-B189-214B-BF5D-384B38D655D6}"/>
              </a:ext>
            </a:extLst>
          </p:cNvPr>
          <p:cNvCxnSpPr>
            <a:cxnSpLocks/>
          </p:cNvCxnSpPr>
          <p:nvPr/>
        </p:nvCxnSpPr>
        <p:spPr>
          <a:xfrm>
            <a:off x="8062810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592230F-E4DA-9843-B12F-E9F4DEF8CA08}"/>
              </a:ext>
            </a:extLst>
          </p:cNvPr>
          <p:cNvCxnSpPr>
            <a:cxnSpLocks/>
          </p:cNvCxnSpPr>
          <p:nvPr/>
        </p:nvCxnSpPr>
        <p:spPr>
          <a:xfrm>
            <a:off x="8200662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54A581A-F1A4-5942-890C-1A3C4E887996}"/>
              </a:ext>
            </a:extLst>
          </p:cNvPr>
          <p:cNvCxnSpPr>
            <a:cxnSpLocks/>
          </p:cNvCxnSpPr>
          <p:nvPr/>
        </p:nvCxnSpPr>
        <p:spPr>
          <a:xfrm>
            <a:off x="8345442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9CC5EFE-E64D-D149-BAF4-A7B79A57BC01}"/>
              </a:ext>
            </a:extLst>
          </p:cNvPr>
          <p:cNvCxnSpPr>
            <a:cxnSpLocks/>
          </p:cNvCxnSpPr>
          <p:nvPr/>
        </p:nvCxnSpPr>
        <p:spPr>
          <a:xfrm>
            <a:off x="8482602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3B2AA49-164F-994C-AF00-1DF5EC191492}"/>
              </a:ext>
            </a:extLst>
          </p:cNvPr>
          <p:cNvCxnSpPr>
            <a:cxnSpLocks/>
          </p:cNvCxnSpPr>
          <p:nvPr/>
        </p:nvCxnSpPr>
        <p:spPr>
          <a:xfrm>
            <a:off x="8612142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E62AB85-5DF1-3245-A660-10FF2A931B14}"/>
              </a:ext>
            </a:extLst>
          </p:cNvPr>
          <p:cNvCxnSpPr>
            <a:cxnSpLocks/>
          </p:cNvCxnSpPr>
          <p:nvPr/>
        </p:nvCxnSpPr>
        <p:spPr>
          <a:xfrm>
            <a:off x="8741682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6C721C5-8EE8-A74B-8B1C-D369F7262D95}"/>
              </a:ext>
            </a:extLst>
          </p:cNvPr>
          <p:cNvCxnSpPr>
            <a:cxnSpLocks/>
          </p:cNvCxnSpPr>
          <p:nvPr/>
        </p:nvCxnSpPr>
        <p:spPr>
          <a:xfrm>
            <a:off x="8879535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AC04193-C60D-4042-A94F-ED9D081A314E}"/>
              </a:ext>
            </a:extLst>
          </p:cNvPr>
          <p:cNvCxnSpPr>
            <a:cxnSpLocks/>
          </p:cNvCxnSpPr>
          <p:nvPr/>
        </p:nvCxnSpPr>
        <p:spPr>
          <a:xfrm>
            <a:off x="9024315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52A4461-82C5-084C-898B-232C8A5D9C9F}"/>
              </a:ext>
            </a:extLst>
          </p:cNvPr>
          <p:cNvCxnSpPr>
            <a:cxnSpLocks/>
          </p:cNvCxnSpPr>
          <p:nvPr/>
        </p:nvCxnSpPr>
        <p:spPr>
          <a:xfrm>
            <a:off x="9161475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85DA981-9132-054F-BEAE-BC7C1CB274FB}"/>
              </a:ext>
            </a:extLst>
          </p:cNvPr>
          <p:cNvCxnSpPr>
            <a:cxnSpLocks/>
          </p:cNvCxnSpPr>
          <p:nvPr/>
        </p:nvCxnSpPr>
        <p:spPr>
          <a:xfrm>
            <a:off x="9291015" y="410012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B136454-1971-B040-8BF5-E73C56641F64}"/>
              </a:ext>
            </a:extLst>
          </p:cNvPr>
          <p:cNvCxnSpPr>
            <a:cxnSpLocks/>
          </p:cNvCxnSpPr>
          <p:nvPr/>
        </p:nvCxnSpPr>
        <p:spPr>
          <a:xfrm>
            <a:off x="9420555" y="411464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FBB10A4-0FD6-CF47-82C3-8F691D630B38}"/>
              </a:ext>
            </a:extLst>
          </p:cNvPr>
          <p:cNvCxnSpPr/>
          <p:nvPr/>
        </p:nvCxnSpPr>
        <p:spPr>
          <a:xfrm>
            <a:off x="3933466" y="4288471"/>
            <a:ext cx="5639493" cy="0"/>
          </a:xfrm>
          <a:prstGeom prst="line">
            <a:avLst/>
          </a:prstGeom>
          <a:ln w="539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A68F1B1-C45E-004F-AE35-A9E4CD40D795}"/>
              </a:ext>
            </a:extLst>
          </p:cNvPr>
          <p:cNvSpPr txBox="1"/>
          <p:nvPr/>
        </p:nvSpPr>
        <p:spPr>
          <a:xfrm>
            <a:off x="3733845" y="392998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05A3D7F-D54F-8843-9C61-99C085C1C80C}"/>
              </a:ext>
            </a:extLst>
          </p:cNvPr>
          <p:cNvSpPr txBox="1"/>
          <p:nvPr/>
        </p:nvSpPr>
        <p:spPr>
          <a:xfrm>
            <a:off x="3733845" y="424800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A9ACAC5-77BE-EC4F-9C90-FB76193C48F1}"/>
              </a:ext>
            </a:extLst>
          </p:cNvPr>
          <p:cNvSpPr txBox="1"/>
          <p:nvPr/>
        </p:nvSpPr>
        <p:spPr>
          <a:xfrm>
            <a:off x="9587909" y="4250392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E2F5047-004B-5749-87B7-84AEF5089B2C}"/>
              </a:ext>
            </a:extLst>
          </p:cNvPr>
          <p:cNvSpPr txBox="1"/>
          <p:nvPr/>
        </p:nvSpPr>
        <p:spPr>
          <a:xfrm>
            <a:off x="9587909" y="392998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70" name="Freeform 69">
            <a:extLst>
              <a:ext uri="{FF2B5EF4-FFF2-40B4-BE49-F238E27FC236}">
                <a16:creationId xmlns:a16="http://schemas.microsoft.com/office/drawing/2014/main" id="{B4D9816F-206A-BD41-BF89-97124E745F99}"/>
              </a:ext>
            </a:extLst>
          </p:cNvPr>
          <p:cNvSpPr/>
          <p:nvPr/>
        </p:nvSpPr>
        <p:spPr>
          <a:xfrm>
            <a:off x="6583773" y="4014999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76" name="Freeform 75">
            <a:extLst>
              <a:ext uri="{FF2B5EF4-FFF2-40B4-BE49-F238E27FC236}">
                <a16:creationId xmlns:a16="http://schemas.microsoft.com/office/drawing/2014/main" id="{97D77916-F7E2-F145-A07B-4ADB4DBEB567}"/>
              </a:ext>
            </a:extLst>
          </p:cNvPr>
          <p:cNvSpPr/>
          <p:nvPr/>
        </p:nvSpPr>
        <p:spPr>
          <a:xfrm>
            <a:off x="6403639" y="3667937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5165620-2E41-5D40-8032-525AD46F295F}"/>
              </a:ext>
            </a:extLst>
          </p:cNvPr>
          <p:cNvSpPr txBox="1"/>
          <p:nvPr/>
        </p:nvSpPr>
        <p:spPr>
          <a:xfrm>
            <a:off x="2352905" y="5634252"/>
            <a:ext cx="4935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Schematic diagram</a:t>
            </a:r>
            <a:r>
              <a:rPr lang="zh-CN" altLang="en-US" sz="14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 </a:t>
            </a:r>
            <a:r>
              <a:rPr lang="en-US" altLang="zh-CN" sz="14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of </a:t>
            </a:r>
            <a:r>
              <a:rPr lang="en-US" altLang="zh-CN" sz="1400" dirty="0">
                <a:solidFill>
                  <a:srgbClr val="111111"/>
                </a:solidFill>
                <a:latin typeface="system-ui"/>
              </a:rPr>
              <a:t>TALEN</a:t>
            </a:r>
            <a:r>
              <a:rPr lang="en-US" altLang="zh-CN" sz="1400" b="0" i="0" u="none" strike="noStrike" dirty="0">
                <a:solidFill>
                  <a:srgbClr val="111111"/>
                </a:solidFill>
                <a:effectLst/>
                <a:latin typeface="system-ui"/>
              </a:rPr>
              <a:t>.</a:t>
            </a:r>
            <a:endParaRPr kumimoji="1" lang="en-US" altLang="zh-CN" sz="1400" dirty="0"/>
          </a:p>
        </p:txBody>
      </p:sp>
      <p:sp>
        <p:nvSpPr>
          <p:cNvPr id="90" name="Lightning Bolt 89">
            <a:extLst>
              <a:ext uri="{FF2B5EF4-FFF2-40B4-BE49-F238E27FC236}">
                <a16:creationId xmlns:a16="http://schemas.microsoft.com/office/drawing/2014/main" id="{63EB1E36-E130-B646-AAA2-6AB3820CC60F}"/>
              </a:ext>
            </a:extLst>
          </p:cNvPr>
          <p:cNvSpPr/>
          <p:nvPr/>
        </p:nvSpPr>
        <p:spPr>
          <a:xfrm flipH="1">
            <a:off x="6876963" y="3432551"/>
            <a:ext cx="445533" cy="810767"/>
          </a:xfrm>
          <a:prstGeom prst="lightningBol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Freeform 93">
            <a:extLst>
              <a:ext uri="{FF2B5EF4-FFF2-40B4-BE49-F238E27FC236}">
                <a16:creationId xmlns:a16="http://schemas.microsoft.com/office/drawing/2014/main" id="{71021836-80AE-E14D-8D6E-A30482661D7C}"/>
              </a:ext>
            </a:extLst>
          </p:cNvPr>
          <p:cNvSpPr/>
          <p:nvPr/>
        </p:nvSpPr>
        <p:spPr>
          <a:xfrm>
            <a:off x="5882008" y="3641291"/>
            <a:ext cx="267764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5" name="Freeform 94">
            <a:extLst>
              <a:ext uri="{FF2B5EF4-FFF2-40B4-BE49-F238E27FC236}">
                <a16:creationId xmlns:a16="http://schemas.microsoft.com/office/drawing/2014/main" id="{E6A9D298-B1EE-D540-A2BC-3232DF4F2057}"/>
              </a:ext>
            </a:extLst>
          </p:cNvPr>
          <p:cNvSpPr/>
          <p:nvPr/>
        </p:nvSpPr>
        <p:spPr>
          <a:xfrm rot="10800000">
            <a:off x="4187028" y="3638358"/>
            <a:ext cx="291810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E0B14D81-5ABE-1546-92C7-0C8DA5352930}"/>
              </a:ext>
            </a:extLst>
          </p:cNvPr>
          <p:cNvSpPr/>
          <p:nvPr/>
        </p:nvSpPr>
        <p:spPr>
          <a:xfrm>
            <a:off x="5753277" y="3659764"/>
            <a:ext cx="102887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1666B33E-EBC9-EC41-B78D-63B303C47B19}"/>
              </a:ext>
            </a:extLst>
          </p:cNvPr>
          <p:cNvSpPr/>
          <p:nvPr/>
        </p:nvSpPr>
        <p:spPr>
          <a:xfrm>
            <a:off x="5615964" y="3658772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4E59F79F-71E1-9143-B11D-31A16EC1EC4C}"/>
              </a:ext>
            </a:extLst>
          </p:cNvPr>
          <p:cNvSpPr/>
          <p:nvPr/>
        </p:nvSpPr>
        <p:spPr>
          <a:xfrm>
            <a:off x="5471972" y="3657666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3B0023B4-1CD6-8046-B75C-31AB0704FE92}"/>
              </a:ext>
            </a:extLst>
          </p:cNvPr>
          <p:cNvSpPr/>
          <p:nvPr/>
        </p:nvSpPr>
        <p:spPr>
          <a:xfrm>
            <a:off x="5333796" y="3657666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5AB0B95A-81FD-F045-B924-AE5C47EB1CD4}"/>
              </a:ext>
            </a:extLst>
          </p:cNvPr>
          <p:cNvSpPr/>
          <p:nvPr/>
        </p:nvSpPr>
        <p:spPr>
          <a:xfrm>
            <a:off x="5192142" y="3657666"/>
            <a:ext cx="112800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142579B4-2F36-994D-B1CB-303D25709408}"/>
              </a:ext>
            </a:extLst>
          </p:cNvPr>
          <p:cNvSpPr/>
          <p:nvPr/>
        </p:nvSpPr>
        <p:spPr>
          <a:xfrm>
            <a:off x="5060343" y="3659462"/>
            <a:ext cx="103141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14CE2812-B567-FA4E-9092-68D248AFCF29}"/>
              </a:ext>
            </a:extLst>
          </p:cNvPr>
          <p:cNvSpPr/>
          <p:nvPr/>
        </p:nvSpPr>
        <p:spPr>
          <a:xfrm>
            <a:off x="4922692" y="3650613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BE19A28E-2561-F446-A3EA-A385A0CA1907}"/>
              </a:ext>
            </a:extLst>
          </p:cNvPr>
          <p:cNvSpPr/>
          <p:nvPr/>
        </p:nvSpPr>
        <p:spPr>
          <a:xfrm>
            <a:off x="4784516" y="3650613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40EFE168-EA0F-804F-A539-B037D7BF183E}"/>
              </a:ext>
            </a:extLst>
          </p:cNvPr>
          <p:cNvSpPr/>
          <p:nvPr/>
        </p:nvSpPr>
        <p:spPr>
          <a:xfrm>
            <a:off x="4642862" y="3650613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E4F07AD3-C995-174A-86CC-F5B8906D898A}"/>
              </a:ext>
            </a:extLst>
          </p:cNvPr>
          <p:cNvSpPr/>
          <p:nvPr/>
        </p:nvSpPr>
        <p:spPr>
          <a:xfrm>
            <a:off x="4511063" y="3652409"/>
            <a:ext cx="103141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6" name="Freeform 105">
            <a:extLst>
              <a:ext uri="{FF2B5EF4-FFF2-40B4-BE49-F238E27FC236}">
                <a16:creationId xmlns:a16="http://schemas.microsoft.com/office/drawing/2014/main" id="{632C5365-5A27-384F-B8CF-C6209ECA25F6}"/>
              </a:ext>
            </a:extLst>
          </p:cNvPr>
          <p:cNvSpPr/>
          <p:nvPr/>
        </p:nvSpPr>
        <p:spPr>
          <a:xfrm rot="11058474" flipV="1">
            <a:off x="6149207" y="3691982"/>
            <a:ext cx="505863" cy="130375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" name="Freeform 106">
            <a:extLst>
              <a:ext uri="{FF2B5EF4-FFF2-40B4-BE49-F238E27FC236}">
                <a16:creationId xmlns:a16="http://schemas.microsoft.com/office/drawing/2014/main" id="{8C77FD07-B8C3-9840-AB3A-E76F1BBA577D}"/>
              </a:ext>
            </a:extLst>
          </p:cNvPr>
          <p:cNvSpPr/>
          <p:nvPr/>
        </p:nvSpPr>
        <p:spPr>
          <a:xfrm>
            <a:off x="9246217" y="4478223"/>
            <a:ext cx="267764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8" name="Freeform 107">
            <a:extLst>
              <a:ext uri="{FF2B5EF4-FFF2-40B4-BE49-F238E27FC236}">
                <a16:creationId xmlns:a16="http://schemas.microsoft.com/office/drawing/2014/main" id="{E57C1235-37F9-0F4E-99E2-8BEE58BF72EB}"/>
              </a:ext>
            </a:extLst>
          </p:cNvPr>
          <p:cNvSpPr/>
          <p:nvPr/>
        </p:nvSpPr>
        <p:spPr>
          <a:xfrm rot="10800000">
            <a:off x="7551237" y="4475290"/>
            <a:ext cx="291810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E959DE44-8E17-1741-B18C-FAFFA2073DC3}"/>
              </a:ext>
            </a:extLst>
          </p:cNvPr>
          <p:cNvSpPr/>
          <p:nvPr/>
        </p:nvSpPr>
        <p:spPr>
          <a:xfrm>
            <a:off x="9117486" y="4496696"/>
            <a:ext cx="102887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A8B399F1-9D0C-E641-82ED-AC721410EBF2}"/>
              </a:ext>
            </a:extLst>
          </p:cNvPr>
          <p:cNvSpPr/>
          <p:nvPr/>
        </p:nvSpPr>
        <p:spPr>
          <a:xfrm>
            <a:off x="8980173" y="4495704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0972BBBA-56D6-6C44-8042-6215AD16ED5F}"/>
              </a:ext>
            </a:extLst>
          </p:cNvPr>
          <p:cNvSpPr/>
          <p:nvPr/>
        </p:nvSpPr>
        <p:spPr>
          <a:xfrm>
            <a:off x="8836181" y="4494598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F08B2173-9009-8243-9D9D-F079003C6EBB}"/>
              </a:ext>
            </a:extLst>
          </p:cNvPr>
          <p:cNvSpPr/>
          <p:nvPr/>
        </p:nvSpPr>
        <p:spPr>
          <a:xfrm>
            <a:off x="8698005" y="4494598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505C5603-7635-404C-8126-A0A52E8319C4}"/>
              </a:ext>
            </a:extLst>
          </p:cNvPr>
          <p:cNvSpPr/>
          <p:nvPr/>
        </p:nvSpPr>
        <p:spPr>
          <a:xfrm>
            <a:off x="8556351" y="4494598"/>
            <a:ext cx="112800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FFCEC910-A995-4A40-B803-A5C005CB8132}"/>
              </a:ext>
            </a:extLst>
          </p:cNvPr>
          <p:cNvSpPr/>
          <p:nvPr/>
        </p:nvSpPr>
        <p:spPr>
          <a:xfrm>
            <a:off x="8424552" y="4496394"/>
            <a:ext cx="103141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CF4B7D5A-90B5-344C-A3F4-22B7D1EFEE04}"/>
              </a:ext>
            </a:extLst>
          </p:cNvPr>
          <p:cNvSpPr/>
          <p:nvPr/>
        </p:nvSpPr>
        <p:spPr>
          <a:xfrm>
            <a:off x="8286901" y="4487545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05585FE3-2BC0-1F41-8E48-ECC5109A8922}"/>
              </a:ext>
            </a:extLst>
          </p:cNvPr>
          <p:cNvSpPr/>
          <p:nvPr/>
        </p:nvSpPr>
        <p:spPr>
          <a:xfrm>
            <a:off x="8148725" y="4487545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83339DF4-6428-CA45-B377-04C2C9B19E56}"/>
              </a:ext>
            </a:extLst>
          </p:cNvPr>
          <p:cNvSpPr/>
          <p:nvPr/>
        </p:nvSpPr>
        <p:spPr>
          <a:xfrm>
            <a:off x="8007071" y="4487545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400F4722-F6EB-DA47-B8F6-85A6C4C4DF11}"/>
              </a:ext>
            </a:extLst>
          </p:cNvPr>
          <p:cNvSpPr/>
          <p:nvPr/>
        </p:nvSpPr>
        <p:spPr>
          <a:xfrm>
            <a:off x="7875272" y="4489341"/>
            <a:ext cx="103141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9" name="Freeform 118">
            <a:extLst>
              <a:ext uri="{FF2B5EF4-FFF2-40B4-BE49-F238E27FC236}">
                <a16:creationId xmlns:a16="http://schemas.microsoft.com/office/drawing/2014/main" id="{F531653D-2C1B-784E-8341-7213D3493CE9}"/>
              </a:ext>
            </a:extLst>
          </p:cNvPr>
          <p:cNvSpPr/>
          <p:nvPr/>
        </p:nvSpPr>
        <p:spPr>
          <a:xfrm rot="787176" flipV="1">
            <a:off x="7129506" y="4652619"/>
            <a:ext cx="439758" cy="11845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0B0EF79-68D0-7143-8021-6856D5FDA433}"/>
              </a:ext>
            </a:extLst>
          </p:cNvPr>
          <p:cNvSpPr txBox="1"/>
          <p:nvPr/>
        </p:nvSpPr>
        <p:spPr>
          <a:xfrm>
            <a:off x="7154195" y="4938611"/>
            <a:ext cx="1024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C-terminal domain</a:t>
            </a:r>
            <a:endParaRPr kumimoji="1" lang="zh-CN" altLang="en-US" sz="140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5ACD79F-4C54-1B42-A4C3-E323B9B6BB26}"/>
              </a:ext>
            </a:extLst>
          </p:cNvPr>
          <p:cNvSpPr txBox="1"/>
          <p:nvPr/>
        </p:nvSpPr>
        <p:spPr>
          <a:xfrm>
            <a:off x="8867724" y="4938611"/>
            <a:ext cx="1024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N-terminal domain</a:t>
            </a:r>
            <a:endParaRPr kumimoji="1" lang="zh-CN" altLang="en-US" sz="1400" dirty="0"/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61182DA-B27B-8446-A47C-4C60D86700DC}"/>
              </a:ext>
            </a:extLst>
          </p:cNvPr>
          <p:cNvGrpSpPr/>
          <p:nvPr/>
        </p:nvGrpSpPr>
        <p:grpSpPr>
          <a:xfrm>
            <a:off x="2817148" y="4055562"/>
            <a:ext cx="662687" cy="1336552"/>
            <a:chOff x="2147913" y="3875724"/>
            <a:chExt cx="833095" cy="1773455"/>
          </a:xfrm>
        </p:grpSpPr>
        <p:sp>
          <p:nvSpPr>
            <p:cNvPr id="123" name="Rounded Rectangle 122">
              <a:extLst>
                <a:ext uri="{FF2B5EF4-FFF2-40B4-BE49-F238E27FC236}">
                  <a16:creationId xmlns:a16="http://schemas.microsoft.com/office/drawing/2014/main" id="{975EB7A4-E2BB-9C41-A923-33BD1AF86C23}"/>
                </a:ext>
              </a:extLst>
            </p:cNvPr>
            <p:cNvSpPr/>
            <p:nvPr/>
          </p:nvSpPr>
          <p:spPr>
            <a:xfrm>
              <a:off x="2151038" y="3917758"/>
              <a:ext cx="103141" cy="355600"/>
            </a:xfrm>
            <a:prstGeom prst="roundRect">
              <a:avLst/>
            </a:prstGeom>
            <a:solidFill>
              <a:srgbClr val="FF7E79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252B28A8-9D17-9841-B633-1AD4DA122D6C}"/>
                </a:ext>
              </a:extLst>
            </p:cNvPr>
            <p:cNvSpPr/>
            <p:nvPr/>
          </p:nvSpPr>
          <p:spPr>
            <a:xfrm>
              <a:off x="2147914" y="4360070"/>
              <a:ext cx="103141" cy="355600"/>
            </a:xfrm>
            <a:prstGeom prst="roundRect">
              <a:avLst/>
            </a:pr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5" name="Rounded Rectangle 124">
              <a:extLst>
                <a:ext uri="{FF2B5EF4-FFF2-40B4-BE49-F238E27FC236}">
                  <a16:creationId xmlns:a16="http://schemas.microsoft.com/office/drawing/2014/main" id="{A1671666-5663-B04E-B11D-0FFD72D2E47D}"/>
                </a:ext>
              </a:extLst>
            </p:cNvPr>
            <p:cNvSpPr/>
            <p:nvPr/>
          </p:nvSpPr>
          <p:spPr>
            <a:xfrm>
              <a:off x="2147914" y="4813448"/>
              <a:ext cx="103141" cy="3556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6" name="Rounded Rectangle 125">
              <a:extLst>
                <a:ext uri="{FF2B5EF4-FFF2-40B4-BE49-F238E27FC236}">
                  <a16:creationId xmlns:a16="http://schemas.microsoft.com/office/drawing/2014/main" id="{61007415-856E-B64F-BD84-6311D2290642}"/>
                </a:ext>
              </a:extLst>
            </p:cNvPr>
            <p:cNvSpPr/>
            <p:nvPr/>
          </p:nvSpPr>
          <p:spPr>
            <a:xfrm>
              <a:off x="2147913" y="5259975"/>
              <a:ext cx="104795" cy="355600"/>
            </a:xfrm>
            <a:prstGeom prst="roundRect">
              <a:avLst/>
            </a:prstGeom>
            <a:solidFill>
              <a:srgbClr val="99FFC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1EE9E177-6FAC-5241-966B-AA34EB750379}"/>
                </a:ext>
              </a:extLst>
            </p:cNvPr>
            <p:cNvSpPr txBox="1"/>
            <p:nvPr/>
          </p:nvSpPr>
          <p:spPr>
            <a:xfrm>
              <a:off x="2216426" y="3875724"/>
              <a:ext cx="742002" cy="408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NG:</a:t>
              </a:r>
              <a:r>
                <a:rPr kumimoji="1" lang="zh-CN" altLang="en-US" sz="1400" dirty="0"/>
                <a:t> </a:t>
              </a:r>
              <a:r>
                <a:rPr kumimoji="1" lang="en-US" altLang="zh-CN" sz="1400" dirty="0"/>
                <a:t>T</a:t>
              </a:r>
              <a:endParaRPr kumimoji="1" lang="zh-CN" altLang="en-US" sz="1400" dirty="0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1D22C5BF-2782-9642-912B-BE90C7F1EE59}"/>
                </a:ext>
              </a:extLst>
            </p:cNvPr>
            <p:cNvSpPr txBox="1"/>
            <p:nvPr/>
          </p:nvSpPr>
          <p:spPr>
            <a:xfrm>
              <a:off x="2208778" y="4330435"/>
              <a:ext cx="675502" cy="408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NI:</a:t>
              </a:r>
              <a:r>
                <a:rPr kumimoji="1" lang="zh-CN" altLang="en-US" sz="1400" dirty="0"/>
                <a:t> </a:t>
              </a:r>
              <a:r>
                <a:rPr kumimoji="1" lang="en-US" altLang="zh-CN" sz="1400" dirty="0"/>
                <a:t>A</a:t>
              </a:r>
              <a:endParaRPr kumimoji="1" lang="zh-CN" altLang="en-US" sz="1400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EA161A0-7014-3740-A254-BAB151049D85}"/>
                </a:ext>
              </a:extLst>
            </p:cNvPr>
            <p:cNvSpPr txBox="1"/>
            <p:nvPr/>
          </p:nvSpPr>
          <p:spPr>
            <a:xfrm>
              <a:off x="2216025" y="4785614"/>
              <a:ext cx="744019" cy="408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HD:</a:t>
              </a:r>
              <a:r>
                <a:rPr kumimoji="1" lang="zh-CN" altLang="en-US" sz="1400" dirty="0"/>
                <a:t> </a:t>
              </a:r>
              <a:r>
                <a:rPr kumimoji="1" lang="en-US" altLang="zh-CN" sz="1400" dirty="0"/>
                <a:t>C</a:t>
              </a:r>
              <a:endParaRPr kumimoji="1" lang="zh-CN" altLang="en-US" sz="1400" dirty="0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8DF89E2A-EC00-3D4B-BED2-A77154F6E940}"/>
                </a:ext>
              </a:extLst>
            </p:cNvPr>
            <p:cNvSpPr txBox="1"/>
            <p:nvPr/>
          </p:nvSpPr>
          <p:spPr>
            <a:xfrm>
              <a:off x="2208778" y="5240793"/>
              <a:ext cx="772230" cy="408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400" dirty="0"/>
                <a:t>NH:</a:t>
              </a:r>
              <a:r>
                <a:rPr kumimoji="1" lang="zh-CN" altLang="en-US" sz="1400" dirty="0"/>
                <a:t> </a:t>
              </a:r>
              <a:r>
                <a:rPr kumimoji="1" lang="en-US" altLang="zh-CN" sz="1400" dirty="0"/>
                <a:t>G</a:t>
              </a:r>
              <a:endParaRPr kumimoji="1" lang="zh-CN" altLang="en-US" sz="1400" dirty="0"/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787E4F1A-AD35-9542-9F15-297A0859792A}"/>
              </a:ext>
            </a:extLst>
          </p:cNvPr>
          <p:cNvSpPr txBox="1"/>
          <p:nvPr/>
        </p:nvSpPr>
        <p:spPr>
          <a:xfrm>
            <a:off x="2266052" y="3515023"/>
            <a:ext cx="16259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/>
              <a:t>Repeat variable diresidues (RVDs)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F405EBA-4F79-644F-93AB-E10DA1F39771}"/>
              </a:ext>
            </a:extLst>
          </p:cNvPr>
          <p:cNvSpPr txBox="1"/>
          <p:nvPr/>
        </p:nvSpPr>
        <p:spPr>
          <a:xfrm>
            <a:off x="0" y="5946429"/>
            <a:ext cx="4735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Gaj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T, </a:t>
            </a:r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Sirk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SJ, Shui SL, Liu J. Genome-Editing Technologies: Principles and Applications.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Cold Spring </a:t>
            </a:r>
            <a:r>
              <a:rPr lang="en-US" sz="1200" b="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Harb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Perspect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Biol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2016 Dec 1;8(12):a023754.</a:t>
            </a:r>
            <a:endParaRPr lang="zh-CN" altLang="en-US" sz="12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633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4" grpId="0" animBg="1"/>
      <p:bldP spid="15" grpId="0"/>
      <p:bldP spid="23" grpId="0"/>
      <p:bldP spid="66" grpId="0"/>
      <p:bldP spid="67" grpId="0"/>
      <p:bldP spid="68" grpId="0"/>
      <p:bldP spid="69" grpId="0"/>
      <p:bldP spid="70" grpId="0" animBg="1"/>
      <p:bldP spid="76" grpId="0" animBg="1"/>
      <p:bldP spid="89" grpId="0"/>
      <p:bldP spid="90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1" grpId="0"/>
      <p:bldP spid="122" grpId="0"/>
      <p:bldP spid="1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63167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Summary: Protein-guided Nucleases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10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92A0F9B-A800-8F45-BD89-E13375AA649D}"/>
              </a:ext>
            </a:extLst>
          </p:cNvPr>
          <p:cNvCxnSpPr/>
          <p:nvPr/>
        </p:nvCxnSpPr>
        <p:spPr>
          <a:xfrm>
            <a:off x="808692" y="2293086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11E47A-6D6B-0743-8463-AE653EBFEBC2}"/>
              </a:ext>
            </a:extLst>
          </p:cNvPr>
          <p:cNvCxnSpPr/>
          <p:nvPr/>
        </p:nvCxnSpPr>
        <p:spPr>
          <a:xfrm>
            <a:off x="808692" y="2609042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946E3A-6BFF-784C-B92A-3B3C1E15E4E3}"/>
              </a:ext>
            </a:extLst>
          </p:cNvPr>
          <p:cNvCxnSpPr>
            <a:cxnSpLocks/>
          </p:cNvCxnSpPr>
          <p:nvPr/>
        </p:nvCxnSpPr>
        <p:spPr>
          <a:xfrm>
            <a:off x="995279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ECF60E-2A22-9549-92AD-5D16DE57B275}"/>
              </a:ext>
            </a:extLst>
          </p:cNvPr>
          <p:cNvCxnSpPr>
            <a:cxnSpLocks/>
          </p:cNvCxnSpPr>
          <p:nvPr/>
        </p:nvCxnSpPr>
        <p:spPr>
          <a:xfrm>
            <a:off x="1140059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0CA37D-C44C-B94F-A031-3C5DEDB97716}"/>
              </a:ext>
            </a:extLst>
          </p:cNvPr>
          <p:cNvCxnSpPr>
            <a:cxnSpLocks/>
          </p:cNvCxnSpPr>
          <p:nvPr/>
        </p:nvCxnSpPr>
        <p:spPr>
          <a:xfrm>
            <a:off x="1277219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8CE2F9-151A-A547-A2A9-1DCD927AC735}"/>
              </a:ext>
            </a:extLst>
          </p:cNvPr>
          <p:cNvCxnSpPr>
            <a:cxnSpLocks/>
          </p:cNvCxnSpPr>
          <p:nvPr/>
        </p:nvCxnSpPr>
        <p:spPr>
          <a:xfrm>
            <a:off x="1406759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C86B52-460C-D747-941F-E753642128D0}"/>
              </a:ext>
            </a:extLst>
          </p:cNvPr>
          <p:cNvCxnSpPr>
            <a:cxnSpLocks/>
          </p:cNvCxnSpPr>
          <p:nvPr/>
        </p:nvCxnSpPr>
        <p:spPr>
          <a:xfrm>
            <a:off x="1536299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AD3B31-C2B9-AB44-8B2E-83784F380CCF}"/>
              </a:ext>
            </a:extLst>
          </p:cNvPr>
          <p:cNvCxnSpPr>
            <a:cxnSpLocks/>
          </p:cNvCxnSpPr>
          <p:nvPr/>
        </p:nvCxnSpPr>
        <p:spPr>
          <a:xfrm>
            <a:off x="1674152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F171C57-F134-D040-81E8-2FFE9DBE7326}"/>
              </a:ext>
            </a:extLst>
          </p:cNvPr>
          <p:cNvCxnSpPr>
            <a:cxnSpLocks/>
          </p:cNvCxnSpPr>
          <p:nvPr/>
        </p:nvCxnSpPr>
        <p:spPr>
          <a:xfrm>
            <a:off x="1818932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37BAB2-8B69-1C4A-86BB-A49878F941B5}"/>
              </a:ext>
            </a:extLst>
          </p:cNvPr>
          <p:cNvCxnSpPr>
            <a:cxnSpLocks/>
          </p:cNvCxnSpPr>
          <p:nvPr/>
        </p:nvCxnSpPr>
        <p:spPr>
          <a:xfrm>
            <a:off x="1956092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F3C738E-66FF-E04D-878D-B21E7029796B}"/>
              </a:ext>
            </a:extLst>
          </p:cNvPr>
          <p:cNvCxnSpPr>
            <a:cxnSpLocks/>
          </p:cNvCxnSpPr>
          <p:nvPr/>
        </p:nvCxnSpPr>
        <p:spPr>
          <a:xfrm>
            <a:off x="2085632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EEB6507-5089-5845-BC15-187514BCA90C}"/>
              </a:ext>
            </a:extLst>
          </p:cNvPr>
          <p:cNvCxnSpPr>
            <a:cxnSpLocks/>
          </p:cNvCxnSpPr>
          <p:nvPr/>
        </p:nvCxnSpPr>
        <p:spPr>
          <a:xfrm>
            <a:off x="2215172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D5522E-15B2-B84C-A952-328BA5D78FA5}"/>
              </a:ext>
            </a:extLst>
          </p:cNvPr>
          <p:cNvCxnSpPr>
            <a:cxnSpLocks/>
          </p:cNvCxnSpPr>
          <p:nvPr/>
        </p:nvCxnSpPr>
        <p:spPr>
          <a:xfrm>
            <a:off x="2353025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D9A68BB-1269-8547-8059-E75F5BC54CA3}"/>
              </a:ext>
            </a:extLst>
          </p:cNvPr>
          <p:cNvCxnSpPr>
            <a:cxnSpLocks/>
          </p:cNvCxnSpPr>
          <p:nvPr/>
        </p:nvCxnSpPr>
        <p:spPr>
          <a:xfrm>
            <a:off x="2497805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EE2218-2A37-CF4A-A120-09DB593CD08D}"/>
              </a:ext>
            </a:extLst>
          </p:cNvPr>
          <p:cNvCxnSpPr>
            <a:cxnSpLocks/>
          </p:cNvCxnSpPr>
          <p:nvPr/>
        </p:nvCxnSpPr>
        <p:spPr>
          <a:xfrm>
            <a:off x="2634965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8AF46DE-7F6B-6B41-AF8E-C67D79EF7880}"/>
              </a:ext>
            </a:extLst>
          </p:cNvPr>
          <p:cNvCxnSpPr>
            <a:cxnSpLocks/>
          </p:cNvCxnSpPr>
          <p:nvPr/>
        </p:nvCxnSpPr>
        <p:spPr>
          <a:xfrm>
            <a:off x="2764505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F926E4-6FF7-5041-A4EA-3D616BEDBA89}"/>
              </a:ext>
            </a:extLst>
          </p:cNvPr>
          <p:cNvCxnSpPr>
            <a:cxnSpLocks/>
          </p:cNvCxnSpPr>
          <p:nvPr/>
        </p:nvCxnSpPr>
        <p:spPr>
          <a:xfrm>
            <a:off x="2894045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0616140-6735-204F-ADF7-AA13397B138D}"/>
              </a:ext>
            </a:extLst>
          </p:cNvPr>
          <p:cNvCxnSpPr>
            <a:cxnSpLocks/>
          </p:cNvCxnSpPr>
          <p:nvPr/>
        </p:nvCxnSpPr>
        <p:spPr>
          <a:xfrm>
            <a:off x="3031897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34C833B-5EAB-CF42-8EE4-3622D65623CA}"/>
              </a:ext>
            </a:extLst>
          </p:cNvPr>
          <p:cNvCxnSpPr>
            <a:cxnSpLocks/>
          </p:cNvCxnSpPr>
          <p:nvPr/>
        </p:nvCxnSpPr>
        <p:spPr>
          <a:xfrm>
            <a:off x="3176677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BE271BE-E63E-B34B-BD76-5F59D1458054}"/>
              </a:ext>
            </a:extLst>
          </p:cNvPr>
          <p:cNvCxnSpPr>
            <a:cxnSpLocks/>
          </p:cNvCxnSpPr>
          <p:nvPr/>
        </p:nvCxnSpPr>
        <p:spPr>
          <a:xfrm>
            <a:off x="3313837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408EA02-74A2-824B-82BF-D0256F39C39D}"/>
              </a:ext>
            </a:extLst>
          </p:cNvPr>
          <p:cNvCxnSpPr>
            <a:cxnSpLocks/>
          </p:cNvCxnSpPr>
          <p:nvPr/>
        </p:nvCxnSpPr>
        <p:spPr>
          <a:xfrm>
            <a:off x="3443377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38C9259-30A7-5941-B5AB-0614EDCA7B1B}"/>
              </a:ext>
            </a:extLst>
          </p:cNvPr>
          <p:cNvCxnSpPr>
            <a:cxnSpLocks/>
          </p:cNvCxnSpPr>
          <p:nvPr/>
        </p:nvCxnSpPr>
        <p:spPr>
          <a:xfrm>
            <a:off x="3572917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29DD92E-F6CC-3545-A42E-1677BB245F4A}"/>
              </a:ext>
            </a:extLst>
          </p:cNvPr>
          <p:cNvCxnSpPr>
            <a:cxnSpLocks/>
          </p:cNvCxnSpPr>
          <p:nvPr/>
        </p:nvCxnSpPr>
        <p:spPr>
          <a:xfrm>
            <a:off x="3710770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D1441B4-385E-C74A-B3E1-91B1592BF009}"/>
              </a:ext>
            </a:extLst>
          </p:cNvPr>
          <p:cNvCxnSpPr>
            <a:cxnSpLocks/>
          </p:cNvCxnSpPr>
          <p:nvPr/>
        </p:nvCxnSpPr>
        <p:spPr>
          <a:xfrm>
            <a:off x="3855550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9E3E861-040C-5A4B-B067-F7F728A3E6AA}"/>
              </a:ext>
            </a:extLst>
          </p:cNvPr>
          <p:cNvCxnSpPr>
            <a:cxnSpLocks/>
          </p:cNvCxnSpPr>
          <p:nvPr/>
        </p:nvCxnSpPr>
        <p:spPr>
          <a:xfrm>
            <a:off x="3992710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87947DE-8F0E-1E47-BFA4-94AB70D44EBC}"/>
              </a:ext>
            </a:extLst>
          </p:cNvPr>
          <p:cNvCxnSpPr>
            <a:cxnSpLocks/>
          </p:cNvCxnSpPr>
          <p:nvPr/>
        </p:nvCxnSpPr>
        <p:spPr>
          <a:xfrm>
            <a:off x="4122250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9C0B7D0-5219-034A-BA1C-5471CFA03C76}"/>
              </a:ext>
            </a:extLst>
          </p:cNvPr>
          <p:cNvCxnSpPr>
            <a:cxnSpLocks/>
          </p:cNvCxnSpPr>
          <p:nvPr/>
        </p:nvCxnSpPr>
        <p:spPr>
          <a:xfrm>
            <a:off x="4251790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DB72E18-4174-234B-8A06-2D9340EF7B9B}"/>
              </a:ext>
            </a:extLst>
          </p:cNvPr>
          <p:cNvCxnSpPr>
            <a:cxnSpLocks/>
          </p:cNvCxnSpPr>
          <p:nvPr/>
        </p:nvCxnSpPr>
        <p:spPr>
          <a:xfrm>
            <a:off x="4382023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AFE885B-58B8-EC45-A3A8-61232D66CE81}"/>
              </a:ext>
            </a:extLst>
          </p:cNvPr>
          <p:cNvCxnSpPr>
            <a:cxnSpLocks/>
          </p:cNvCxnSpPr>
          <p:nvPr/>
        </p:nvCxnSpPr>
        <p:spPr>
          <a:xfrm>
            <a:off x="4519183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F8C1E10-890A-904C-871A-B02A76810DCC}"/>
              </a:ext>
            </a:extLst>
          </p:cNvPr>
          <p:cNvCxnSpPr>
            <a:cxnSpLocks/>
          </p:cNvCxnSpPr>
          <p:nvPr/>
        </p:nvCxnSpPr>
        <p:spPr>
          <a:xfrm>
            <a:off x="4648723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5852855-9E61-AB46-B9A5-A0002199DC27}"/>
              </a:ext>
            </a:extLst>
          </p:cNvPr>
          <p:cNvCxnSpPr>
            <a:cxnSpLocks/>
          </p:cNvCxnSpPr>
          <p:nvPr/>
        </p:nvCxnSpPr>
        <p:spPr>
          <a:xfrm>
            <a:off x="4778263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F1999BB-14CF-314D-AD4F-EE5144E1D1D3}"/>
              </a:ext>
            </a:extLst>
          </p:cNvPr>
          <p:cNvCxnSpPr>
            <a:cxnSpLocks/>
          </p:cNvCxnSpPr>
          <p:nvPr/>
        </p:nvCxnSpPr>
        <p:spPr>
          <a:xfrm>
            <a:off x="4916115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5BF0046-D690-CB48-B9D6-8A70AEDCB549}"/>
              </a:ext>
            </a:extLst>
          </p:cNvPr>
          <p:cNvCxnSpPr>
            <a:cxnSpLocks/>
          </p:cNvCxnSpPr>
          <p:nvPr/>
        </p:nvCxnSpPr>
        <p:spPr>
          <a:xfrm>
            <a:off x="5060895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DA487A9-2F19-AA4E-A69A-ED478298CCA2}"/>
              </a:ext>
            </a:extLst>
          </p:cNvPr>
          <p:cNvCxnSpPr>
            <a:cxnSpLocks/>
          </p:cNvCxnSpPr>
          <p:nvPr/>
        </p:nvCxnSpPr>
        <p:spPr>
          <a:xfrm>
            <a:off x="5198055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9696660-92B6-A145-8A2A-51F1086B7620}"/>
              </a:ext>
            </a:extLst>
          </p:cNvPr>
          <p:cNvCxnSpPr>
            <a:cxnSpLocks/>
          </p:cNvCxnSpPr>
          <p:nvPr/>
        </p:nvCxnSpPr>
        <p:spPr>
          <a:xfrm>
            <a:off x="5327595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D70F5D0-A094-D141-AD37-31EF73C237E5}"/>
              </a:ext>
            </a:extLst>
          </p:cNvPr>
          <p:cNvCxnSpPr>
            <a:cxnSpLocks/>
          </p:cNvCxnSpPr>
          <p:nvPr/>
        </p:nvCxnSpPr>
        <p:spPr>
          <a:xfrm>
            <a:off x="5457135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E8182AA-9A3E-6149-B879-00CCF59ECD78}"/>
              </a:ext>
            </a:extLst>
          </p:cNvPr>
          <p:cNvCxnSpPr>
            <a:cxnSpLocks/>
          </p:cNvCxnSpPr>
          <p:nvPr/>
        </p:nvCxnSpPr>
        <p:spPr>
          <a:xfrm>
            <a:off x="5594988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A2CD8FD-B93D-F440-A860-C4DC42B851E8}"/>
              </a:ext>
            </a:extLst>
          </p:cNvPr>
          <p:cNvCxnSpPr>
            <a:cxnSpLocks/>
          </p:cNvCxnSpPr>
          <p:nvPr/>
        </p:nvCxnSpPr>
        <p:spPr>
          <a:xfrm>
            <a:off x="5739768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C325DE8-A33C-7C42-89BE-5587F49160A0}"/>
              </a:ext>
            </a:extLst>
          </p:cNvPr>
          <p:cNvCxnSpPr>
            <a:cxnSpLocks/>
          </p:cNvCxnSpPr>
          <p:nvPr/>
        </p:nvCxnSpPr>
        <p:spPr>
          <a:xfrm>
            <a:off x="5876928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9F4D8BF-6210-5D41-BF0D-C065D33B21EC}"/>
              </a:ext>
            </a:extLst>
          </p:cNvPr>
          <p:cNvCxnSpPr>
            <a:cxnSpLocks/>
          </p:cNvCxnSpPr>
          <p:nvPr/>
        </p:nvCxnSpPr>
        <p:spPr>
          <a:xfrm>
            <a:off x="6006468" y="2278565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33D809A-A525-8A48-ABF8-4D227B75B8A6}"/>
              </a:ext>
            </a:extLst>
          </p:cNvPr>
          <p:cNvCxnSpPr>
            <a:cxnSpLocks/>
          </p:cNvCxnSpPr>
          <p:nvPr/>
        </p:nvCxnSpPr>
        <p:spPr>
          <a:xfrm>
            <a:off x="6136008" y="2293086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E42D398-D702-604D-93E8-C2688CAB5031}"/>
              </a:ext>
            </a:extLst>
          </p:cNvPr>
          <p:cNvCxnSpPr/>
          <p:nvPr/>
        </p:nvCxnSpPr>
        <p:spPr>
          <a:xfrm>
            <a:off x="648919" y="2466911"/>
            <a:ext cx="5639493" cy="0"/>
          </a:xfrm>
          <a:prstGeom prst="line">
            <a:avLst/>
          </a:prstGeom>
          <a:ln w="539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008C8AB-47E6-DA48-ADFB-D720EE764DBF}"/>
              </a:ext>
            </a:extLst>
          </p:cNvPr>
          <p:cNvSpPr txBox="1"/>
          <p:nvPr/>
        </p:nvSpPr>
        <p:spPr>
          <a:xfrm>
            <a:off x="449298" y="210842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534512-00B0-C847-A298-A9303F0411D4}"/>
              </a:ext>
            </a:extLst>
          </p:cNvPr>
          <p:cNvSpPr txBox="1"/>
          <p:nvPr/>
        </p:nvSpPr>
        <p:spPr>
          <a:xfrm>
            <a:off x="449298" y="242644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9A892B4-EBB2-8E4C-BA18-BBFFF3E1DCC0}"/>
              </a:ext>
            </a:extLst>
          </p:cNvPr>
          <p:cNvSpPr txBox="1"/>
          <p:nvPr/>
        </p:nvSpPr>
        <p:spPr>
          <a:xfrm>
            <a:off x="6281326" y="242329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60FA3D-AB45-A94F-81C1-C62489ADB802}"/>
              </a:ext>
            </a:extLst>
          </p:cNvPr>
          <p:cNvSpPr txBox="1"/>
          <p:nvPr/>
        </p:nvSpPr>
        <p:spPr>
          <a:xfrm>
            <a:off x="6282439" y="210890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7F41C1D0-AADE-6E40-BE68-CBFE696B23DB}"/>
              </a:ext>
            </a:extLst>
          </p:cNvPr>
          <p:cNvSpPr/>
          <p:nvPr/>
        </p:nvSpPr>
        <p:spPr>
          <a:xfrm>
            <a:off x="3545713" y="2193439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2D8C4CB4-6F49-3449-8FD0-7DF672DB4B0C}"/>
              </a:ext>
            </a:extLst>
          </p:cNvPr>
          <p:cNvSpPr/>
          <p:nvPr/>
        </p:nvSpPr>
        <p:spPr>
          <a:xfrm>
            <a:off x="1763307" y="2708689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52B4BC94-2AF5-EF40-A9BA-B536CBD615E5}"/>
              </a:ext>
            </a:extLst>
          </p:cNvPr>
          <p:cNvSpPr/>
          <p:nvPr/>
        </p:nvSpPr>
        <p:spPr>
          <a:xfrm>
            <a:off x="2173755" y="2695229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E9B4074D-5670-9841-A580-66293886350A}"/>
              </a:ext>
            </a:extLst>
          </p:cNvPr>
          <p:cNvSpPr/>
          <p:nvPr/>
        </p:nvSpPr>
        <p:spPr>
          <a:xfrm>
            <a:off x="2593120" y="2696797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4206E9E0-56A0-6F42-868C-C6EE9FCE3AF0}"/>
              </a:ext>
            </a:extLst>
          </p:cNvPr>
          <p:cNvSpPr/>
          <p:nvPr/>
        </p:nvSpPr>
        <p:spPr>
          <a:xfrm>
            <a:off x="2991308" y="2695229"/>
            <a:ext cx="329689" cy="308788"/>
          </a:xfrm>
          <a:custGeom>
            <a:avLst/>
            <a:gdLst>
              <a:gd name="connsiteX0" fmla="*/ 20930 w 329689"/>
              <a:gd name="connsiteY0" fmla="*/ 59407 h 308788"/>
              <a:gd name="connsiteX1" fmla="*/ 104057 w 329689"/>
              <a:gd name="connsiteY1" fmla="*/ 11905 h 308788"/>
              <a:gd name="connsiteX2" fmla="*/ 270312 w 329689"/>
              <a:gd name="connsiteY2" fmla="*/ 11905 h 308788"/>
              <a:gd name="connsiteX3" fmla="*/ 305938 w 329689"/>
              <a:gd name="connsiteY3" fmla="*/ 47531 h 308788"/>
              <a:gd name="connsiteX4" fmla="*/ 329689 w 329689"/>
              <a:gd name="connsiteY4" fmla="*/ 118783 h 308788"/>
              <a:gd name="connsiteX5" fmla="*/ 317813 w 329689"/>
              <a:gd name="connsiteY5" fmla="*/ 249412 h 308788"/>
              <a:gd name="connsiteX6" fmla="*/ 282187 w 329689"/>
              <a:gd name="connsiteY6" fmla="*/ 261287 h 308788"/>
              <a:gd name="connsiteX7" fmla="*/ 246561 w 329689"/>
              <a:gd name="connsiteY7" fmla="*/ 285038 h 308788"/>
              <a:gd name="connsiteX8" fmla="*/ 163434 w 329689"/>
              <a:gd name="connsiteY8" fmla="*/ 308788 h 308788"/>
              <a:gd name="connsiteX9" fmla="*/ 68432 w 329689"/>
              <a:gd name="connsiteY9" fmla="*/ 296913 h 308788"/>
              <a:gd name="connsiteX10" fmla="*/ 32806 w 329689"/>
              <a:gd name="connsiteY10" fmla="*/ 261287 h 308788"/>
              <a:gd name="connsiteX11" fmla="*/ 9055 w 329689"/>
              <a:gd name="connsiteY11" fmla="*/ 190035 h 308788"/>
              <a:gd name="connsiteX12" fmla="*/ 20930 w 329689"/>
              <a:gd name="connsiteY12" fmla="*/ 59407 h 30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689" h="308788">
                <a:moveTo>
                  <a:pt x="20930" y="59407"/>
                </a:moveTo>
                <a:cubicBezTo>
                  <a:pt x="36764" y="29719"/>
                  <a:pt x="74598" y="24180"/>
                  <a:pt x="104057" y="11905"/>
                </a:cubicBezTo>
                <a:cubicBezTo>
                  <a:pt x="159776" y="-11311"/>
                  <a:pt x="212291" y="5458"/>
                  <a:pt x="270312" y="11905"/>
                </a:cubicBezTo>
                <a:cubicBezTo>
                  <a:pt x="282187" y="23780"/>
                  <a:pt x="297782" y="32850"/>
                  <a:pt x="305938" y="47531"/>
                </a:cubicBezTo>
                <a:cubicBezTo>
                  <a:pt x="318096" y="69416"/>
                  <a:pt x="329689" y="118783"/>
                  <a:pt x="329689" y="118783"/>
                </a:cubicBezTo>
                <a:cubicBezTo>
                  <a:pt x="325730" y="162326"/>
                  <a:pt x="331639" y="207933"/>
                  <a:pt x="317813" y="249412"/>
                </a:cubicBezTo>
                <a:cubicBezTo>
                  <a:pt x="313855" y="261287"/>
                  <a:pt x="293383" y="255689"/>
                  <a:pt x="282187" y="261287"/>
                </a:cubicBezTo>
                <a:cubicBezTo>
                  <a:pt x="269421" y="267670"/>
                  <a:pt x="259327" y="278655"/>
                  <a:pt x="246561" y="285038"/>
                </a:cubicBezTo>
                <a:cubicBezTo>
                  <a:pt x="229526" y="293556"/>
                  <a:pt x="178652" y="304984"/>
                  <a:pt x="163434" y="308788"/>
                </a:cubicBezTo>
                <a:cubicBezTo>
                  <a:pt x="131767" y="304830"/>
                  <a:pt x="98424" y="307819"/>
                  <a:pt x="68432" y="296913"/>
                </a:cubicBezTo>
                <a:cubicBezTo>
                  <a:pt x="52649" y="291174"/>
                  <a:pt x="40962" y="275968"/>
                  <a:pt x="32806" y="261287"/>
                </a:cubicBezTo>
                <a:cubicBezTo>
                  <a:pt x="20648" y="239402"/>
                  <a:pt x="16972" y="213786"/>
                  <a:pt x="9055" y="190035"/>
                </a:cubicBezTo>
                <a:cubicBezTo>
                  <a:pt x="-10330" y="131879"/>
                  <a:pt x="5096" y="89095"/>
                  <a:pt x="20930" y="59407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F</a:t>
            </a:r>
            <a:endParaRPr kumimoji="1" lang="zh-CN" altLang="en-US" sz="2000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684E568-1640-3B49-AD32-B6180E4C4AE2}"/>
              </a:ext>
            </a:extLst>
          </p:cNvPr>
          <p:cNvGrpSpPr/>
          <p:nvPr/>
        </p:nvGrpSpPr>
        <p:grpSpPr>
          <a:xfrm>
            <a:off x="3365579" y="1801389"/>
            <a:ext cx="2518671" cy="793133"/>
            <a:chOff x="8308639" y="3431406"/>
            <a:chExt cx="2518671" cy="793133"/>
          </a:xfrm>
        </p:grpSpPr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583F66F3-0C99-AE45-B328-8607E20F6109}"/>
                </a:ext>
              </a:extLst>
            </p:cNvPr>
            <p:cNvSpPr/>
            <p:nvPr/>
          </p:nvSpPr>
          <p:spPr>
            <a:xfrm>
              <a:off x="8308639" y="3476394"/>
              <a:ext cx="739781" cy="748145"/>
            </a:xfrm>
            <a:custGeom>
              <a:avLst/>
              <a:gdLst>
                <a:gd name="connsiteX0" fmla="*/ 86639 w 739781"/>
                <a:gd name="connsiteY0" fmla="*/ 273132 h 748145"/>
                <a:gd name="connsiteX1" fmla="*/ 169766 w 739781"/>
                <a:gd name="connsiteY1" fmla="*/ 225631 h 748145"/>
                <a:gd name="connsiteX2" fmla="*/ 205392 w 739781"/>
                <a:gd name="connsiteY2" fmla="*/ 190005 h 748145"/>
                <a:gd name="connsiteX3" fmla="*/ 241018 w 739781"/>
                <a:gd name="connsiteY3" fmla="*/ 166254 h 748145"/>
                <a:gd name="connsiteX4" fmla="*/ 264768 w 739781"/>
                <a:gd name="connsiteY4" fmla="*/ 130628 h 748145"/>
                <a:gd name="connsiteX5" fmla="*/ 300394 w 739781"/>
                <a:gd name="connsiteY5" fmla="*/ 106878 h 748145"/>
                <a:gd name="connsiteX6" fmla="*/ 383522 w 739781"/>
                <a:gd name="connsiteY6" fmla="*/ 11875 h 748145"/>
                <a:gd name="connsiteX7" fmla="*/ 419148 w 739781"/>
                <a:gd name="connsiteY7" fmla="*/ 0 h 748145"/>
                <a:gd name="connsiteX8" fmla="*/ 549776 w 739781"/>
                <a:gd name="connsiteY8" fmla="*/ 23750 h 748145"/>
                <a:gd name="connsiteX9" fmla="*/ 621028 w 739781"/>
                <a:gd name="connsiteY9" fmla="*/ 71252 h 748145"/>
                <a:gd name="connsiteX10" fmla="*/ 692280 w 739781"/>
                <a:gd name="connsiteY10" fmla="*/ 142504 h 748145"/>
                <a:gd name="connsiteX11" fmla="*/ 739781 w 739781"/>
                <a:gd name="connsiteY11" fmla="*/ 213756 h 748145"/>
                <a:gd name="connsiteX12" fmla="*/ 727906 w 739781"/>
                <a:gd name="connsiteY12" fmla="*/ 427512 h 748145"/>
                <a:gd name="connsiteX13" fmla="*/ 609153 w 739781"/>
                <a:gd name="connsiteY13" fmla="*/ 546265 h 748145"/>
                <a:gd name="connsiteX14" fmla="*/ 573527 w 739781"/>
                <a:gd name="connsiteY14" fmla="*/ 570015 h 748145"/>
                <a:gd name="connsiteX15" fmla="*/ 537901 w 739781"/>
                <a:gd name="connsiteY15" fmla="*/ 593766 h 748145"/>
                <a:gd name="connsiteX16" fmla="*/ 466649 w 739781"/>
                <a:gd name="connsiteY16" fmla="*/ 641267 h 748145"/>
                <a:gd name="connsiteX17" fmla="*/ 395397 w 739781"/>
                <a:gd name="connsiteY17" fmla="*/ 688769 h 748145"/>
                <a:gd name="connsiteX18" fmla="*/ 359771 w 739781"/>
                <a:gd name="connsiteY18" fmla="*/ 712519 h 748145"/>
                <a:gd name="connsiteX19" fmla="*/ 288519 w 739781"/>
                <a:gd name="connsiteY19" fmla="*/ 736270 h 748145"/>
                <a:gd name="connsiteX20" fmla="*/ 252893 w 739781"/>
                <a:gd name="connsiteY20" fmla="*/ 748145 h 748145"/>
                <a:gd name="connsiteX21" fmla="*/ 217267 w 739781"/>
                <a:gd name="connsiteY21" fmla="*/ 736270 h 748145"/>
                <a:gd name="connsiteX22" fmla="*/ 146015 w 739781"/>
                <a:gd name="connsiteY22" fmla="*/ 676893 h 748145"/>
                <a:gd name="connsiteX23" fmla="*/ 98514 w 739781"/>
                <a:gd name="connsiteY23" fmla="*/ 605641 h 748145"/>
                <a:gd name="connsiteX24" fmla="*/ 27262 w 739781"/>
                <a:gd name="connsiteY24" fmla="*/ 558140 h 748145"/>
                <a:gd name="connsiteX25" fmla="*/ 3511 w 739781"/>
                <a:gd name="connsiteY25" fmla="*/ 522514 h 748145"/>
                <a:gd name="connsiteX26" fmla="*/ 39137 w 739781"/>
                <a:gd name="connsiteY26" fmla="*/ 391886 h 748145"/>
                <a:gd name="connsiteX27" fmla="*/ 62888 w 739781"/>
                <a:gd name="connsiteY27" fmla="*/ 320634 h 748145"/>
                <a:gd name="connsiteX28" fmla="*/ 86639 w 739781"/>
                <a:gd name="connsiteY28" fmla="*/ 273132 h 748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39781" h="748145">
                  <a:moveTo>
                    <a:pt x="86639" y="273132"/>
                  </a:moveTo>
                  <a:cubicBezTo>
                    <a:pt x="114348" y="257298"/>
                    <a:pt x="143621" y="243932"/>
                    <a:pt x="169766" y="225631"/>
                  </a:cubicBezTo>
                  <a:cubicBezTo>
                    <a:pt x="183524" y="216000"/>
                    <a:pt x="192490" y="200756"/>
                    <a:pt x="205392" y="190005"/>
                  </a:cubicBezTo>
                  <a:cubicBezTo>
                    <a:pt x="216356" y="180868"/>
                    <a:pt x="229143" y="174171"/>
                    <a:pt x="241018" y="166254"/>
                  </a:cubicBezTo>
                  <a:cubicBezTo>
                    <a:pt x="248935" y="154379"/>
                    <a:pt x="254676" y="140720"/>
                    <a:pt x="264768" y="130628"/>
                  </a:cubicBezTo>
                  <a:cubicBezTo>
                    <a:pt x="274860" y="120536"/>
                    <a:pt x="290996" y="117619"/>
                    <a:pt x="300394" y="106878"/>
                  </a:cubicBezTo>
                  <a:cubicBezTo>
                    <a:pt x="355811" y="43545"/>
                    <a:pt x="324146" y="41563"/>
                    <a:pt x="383522" y="11875"/>
                  </a:cubicBezTo>
                  <a:cubicBezTo>
                    <a:pt x="394718" y="6277"/>
                    <a:pt x="407273" y="3958"/>
                    <a:pt x="419148" y="0"/>
                  </a:cubicBezTo>
                  <a:cubicBezTo>
                    <a:pt x="423174" y="503"/>
                    <a:pt x="524430" y="6853"/>
                    <a:pt x="549776" y="23750"/>
                  </a:cubicBezTo>
                  <a:cubicBezTo>
                    <a:pt x="638735" y="83055"/>
                    <a:pt x="536315" y="43013"/>
                    <a:pt x="621028" y="71252"/>
                  </a:cubicBezTo>
                  <a:cubicBezTo>
                    <a:pt x="644779" y="95003"/>
                    <a:pt x="673649" y="114557"/>
                    <a:pt x="692280" y="142504"/>
                  </a:cubicBezTo>
                  <a:lnTo>
                    <a:pt x="739781" y="213756"/>
                  </a:lnTo>
                  <a:cubicBezTo>
                    <a:pt x="735823" y="285008"/>
                    <a:pt x="742460" y="357650"/>
                    <a:pt x="727906" y="427512"/>
                  </a:cubicBezTo>
                  <a:cubicBezTo>
                    <a:pt x="715137" y="488802"/>
                    <a:pt x="653588" y="516642"/>
                    <a:pt x="609153" y="546265"/>
                  </a:cubicBezTo>
                  <a:lnTo>
                    <a:pt x="573527" y="570015"/>
                  </a:lnTo>
                  <a:cubicBezTo>
                    <a:pt x="561652" y="577932"/>
                    <a:pt x="547993" y="583674"/>
                    <a:pt x="537901" y="593766"/>
                  </a:cubicBezTo>
                  <a:cubicBezTo>
                    <a:pt x="493424" y="638243"/>
                    <a:pt x="518207" y="624081"/>
                    <a:pt x="466649" y="641267"/>
                  </a:cubicBezTo>
                  <a:lnTo>
                    <a:pt x="395397" y="688769"/>
                  </a:lnTo>
                  <a:cubicBezTo>
                    <a:pt x="383522" y="696686"/>
                    <a:pt x="373311" y="708006"/>
                    <a:pt x="359771" y="712519"/>
                  </a:cubicBezTo>
                  <a:lnTo>
                    <a:pt x="288519" y="736270"/>
                  </a:lnTo>
                  <a:lnTo>
                    <a:pt x="252893" y="748145"/>
                  </a:lnTo>
                  <a:cubicBezTo>
                    <a:pt x="241018" y="744187"/>
                    <a:pt x="228463" y="741868"/>
                    <a:pt x="217267" y="736270"/>
                  </a:cubicBezTo>
                  <a:cubicBezTo>
                    <a:pt x="192318" y="723795"/>
                    <a:pt x="162727" y="698380"/>
                    <a:pt x="146015" y="676893"/>
                  </a:cubicBezTo>
                  <a:cubicBezTo>
                    <a:pt x="128490" y="654361"/>
                    <a:pt x="122265" y="621475"/>
                    <a:pt x="98514" y="605641"/>
                  </a:cubicBezTo>
                  <a:lnTo>
                    <a:pt x="27262" y="558140"/>
                  </a:lnTo>
                  <a:cubicBezTo>
                    <a:pt x="19345" y="546265"/>
                    <a:pt x="4803" y="536728"/>
                    <a:pt x="3511" y="522514"/>
                  </a:cubicBezTo>
                  <a:cubicBezTo>
                    <a:pt x="-7657" y="399667"/>
                    <a:pt x="8782" y="460185"/>
                    <a:pt x="39137" y="391886"/>
                  </a:cubicBezTo>
                  <a:cubicBezTo>
                    <a:pt x="49305" y="369008"/>
                    <a:pt x="54971" y="344385"/>
                    <a:pt x="62888" y="320634"/>
                  </a:cubicBezTo>
                  <a:lnTo>
                    <a:pt x="86639" y="273132"/>
                  </a:lnTo>
                  <a:close/>
                </a:path>
              </a:pathLst>
            </a:custGeom>
            <a:solidFill>
              <a:schemeClr val="accent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 err="1"/>
                <a:t>FokI</a:t>
              </a:r>
              <a:endParaRPr kumimoji="1" lang="zh-CN" altLang="en-US" dirty="0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4BF48A6B-8EE7-B845-A2BB-9F301BBC37FC}"/>
                </a:ext>
              </a:extLst>
            </p:cNvPr>
            <p:cNvSpPr/>
            <p:nvPr/>
          </p:nvSpPr>
          <p:spPr>
            <a:xfrm>
              <a:off x="9269620" y="3507686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5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2F64A46A-9BBE-904B-B5B6-CD0BCDAE70C9}"/>
                </a:ext>
              </a:extLst>
            </p:cNvPr>
            <p:cNvSpPr/>
            <p:nvPr/>
          </p:nvSpPr>
          <p:spPr>
            <a:xfrm>
              <a:off x="9680068" y="3494226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DE1769B-2145-6945-A1D0-5E286D0464A0}"/>
                </a:ext>
              </a:extLst>
            </p:cNvPr>
            <p:cNvSpPr/>
            <p:nvPr/>
          </p:nvSpPr>
          <p:spPr>
            <a:xfrm>
              <a:off x="10099433" y="3495794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121AF418-34AA-F34D-B0FA-5FD6EB81783D}"/>
                </a:ext>
              </a:extLst>
            </p:cNvPr>
            <p:cNvSpPr/>
            <p:nvPr/>
          </p:nvSpPr>
          <p:spPr>
            <a:xfrm>
              <a:off x="10497621" y="3494226"/>
              <a:ext cx="329689" cy="308788"/>
            </a:xfrm>
            <a:custGeom>
              <a:avLst/>
              <a:gdLst>
                <a:gd name="connsiteX0" fmla="*/ 20930 w 329689"/>
                <a:gd name="connsiteY0" fmla="*/ 59407 h 308788"/>
                <a:gd name="connsiteX1" fmla="*/ 104057 w 329689"/>
                <a:gd name="connsiteY1" fmla="*/ 11905 h 308788"/>
                <a:gd name="connsiteX2" fmla="*/ 270312 w 329689"/>
                <a:gd name="connsiteY2" fmla="*/ 11905 h 308788"/>
                <a:gd name="connsiteX3" fmla="*/ 305938 w 329689"/>
                <a:gd name="connsiteY3" fmla="*/ 47531 h 308788"/>
                <a:gd name="connsiteX4" fmla="*/ 329689 w 329689"/>
                <a:gd name="connsiteY4" fmla="*/ 118783 h 308788"/>
                <a:gd name="connsiteX5" fmla="*/ 317813 w 329689"/>
                <a:gd name="connsiteY5" fmla="*/ 249412 h 308788"/>
                <a:gd name="connsiteX6" fmla="*/ 282187 w 329689"/>
                <a:gd name="connsiteY6" fmla="*/ 261287 h 308788"/>
                <a:gd name="connsiteX7" fmla="*/ 246561 w 329689"/>
                <a:gd name="connsiteY7" fmla="*/ 285038 h 308788"/>
                <a:gd name="connsiteX8" fmla="*/ 163434 w 329689"/>
                <a:gd name="connsiteY8" fmla="*/ 308788 h 308788"/>
                <a:gd name="connsiteX9" fmla="*/ 68432 w 329689"/>
                <a:gd name="connsiteY9" fmla="*/ 296913 h 308788"/>
                <a:gd name="connsiteX10" fmla="*/ 32806 w 329689"/>
                <a:gd name="connsiteY10" fmla="*/ 261287 h 308788"/>
                <a:gd name="connsiteX11" fmla="*/ 9055 w 329689"/>
                <a:gd name="connsiteY11" fmla="*/ 190035 h 308788"/>
                <a:gd name="connsiteX12" fmla="*/ 20930 w 329689"/>
                <a:gd name="connsiteY12" fmla="*/ 59407 h 308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9689" h="308788">
                  <a:moveTo>
                    <a:pt x="20930" y="59407"/>
                  </a:moveTo>
                  <a:cubicBezTo>
                    <a:pt x="36764" y="29719"/>
                    <a:pt x="74598" y="24180"/>
                    <a:pt x="104057" y="11905"/>
                  </a:cubicBezTo>
                  <a:cubicBezTo>
                    <a:pt x="159776" y="-11311"/>
                    <a:pt x="212291" y="5458"/>
                    <a:pt x="270312" y="11905"/>
                  </a:cubicBezTo>
                  <a:cubicBezTo>
                    <a:pt x="282187" y="23780"/>
                    <a:pt x="297782" y="32850"/>
                    <a:pt x="305938" y="47531"/>
                  </a:cubicBezTo>
                  <a:cubicBezTo>
                    <a:pt x="318096" y="69416"/>
                    <a:pt x="329689" y="118783"/>
                    <a:pt x="329689" y="118783"/>
                  </a:cubicBezTo>
                  <a:cubicBezTo>
                    <a:pt x="325730" y="162326"/>
                    <a:pt x="331639" y="207933"/>
                    <a:pt x="317813" y="249412"/>
                  </a:cubicBezTo>
                  <a:cubicBezTo>
                    <a:pt x="313855" y="261287"/>
                    <a:pt x="293383" y="255689"/>
                    <a:pt x="282187" y="261287"/>
                  </a:cubicBezTo>
                  <a:cubicBezTo>
                    <a:pt x="269421" y="267670"/>
                    <a:pt x="259327" y="278655"/>
                    <a:pt x="246561" y="285038"/>
                  </a:cubicBezTo>
                  <a:cubicBezTo>
                    <a:pt x="229526" y="293556"/>
                    <a:pt x="178652" y="304984"/>
                    <a:pt x="163434" y="308788"/>
                  </a:cubicBezTo>
                  <a:cubicBezTo>
                    <a:pt x="131767" y="304830"/>
                    <a:pt x="98424" y="307819"/>
                    <a:pt x="68432" y="296913"/>
                  </a:cubicBezTo>
                  <a:cubicBezTo>
                    <a:pt x="52649" y="291174"/>
                    <a:pt x="40962" y="275968"/>
                    <a:pt x="32806" y="261287"/>
                  </a:cubicBezTo>
                  <a:cubicBezTo>
                    <a:pt x="20648" y="239402"/>
                    <a:pt x="16972" y="213786"/>
                    <a:pt x="9055" y="190035"/>
                  </a:cubicBezTo>
                  <a:cubicBezTo>
                    <a:pt x="-10330" y="131879"/>
                    <a:pt x="5096" y="89095"/>
                    <a:pt x="20930" y="59407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dirty="0"/>
                <a:t>F</a:t>
              </a:r>
              <a:endParaRPr kumimoji="1" lang="zh-CN" altLang="en-US" sz="2000" dirty="0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02E3E71C-C431-644D-9B27-AB22FEA9CCF6}"/>
                </a:ext>
              </a:extLst>
            </p:cNvPr>
            <p:cNvSpPr/>
            <p:nvPr/>
          </p:nvSpPr>
          <p:spPr>
            <a:xfrm>
              <a:off x="8975304" y="3476393"/>
              <a:ext cx="329689" cy="109673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1C9FB3AF-0C94-4341-8A21-E075EF04B735}"/>
                </a:ext>
              </a:extLst>
            </p:cNvPr>
            <p:cNvSpPr/>
            <p:nvPr/>
          </p:nvSpPr>
          <p:spPr>
            <a:xfrm rot="10800000">
              <a:off x="9442379" y="3792096"/>
              <a:ext cx="336654" cy="45719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5DECD7E9-C82C-8541-95F4-3D6C5DFE2CE9}"/>
                </a:ext>
              </a:extLst>
            </p:cNvPr>
            <p:cNvSpPr/>
            <p:nvPr/>
          </p:nvSpPr>
          <p:spPr>
            <a:xfrm rot="432198">
              <a:off x="9871220" y="3431406"/>
              <a:ext cx="387928" cy="83941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8D4DE462-38DD-4040-95DC-5E9B262135C7}"/>
                </a:ext>
              </a:extLst>
            </p:cNvPr>
            <p:cNvSpPr/>
            <p:nvPr/>
          </p:nvSpPr>
          <p:spPr>
            <a:xfrm rot="10800000">
              <a:off x="10285727" y="3791884"/>
              <a:ext cx="336654" cy="45719"/>
            </a:xfrm>
            <a:custGeom>
              <a:avLst/>
              <a:gdLst>
                <a:gd name="connsiteX0" fmla="*/ 0 w 387928"/>
                <a:gd name="connsiteY0" fmla="*/ 83941 h 83941"/>
                <a:gd name="connsiteX1" fmla="*/ 166255 w 387928"/>
                <a:gd name="connsiteY1" fmla="*/ 814 h 83941"/>
                <a:gd name="connsiteX2" fmla="*/ 387928 w 387928"/>
                <a:gd name="connsiteY2" fmla="*/ 42377 h 8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7928" h="83941">
                  <a:moveTo>
                    <a:pt x="0" y="83941"/>
                  </a:moveTo>
                  <a:cubicBezTo>
                    <a:pt x="50800" y="45841"/>
                    <a:pt x="101600" y="7741"/>
                    <a:pt x="166255" y="814"/>
                  </a:cubicBezTo>
                  <a:cubicBezTo>
                    <a:pt x="230910" y="-6113"/>
                    <a:pt x="378692" y="33141"/>
                    <a:pt x="387928" y="42377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71" name="Freeform 70">
            <a:extLst>
              <a:ext uri="{FF2B5EF4-FFF2-40B4-BE49-F238E27FC236}">
                <a16:creationId xmlns:a16="http://schemas.microsoft.com/office/drawing/2014/main" id="{6D827F1C-6574-8140-9F29-50C11CA97406}"/>
              </a:ext>
            </a:extLst>
          </p:cNvPr>
          <p:cNvSpPr/>
          <p:nvPr/>
        </p:nvSpPr>
        <p:spPr>
          <a:xfrm rot="20361174" flipV="1">
            <a:off x="3307141" y="2891710"/>
            <a:ext cx="389769" cy="4571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Freeform 71">
            <a:extLst>
              <a:ext uri="{FF2B5EF4-FFF2-40B4-BE49-F238E27FC236}">
                <a16:creationId xmlns:a16="http://schemas.microsoft.com/office/drawing/2014/main" id="{247E7DB8-20E9-314E-A63E-C821FCC128D2}"/>
              </a:ext>
            </a:extLst>
          </p:cNvPr>
          <p:cNvSpPr/>
          <p:nvPr/>
        </p:nvSpPr>
        <p:spPr>
          <a:xfrm rot="20361174" flipV="1">
            <a:off x="2835503" y="2953404"/>
            <a:ext cx="182513" cy="4571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Freeform 72">
            <a:extLst>
              <a:ext uri="{FF2B5EF4-FFF2-40B4-BE49-F238E27FC236}">
                <a16:creationId xmlns:a16="http://schemas.microsoft.com/office/drawing/2014/main" id="{2D205603-16A4-AC41-B72E-AF166A0A868C}"/>
              </a:ext>
            </a:extLst>
          </p:cNvPr>
          <p:cNvSpPr/>
          <p:nvPr/>
        </p:nvSpPr>
        <p:spPr>
          <a:xfrm rot="9967244" flipV="1">
            <a:off x="2450185" y="2667917"/>
            <a:ext cx="189718" cy="75674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Freeform 73">
            <a:extLst>
              <a:ext uri="{FF2B5EF4-FFF2-40B4-BE49-F238E27FC236}">
                <a16:creationId xmlns:a16="http://schemas.microsoft.com/office/drawing/2014/main" id="{8F70C25D-1077-CA44-811B-B77B3C6DE551}"/>
              </a:ext>
            </a:extLst>
          </p:cNvPr>
          <p:cNvSpPr/>
          <p:nvPr/>
        </p:nvSpPr>
        <p:spPr>
          <a:xfrm rot="20361174" flipV="1">
            <a:off x="2023046" y="2953404"/>
            <a:ext cx="182513" cy="4571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Lightning Bolt 74">
            <a:extLst>
              <a:ext uri="{FF2B5EF4-FFF2-40B4-BE49-F238E27FC236}">
                <a16:creationId xmlns:a16="http://schemas.microsoft.com/office/drawing/2014/main" id="{0AE70164-A7E3-7842-968A-212B2EA4C4AC}"/>
              </a:ext>
            </a:extLst>
          </p:cNvPr>
          <p:cNvSpPr/>
          <p:nvPr/>
        </p:nvSpPr>
        <p:spPr>
          <a:xfrm flipH="1">
            <a:off x="3838903" y="1610991"/>
            <a:ext cx="445533" cy="810767"/>
          </a:xfrm>
          <a:prstGeom prst="lightningBol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3F2C7BB-E90A-3644-9D5E-32FC319897C3}"/>
              </a:ext>
            </a:extLst>
          </p:cNvPr>
          <p:cNvCxnSpPr>
            <a:cxnSpLocks/>
          </p:cNvCxnSpPr>
          <p:nvPr/>
        </p:nvCxnSpPr>
        <p:spPr>
          <a:xfrm>
            <a:off x="872040" y="4219398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13752CF-F5EB-6B42-B4A4-DECB01F4F881}"/>
              </a:ext>
            </a:extLst>
          </p:cNvPr>
          <p:cNvCxnSpPr/>
          <p:nvPr/>
        </p:nvCxnSpPr>
        <p:spPr>
          <a:xfrm>
            <a:off x="872040" y="4535354"/>
            <a:ext cx="5457825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CEC992AC-8BD2-8449-BD9A-66A5AA2C64E2}"/>
              </a:ext>
            </a:extLst>
          </p:cNvPr>
          <p:cNvCxnSpPr>
            <a:cxnSpLocks/>
          </p:cNvCxnSpPr>
          <p:nvPr/>
        </p:nvCxnSpPr>
        <p:spPr>
          <a:xfrm>
            <a:off x="1058627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4274E06-4D29-6942-A6BD-780A1F48886B}"/>
              </a:ext>
            </a:extLst>
          </p:cNvPr>
          <p:cNvCxnSpPr>
            <a:cxnSpLocks/>
          </p:cNvCxnSpPr>
          <p:nvPr/>
        </p:nvCxnSpPr>
        <p:spPr>
          <a:xfrm>
            <a:off x="1203407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AD78413-6C29-C14D-B8BA-4C179F9DA174}"/>
              </a:ext>
            </a:extLst>
          </p:cNvPr>
          <p:cNvCxnSpPr>
            <a:cxnSpLocks/>
          </p:cNvCxnSpPr>
          <p:nvPr/>
        </p:nvCxnSpPr>
        <p:spPr>
          <a:xfrm>
            <a:off x="1340567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8B0D709-C49F-8745-9FB8-6E2DD250EEF2}"/>
              </a:ext>
            </a:extLst>
          </p:cNvPr>
          <p:cNvCxnSpPr>
            <a:cxnSpLocks/>
          </p:cNvCxnSpPr>
          <p:nvPr/>
        </p:nvCxnSpPr>
        <p:spPr>
          <a:xfrm>
            <a:off x="1470107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38AF168-B20C-9E48-A2C5-C3FD30A2A641}"/>
              </a:ext>
            </a:extLst>
          </p:cNvPr>
          <p:cNvCxnSpPr>
            <a:cxnSpLocks/>
          </p:cNvCxnSpPr>
          <p:nvPr/>
        </p:nvCxnSpPr>
        <p:spPr>
          <a:xfrm>
            <a:off x="1599647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2CF82A4-4CE2-EC4C-9F4B-903174412CE6}"/>
              </a:ext>
            </a:extLst>
          </p:cNvPr>
          <p:cNvCxnSpPr>
            <a:cxnSpLocks/>
          </p:cNvCxnSpPr>
          <p:nvPr/>
        </p:nvCxnSpPr>
        <p:spPr>
          <a:xfrm>
            <a:off x="1737500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0C01C71-9437-2847-A865-94D467E15BB0}"/>
              </a:ext>
            </a:extLst>
          </p:cNvPr>
          <p:cNvCxnSpPr>
            <a:cxnSpLocks/>
          </p:cNvCxnSpPr>
          <p:nvPr/>
        </p:nvCxnSpPr>
        <p:spPr>
          <a:xfrm>
            <a:off x="1882280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7B87907C-4FAD-3544-A119-6E0226A2A553}"/>
              </a:ext>
            </a:extLst>
          </p:cNvPr>
          <p:cNvCxnSpPr>
            <a:cxnSpLocks/>
          </p:cNvCxnSpPr>
          <p:nvPr/>
        </p:nvCxnSpPr>
        <p:spPr>
          <a:xfrm>
            <a:off x="2019440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F9D9B48-BB0E-F545-9F64-32F5A4E9DCC7}"/>
              </a:ext>
            </a:extLst>
          </p:cNvPr>
          <p:cNvCxnSpPr>
            <a:cxnSpLocks/>
          </p:cNvCxnSpPr>
          <p:nvPr/>
        </p:nvCxnSpPr>
        <p:spPr>
          <a:xfrm>
            <a:off x="2148980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8B2CEEF2-D8A7-7542-8AD3-9C192BE5ED2C}"/>
              </a:ext>
            </a:extLst>
          </p:cNvPr>
          <p:cNvCxnSpPr>
            <a:cxnSpLocks/>
          </p:cNvCxnSpPr>
          <p:nvPr/>
        </p:nvCxnSpPr>
        <p:spPr>
          <a:xfrm>
            <a:off x="2278520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B261E8D0-2688-2D4B-94AE-B75D3CE535BF}"/>
              </a:ext>
            </a:extLst>
          </p:cNvPr>
          <p:cNvCxnSpPr>
            <a:cxnSpLocks/>
          </p:cNvCxnSpPr>
          <p:nvPr/>
        </p:nvCxnSpPr>
        <p:spPr>
          <a:xfrm>
            <a:off x="2416373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7633437-7E1B-624C-9820-69F0B429AA76}"/>
              </a:ext>
            </a:extLst>
          </p:cNvPr>
          <p:cNvCxnSpPr>
            <a:cxnSpLocks/>
          </p:cNvCxnSpPr>
          <p:nvPr/>
        </p:nvCxnSpPr>
        <p:spPr>
          <a:xfrm>
            <a:off x="2561153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8F4627C-AFF1-0045-BD6B-68621A9681FC}"/>
              </a:ext>
            </a:extLst>
          </p:cNvPr>
          <p:cNvCxnSpPr>
            <a:cxnSpLocks/>
          </p:cNvCxnSpPr>
          <p:nvPr/>
        </p:nvCxnSpPr>
        <p:spPr>
          <a:xfrm>
            <a:off x="2698313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F7EC3D3-10B2-A941-88BE-08E58AA9545B}"/>
              </a:ext>
            </a:extLst>
          </p:cNvPr>
          <p:cNvCxnSpPr>
            <a:cxnSpLocks/>
          </p:cNvCxnSpPr>
          <p:nvPr/>
        </p:nvCxnSpPr>
        <p:spPr>
          <a:xfrm>
            <a:off x="2827853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44BAC2A-FBA9-C544-939B-32E8B63DC0DC}"/>
              </a:ext>
            </a:extLst>
          </p:cNvPr>
          <p:cNvCxnSpPr>
            <a:cxnSpLocks/>
          </p:cNvCxnSpPr>
          <p:nvPr/>
        </p:nvCxnSpPr>
        <p:spPr>
          <a:xfrm>
            <a:off x="2957393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2436750-88FC-CD49-ADCE-B4D8F09369E4}"/>
              </a:ext>
            </a:extLst>
          </p:cNvPr>
          <p:cNvCxnSpPr>
            <a:cxnSpLocks/>
          </p:cNvCxnSpPr>
          <p:nvPr/>
        </p:nvCxnSpPr>
        <p:spPr>
          <a:xfrm>
            <a:off x="3095245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851B5EB7-EB35-634F-AAA4-41FCA9A9944F}"/>
              </a:ext>
            </a:extLst>
          </p:cNvPr>
          <p:cNvCxnSpPr>
            <a:cxnSpLocks/>
          </p:cNvCxnSpPr>
          <p:nvPr/>
        </p:nvCxnSpPr>
        <p:spPr>
          <a:xfrm>
            <a:off x="3240025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50489DA-240F-9C40-A495-CFF31803EAF0}"/>
              </a:ext>
            </a:extLst>
          </p:cNvPr>
          <p:cNvCxnSpPr>
            <a:cxnSpLocks/>
          </p:cNvCxnSpPr>
          <p:nvPr/>
        </p:nvCxnSpPr>
        <p:spPr>
          <a:xfrm>
            <a:off x="3377185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9B716DE-D47B-7F4F-B28A-3E86507B006F}"/>
              </a:ext>
            </a:extLst>
          </p:cNvPr>
          <p:cNvCxnSpPr>
            <a:cxnSpLocks/>
          </p:cNvCxnSpPr>
          <p:nvPr/>
        </p:nvCxnSpPr>
        <p:spPr>
          <a:xfrm>
            <a:off x="3506725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7371EAE-0802-F441-86BE-6A7CC5FF8503}"/>
              </a:ext>
            </a:extLst>
          </p:cNvPr>
          <p:cNvCxnSpPr>
            <a:cxnSpLocks/>
          </p:cNvCxnSpPr>
          <p:nvPr/>
        </p:nvCxnSpPr>
        <p:spPr>
          <a:xfrm>
            <a:off x="3636265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17BA93A-196A-6642-9597-401F8262D4B9}"/>
              </a:ext>
            </a:extLst>
          </p:cNvPr>
          <p:cNvCxnSpPr>
            <a:cxnSpLocks/>
          </p:cNvCxnSpPr>
          <p:nvPr/>
        </p:nvCxnSpPr>
        <p:spPr>
          <a:xfrm>
            <a:off x="3774118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435F98C4-A36A-E445-89B8-F2DAEEACE20A}"/>
              </a:ext>
            </a:extLst>
          </p:cNvPr>
          <p:cNvCxnSpPr>
            <a:cxnSpLocks/>
          </p:cNvCxnSpPr>
          <p:nvPr/>
        </p:nvCxnSpPr>
        <p:spPr>
          <a:xfrm>
            <a:off x="3918898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419C1A8-9537-CF49-AB6A-5F8308C8075C}"/>
              </a:ext>
            </a:extLst>
          </p:cNvPr>
          <p:cNvCxnSpPr>
            <a:cxnSpLocks/>
          </p:cNvCxnSpPr>
          <p:nvPr/>
        </p:nvCxnSpPr>
        <p:spPr>
          <a:xfrm>
            <a:off x="4056058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DEC512E-333A-1B4C-A32D-C024A132BB75}"/>
              </a:ext>
            </a:extLst>
          </p:cNvPr>
          <p:cNvCxnSpPr>
            <a:cxnSpLocks/>
          </p:cNvCxnSpPr>
          <p:nvPr/>
        </p:nvCxnSpPr>
        <p:spPr>
          <a:xfrm>
            <a:off x="4185598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C2B51657-3ADF-3C41-88CF-DCEE58A431DB}"/>
              </a:ext>
            </a:extLst>
          </p:cNvPr>
          <p:cNvCxnSpPr>
            <a:cxnSpLocks/>
          </p:cNvCxnSpPr>
          <p:nvPr/>
        </p:nvCxnSpPr>
        <p:spPr>
          <a:xfrm>
            <a:off x="4315138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CEF9D82E-5B5C-4E4E-A30D-D45FCD5900BC}"/>
              </a:ext>
            </a:extLst>
          </p:cNvPr>
          <p:cNvCxnSpPr>
            <a:cxnSpLocks/>
          </p:cNvCxnSpPr>
          <p:nvPr/>
        </p:nvCxnSpPr>
        <p:spPr>
          <a:xfrm>
            <a:off x="4445371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230F7D6B-D560-F84B-9F90-37D07E15E427}"/>
              </a:ext>
            </a:extLst>
          </p:cNvPr>
          <p:cNvCxnSpPr>
            <a:cxnSpLocks/>
          </p:cNvCxnSpPr>
          <p:nvPr/>
        </p:nvCxnSpPr>
        <p:spPr>
          <a:xfrm>
            <a:off x="4582531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B5F907BB-C602-184E-A877-CEF37A532F14}"/>
              </a:ext>
            </a:extLst>
          </p:cNvPr>
          <p:cNvCxnSpPr>
            <a:cxnSpLocks/>
          </p:cNvCxnSpPr>
          <p:nvPr/>
        </p:nvCxnSpPr>
        <p:spPr>
          <a:xfrm>
            <a:off x="4712071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06F9FD34-4DD1-4F45-A824-9FE3F47F9254}"/>
              </a:ext>
            </a:extLst>
          </p:cNvPr>
          <p:cNvCxnSpPr>
            <a:cxnSpLocks/>
          </p:cNvCxnSpPr>
          <p:nvPr/>
        </p:nvCxnSpPr>
        <p:spPr>
          <a:xfrm>
            <a:off x="4841611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BEDB9B27-9069-6F4B-A0B2-C507C5F5A728}"/>
              </a:ext>
            </a:extLst>
          </p:cNvPr>
          <p:cNvCxnSpPr>
            <a:cxnSpLocks/>
          </p:cNvCxnSpPr>
          <p:nvPr/>
        </p:nvCxnSpPr>
        <p:spPr>
          <a:xfrm>
            <a:off x="4979463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BCC1055-6D9B-8F4F-8E75-025095A39F63}"/>
              </a:ext>
            </a:extLst>
          </p:cNvPr>
          <p:cNvCxnSpPr>
            <a:cxnSpLocks/>
          </p:cNvCxnSpPr>
          <p:nvPr/>
        </p:nvCxnSpPr>
        <p:spPr>
          <a:xfrm>
            <a:off x="5124243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54B4C502-5030-B041-B456-1673935017A4}"/>
              </a:ext>
            </a:extLst>
          </p:cNvPr>
          <p:cNvCxnSpPr>
            <a:cxnSpLocks/>
          </p:cNvCxnSpPr>
          <p:nvPr/>
        </p:nvCxnSpPr>
        <p:spPr>
          <a:xfrm>
            <a:off x="5261403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8A01530-5855-534C-9235-988590ACF9B6}"/>
              </a:ext>
            </a:extLst>
          </p:cNvPr>
          <p:cNvCxnSpPr>
            <a:cxnSpLocks/>
          </p:cNvCxnSpPr>
          <p:nvPr/>
        </p:nvCxnSpPr>
        <p:spPr>
          <a:xfrm>
            <a:off x="5390943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A6AD419-01ED-764F-9BE7-1739F575CBD5}"/>
              </a:ext>
            </a:extLst>
          </p:cNvPr>
          <p:cNvCxnSpPr>
            <a:cxnSpLocks/>
          </p:cNvCxnSpPr>
          <p:nvPr/>
        </p:nvCxnSpPr>
        <p:spPr>
          <a:xfrm>
            <a:off x="5520483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33DA583-A56E-4A46-9AE1-A976FDFFE8B3}"/>
              </a:ext>
            </a:extLst>
          </p:cNvPr>
          <p:cNvCxnSpPr>
            <a:cxnSpLocks/>
          </p:cNvCxnSpPr>
          <p:nvPr/>
        </p:nvCxnSpPr>
        <p:spPr>
          <a:xfrm>
            <a:off x="5658336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C1FC8B7-22BC-8C4D-8A78-1A2AB11D7C5E}"/>
              </a:ext>
            </a:extLst>
          </p:cNvPr>
          <p:cNvCxnSpPr>
            <a:cxnSpLocks/>
          </p:cNvCxnSpPr>
          <p:nvPr/>
        </p:nvCxnSpPr>
        <p:spPr>
          <a:xfrm>
            <a:off x="5803116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6AC21564-3C9B-D140-9A17-C397DB98D5A6}"/>
              </a:ext>
            </a:extLst>
          </p:cNvPr>
          <p:cNvCxnSpPr>
            <a:cxnSpLocks/>
          </p:cNvCxnSpPr>
          <p:nvPr/>
        </p:nvCxnSpPr>
        <p:spPr>
          <a:xfrm>
            <a:off x="5940276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86087C3-0ED2-3B41-BE6D-A52B574B2A12}"/>
              </a:ext>
            </a:extLst>
          </p:cNvPr>
          <p:cNvCxnSpPr>
            <a:cxnSpLocks/>
          </p:cNvCxnSpPr>
          <p:nvPr/>
        </p:nvCxnSpPr>
        <p:spPr>
          <a:xfrm>
            <a:off x="6069816" y="4204877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B0ED76E5-6187-AD4D-9301-0B4CCE8A5F97}"/>
              </a:ext>
            </a:extLst>
          </p:cNvPr>
          <p:cNvCxnSpPr>
            <a:cxnSpLocks/>
          </p:cNvCxnSpPr>
          <p:nvPr/>
        </p:nvCxnSpPr>
        <p:spPr>
          <a:xfrm>
            <a:off x="6199356" y="4219398"/>
            <a:ext cx="0" cy="330477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A277CAA-7522-D743-AA1C-28299319F175}"/>
              </a:ext>
            </a:extLst>
          </p:cNvPr>
          <p:cNvCxnSpPr/>
          <p:nvPr/>
        </p:nvCxnSpPr>
        <p:spPr>
          <a:xfrm>
            <a:off x="712267" y="4393223"/>
            <a:ext cx="5639493" cy="0"/>
          </a:xfrm>
          <a:prstGeom prst="line">
            <a:avLst/>
          </a:prstGeom>
          <a:ln w="539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E94AF451-22D2-6248-83C2-403E5886334E}"/>
              </a:ext>
            </a:extLst>
          </p:cNvPr>
          <p:cNvSpPr txBox="1"/>
          <p:nvPr/>
        </p:nvSpPr>
        <p:spPr>
          <a:xfrm>
            <a:off x="512646" y="4034732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838463F-CC11-D94F-8937-73B18BCAAC71}"/>
              </a:ext>
            </a:extLst>
          </p:cNvPr>
          <p:cNvSpPr txBox="1"/>
          <p:nvPr/>
        </p:nvSpPr>
        <p:spPr>
          <a:xfrm>
            <a:off x="512646" y="435275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3AF208A-68A8-574D-BBA3-0F254CA4EB18}"/>
              </a:ext>
            </a:extLst>
          </p:cNvPr>
          <p:cNvSpPr txBox="1"/>
          <p:nvPr/>
        </p:nvSpPr>
        <p:spPr>
          <a:xfrm>
            <a:off x="6366710" y="435514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5’</a:t>
            </a:r>
            <a:endParaRPr kumimoji="1" lang="zh-CN" alt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5346304-CF9B-034E-9169-7F8A8F912EC8}"/>
              </a:ext>
            </a:extLst>
          </p:cNvPr>
          <p:cNvSpPr txBox="1"/>
          <p:nvPr/>
        </p:nvSpPr>
        <p:spPr>
          <a:xfrm>
            <a:off x="6366710" y="4034732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3’</a:t>
            </a:r>
            <a:endParaRPr kumimoji="1" lang="zh-CN" altLang="en-US" dirty="0"/>
          </a:p>
        </p:txBody>
      </p:sp>
      <p:sp>
        <p:nvSpPr>
          <p:cNvPr id="124" name="Freeform 123">
            <a:extLst>
              <a:ext uri="{FF2B5EF4-FFF2-40B4-BE49-F238E27FC236}">
                <a16:creationId xmlns:a16="http://schemas.microsoft.com/office/drawing/2014/main" id="{FB2D1995-8B29-164C-9905-72E60B3FEFB1}"/>
              </a:ext>
            </a:extLst>
          </p:cNvPr>
          <p:cNvSpPr/>
          <p:nvPr/>
        </p:nvSpPr>
        <p:spPr>
          <a:xfrm>
            <a:off x="3362574" y="4119751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125" name="Freeform 124">
            <a:extLst>
              <a:ext uri="{FF2B5EF4-FFF2-40B4-BE49-F238E27FC236}">
                <a16:creationId xmlns:a16="http://schemas.microsoft.com/office/drawing/2014/main" id="{C1B0582C-146C-8E45-9744-2D28C6B1FC97}"/>
              </a:ext>
            </a:extLst>
          </p:cNvPr>
          <p:cNvSpPr/>
          <p:nvPr/>
        </p:nvSpPr>
        <p:spPr>
          <a:xfrm>
            <a:off x="3182440" y="3772689"/>
            <a:ext cx="739781" cy="748145"/>
          </a:xfrm>
          <a:custGeom>
            <a:avLst/>
            <a:gdLst>
              <a:gd name="connsiteX0" fmla="*/ 86639 w 739781"/>
              <a:gd name="connsiteY0" fmla="*/ 273132 h 748145"/>
              <a:gd name="connsiteX1" fmla="*/ 169766 w 739781"/>
              <a:gd name="connsiteY1" fmla="*/ 225631 h 748145"/>
              <a:gd name="connsiteX2" fmla="*/ 205392 w 739781"/>
              <a:gd name="connsiteY2" fmla="*/ 190005 h 748145"/>
              <a:gd name="connsiteX3" fmla="*/ 241018 w 739781"/>
              <a:gd name="connsiteY3" fmla="*/ 166254 h 748145"/>
              <a:gd name="connsiteX4" fmla="*/ 264768 w 739781"/>
              <a:gd name="connsiteY4" fmla="*/ 130628 h 748145"/>
              <a:gd name="connsiteX5" fmla="*/ 300394 w 739781"/>
              <a:gd name="connsiteY5" fmla="*/ 106878 h 748145"/>
              <a:gd name="connsiteX6" fmla="*/ 383522 w 739781"/>
              <a:gd name="connsiteY6" fmla="*/ 11875 h 748145"/>
              <a:gd name="connsiteX7" fmla="*/ 419148 w 739781"/>
              <a:gd name="connsiteY7" fmla="*/ 0 h 748145"/>
              <a:gd name="connsiteX8" fmla="*/ 549776 w 739781"/>
              <a:gd name="connsiteY8" fmla="*/ 23750 h 748145"/>
              <a:gd name="connsiteX9" fmla="*/ 621028 w 739781"/>
              <a:gd name="connsiteY9" fmla="*/ 71252 h 748145"/>
              <a:gd name="connsiteX10" fmla="*/ 692280 w 739781"/>
              <a:gd name="connsiteY10" fmla="*/ 142504 h 748145"/>
              <a:gd name="connsiteX11" fmla="*/ 739781 w 739781"/>
              <a:gd name="connsiteY11" fmla="*/ 213756 h 748145"/>
              <a:gd name="connsiteX12" fmla="*/ 727906 w 739781"/>
              <a:gd name="connsiteY12" fmla="*/ 427512 h 748145"/>
              <a:gd name="connsiteX13" fmla="*/ 609153 w 739781"/>
              <a:gd name="connsiteY13" fmla="*/ 546265 h 748145"/>
              <a:gd name="connsiteX14" fmla="*/ 573527 w 739781"/>
              <a:gd name="connsiteY14" fmla="*/ 570015 h 748145"/>
              <a:gd name="connsiteX15" fmla="*/ 537901 w 739781"/>
              <a:gd name="connsiteY15" fmla="*/ 593766 h 748145"/>
              <a:gd name="connsiteX16" fmla="*/ 466649 w 739781"/>
              <a:gd name="connsiteY16" fmla="*/ 641267 h 748145"/>
              <a:gd name="connsiteX17" fmla="*/ 395397 w 739781"/>
              <a:gd name="connsiteY17" fmla="*/ 688769 h 748145"/>
              <a:gd name="connsiteX18" fmla="*/ 359771 w 739781"/>
              <a:gd name="connsiteY18" fmla="*/ 712519 h 748145"/>
              <a:gd name="connsiteX19" fmla="*/ 288519 w 739781"/>
              <a:gd name="connsiteY19" fmla="*/ 736270 h 748145"/>
              <a:gd name="connsiteX20" fmla="*/ 252893 w 739781"/>
              <a:gd name="connsiteY20" fmla="*/ 748145 h 748145"/>
              <a:gd name="connsiteX21" fmla="*/ 217267 w 739781"/>
              <a:gd name="connsiteY21" fmla="*/ 736270 h 748145"/>
              <a:gd name="connsiteX22" fmla="*/ 146015 w 739781"/>
              <a:gd name="connsiteY22" fmla="*/ 676893 h 748145"/>
              <a:gd name="connsiteX23" fmla="*/ 98514 w 739781"/>
              <a:gd name="connsiteY23" fmla="*/ 605641 h 748145"/>
              <a:gd name="connsiteX24" fmla="*/ 27262 w 739781"/>
              <a:gd name="connsiteY24" fmla="*/ 558140 h 748145"/>
              <a:gd name="connsiteX25" fmla="*/ 3511 w 739781"/>
              <a:gd name="connsiteY25" fmla="*/ 522514 h 748145"/>
              <a:gd name="connsiteX26" fmla="*/ 39137 w 739781"/>
              <a:gd name="connsiteY26" fmla="*/ 391886 h 748145"/>
              <a:gd name="connsiteX27" fmla="*/ 62888 w 739781"/>
              <a:gd name="connsiteY27" fmla="*/ 320634 h 748145"/>
              <a:gd name="connsiteX28" fmla="*/ 86639 w 739781"/>
              <a:gd name="connsiteY28" fmla="*/ 273132 h 748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39781" h="748145">
                <a:moveTo>
                  <a:pt x="86639" y="273132"/>
                </a:moveTo>
                <a:cubicBezTo>
                  <a:pt x="114348" y="257298"/>
                  <a:pt x="143621" y="243932"/>
                  <a:pt x="169766" y="225631"/>
                </a:cubicBezTo>
                <a:cubicBezTo>
                  <a:pt x="183524" y="216000"/>
                  <a:pt x="192490" y="200756"/>
                  <a:pt x="205392" y="190005"/>
                </a:cubicBezTo>
                <a:cubicBezTo>
                  <a:pt x="216356" y="180868"/>
                  <a:pt x="229143" y="174171"/>
                  <a:pt x="241018" y="166254"/>
                </a:cubicBezTo>
                <a:cubicBezTo>
                  <a:pt x="248935" y="154379"/>
                  <a:pt x="254676" y="140720"/>
                  <a:pt x="264768" y="130628"/>
                </a:cubicBezTo>
                <a:cubicBezTo>
                  <a:pt x="274860" y="120536"/>
                  <a:pt x="290996" y="117619"/>
                  <a:pt x="300394" y="106878"/>
                </a:cubicBezTo>
                <a:cubicBezTo>
                  <a:pt x="355811" y="43545"/>
                  <a:pt x="324146" y="41563"/>
                  <a:pt x="383522" y="11875"/>
                </a:cubicBezTo>
                <a:cubicBezTo>
                  <a:pt x="394718" y="6277"/>
                  <a:pt x="407273" y="3958"/>
                  <a:pt x="419148" y="0"/>
                </a:cubicBezTo>
                <a:cubicBezTo>
                  <a:pt x="423174" y="503"/>
                  <a:pt x="524430" y="6853"/>
                  <a:pt x="549776" y="23750"/>
                </a:cubicBezTo>
                <a:cubicBezTo>
                  <a:pt x="638735" y="83055"/>
                  <a:pt x="536315" y="43013"/>
                  <a:pt x="621028" y="71252"/>
                </a:cubicBezTo>
                <a:cubicBezTo>
                  <a:pt x="644779" y="95003"/>
                  <a:pt x="673649" y="114557"/>
                  <a:pt x="692280" y="142504"/>
                </a:cubicBezTo>
                <a:lnTo>
                  <a:pt x="739781" y="213756"/>
                </a:lnTo>
                <a:cubicBezTo>
                  <a:pt x="735823" y="285008"/>
                  <a:pt x="742460" y="357650"/>
                  <a:pt x="727906" y="427512"/>
                </a:cubicBezTo>
                <a:cubicBezTo>
                  <a:pt x="715137" y="488802"/>
                  <a:pt x="653588" y="516642"/>
                  <a:pt x="609153" y="546265"/>
                </a:cubicBezTo>
                <a:lnTo>
                  <a:pt x="573527" y="570015"/>
                </a:lnTo>
                <a:cubicBezTo>
                  <a:pt x="561652" y="577932"/>
                  <a:pt x="547993" y="583674"/>
                  <a:pt x="537901" y="593766"/>
                </a:cubicBezTo>
                <a:cubicBezTo>
                  <a:pt x="493424" y="638243"/>
                  <a:pt x="518207" y="624081"/>
                  <a:pt x="466649" y="641267"/>
                </a:cubicBezTo>
                <a:lnTo>
                  <a:pt x="395397" y="688769"/>
                </a:lnTo>
                <a:cubicBezTo>
                  <a:pt x="383522" y="696686"/>
                  <a:pt x="373311" y="708006"/>
                  <a:pt x="359771" y="712519"/>
                </a:cubicBezTo>
                <a:lnTo>
                  <a:pt x="288519" y="736270"/>
                </a:lnTo>
                <a:lnTo>
                  <a:pt x="252893" y="748145"/>
                </a:lnTo>
                <a:cubicBezTo>
                  <a:pt x="241018" y="744187"/>
                  <a:pt x="228463" y="741868"/>
                  <a:pt x="217267" y="736270"/>
                </a:cubicBezTo>
                <a:cubicBezTo>
                  <a:pt x="192318" y="723795"/>
                  <a:pt x="162727" y="698380"/>
                  <a:pt x="146015" y="676893"/>
                </a:cubicBezTo>
                <a:cubicBezTo>
                  <a:pt x="128490" y="654361"/>
                  <a:pt x="122265" y="621475"/>
                  <a:pt x="98514" y="605641"/>
                </a:cubicBezTo>
                <a:lnTo>
                  <a:pt x="27262" y="558140"/>
                </a:lnTo>
                <a:cubicBezTo>
                  <a:pt x="19345" y="546265"/>
                  <a:pt x="4803" y="536728"/>
                  <a:pt x="3511" y="522514"/>
                </a:cubicBezTo>
                <a:cubicBezTo>
                  <a:pt x="-7657" y="399667"/>
                  <a:pt x="8782" y="460185"/>
                  <a:pt x="39137" y="391886"/>
                </a:cubicBezTo>
                <a:cubicBezTo>
                  <a:pt x="49305" y="369008"/>
                  <a:pt x="54971" y="344385"/>
                  <a:pt x="62888" y="320634"/>
                </a:cubicBezTo>
                <a:lnTo>
                  <a:pt x="86639" y="273132"/>
                </a:lnTo>
                <a:close/>
              </a:path>
            </a:pathLst>
          </a:cu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FokI</a:t>
            </a:r>
            <a:endParaRPr kumimoji="1" lang="zh-CN" altLang="en-US" dirty="0"/>
          </a:p>
        </p:txBody>
      </p:sp>
      <p:sp>
        <p:nvSpPr>
          <p:cNvPr id="126" name="Lightning Bolt 125">
            <a:extLst>
              <a:ext uri="{FF2B5EF4-FFF2-40B4-BE49-F238E27FC236}">
                <a16:creationId xmlns:a16="http://schemas.microsoft.com/office/drawing/2014/main" id="{E2BE8C6F-CD5F-BA4D-90F5-2F8672E23F97}"/>
              </a:ext>
            </a:extLst>
          </p:cNvPr>
          <p:cNvSpPr/>
          <p:nvPr/>
        </p:nvSpPr>
        <p:spPr>
          <a:xfrm flipH="1">
            <a:off x="3655764" y="3537303"/>
            <a:ext cx="445533" cy="810767"/>
          </a:xfrm>
          <a:prstGeom prst="lightningBol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7" name="Freeform 126">
            <a:extLst>
              <a:ext uri="{FF2B5EF4-FFF2-40B4-BE49-F238E27FC236}">
                <a16:creationId xmlns:a16="http://schemas.microsoft.com/office/drawing/2014/main" id="{0256D5A2-9FDB-484C-A148-3B9A311385A8}"/>
              </a:ext>
            </a:extLst>
          </p:cNvPr>
          <p:cNvSpPr/>
          <p:nvPr/>
        </p:nvSpPr>
        <p:spPr>
          <a:xfrm>
            <a:off x="2660809" y="3746043"/>
            <a:ext cx="267764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8" name="Freeform 127">
            <a:extLst>
              <a:ext uri="{FF2B5EF4-FFF2-40B4-BE49-F238E27FC236}">
                <a16:creationId xmlns:a16="http://schemas.microsoft.com/office/drawing/2014/main" id="{914EA5B0-1FBC-5248-8FED-F02A47587C8D}"/>
              </a:ext>
            </a:extLst>
          </p:cNvPr>
          <p:cNvSpPr/>
          <p:nvPr/>
        </p:nvSpPr>
        <p:spPr>
          <a:xfrm rot="10800000">
            <a:off x="965829" y="3743110"/>
            <a:ext cx="291810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BB9F2E89-DE1B-A143-968B-1245370F5A4F}"/>
              </a:ext>
            </a:extLst>
          </p:cNvPr>
          <p:cNvSpPr/>
          <p:nvPr/>
        </p:nvSpPr>
        <p:spPr>
          <a:xfrm>
            <a:off x="2532078" y="3764516"/>
            <a:ext cx="102887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A69795F8-202E-FB47-823E-0F935DB73C53}"/>
              </a:ext>
            </a:extLst>
          </p:cNvPr>
          <p:cNvSpPr/>
          <p:nvPr/>
        </p:nvSpPr>
        <p:spPr>
          <a:xfrm>
            <a:off x="2394765" y="3763524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15A904B1-E0C3-D94A-B1DA-A967480E4662}"/>
              </a:ext>
            </a:extLst>
          </p:cNvPr>
          <p:cNvSpPr/>
          <p:nvPr/>
        </p:nvSpPr>
        <p:spPr>
          <a:xfrm>
            <a:off x="2250773" y="3762418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39EF9851-9918-1D4F-87BF-05129B687398}"/>
              </a:ext>
            </a:extLst>
          </p:cNvPr>
          <p:cNvSpPr/>
          <p:nvPr/>
        </p:nvSpPr>
        <p:spPr>
          <a:xfrm>
            <a:off x="2112597" y="3762418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D5A75275-4A77-AB4B-ABAC-04074B116D52}"/>
              </a:ext>
            </a:extLst>
          </p:cNvPr>
          <p:cNvSpPr/>
          <p:nvPr/>
        </p:nvSpPr>
        <p:spPr>
          <a:xfrm>
            <a:off x="1970943" y="3762418"/>
            <a:ext cx="112800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7E667186-AD36-C840-923B-566999A0DBF5}"/>
              </a:ext>
            </a:extLst>
          </p:cNvPr>
          <p:cNvSpPr/>
          <p:nvPr/>
        </p:nvSpPr>
        <p:spPr>
          <a:xfrm>
            <a:off x="1839144" y="3764214"/>
            <a:ext cx="103141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9CB79699-D0D9-4147-8EC8-B3FB71945504}"/>
              </a:ext>
            </a:extLst>
          </p:cNvPr>
          <p:cNvSpPr/>
          <p:nvPr/>
        </p:nvSpPr>
        <p:spPr>
          <a:xfrm>
            <a:off x="1701493" y="3755365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6" name="Rounded Rectangle 135">
            <a:extLst>
              <a:ext uri="{FF2B5EF4-FFF2-40B4-BE49-F238E27FC236}">
                <a16:creationId xmlns:a16="http://schemas.microsoft.com/office/drawing/2014/main" id="{653C7E80-49CA-FB41-9E42-5E1D30D2A923}"/>
              </a:ext>
            </a:extLst>
          </p:cNvPr>
          <p:cNvSpPr/>
          <p:nvPr/>
        </p:nvSpPr>
        <p:spPr>
          <a:xfrm>
            <a:off x="1563317" y="3755365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7" name="Rounded Rectangle 136">
            <a:extLst>
              <a:ext uri="{FF2B5EF4-FFF2-40B4-BE49-F238E27FC236}">
                <a16:creationId xmlns:a16="http://schemas.microsoft.com/office/drawing/2014/main" id="{266E50B8-BB1A-1945-B997-31B0D8071C66}"/>
              </a:ext>
            </a:extLst>
          </p:cNvPr>
          <p:cNvSpPr/>
          <p:nvPr/>
        </p:nvSpPr>
        <p:spPr>
          <a:xfrm>
            <a:off x="1421663" y="3755365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8" name="Rounded Rectangle 137">
            <a:extLst>
              <a:ext uri="{FF2B5EF4-FFF2-40B4-BE49-F238E27FC236}">
                <a16:creationId xmlns:a16="http://schemas.microsoft.com/office/drawing/2014/main" id="{4BAF3711-7B27-B642-ACCC-67EFC8B1C0A0}"/>
              </a:ext>
            </a:extLst>
          </p:cNvPr>
          <p:cNvSpPr/>
          <p:nvPr/>
        </p:nvSpPr>
        <p:spPr>
          <a:xfrm>
            <a:off x="1289864" y="3757161"/>
            <a:ext cx="103141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9" name="Freeform 138">
            <a:extLst>
              <a:ext uri="{FF2B5EF4-FFF2-40B4-BE49-F238E27FC236}">
                <a16:creationId xmlns:a16="http://schemas.microsoft.com/office/drawing/2014/main" id="{7D8519BC-82C9-E14E-A714-406B5978D17C}"/>
              </a:ext>
            </a:extLst>
          </p:cNvPr>
          <p:cNvSpPr/>
          <p:nvPr/>
        </p:nvSpPr>
        <p:spPr>
          <a:xfrm rot="11058474" flipV="1">
            <a:off x="2928008" y="3796734"/>
            <a:ext cx="505863" cy="130375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0" name="Freeform 139">
            <a:extLst>
              <a:ext uri="{FF2B5EF4-FFF2-40B4-BE49-F238E27FC236}">
                <a16:creationId xmlns:a16="http://schemas.microsoft.com/office/drawing/2014/main" id="{4AF9695B-C83C-444A-AD62-8319059EEAB2}"/>
              </a:ext>
            </a:extLst>
          </p:cNvPr>
          <p:cNvSpPr/>
          <p:nvPr/>
        </p:nvSpPr>
        <p:spPr>
          <a:xfrm>
            <a:off x="6025018" y="4582975"/>
            <a:ext cx="267764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1" name="Freeform 140">
            <a:extLst>
              <a:ext uri="{FF2B5EF4-FFF2-40B4-BE49-F238E27FC236}">
                <a16:creationId xmlns:a16="http://schemas.microsoft.com/office/drawing/2014/main" id="{61625CB0-32C5-1149-ADA8-17CB631762BF}"/>
              </a:ext>
            </a:extLst>
          </p:cNvPr>
          <p:cNvSpPr/>
          <p:nvPr/>
        </p:nvSpPr>
        <p:spPr>
          <a:xfrm rot="10800000">
            <a:off x="4330038" y="4580042"/>
            <a:ext cx="291810" cy="411116"/>
          </a:xfrm>
          <a:custGeom>
            <a:avLst/>
            <a:gdLst>
              <a:gd name="connsiteX0" fmla="*/ 17088 w 291810"/>
              <a:gd name="connsiteY0" fmla="*/ 17416 h 411116"/>
              <a:gd name="connsiteX1" fmla="*/ 271088 w 291810"/>
              <a:gd name="connsiteY1" fmla="*/ 30116 h 411116"/>
              <a:gd name="connsiteX2" fmla="*/ 258388 w 291810"/>
              <a:gd name="connsiteY2" fmla="*/ 233316 h 411116"/>
              <a:gd name="connsiteX3" fmla="*/ 245688 w 291810"/>
              <a:gd name="connsiteY3" fmla="*/ 309516 h 411116"/>
              <a:gd name="connsiteX4" fmla="*/ 232988 w 291810"/>
              <a:gd name="connsiteY4" fmla="*/ 360316 h 411116"/>
              <a:gd name="connsiteX5" fmla="*/ 156788 w 291810"/>
              <a:gd name="connsiteY5" fmla="*/ 411116 h 411116"/>
              <a:gd name="connsiteX6" fmla="*/ 55188 w 291810"/>
              <a:gd name="connsiteY6" fmla="*/ 398416 h 411116"/>
              <a:gd name="connsiteX7" fmla="*/ 42488 w 291810"/>
              <a:gd name="connsiteY7" fmla="*/ 360316 h 411116"/>
              <a:gd name="connsiteX8" fmla="*/ 29788 w 291810"/>
              <a:gd name="connsiteY8" fmla="*/ 182516 h 411116"/>
              <a:gd name="connsiteX9" fmla="*/ 4388 w 291810"/>
              <a:gd name="connsiteY9" fmla="*/ 106316 h 411116"/>
              <a:gd name="connsiteX10" fmla="*/ 17088 w 291810"/>
              <a:gd name="connsiteY10" fmla="*/ 55516 h 411116"/>
              <a:gd name="connsiteX11" fmla="*/ 17088 w 291810"/>
              <a:gd name="connsiteY11" fmla="*/ 17416 h 411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810" h="411116">
                <a:moveTo>
                  <a:pt x="17088" y="17416"/>
                </a:moveTo>
                <a:cubicBezTo>
                  <a:pt x="59421" y="13183"/>
                  <a:pt x="207912" y="-26410"/>
                  <a:pt x="271088" y="30116"/>
                </a:cubicBezTo>
                <a:cubicBezTo>
                  <a:pt x="321664" y="75368"/>
                  <a:pt x="264532" y="165729"/>
                  <a:pt x="258388" y="233316"/>
                </a:cubicBezTo>
                <a:cubicBezTo>
                  <a:pt x="256057" y="258961"/>
                  <a:pt x="250738" y="284266"/>
                  <a:pt x="245688" y="309516"/>
                </a:cubicBezTo>
                <a:cubicBezTo>
                  <a:pt x="242265" y="326632"/>
                  <a:pt x="244482" y="347180"/>
                  <a:pt x="232988" y="360316"/>
                </a:cubicBezTo>
                <a:cubicBezTo>
                  <a:pt x="212886" y="383290"/>
                  <a:pt x="156788" y="411116"/>
                  <a:pt x="156788" y="411116"/>
                </a:cubicBezTo>
                <a:cubicBezTo>
                  <a:pt x="122921" y="406883"/>
                  <a:pt x="86377" y="412278"/>
                  <a:pt x="55188" y="398416"/>
                </a:cubicBezTo>
                <a:cubicBezTo>
                  <a:pt x="42955" y="392979"/>
                  <a:pt x="44052" y="373611"/>
                  <a:pt x="42488" y="360316"/>
                </a:cubicBezTo>
                <a:cubicBezTo>
                  <a:pt x="35546" y="301305"/>
                  <a:pt x="38602" y="241276"/>
                  <a:pt x="29788" y="182516"/>
                </a:cubicBezTo>
                <a:cubicBezTo>
                  <a:pt x="25816" y="156038"/>
                  <a:pt x="4388" y="106316"/>
                  <a:pt x="4388" y="106316"/>
                </a:cubicBezTo>
                <a:cubicBezTo>
                  <a:pt x="8621" y="89383"/>
                  <a:pt x="6184" y="69146"/>
                  <a:pt x="17088" y="55516"/>
                </a:cubicBezTo>
                <a:cubicBezTo>
                  <a:pt x="25451" y="45063"/>
                  <a:pt x="-25245" y="21649"/>
                  <a:pt x="17088" y="17416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79092BD8-6AF4-C440-9DBF-D451EB1FE43B}"/>
              </a:ext>
            </a:extLst>
          </p:cNvPr>
          <p:cNvSpPr/>
          <p:nvPr/>
        </p:nvSpPr>
        <p:spPr>
          <a:xfrm>
            <a:off x="5896287" y="4601448"/>
            <a:ext cx="102887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7C851F96-0BF7-084A-8550-3ABF835E948A}"/>
              </a:ext>
            </a:extLst>
          </p:cNvPr>
          <p:cNvSpPr/>
          <p:nvPr/>
        </p:nvSpPr>
        <p:spPr>
          <a:xfrm>
            <a:off x="5758974" y="4600456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26839930-C962-4644-BFB8-0CC8AF965FC5}"/>
              </a:ext>
            </a:extLst>
          </p:cNvPr>
          <p:cNvSpPr/>
          <p:nvPr/>
        </p:nvSpPr>
        <p:spPr>
          <a:xfrm>
            <a:off x="5614982" y="4599350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54FE2274-C049-D64E-9F3B-DA4F5FE8E3EC}"/>
              </a:ext>
            </a:extLst>
          </p:cNvPr>
          <p:cNvSpPr/>
          <p:nvPr/>
        </p:nvSpPr>
        <p:spPr>
          <a:xfrm>
            <a:off x="5476806" y="4599350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4EBDE17A-5389-9B48-8319-4FD1B8A27E9C}"/>
              </a:ext>
            </a:extLst>
          </p:cNvPr>
          <p:cNvSpPr/>
          <p:nvPr/>
        </p:nvSpPr>
        <p:spPr>
          <a:xfrm>
            <a:off x="5335152" y="4599350"/>
            <a:ext cx="112800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C8F91D67-17A2-5A4F-99D3-87519F12E294}"/>
              </a:ext>
            </a:extLst>
          </p:cNvPr>
          <p:cNvSpPr/>
          <p:nvPr/>
        </p:nvSpPr>
        <p:spPr>
          <a:xfrm>
            <a:off x="5203353" y="4601146"/>
            <a:ext cx="103141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CF840673-5733-6449-855E-4B548009708B}"/>
              </a:ext>
            </a:extLst>
          </p:cNvPr>
          <p:cNvSpPr/>
          <p:nvPr/>
        </p:nvSpPr>
        <p:spPr>
          <a:xfrm>
            <a:off x="5065702" y="4592297"/>
            <a:ext cx="112800" cy="355600"/>
          </a:xfrm>
          <a:prstGeom prst="roundRect">
            <a:avLst/>
          </a:prstGeom>
          <a:solidFill>
            <a:srgbClr val="99FFCC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BA0BDC06-5139-F742-9F72-BFB7858216AC}"/>
              </a:ext>
            </a:extLst>
          </p:cNvPr>
          <p:cNvSpPr/>
          <p:nvPr/>
        </p:nvSpPr>
        <p:spPr>
          <a:xfrm>
            <a:off x="4927526" y="4592297"/>
            <a:ext cx="112800" cy="3556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E401986A-74B0-5D40-AE08-00312FAFF2EE}"/>
              </a:ext>
            </a:extLst>
          </p:cNvPr>
          <p:cNvSpPr/>
          <p:nvPr/>
        </p:nvSpPr>
        <p:spPr>
          <a:xfrm>
            <a:off x="4785872" y="4592297"/>
            <a:ext cx="112800" cy="355600"/>
          </a:xfrm>
          <a:prstGeom prst="round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678E30E6-5024-9B48-AF5D-5A872D176E2B}"/>
              </a:ext>
            </a:extLst>
          </p:cNvPr>
          <p:cNvSpPr/>
          <p:nvPr/>
        </p:nvSpPr>
        <p:spPr>
          <a:xfrm>
            <a:off x="4654073" y="4594093"/>
            <a:ext cx="103141" cy="355600"/>
          </a:xfrm>
          <a:prstGeom prst="round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2" name="Freeform 151">
            <a:extLst>
              <a:ext uri="{FF2B5EF4-FFF2-40B4-BE49-F238E27FC236}">
                <a16:creationId xmlns:a16="http://schemas.microsoft.com/office/drawing/2014/main" id="{E0FAF83A-FF96-6E40-BFAE-FCAA8F263695}"/>
              </a:ext>
            </a:extLst>
          </p:cNvPr>
          <p:cNvSpPr/>
          <p:nvPr/>
        </p:nvSpPr>
        <p:spPr>
          <a:xfrm rot="787176" flipV="1">
            <a:off x="3908307" y="4757371"/>
            <a:ext cx="439758" cy="118459"/>
          </a:xfrm>
          <a:custGeom>
            <a:avLst/>
            <a:gdLst>
              <a:gd name="connsiteX0" fmla="*/ 0 w 387928"/>
              <a:gd name="connsiteY0" fmla="*/ 83941 h 83941"/>
              <a:gd name="connsiteX1" fmla="*/ 166255 w 387928"/>
              <a:gd name="connsiteY1" fmla="*/ 814 h 83941"/>
              <a:gd name="connsiteX2" fmla="*/ 387928 w 387928"/>
              <a:gd name="connsiteY2" fmla="*/ 42377 h 83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7928" h="83941">
                <a:moveTo>
                  <a:pt x="0" y="83941"/>
                </a:moveTo>
                <a:cubicBezTo>
                  <a:pt x="50800" y="45841"/>
                  <a:pt x="101600" y="7741"/>
                  <a:pt x="166255" y="814"/>
                </a:cubicBezTo>
                <a:cubicBezTo>
                  <a:pt x="230910" y="-6113"/>
                  <a:pt x="378692" y="33141"/>
                  <a:pt x="387928" y="4237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FCFED20-DC15-8749-8B5F-F183DFDB5A52}"/>
              </a:ext>
            </a:extLst>
          </p:cNvPr>
          <p:cNvSpPr txBox="1"/>
          <p:nvPr/>
        </p:nvSpPr>
        <p:spPr>
          <a:xfrm>
            <a:off x="3932996" y="5043363"/>
            <a:ext cx="1024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C-terminal domain</a:t>
            </a:r>
            <a:endParaRPr kumimoji="1" lang="zh-CN" altLang="en-US" sz="14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84440C8-092B-E841-837D-5EAD0D8C7DC6}"/>
              </a:ext>
            </a:extLst>
          </p:cNvPr>
          <p:cNvSpPr txBox="1"/>
          <p:nvPr/>
        </p:nvSpPr>
        <p:spPr>
          <a:xfrm>
            <a:off x="5646525" y="5043363"/>
            <a:ext cx="1024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N-terminal domain</a:t>
            </a:r>
            <a:endParaRPr kumimoji="1" lang="zh-CN" alt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A400FD-793F-714F-AD66-0D6B0B762190}"/>
              </a:ext>
            </a:extLst>
          </p:cNvPr>
          <p:cNvSpPr txBox="1"/>
          <p:nvPr/>
        </p:nvSpPr>
        <p:spPr>
          <a:xfrm>
            <a:off x="511682" y="2944317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ZFN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9616404-ED4B-B54E-B100-523FA3B736B4}"/>
              </a:ext>
            </a:extLst>
          </p:cNvPr>
          <p:cNvSpPr txBox="1"/>
          <p:nvPr/>
        </p:nvSpPr>
        <p:spPr>
          <a:xfrm>
            <a:off x="486659" y="4998707"/>
            <a:ext cx="770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TALEN</a:t>
            </a:r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43486BBD-4B34-D24E-814A-B45E66A17291}"/>
              </a:ext>
            </a:extLst>
          </p:cNvPr>
          <p:cNvCxnSpPr>
            <a:cxnSpLocks/>
          </p:cNvCxnSpPr>
          <p:nvPr/>
        </p:nvCxnSpPr>
        <p:spPr>
          <a:xfrm>
            <a:off x="6904383" y="3346174"/>
            <a:ext cx="5287617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87A9EC12-6CAA-F847-8A7F-E6DC99D95FF0}"/>
                  </a:ext>
                </a:extLst>
              </p:cNvPr>
              <p:cNvSpPr txBox="1"/>
              <p:nvPr/>
            </p:nvSpPr>
            <p:spPr>
              <a:xfrm>
                <a:off x="7400098" y="1044988"/>
                <a:ext cx="4313873" cy="2126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7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aa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⟼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3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bps: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design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complexity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(4</a:t>
                </a:r>
                <a:r>
                  <a:rPr kumimoji="1" lang="en-US" altLang="zh-CN" baseline="30000" dirty="0"/>
                  <a:t>3</a:t>
                </a:r>
                <a:r>
                  <a:rPr kumimoji="1" lang="en-US" altLang="zh-CN" dirty="0"/>
                  <a:t>/20</a:t>
                </a:r>
                <a:r>
                  <a:rPr kumimoji="1" lang="en-US" altLang="zh-CN" baseline="30000" dirty="0"/>
                  <a:t>7)</a:t>
                </a:r>
                <a:endParaRPr kumimoji="1" lang="en-US" altLang="zh-CN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Typically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recognize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18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–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36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bps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High </a:t>
                </a:r>
                <a:r>
                  <a:rPr kumimoji="1" lang="en-US" altLang="zh-CN" i="1" dirty="0"/>
                  <a:t>precision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and</a:t>
                </a:r>
                <a:r>
                  <a:rPr kumimoji="1" lang="zh-CN" altLang="en-US" dirty="0"/>
                  <a:t> </a:t>
                </a:r>
                <a:r>
                  <a:rPr kumimoji="1" lang="en-US" altLang="zh-CN" i="1" dirty="0"/>
                  <a:t>recall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DSB-induced genome editing</a:t>
                </a:r>
                <a:endParaRPr kumimoji="1" lang="en-US" altLang="zh-CN" i="1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Zinc-finger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domain: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hard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to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assemble</a:t>
                </a:r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87A9EC12-6CAA-F847-8A7F-E6DC99D95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0098" y="1044988"/>
                <a:ext cx="4313873" cy="2126864"/>
              </a:xfrm>
              <a:prstGeom prst="rect">
                <a:avLst/>
              </a:prstGeom>
              <a:blipFill>
                <a:blip r:embed="rId2"/>
                <a:stretch>
                  <a:fillRect l="-880" b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B63DFF30-F270-A94A-9E84-DC9019ABF2E5}"/>
                  </a:ext>
                </a:extLst>
              </p:cNvPr>
              <p:cNvSpPr txBox="1"/>
              <p:nvPr/>
            </p:nvSpPr>
            <p:spPr>
              <a:xfrm>
                <a:off x="7417068" y="3596714"/>
                <a:ext cx="4360590" cy="2542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2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aa</a:t>
                </a:r>
                <a:r>
                  <a:rPr kumimoji="1" lang="zh-CN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CN" altLang="en-US" i="1" smtClean="0">
                        <a:latin typeface="Cambria Math" panose="02040503050406030204" pitchFamily="18" charset="0"/>
                      </a:rPr>
                      <m:t>⟼</m:t>
                    </m:r>
                  </m:oMath>
                </a14:m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1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bp: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4/400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Typically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recognize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24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–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40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bps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Increased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affinity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for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target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DNA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(higher</a:t>
                </a:r>
                <a:r>
                  <a:rPr kumimoji="1" lang="zh-CN" altLang="en-US" dirty="0"/>
                  <a:t> </a:t>
                </a:r>
                <a:r>
                  <a:rPr kumimoji="1" lang="en-US" altLang="zh-CN" i="1" dirty="0"/>
                  <a:t>precision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and</a:t>
                </a:r>
                <a:r>
                  <a:rPr kumimoji="1" lang="zh-CN" altLang="en-US" dirty="0"/>
                  <a:t> </a:t>
                </a:r>
                <a:r>
                  <a:rPr kumimoji="1" lang="en-US" altLang="zh-CN" i="1" dirty="0"/>
                  <a:t>recall</a:t>
                </a:r>
                <a:r>
                  <a:rPr kumimoji="1" lang="en-US" altLang="zh-CN" dirty="0"/>
                  <a:t>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DSB-induced genome editing</a:t>
                </a:r>
                <a:r>
                  <a:rPr kumimoji="1" lang="zh-CN" altLang="en-US" dirty="0"/>
                  <a:t> </a:t>
                </a:r>
                <a:endParaRPr kumimoji="1" lang="en-US" altLang="zh-CN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zh-CN" dirty="0"/>
                  <a:t>Relatively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large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complex: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difficult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delivery</a:t>
                </a:r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B63DFF30-F270-A94A-9E84-DC9019ABF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7068" y="3596714"/>
                <a:ext cx="4360590" cy="2542363"/>
              </a:xfrm>
              <a:prstGeom prst="rect">
                <a:avLst/>
              </a:prstGeom>
              <a:blipFill>
                <a:blip r:embed="rId3"/>
                <a:stretch>
                  <a:fillRect l="-1163" r="-291" b="-29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TextBox 156">
            <a:extLst>
              <a:ext uri="{FF2B5EF4-FFF2-40B4-BE49-F238E27FC236}">
                <a16:creationId xmlns:a16="http://schemas.microsoft.com/office/drawing/2014/main" id="{C88B3D8C-B6D2-A442-9BFD-36E1BFDEA467}"/>
              </a:ext>
            </a:extLst>
          </p:cNvPr>
          <p:cNvSpPr txBox="1"/>
          <p:nvPr/>
        </p:nvSpPr>
        <p:spPr>
          <a:xfrm>
            <a:off x="0" y="6396335"/>
            <a:ext cx="4735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Gaj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T, </a:t>
            </a:r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Sirk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SJ, Shui SL, Liu J. Genome-Editing Technologies: Principles and Applications.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Cold Spring </a:t>
            </a:r>
            <a:r>
              <a:rPr lang="en-US" sz="1200" b="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Harb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Perspect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Biol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2016 Dec 1;8(12):a023754.</a:t>
            </a:r>
            <a:endParaRPr lang="zh-CN" altLang="en-US" sz="12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728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83741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kumimoji="1" lang="en-US" altLang="zh-CN" sz="4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CRISPR-Cas Immune System</a:t>
            </a:r>
          </a:p>
        </p:txBody>
      </p:sp>
    </p:spTree>
    <p:extLst>
      <p:ext uri="{BB962C8B-B14F-4D97-AF65-F5344CB8AC3E}">
        <p14:creationId xmlns:p14="http://schemas.microsoft.com/office/powerpoint/2010/main" val="397681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942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Long Story Short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Introduction</a:t>
              </a:r>
              <a:endParaRPr kumimoji="1" lang="zh-CN" altLang="en-US" sz="2000" b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Classification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Mechanism</a:t>
              </a:r>
              <a:endParaRPr kumimoji="1" lang="zh-CN" altLang="en-US" sz="20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24B0C95-654F-104B-8135-78A3F09B8416}"/>
              </a:ext>
            </a:extLst>
          </p:cNvPr>
          <p:cNvSpPr txBox="1"/>
          <p:nvPr/>
        </p:nvSpPr>
        <p:spPr>
          <a:xfrm>
            <a:off x="5995012" y="5253907"/>
            <a:ext cx="60501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i="1" dirty="0"/>
              <a:t>The Twenty-Year Story of CRISPR Unfolded across Twelve Cities in Nine Countries</a:t>
            </a:r>
            <a:endParaRPr kumimoji="1" lang="zh-CN" altLang="en-US" sz="1400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E0EB69-FBB8-574F-8E3F-CFD1839E96DF}"/>
              </a:ext>
            </a:extLst>
          </p:cNvPr>
          <p:cNvSpPr txBox="1"/>
          <p:nvPr/>
        </p:nvSpPr>
        <p:spPr>
          <a:xfrm>
            <a:off x="325821" y="992811"/>
            <a:ext cx="5707206" cy="5122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1987: </a:t>
            </a:r>
            <a:r>
              <a:rPr kumimoji="1" lang="en-US" altLang="zh-CN" sz="2000" dirty="0"/>
              <a:t>The first description of CRISPR loci.</a:t>
            </a:r>
            <a:endParaRPr kumimoji="1" lang="en-CN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1993: </a:t>
            </a:r>
            <a:r>
              <a:rPr kumimoji="1" lang="en-US" altLang="zh-CN" sz="2000" dirty="0"/>
              <a:t>Repeated sequences separated by spacers were observed in </a:t>
            </a:r>
            <a:r>
              <a:rPr kumimoji="1" lang="en-US" altLang="zh-CN" sz="2000" i="1" dirty="0" err="1"/>
              <a:t>Haloferax</a:t>
            </a:r>
            <a:r>
              <a:rPr kumimoji="1" lang="en-US" altLang="zh-CN" sz="2000" i="1" dirty="0"/>
              <a:t> </a:t>
            </a:r>
            <a:r>
              <a:rPr kumimoji="1" lang="en-US" altLang="zh-CN" sz="2000" i="1" dirty="0" err="1"/>
              <a:t>mediterranei</a:t>
            </a:r>
            <a:r>
              <a:rPr kumimoji="1" lang="en-US" altLang="zh-CN" sz="2000" i="1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2002: CRISPR got its name - </a:t>
            </a:r>
            <a:r>
              <a:rPr kumimoji="1" lang="en-US" altLang="zh-CN" sz="2000" dirty="0">
                <a:solidFill>
                  <a:srgbClr val="FF0000"/>
                </a:solidFill>
              </a:rPr>
              <a:t>C</a:t>
            </a:r>
            <a:r>
              <a:rPr kumimoji="1" lang="en-US" altLang="zh-CN" sz="2000" dirty="0"/>
              <a:t>lustered </a:t>
            </a:r>
            <a:r>
              <a:rPr kumimoji="1" lang="en-US" altLang="zh-CN" sz="2000" dirty="0">
                <a:solidFill>
                  <a:srgbClr val="FF0000"/>
                </a:solidFill>
              </a:rPr>
              <a:t>R</a:t>
            </a:r>
            <a:r>
              <a:rPr kumimoji="1" lang="en-US" altLang="zh-CN" sz="2000" dirty="0"/>
              <a:t>egularly </a:t>
            </a:r>
            <a:r>
              <a:rPr kumimoji="1" lang="en-US" altLang="zh-CN" sz="2000" dirty="0">
                <a:solidFill>
                  <a:srgbClr val="FF0000"/>
                </a:solidFill>
              </a:rPr>
              <a:t>I</a:t>
            </a:r>
            <a:r>
              <a:rPr kumimoji="1" lang="en-US" altLang="zh-CN" sz="2000" dirty="0"/>
              <a:t>nterspaced </a:t>
            </a:r>
            <a:r>
              <a:rPr kumimoji="1" lang="en-US" altLang="zh-CN" sz="2000" dirty="0">
                <a:solidFill>
                  <a:srgbClr val="FF0000"/>
                </a:solidFill>
              </a:rPr>
              <a:t>S</a:t>
            </a:r>
            <a:r>
              <a:rPr kumimoji="1" lang="en-US" altLang="zh-CN" sz="2000" dirty="0"/>
              <a:t>hort </a:t>
            </a:r>
            <a:r>
              <a:rPr kumimoji="1" lang="en-US" altLang="zh-CN" sz="2000" dirty="0">
                <a:solidFill>
                  <a:srgbClr val="FF0000"/>
                </a:solidFill>
              </a:rPr>
              <a:t>P</a:t>
            </a:r>
            <a:r>
              <a:rPr kumimoji="1" lang="en-US" altLang="zh-CN" sz="2000" dirty="0"/>
              <a:t>alindromic </a:t>
            </a:r>
            <a:r>
              <a:rPr kumimoji="1" lang="en-US" altLang="zh-CN" sz="2000" dirty="0">
                <a:solidFill>
                  <a:srgbClr val="FF0000"/>
                </a:solidFill>
              </a:rPr>
              <a:t>R</a:t>
            </a:r>
            <a:r>
              <a:rPr kumimoji="1" lang="en-US" altLang="zh-CN" sz="2000" dirty="0"/>
              <a:t>epeats.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2003/2005: One spacer in </a:t>
            </a:r>
            <a:r>
              <a:rPr kumimoji="1" lang="en-US" altLang="zh-CN" sz="2000" i="1" dirty="0"/>
              <a:t>E. coli </a:t>
            </a:r>
            <a:r>
              <a:rPr kumimoji="1" lang="en-US" altLang="zh-CN" sz="2000" dirty="0"/>
              <a:t>was found</a:t>
            </a:r>
            <a:r>
              <a:rPr kumimoji="1" lang="en-US" altLang="zh-CN" sz="2000" i="1" dirty="0"/>
              <a:t> to</a:t>
            </a:r>
            <a:r>
              <a:rPr kumimoji="1" lang="en-US" altLang="zh-CN" sz="2000" dirty="0"/>
              <a:t> match the sequence of a P1 phage.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2006: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Experiments showed that Cas9 was necessary for phage resistance in </a:t>
            </a:r>
            <a:r>
              <a:rPr kumimoji="1" lang="en-US" altLang="zh-CN" sz="2000" i="1" dirty="0"/>
              <a:t>S. thermophilus.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2008: First artificial CRISPR arrays were performed in </a:t>
            </a:r>
            <a:r>
              <a:rPr kumimoji="1" lang="en-US" altLang="zh-CN" sz="2000" i="1" dirty="0"/>
              <a:t>E. coli.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E6BC10-5ED6-4341-9F38-77E6E63AB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3027" y="1392865"/>
            <a:ext cx="5974089" cy="380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64A65C2-E448-DC49-AD2B-16C2FDA29A97}"/>
              </a:ext>
            </a:extLst>
          </p:cNvPr>
          <p:cNvSpPr txBox="1"/>
          <p:nvPr/>
        </p:nvSpPr>
        <p:spPr>
          <a:xfrm>
            <a:off x="0" y="6115754"/>
            <a:ext cx="4596710" cy="27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Lander ES. The Heroes of CRISPR.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BlinkMacSystemFont"/>
              </a:rPr>
              <a:t>Cell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. 2016 Jan 14;164(1-2):18-28.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278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149F9773-4F04-3647-9F75-EF6E44D637D4}"/>
              </a:ext>
            </a:extLst>
          </p:cNvPr>
          <p:cNvCxnSpPr>
            <a:cxnSpLocks/>
          </p:cNvCxnSpPr>
          <p:nvPr/>
        </p:nvCxnSpPr>
        <p:spPr>
          <a:xfrm>
            <a:off x="2521938" y="2599685"/>
            <a:ext cx="9541954" cy="4073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7462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Components of CRISPR-Cas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13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49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Introduction</a:t>
              </a:r>
              <a:endParaRPr kumimoji="1" lang="zh-CN" altLang="en-US" sz="2000" b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Classification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Mechanism</a:t>
              </a:r>
              <a:endParaRPr kumimoji="1" lang="zh-CN" altLang="en-US" sz="20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D0AFED4-7D1E-3A4E-AEE6-D1C253AB207B}"/>
              </a:ext>
            </a:extLst>
          </p:cNvPr>
          <p:cNvGrpSpPr/>
          <p:nvPr/>
        </p:nvGrpSpPr>
        <p:grpSpPr>
          <a:xfrm>
            <a:off x="469900" y="1193800"/>
            <a:ext cx="2133600" cy="2742720"/>
            <a:chOff x="469900" y="1193800"/>
            <a:chExt cx="2133600" cy="2742720"/>
          </a:xfrm>
        </p:grpSpPr>
        <p:pic>
          <p:nvPicPr>
            <p:cNvPr id="9" name="图片 2">
              <a:extLst>
                <a:ext uri="{FF2B5EF4-FFF2-40B4-BE49-F238E27FC236}">
                  <a16:creationId xmlns:a16="http://schemas.microsoft.com/office/drawing/2014/main" id="{C7DF41D5-2B09-854E-BEE2-1356861BEF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4356" t="9839" r="44174" b="64598"/>
            <a:stretch/>
          </p:blipFill>
          <p:spPr>
            <a:xfrm>
              <a:off x="469900" y="1193800"/>
              <a:ext cx="1346200" cy="266699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15CFF63-FB26-664A-A547-259094DDD2BE}"/>
                </a:ext>
              </a:extLst>
            </p:cNvPr>
            <p:cNvSpPr/>
            <p:nvPr/>
          </p:nvSpPr>
          <p:spPr>
            <a:xfrm>
              <a:off x="1524000" y="1193800"/>
              <a:ext cx="1079500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161DD78-F78A-3F47-A347-9AE52DA8EDF1}"/>
                </a:ext>
              </a:extLst>
            </p:cNvPr>
            <p:cNvSpPr/>
            <p:nvPr/>
          </p:nvSpPr>
          <p:spPr>
            <a:xfrm rot="2489708">
              <a:off x="846146" y="3718068"/>
              <a:ext cx="291504" cy="2184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24E0E77-9778-134D-9A7B-6B9BFA68EDB1}"/>
                </a:ext>
              </a:extLst>
            </p:cNvPr>
            <p:cNvSpPr/>
            <p:nvPr/>
          </p:nvSpPr>
          <p:spPr>
            <a:xfrm rot="19491949">
              <a:off x="1460500" y="1333500"/>
              <a:ext cx="1270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6DFF389-BCE1-FF4C-81BB-4D8D55D2D73D}"/>
              </a:ext>
            </a:extLst>
          </p:cNvPr>
          <p:cNvSpPr/>
          <p:nvPr/>
        </p:nvSpPr>
        <p:spPr>
          <a:xfrm rot="2185965">
            <a:off x="699367" y="3471604"/>
            <a:ext cx="731313" cy="25785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175F48-DFE7-2343-8C03-A7E208054D7A}"/>
              </a:ext>
            </a:extLst>
          </p:cNvPr>
          <p:cNvSpPr txBox="1"/>
          <p:nvPr/>
        </p:nvSpPr>
        <p:spPr>
          <a:xfrm>
            <a:off x="1524000" y="1462412"/>
            <a:ext cx="1777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bacteria/archaea</a:t>
            </a:r>
            <a:endParaRPr kumimoji="1" lang="zh-CN" alt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F970DD0-D81D-BE4E-98C3-686AAC4956BC}"/>
              </a:ext>
            </a:extLst>
          </p:cNvPr>
          <p:cNvCxnSpPr>
            <a:cxnSpLocks/>
          </p:cNvCxnSpPr>
          <p:nvPr/>
        </p:nvCxnSpPr>
        <p:spPr>
          <a:xfrm flipV="1">
            <a:off x="1435782" y="2131947"/>
            <a:ext cx="1128649" cy="156776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DD63114-A7F4-3C40-866A-DCE7698C7C97}"/>
              </a:ext>
            </a:extLst>
          </p:cNvPr>
          <p:cNvCxnSpPr>
            <a:cxnSpLocks/>
          </p:cNvCxnSpPr>
          <p:nvPr/>
        </p:nvCxnSpPr>
        <p:spPr>
          <a:xfrm flipV="1">
            <a:off x="1275636" y="3173062"/>
            <a:ext cx="1327864" cy="75437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8436B34-AFD5-3147-AE76-ACBF611762AF}"/>
              </a:ext>
            </a:extLst>
          </p:cNvPr>
          <p:cNvSpPr txBox="1"/>
          <p:nvPr/>
        </p:nvSpPr>
        <p:spPr>
          <a:xfrm>
            <a:off x="167083" y="3779912"/>
            <a:ext cx="950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genome</a:t>
            </a:r>
            <a:endParaRPr kumimoji="1" lang="zh-CN" alt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5436CA0-0086-E04A-9328-BCCD5DD9B90A}"/>
              </a:ext>
            </a:extLst>
          </p:cNvPr>
          <p:cNvSpPr/>
          <p:nvPr/>
        </p:nvSpPr>
        <p:spPr>
          <a:xfrm>
            <a:off x="8110586" y="2345665"/>
            <a:ext cx="254000" cy="51414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B0CC2B0-9AF1-DA46-96B2-479191B04168}"/>
              </a:ext>
            </a:extLst>
          </p:cNvPr>
          <p:cNvSpPr/>
          <p:nvPr/>
        </p:nvSpPr>
        <p:spPr>
          <a:xfrm>
            <a:off x="8364585" y="2345664"/>
            <a:ext cx="270621" cy="514144"/>
          </a:xfrm>
          <a:prstGeom prst="rect">
            <a:avLst/>
          </a:prstGeom>
          <a:solidFill>
            <a:srgbClr val="FFAE4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ysClr val="windowText" lastClr="000000"/>
                </a:solidFill>
              </a:rPr>
              <a:t>1</a:t>
            </a:r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6C1FB46-699B-FF43-87F0-1590A905F4A2}"/>
              </a:ext>
            </a:extLst>
          </p:cNvPr>
          <p:cNvSpPr/>
          <p:nvPr/>
        </p:nvSpPr>
        <p:spPr>
          <a:xfrm>
            <a:off x="8626896" y="2345666"/>
            <a:ext cx="262310" cy="514142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797549D-F444-2848-B319-2F0A613E9056}"/>
              </a:ext>
            </a:extLst>
          </p:cNvPr>
          <p:cNvSpPr/>
          <p:nvPr/>
        </p:nvSpPr>
        <p:spPr>
          <a:xfrm>
            <a:off x="8889206" y="2345666"/>
            <a:ext cx="270620" cy="514142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ysClr val="windowText" lastClr="000000"/>
                </a:solidFill>
              </a:rPr>
              <a:t>2</a:t>
            </a:r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ED053AD-965A-014E-9B15-F5A632118BC6}"/>
              </a:ext>
            </a:extLst>
          </p:cNvPr>
          <p:cNvSpPr/>
          <p:nvPr/>
        </p:nvSpPr>
        <p:spPr>
          <a:xfrm>
            <a:off x="9151516" y="2345664"/>
            <a:ext cx="254000" cy="51414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97E2DEE-0D2E-9541-B40D-929EACB9F998}"/>
              </a:ext>
            </a:extLst>
          </p:cNvPr>
          <p:cNvSpPr/>
          <p:nvPr/>
        </p:nvSpPr>
        <p:spPr>
          <a:xfrm>
            <a:off x="9397206" y="2345664"/>
            <a:ext cx="270620" cy="514142"/>
          </a:xfrm>
          <a:prstGeom prst="rect">
            <a:avLst/>
          </a:prstGeom>
          <a:solidFill>
            <a:srgbClr val="FF7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ysClr val="windowText" lastClr="000000"/>
                </a:solidFill>
              </a:rPr>
              <a:t>3</a:t>
            </a:r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0632798-09D8-8E46-B6CE-35B606633E49}"/>
              </a:ext>
            </a:extLst>
          </p:cNvPr>
          <p:cNvSpPr/>
          <p:nvPr/>
        </p:nvSpPr>
        <p:spPr>
          <a:xfrm>
            <a:off x="9667826" y="2345664"/>
            <a:ext cx="279070" cy="51414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A097964-DBAB-D64F-8A5E-EC123FA5DD27}"/>
              </a:ext>
            </a:extLst>
          </p:cNvPr>
          <p:cNvSpPr/>
          <p:nvPr/>
        </p:nvSpPr>
        <p:spPr>
          <a:xfrm>
            <a:off x="9930136" y="2345664"/>
            <a:ext cx="262450" cy="514142"/>
          </a:xfrm>
          <a:prstGeom prst="rect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ysClr val="windowText" lastClr="000000"/>
                </a:solidFill>
              </a:rPr>
              <a:t>4</a:t>
            </a:r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DDCC95E-5FFF-1643-BE5D-16D00F707556}"/>
              </a:ext>
            </a:extLst>
          </p:cNvPr>
          <p:cNvSpPr/>
          <p:nvPr/>
        </p:nvSpPr>
        <p:spPr>
          <a:xfrm>
            <a:off x="10192586" y="2345664"/>
            <a:ext cx="254000" cy="51414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746876A-2ABA-664A-A01F-3DD9182DE7B0}"/>
              </a:ext>
            </a:extLst>
          </p:cNvPr>
          <p:cNvCxnSpPr>
            <a:cxnSpLocks/>
          </p:cNvCxnSpPr>
          <p:nvPr/>
        </p:nvCxnSpPr>
        <p:spPr>
          <a:xfrm flipV="1">
            <a:off x="8237586" y="2151791"/>
            <a:ext cx="0" cy="1324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F963DF1-A0D5-0C4A-888B-90A6A1934634}"/>
              </a:ext>
            </a:extLst>
          </p:cNvPr>
          <p:cNvSpPr txBox="1"/>
          <p:nvPr/>
        </p:nvSpPr>
        <p:spPr>
          <a:xfrm>
            <a:off x="9099220" y="1774441"/>
            <a:ext cx="889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repeats</a:t>
            </a:r>
            <a:endParaRPr kumimoji="1" lang="zh-CN" altLang="en-US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395F511-432D-1842-9F5A-BA5861401D7D}"/>
              </a:ext>
            </a:extLst>
          </p:cNvPr>
          <p:cNvCxnSpPr>
            <a:cxnSpLocks/>
          </p:cNvCxnSpPr>
          <p:nvPr/>
        </p:nvCxnSpPr>
        <p:spPr>
          <a:xfrm flipV="1">
            <a:off x="8758051" y="2151793"/>
            <a:ext cx="0" cy="1324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47DA0C4E-3F93-EB49-82A6-A7DE34778888}"/>
              </a:ext>
            </a:extLst>
          </p:cNvPr>
          <p:cNvCxnSpPr>
            <a:cxnSpLocks/>
          </p:cNvCxnSpPr>
          <p:nvPr/>
        </p:nvCxnSpPr>
        <p:spPr>
          <a:xfrm>
            <a:off x="8499049" y="2924547"/>
            <a:ext cx="847" cy="1094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6DCC8985-763D-9E43-8956-25AF75A7B67D}"/>
              </a:ext>
            </a:extLst>
          </p:cNvPr>
          <p:cNvSpPr txBox="1"/>
          <p:nvPr/>
        </p:nvSpPr>
        <p:spPr>
          <a:xfrm>
            <a:off x="9092018" y="2993161"/>
            <a:ext cx="886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spacers</a:t>
            </a:r>
            <a:endParaRPr kumimoji="1" lang="zh-CN" altLang="en-US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FB720AA2-644C-B641-A1E6-025F70AF4380}"/>
              </a:ext>
            </a:extLst>
          </p:cNvPr>
          <p:cNvSpPr/>
          <p:nvPr/>
        </p:nvSpPr>
        <p:spPr>
          <a:xfrm>
            <a:off x="10719438" y="2345663"/>
            <a:ext cx="254000" cy="514143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6B7359A-A121-A343-804C-C794A6493CD0}"/>
              </a:ext>
            </a:extLst>
          </p:cNvPr>
          <p:cNvCxnSpPr>
            <a:cxnSpLocks/>
          </p:cNvCxnSpPr>
          <p:nvPr/>
        </p:nvCxnSpPr>
        <p:spPr>
          <a:xfrm flipV="1">
            <a:off x="10858500" y="2159298"/>
            <a:ext cx="0" cy="140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2" name="Rectangle 161">
            <a:extLst>
              <a:ext uri="{FF2B5EF4-FFF2-40B4-BE49-F238E27FC236}">
                <a16:creationId xmlns:a16="http://schemas.microsoft.com/office/drawing/2014/main" id="{FF33367D-FD4E-F94C-8D40-6DBB2B05F3E4}"/>
              </a:ext>
            </a:extLst>
          </p:cNvPr>
          <p:cNvSpPr/>
          <p:nvPr/>
        </p:nvSpPr>
        <p:spPr>
          <a:xfrm>
            <a:off x="10456988" y="2345662"/>
            <a:ext cx="262450" cy="514142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ysClr val="windowText" lastClr="000000"/>
                </a:solidFill>
              </a:rPr>
              <a:t>5</a:t>
            </a:r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5F59DD7-518A-324D-9BA9-2A72ECA8ED62}"/>
              </a:ext>
            </a:extLst>
          </p:cNvPr>
          <p:cNvCxnSpPr>
            <a:cxnSpLocks/>
          </p:cNvCxnSpPr>
          <p:nvPr/>
        </p:nvCxnSpPr>
        <p:spPr>
          <a:xfrm flipH="1">
            <a:off x="8237586" y="2159298"/>
            <a:ext cx="2620914" cy="265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317305F-035C-1246-A647-9DB8BA8DD459}"/>
              </a:ext>
            </a:extLst>
          </p:cNvPr>
          <p:cNvCxnSpPr>
            <a:cxnSpLocks/>
          </p:cNvCxnSpPr>
          <p:nvPr/>
        </p:nvCxnSpPr>
        <p:spPr>
          <a:xfrm>
            <a:off x="8994612" y="2924547"/>
            <a:ext cx="0" cy="10297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84A1DA8C-71B7-BD43-AAC0-3BA845B9DBD2}"/>
              </a:ext>
            </a:extLst>
          </p:cNvPr>
          <p:cNvCxnSpPr>
            <a:cxnSpLocks/>
          </p:cNvCxnSpPr>
          <p:nvPr/>
        </p:nvCxnSpPr>
        <p:spPr>
          <a:xfrm>
            <a:off x="9531669" y="2918062"/>
            <a:ext cx="1" cy="1090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1CAA662-68B1-9143-BE9B-A7D5CFDD786E}"/>
              </a:ext>
            </a:extLst>
          </p:cNvPr>
          <p:cNvCxnSpPr>
            <a:cxnSpLocks/>
          </p:cNvCxnSpPr>
          <p:nvPr/>
        </p:nvCxnSpPr>
        <p:spPr>
          <a:xfrm flipH="1">
            <a:off x="10051621" y="2918062"/>
            <a:ext cx="574" cy="10906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44E80FE-54D0-5140-A5ED-118450ACA250}"/>
              </a:ext>
            </a:extLst>
          </p:cNvPr>
          <p:cNvCxnSpPr>
            <a:cxnSpLocks/>
          </p:cNvCxnSpPr>
          <p:nvPr/>
        </p:nvCxnSpPr>
        <p:spPr>
          <a:xfrm>
            <a:off x="10588213" y="2915391"/>
            <a:ext cx="1340" cy="11687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B97DC5D-9B2B-6149-AA27-5180A14EDBD0}"/>
              </a:ext>
            </a:extLst>
          </p:cNvPr>
          <p:cNvCxnSpPr>
            <a:cxnSpLocks/>
          </p:cNvCxnSpPr>
          <p:nvPr/>
        </p:nvCxnSpPr>
        <p:spPr>
          <a:xfrm>
            <a:off x="8499895" y="3027125"/>
            <a:ext cx="2088318" cy="688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3B8A0403-9EF3-8C4F-A2FB-FDF3F5BABD5D}"/>
              </a:ext>
            </a:extLst>
          </p:cNvPr>
          <p:cNvCxnSpPr>
            <a:cxnSpLocks/>
          </p:cNvCxnSpPr>
          <p:nvPr/>
        </p:nvCxnSpPr>
        <p:spPr>
          <a:xfrm flipV="1">
            <a:off x="9267317" y="2159298"/>
            <a:ext cx="0" cy="1324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3478F2E-9C4C-8C4D-9F54-5339C9FE673F}"/>
              </a:ext>
            </a:extLst>
          </p:cNvPr>
          <p:cNvCxnSpPr>
            <a:cxnSpLocks/>
          </p:cNvCxnSpPr>
          <p:nvPr/>
        </p:nvCxnSpPr>
        <p:spPr>
          <a:xfrm flipV="1">
            <a:off x="9807360" y="2159298"/>
            <a:ext cx="0" cy="1324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0AC52B13-319D-7C42-974D-CE8C57B6D84D}"/>
              </a:ext>
            </a:extLst>
          </p:cNvPr>
          <p:cNvCxnSpPr>
            <a:cxnSpLocks/>
          </p:cNvCxnSpPr>
          <p:nvPr/>
        </p:nvCxnSpPr>
        <p:spPr>
          <a:xfrm flipV="1">
            <a:off x="10319586" y="2159298"/>
            <a:ext cx="0" cy="1324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6722DA6E-B403-2D46-936B-AC515E4AD1E8}"/>
              </a:ext>
            </a:extLst>
          </p:cNvPr>
          <p:cNvSpPr/>
          <p:nvPr/>
        </p:nvSpPr>
        <p:spPr>
          <a:xfrm>
            <a:off x="7698583" y="2345663"/>
            <a:ext cx="411863" cy="514143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ysClr val="windowText" lastClr="000000"/>
                </a:solidFill>
              </a:rPr>
              <a:t>L</a:t>
            </a:r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9CF2476-95FD-4D46-A115-F2DB62601834}"/>
              </a:ext>
            </a:extLst>
          </p:cNvPr>
          <p:cNvCxnSpPr>
            <a:cxnSpLocks/>
          </p:cNvCxnSpPr>
          <p:nvPr/>
        </p:nvCxnSpPr>
        <p:spPr>
          <a:xfrm>
            <a:off x="7889712" y="2924547"/>
            <a:ext cx="0" cy="10297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E7A448F-BA1C-B44B-B59B-AAE78D723469}"/>
              </a:ext>
            </a:extLst>
          </p:cNvPr>
          <p:cNvSpPr txBox="1"/>
          <p:nvPr/>
        </p:nvSpPr>
        <p:spPr>
          <a:xfrm>
            <a:off x="7499220" y="2993161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leader</a:t>
            </a:r>
            <a:endParaRPr kumimoji="1" lang="zh-CN" altLang="en-US" dirty="0"/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2DD942EA-4976-7F48-B6A1-22B59276B6F9}"/>
              </a:ext>
            </a:extLst>
          </p:cNvPr>
          <p:cNvSpPr/>
          <p:nvPr/>
        </p:nvSpPr>
        <p:spPr>
          <a:xfrm>
            <a:off x="3192986" y="2401819"/>
            <a:ext cx="1112636" cy="395731"/>
          </a:xfrm>
          <a:prstGeom prst="rightArrow">
            <a:avLst>
              <a:gd name="adj1" fmla="val 43504"/>
              <a:gd name="adj2" fmla="val 4042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2" name="Right Arrow 91">
            <a:extLst>
              <a:ext uri="{FF2B5EF4-FFF2-40B4-BE49-F238E27FC236}">
                <a16:creationId xmlns:a16="http://schemas.microsoft.com/office/drawing/2014/main" id="{9C6F7AF7-5747-464F-97B6-86A92AC96914}"/>
              </a:ext>
            </a:extLst>
          </p:cNvPr>
          <p:cNvSpPr/>
          <p:nvPr/>
        </p:nvSpPr>
        <p:spPr>
          <a:xfrm>
            <a:off x="4310940" y="2401819"/>
            <a:ext cx="545110" cy="395731"/>
          </a:xfrm>
          <a:prstGeom prst="rightArrow">
            <a:avLst>
              <a:gd name="adj1" fmla="val 43504"/>
              <a:gd name="adj2" fmla="val 40426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3" name="Right Arrow 92">
            <a:extLst>
              <a:ext uri="{FF2B5EF4-FFF2-40B4-BE49-F238E27FC236}">
                <a16:creationId xmlns:a16="http://schemas.microsoft.com/office/drawing/2014/main" id="{E4FB9ABA-FF83-3742-8F57-F0A3E5212A84}"/>
              </a:ext>
            </a:extLst>
          </p:cNvPr>
          <p:cNvSpPr/>
          <p:nvPr/>
        </p:nvSpPr>
        <p:spPr>
          <a:xfrm>
            <a:off x="4866017" y="2401819"/>
            <a:ext cx="1275185" cy="395731"/>
          </a:xfrm>
          <a:prstGeom prst="rightArrow">
            <a:avLst>
              <a:gd name="adj1" fmla="val 43504"/>
              <a:gd name="adj2" fmla="val 40426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4" name="Right Arrow 93">
            <a:extLst>
              <a:ext uri="{FF2B5EF4-FFF2-40B4-BE49-F238E27FC236}">
                <a16:creationId xmlns:a16="http://schemas.microsoft.com/office/drawing/2014/main" id="{8A49CE7E-E657-A549-AA19-FA89CFC2B746}"/>
              </a:ext>
            </a:extLst>
          </p:cNvPr>
          <p:cNvSpPr/>
          <p:nvPr/>
        </p:nvSpPr>
        <p:spPr>
          <a:xfrm>
            <a:off x="6135004" y="2401819"/>
            <a:ext cx="750701" cy="395731"/>
          </a:xfrm>
          <a:prstGeom prst="rightArrow">
            <a:avLst>
              <a:gd name="adj1" fmla="val 43504"/>
              <a:gd name="adj2" fmla="val 40426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7BA010F-60C8-4B47-BA33-5C3DC4794B5E}"/>
              </a:ext>
            </a:extLst>
          </p:cNvPr>
          <p:cNvCxnSpPr>
            <a:cxnSpLocks/>
          </p:cNvCxnSpPr>
          <p:nvPr/>
        </p:nvCxnSpPr>
        <p:spPr>
          <a:xfrm>
            <a:off x="3192986" y="2162845"/>
            <a:ext cx="371048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271D09E-1ABC-174C-9549-71469278BBA1}"/>
              </a:ext>
            </a:extLst>
          </p:cNvPr>
          <p:cNvSpPr txBox="1"/>
          <p:nvPr/>
        </p:nvSpPr>
        <p:spPr>
          <a:xfrm>
            <a:off x="3534131" y="1691418"/>
            <a:ext cx="2993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CRISPR-associated (</a:t>
            </a:r>
            <a:r>
              <a:rPr kumimoji="1" lang="en-US" altLang="zh-CN" i="1" dirty="0" err="1"/>
              <a:t>cas</a:t>
            </a:r>
            <a:r>
              <a:rPr kumimoji="1" lang="en-US" altLang="zh-CN" dirty="0"/>
              <a:t>) genes</a:t>
            </a:r>
            <a:endParaRPr kumimoji="1" lang="zh-CN" altLang="en-US" dirty="0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B6941EB-11AC-2047-8E0E-9DCE5B9E5777}"/>
              </a:ext>
            </a:extLst>
          </p:cNvPr>
          <p:cNvCxnSpPr>
            <a:cxnSpLocks/>
          </p:cNvCxnSpPr>
          <p:nvPr/>
        </p:nvCxnSpPr>
        <p:spPr>
          <a:xfrm>
            <a:off x="7723983" y="1711530"/>
            <a:ext cx="32494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4A3D3852-4D9D-DC48-8943-B0D3AE9E34EE}"/>
              </a:ext>
            </a:extLst>
          </p:cNvPr>
          <p:cNvSpPr txBox="1"/>
          <p:nvPr/>
        </p:nvSpPr>
        <p:spPr>
          <a:xfrm>
            <a:off x="8796214" y="1311509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CRISPR loci</a:t>
            </a:r>
            <a:endParaRPr kumimoji="1" lang="zh-CN" alt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0EDA0E-EF00-D148-86C0-3F911B9D629E}"/>
              </a:ext>
            </a:extLst>
          </p:cNvPr>
          <p:cNvCxnSpPr>
            <a:cxnSpLocks/>
          </p:cNvCxnSpPr>
          <p:nvPr/>
        </p:nvCxnSpPr>
        <p:spPr>
          <a:xfrm>
            <a:off x="5030696" y="2949497"/>
            <a:ext cx="0" cy="989522"/>
          </a:xfrm>
          <a:prstGeom prst="line">
            <a:avLst/>
          </a:prstGeom>
          <a:ln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8BC7B94-E81F-2443-8B9F-2DD9997EF186}"/>
              </a:ext>
            </a:extLst>
          </p:cNvPr>
          <p:cNvCxnSpPr/>
          <p:nvPr/>
        </p:nvCxnSpPr>
        <p:spPr>
          <a:xfrm flipH="1">
            <a:off x="9531668" y="3429000"/>
            <a:ext cx="1" cy="469566"/>
          </a:xfrm>
          <a:prstGeom prst="line">
            <a:avLst/>
          </a:prstGeom>
          <a:ln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8" name="Picture 47">
            <a:extLst>
              <a:ext uri="{FF2B5EF4-FFF2-40B4-BE49-F238E27FC236}">
                <a16:creationId xmlns:a16="http://schemas.microsoft.com/office/drawing/2014/main" id="{5BC9A883-3ADC-5645-86C5-077C95940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929" y="4093789"/>
            <a:ext cx="990600" cy="8890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EC7D203C-53BE-CF4E-BB2A-6F2C175EA254}"/>
              </a:ext>
            </a:extLst>
          </p:cNvPr>
          <p:cNvSpPr txBox="1"/>
          <p:nvPr/>
        </p:nvSpPr>
        <p:spPr>
          <a:xfrm>
            <a:off x="3332855" y="4223987"/>
            <a:ext cx="972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/>
              <a:t>Cas </a:t>
            </a:r>
          </a:p>
          <a:p>
            <a:pPr algn="ctr"/>
            <a:r>
              <a:rPr kumimoji="1" lang="en-US" altLang="zh-CN" dirty="0"/>
              <a:t>complex</a:t>
            </a:r>
            <a:endParaRPr kumimoji="1" lang="zh-CN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C1A24A-BECB-2F49-924C-87E3302D05B1}"/>
              </a:ext>
            </a:extLst>
          </p:cNvPr>
          <p:cNvSpPr txBox="1"/>
          <p:nvPr/>
        </p:nvSpPr>
        <p:spPr>
          <a:xfrm>
            <a:off x="8522922" y="4878156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crRNA</a:t>
            </a:r>
            <a:endParaRPr kumimoji="1" lang="zh-CN" altLang="en-US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6971A09E-52B9-9149-9C3B-B70C8A01BAC6}"/>
              </a:ext>
            </a:extLst>
          </p:cNvPr>
          <p:cNvCxnSpPr>
            <a:cxnSpLocks/>
          </p:cNvCxnSpPr>
          <p:nvPr/>
        </p:nvCxnSpPr>
        <p:spPr>
          <a:xfrm>
            <a:off x="7876383" y="4123685"/>
            <a:ext cx="386463" cy="0"/>
          </a:xfrm>
          <a:prstGeom prst="line">
            <a:avLst/>
          </a:prstGeom>
          <a:ln w="31750">
            <a:solidFill>
              <a:schemeClr val="accent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5889CC0-D737-734B-A7FA-618110FF10C7}"/>
              </a:ext>
            </a:extLst>
          </p:cNvPr>
          <p:cNvCxnSpPr>
            <a:cxnSpLocks/>
          </p:cNvCxnSpPr>
          <p:nvPr/>
        </p:nvCxnSpPr>
        <p:spPr>
          <a:xfrm>
            <a:off x="8262846" y="4123685"/>
            <a:ext cx="25413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F3F7600D-3394-074B-B624-B995A7E3774A}"/>
              </a:ext>
            </a:extLst>
          </p:cNvPr>
          <p:cNvCxnSpPr>
            <a:cxnSpLocks/>
          </p:cNvCxnSpPr>
          <p:nvPr/>
        </p:nvCxnSpPr>
        <p:spPr>
          <a:xfrm>
            <a:off x="8516985" y="4123685"/>
            <a:ext cx="254139" cy="0"/>
          </a:xfrm>
          <a:prstGeom prst="line">
            <a:avLst/>
          </a:prstGeom>
          <a:ln w="31750">
            <a:solidFill>
              <a:srgbClr val="FFAE47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00006D56-37CA-154B-9C73-825973594DDE}"/>
              </a:ext>
            </a:extLst>
          </p:cNvPr>
          <p:cNvCxnSpPr>
            <a:cxnSpLocks/>
          </p:cNvCxnSpPr>
          <p:nvPr/>
        </p:nvCxnSpPr>
        <p:spPr>
          <a:xfrm>
            <a:off x="8765897" y="4123685"/>
            <a:ext cx="25413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302EF0B2-B3AA-E948-989E-4DBEB9CD8C7C}"/>
              </a:ext>
            </a:extLst>
          </p:cNvPr>
          <p:cNvCxnSpPr>
            <a:cxnSpLocks/>
          </p:cNvCxnSpPr>
          <p:nvPr/>
        </p:nvCxnSpPr>
        <p:spPr>
          <a:xfrm>
            <a:off x="9011875" y="4123685"/>
            <a:ext cx="254139" cy="0"/>
          </a:xfrm>
          <a:prstGeom prst="line">
            <a:avLst/>
          </a:prstGeom>
          <a:ln w="31750">
            <a:solidFill>
              <a:srgbClr val="92D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EB51B6E-799E-0143-9ECD-8D1456BCE2A9}"/>
              </a:ext>
            </a:extLst>
          </p:cNvPr>
          <p:cNvCxnSpPr>
            <a:cxnSpLocks/>
          </p:cNvCxnSpPr>
          <p:nvPr/>
        </p:nvCxnSpPr>
        <p:spPr>
          <a:xfrm>
            <a:off x="9260787" y="4123685"/>
            <a:ext cx="25413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23E321FA-2C18-2B49-9253-AF2218A2B0CE}"/>
              </a:ext>
            </a:extLst>
          </p:cNvPr>
          <p:cNvCxnSpPr>
            <a:cxnSpLocks/>
          </p:cNvCxnSpPr>
          <p:nvPr/>
        </p:nvCxnSpPr>
        <p:spPr>
          <a:xfrm>
            <a:off x="9503030" y="4123685"/>
            <a:ext cx="254139" cy="0"/>
          </a:xfrm>
          <a:prstGeom prst="line">
            <a:avLst/>
          </a:prstGeom>
          <a:ln w="31750">
            <a:solidFill>
              <a:srgbClr val="FF7E79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EBE2BF6D-D94E-9D48-956B-AA6683510725}"/>
              </a:ext>
            </a:extLst>
          </p:cNvPr>
          <p:cNvCxnSpPr>
            <a:cxnSpLocks/>
          </p:cNvCxnSpPr>
          <p:nvPr/>
        </p:nvCxnSpPr>
        <p:spPr>
          <a:xfrm>
            <a:off x="9751942" y="4123685"/>
            <a:ext cx="25413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9D5E9C5-8531-A743-AF84-2C20C8D90CE2}"/>
              </a:ext>
            </a:extLst>
          </p:cNvPr>
          <p:cNvCxnSpPr>
            <a:cxnSpLocks/>
          </p:cNvCxnSpPr>
          <p:nvPr/>
        </p:nvCxnSpPr>
        <p:spPr>
          <a:xfrm>
            <a:off x="9977123" y="4123685"/>
            <a:ext cx="254139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1068C5B-641C-6347-B8EC-5C231B0708E1}"/>
              </a:ext>
            </a:extLst>
          </p:cNvPr>
          <p:cNvCxnSpPr>
            <a:cxnSpLocks/>
          </p:cNvCxnSpPr>
          <p:nvPr/>
        </p:nvCxnSpPr>
        <p:spPr>
          <a:xfrm>
            <a:off x="10226035" y="4123685"/>
            <a:ext cx="25413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18C69418-F975-FB49-AEBF-0CADC2D44586}"/>
              </a:ext>
            </a:extLst>
          </p:cNvPr>
          <p:cNvCxnSpPr>
            <a:cxnSpLocks/>
          </p:cNvCxnSpPr>
          <p:nvPr/>
        </p:nvCxnSpPr>
        <p:spPr>
          <a:xfrm>
            <a:off x="10471916" y="4123685"/>
            <a:ext cx="254139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B1AF0A1-6261-8442-939C-CC0FC3B5156C}"/>
              </a:ext>
            </a:extLst>
          </p:cNvPr>
          <p:cNvCxnSpPr>
            <a:cxnSpLocks/>
          </p:cNvCxnSpPr>
          <p:nvPr/>
        </p:nvCxnSpPr>
        <p:spPr>
          <a:xfrm>
            <a:off x="10720828" y="4123685"/>
            <a:ext cx="25413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60A8D830-5A66-2440-964C-2200BAC95B18}"/>
              </a:ext>
            </a:extLst>
          </p:cNvPr>
          <p:cNvSpPr txBox="1"/>
          <p:nvPr/>
        </p:nvSpPr>
        <p:spPr>
          <a:xfrm>
            <a:off x="6664597" y="3939019"/>
            <a:ext cx="115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pre-crRNA</a:t>
            </a:r>
            <a:endParaRPr kumimoji="1" lang="zh-CN" altLang="en-US" dirty="0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71BB50D8-CB68-E642-A2B1-673C0F4C7BAB}"/>
              </a:ext>
            </a:extLst>
          </p:cNvPr>
          <p:cNvCxnSpPr/>
          <p:nvPr/>
        </p:nvCxnSpPr>
        <p:spPr>
          <a:xfrm flipH="1">
            <a:off x="9531668" y="4337020"/>
            <a:ext cx="1" cy="469566"/>
          </a:xfrm>
          <a:prstGeom prst="line">
            <a:avLst/>
          </a:prstGeom>
          <a:ln>
            <a:tailEnd type="stealt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4" name="Picture 103">
            <a:extLst>
              <a:ext uri="{FF2B5EF4-FFF2-40B4-BE49-F238E27FC236}">
                <a16:creationId xmlns:a16="http://schemas.microsoft.com/office/drawing/2014/main" id="{189DE397-1F59-6144-993B-F4F0DA36D7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17472">
            <a:off x="6323363" y="4821564"/>
            <a:ext cx="1419727" cy="770021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58DBD628-CCB5-1A41-B4E1-9D7CBB4E1DA2}"/>
              </a:ext>
            </a:extLst>
          </p:cNvPr>
          <p:cNvSpPr txBox="1"/>
          <p:nvPr/>
        </p:nvSpPr>
        <p:spPr>
          <a:xfrm>
            <a:off x="6252645" y="5701575"/>
            <a:ext cx="1469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DNA cleavage</a:t>
            </a:r>
            <a:endParaRPr kumimoji="1" lang="zh-CN" altLang="en-US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3E4058D-7211-8349-97F0-C0ABD713C2C2}"/>
              </a:ext>
            </a:extLst>
          </p:cNvPr>
          <p:cNvCxnSpPr>
            <a:cxnSpLocks/>
          </p:cNvCxnSpPr>
          <p:nvPr/>
        </p:nvCxnSpPr>
        <p:spPr>
          <a:xfrm>
            <a:off x="9387856" y="5027839"/>
            <a:ext cx="254139" cy="0"/>
          </a:xfrm>
          <a:prstGeom prst="line">
            <a:avLst/>
          </a:prstGeom>
          <a:ln w="31750">
            <a:solidFill>
              <a:srgbClr val="FFAE47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FE7BB118-44CF-B34E-B1C4-A97FDC2AEC3F}"/>
              </a:ext>
            </a:extLst>
          </p:cNvPr>
          <p:cNvSpPr txBox="1"/>
          <p:nvPr/>
        </p:nvSpPr>
        <p:spPr>
          <a:xfrm>
            <a:off x="0" y="6116552"/>
            <a:ext cx="59305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BlinkMacSystemFont"/>
              </a:rPr>
              <a:t>Marraffini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LA. CRISPR-Cas immunity in prokaryotes.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BlinkMacSystemFont"/>
              </a:rPr>
              <a:t>Nature.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2015 Oct 1;526(7571):55-61.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699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/>
      <p:bldP spid="67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87" grpId="0"/>
      <p:bldP spid="111" grpId="0"/>
      <p:bldP spid="139" grpId="0" animBg="1"/>
      <p:bldP spid="162" grpId="0" animBg="1"/>
      <p:bldP spid="63" grpId="0" animBg="1"/>
      <p:bldP spid="27" grpId="0"/>
      <p:bldP spid="28" grpId="0" animBg="1"/>
      <p:bldP spid="92" grpId="0" animBg="1"/>
      <p:bldP spid="93" grpId="0" animBg="1"/>
      <p:bldP spid="94" grpId="0" animBg="1"/>
      <p:bldP spid="42" grpId="0"/>
      <p:bldP spid="96" grpId="0"/>
      <p:bldP spid="49" grpId="0"/>
      <p:bldP spid="51" grpId="0"/>
      <p:bldP spid="102" grpId="0"/>
      <p:bldP spid="10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7925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Classification of CRISPR-Cas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14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Classification</a:t>
              </a:r>
              <a:endParaRPr kumimoji="1" lang="zh-CN" altLang="en-US" sz="2000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Mechanism</a:t>
              </a:r>
              <a:endParaRPr kumimoji="1" lang="zh-CN" altLang="en-US" sz="2000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7C034AD-ABF1-DB44-8D00-CF873D18C839}"/>
              </a:ext>
            </a:extLst>
          </p:cNvPr>
          <p:cNvSpPr txBox="1"/>
          <p:nvPr/>
        </p:nvSpPr>
        <p:spPr>
          <a:xfrm>
            <a:off x="325821" y="992811"/>
            <a:ext cx="5707206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2 classes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E8B8A6-44A1-8F4A-83B6-EABCBE578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613" y="1577586"/>
            <a:ext cx="10174774" cy="223097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8660136-3B0E-254B-8FA2-BC4B689BFFB6}"/>
              </a:ext>
            </a:extLst>
          </p:cNvPr>
          <p:cNvSpPr/>
          <p:nvPr/>
        </p:nvSpPr>
        <p:spPr>
          <a:xfrm>
            <a:off x="2257063" y="3032567"/>
            <a:ext cx="821803" cy="7759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59BFEC-639C-D14E-A8A0-3967A0FA037C}"/>
              </a:ext>
            </a:extLst>
          </p:cNvPr>
          <p:cNvSpPr/>
          <p:nvPr/>
        </p:nvSpPr>
        <p:spPr>
          <a:xfrm>
            <a:off x="3078867" y="1577585"/>
            <a:ext cx="4166886" cy="22309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06B660-180C-F448-9058-A194B6C5AD46}"/>
              </a:ext>
            </a:extLst>
          </p:cNvPr>
          <p:cNvSpPr txBox="1"/>
          <p:nvPr/>
        </p:nvSpPr>
        <p:spPr>
          <a:xfrm>
            <a:off x="325821" y="4062957"/>
            <a:ext cx="7554203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Class 1: </a:t>
            </a:r>
            <a:r>
              <a:rPr kumimoji="1" lang="en-US" altLang="zh-CN" dirty="0">
                <a:solidFill>
                  <a:srgbClr val="FF0000"/>
                </a:solidFill>
              </a:rPr>
              <a:t>Multiple </a:t>
            </a:r>
            <a:r>
              <a:rPr kumimoji="1" lang="en-US" altLang="zh-CN" dirty="0"/>
              <a:t>Cas proteins form a crRNA-binding complex and function together in binding and processing of the target DNA.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Class 2: A </a:t>
            </a:r>
            <a:r>
              <a:rPr kumimoji="1" lang="en-US" altLang="zh-CN" dirty="0">
                <a:solidFill>
                  <a:srgbClr val="FF0000"/>
                </a:solidFill>
              </a:rPr>
              <a:t>single, multidomain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tracrRNA:crRNA-binding</a:t>
            </a:r>
            <a:r>
              <a:rPr kumimoji="1" lang="en-US" altLang="zh-CN" dirty="0"/>
              <a:t> protein that is functionally analogous to the entire effector complex of class 1.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DF100F-0194-1E41-8C8D-4B79DF7403BD}"/>
              </a:ext>
            </a:extLst>
          </p:cNvPr>
          <p:cNvSpPr txBox="1"/>
          <p:nvPr/>
        </p:nvSpPr>
        <p:spPr>
          <a:xfrm>
            <a:off x="0" y="5901721"/>
            <a:ext cx="62309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Makarova </a:t>
            </a:r>
            <a:r>
              <a:rPr lang="en-US" altLang="zh-CN" sz="1200" i="1" dirty="0">
                <a:solidFill>
                  <a:schemeClr val="accent3"/>
                </a:solidFill>
              </a:rPr>
              <a:t>et al.</a:t>
            </a:r>
            <a:r>
              <a:rPr lang="en-US" altLang="zh-CN" sz="1200" dirty="0">
                <a:solidFill>
                  <a:schemeClr val="accent3"/>
                </a:solidFill>
              </a:rPr>
              <a:t> Evolutionary classification of CRISPR-Cas systems: a burst of class 2 and derived variants. </a:t>
            </a:r>
            <a:r>
              <a:rPr lang="en-US" altLang="zh-CN" sz="1200" i="1" dirty="0">
                <a:solidFill>
                  <a:schemeClr val="accent3"/>
                </a:solidFill>
              </a:rPr>
              <a:t>Nat Rev Microbiol</a:t>
            </a:r>
            <a:r>
              <a:rPr lang="en-US" altLang="zh-CN" sz="1200" dirty="0">
                <a:solidFill>
                  <a:schemeClr val="accent3"/>
                </a:solidFill>
              </a:rPr>
              <a:t>. 2020 Feb;18(2):67-83.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41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7925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Classification of CRISPR-Cas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15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Classification</a:t>
              </a:r>
              <a:endParaRPr kumimoji="1" lang="zh-CN" altLang="en-US" sz="2000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Mechanism</a:t>
              </a:r>
              <a:endParaRPr kumimoji="1" lang="zh-CN" altLang="en-US" sz="2000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7C034AD-ABF1-DB44-8D00-CF873D18C839}"/>
              </a:ext>
            </a:extLst>
          </p:cNvPr>
          <p:cNvSpPr txBox="1"/>
          <p:nvPr/>
        </p:nvSpPr>
        <p:spPr>
          <a:xfrm>
            <a:off x="325821" y="992811"/>
            <a:ext cx="5707206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2 classes further divide into 6 types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95F464-EED3-654D-91DA-BA80C72F0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370" y="1577313"/>
            <a:ext cx="9855260" cy="370337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8C805AA-287B-7249-A7EA-F72887CF2E10}"/>
              </a:ext>
            </a:extLst>
          </p:cNvPr>
          <p:cNvSpPr txBox="1"/>
          <p:nvPr/>
        </p:nvSpPr>
        <p:spPr>
          <a:xfrm>
            <a:off x="636895" y="5381057"/>
            <a:ext cx="7182397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Next, we focus on </a:t>
            </a:r>
            <a:r>
              <a:rPr kumimoji="1" lang="en-US" altLang="zh-CN" b="1" dirty="0"/>
              <a:t>Type I </a:t>
            </a:r>
            <a:r>
              <a:rPr kumimoji="1" lang="en-US" altLang="zh-CN" dirty="0"/>
              <a:t>and</a:t>
            </a:r>
            <a:r>
              <a:rPr kumimoji="1" lang="en-US" altLang="zh-CN" b="1" dirty="0"/>
              <a:t> II </a:t>
            </a:r>
            <a:r>
              <a:rPr kumimoji="1" lang="en-US" altLang="zh-CN" dirty="0"/>
              <a:t>(i.e., </a:t>
            </a:r>
            <a:r>
              <a:rPr kumimoji="1" lang="en-US" altLang="zh-CN" dirty="0">
                <a:hlinkClick r:id="rId3"/>
              </a:rPr>
              <a:t>CRISPR-Cas9</a:t>
            </a:r>
            <a:r>
              <a:rPr kumimoji="1" lang="en-US" altLang="zh-CN" dirty="0"/>
              <a:t>) to see how typical Cas protein(s) function together with crRNA to cleave DNA.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0D6A0A-FC35-694C-987D-48A70AE50F38}"/>
              </a:ext>
            </a:extLst>
          </p:cNvPr>
          <p:cNvSpPr txBox="1"/>
          <p:nvPr/>
        </p:nvSpPr>
        <p:spPr>
          <a:xfrm>
            <a:off x="8133660" y="5564956"/>
            <a:ext cx="37143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Makarova </a:t>
            </a:r>
            <a:r>
              <a:rPr lang="en-US" altLang="zh-CN" sz="1200" i="1" dirty="0">
                <a:solidFill>
                  <a:schemeClr val="accent3"/>
                </a:solidFill>
              </a:rPr>
              <a:t>et al.</a:t>
            </a:r>
            <a:r>
              <a:rPr lang="en-US" altLang="zh-CN" sz="1200" dirty="0">
                <a:solidFill>
                  <a:schemeClr val="accent3"/>
                </a:solidFill>
              </a:rPr>
              <a:t> Evolutionary classification of CRISPR-Cas systems: a burst of class 2 and derived variants. </a:t>
            </a:r>
            <a:r>
              <a:rPr lang="en-US" altLang="zh-CN" sz="1200" i="1" dirty="0">
                <a:solidFill>
                  <a:schemeClr val="accent3"/>
                </a:solidFill>
              </a:rPr>
              <a:t>Nat Rev Microbiol</a:t>
            </a:r>
            <a:r>
              <a:rPr lang="en-US" altLang="zh-CN" sz="1200" dirty="0">
                <a:solidFill>
                  <a:schemeClr val="accent3"/>
                </a:solidFill>
              </a:rPr>
              <a:t>. 2020 Feb;18(2):67-83.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672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Composition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Mechanism</a:t>
              </a:r>
              <a:endParaRPr kumimoji="1" lang="zh-CN" altLang="en-US" sz="2000" b="1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5CCB867-0676-AA4A-A4A4-68370782E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369" y="988627"/>
            <a:ext cx="5088337" cy="51994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AE5001-32D9-994D-951B-6588E3BAFE18}"/>
              </a:ext>
            </a:extLst>
          </p:cNvPr>
          <p:cNvSpPr txBox="1"/>
          <p:nvPr/>
        </p:nvSpPr>
        <p:spPr>
          <a:xfrm>
            <a:off x="325821" y="464150"/>
            <a:ext cx="99793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CRISPR-Cas as an </a:t>
            </a:r>
            <a:r>
              <a:rPr kumimoji="1" lang="en-US" altLang="zh-CN" sz="3200" i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Inheritable</a:t>
            </a:r>
            <a:r>
              <a:rPr kumimoji="1" lang="zh-CN" altLang="en-US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and </a:t>
            </a:r>
            <a:r>
              <a:rPr kumimoji="1" lang="en-US" altLang="zh-CN" sz="3200" i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Adaptive</a:t>
            </a:r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Immune System</a:t>
            </a:r>
            <a:endParaRPr kumimoji="1" lang="zh-CN" alt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ED2AE-0747-4F49-ADD0-72A1BE23D92C}"/>
              </a:ext>
            </a:extLst>
          </p:cNvPr>
          <p:cNvSpPr txBox="1"/>
          <p:nvPr/>
        </p:nvSpPr>
        <p:spPr>
          <a:xfrm>
            <a:off x="0" y="6116552"/>
            <a:ext cx="59305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BlinkMacSystemFont"/>
              </a:rPr>
              <a:t>Marraffini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LA. CRISPR-Cas immunity in prokaryotes.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BlinkMacSystemFont"/>
              </a:rPr>
              <a:t>Nature.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2015 Oct 1;526(7571):55-61.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3BC4F3-7921-9B46-83CF-740F47E62920}"/>
              </a:ext>
            </a:extLst>
          </p:cNvPr>
          <p:cNvSpPr txBox="1"/>
          <p:nvPr/>
        </p:nvSpPr>
        <p:spPr>
          <a:xfrm>
            <a:off x="7438163" y="2400300"/>
            <a:ext cx="3047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Invading DNA (plasmid, phage genome…)</a:t>
            </a:r>
            <a:endParaRPr kumimoji="1"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506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31347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Type I CRISPR-Cas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17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Composition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Mechanism</a:t>
              </a:r>
              <a:endParaRPr kumimoji="1" lang="zh-CN" altLang="en-US" sz="2000" b="1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C099630-9377-584B-BD0D-29350C5A57A8}"/>
              </a:ext>
            </a:extLst>
          </p:cNvPr>
          <p:cNvSpPr txBox="1"/>
          <p:nvPr/>
        </p:nvSpPr>
        <p:spPr>
          <a:xfrm>
            <a:off x="325820" y="992811"/>
            <a:ext cx="8405592" cy="5266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Pre-crRNA forms </a:t>
            </a:r>
            <a:r>
              <a:rPr kumimoji="1" lang="en-CN" altLang="zh-CN" sz="2000" b="1" dirty="0"/>
              <a:t>stem-loop</a:t>
            </a:r>
            <a:r>
              <a:rPr kumimoji="1" lang="en-CN" altLang="zh-CN" sz="2000" dirty="0"/>
              <a:t> structures - </a:t>
            </a:r>
            <a:r>
              <a:rPr kumimoji="1" lang="en-US" altLang="zh-CN" sz="2000" dirty="0"/>
              <a:t>due to </a:t>
            </a:r>
            <a:r>
              <a:rPr kumimoji="1" lang="en-US" altLang="zh-CN" sz="2000" i="1" dirty="0"/>
              <a:t>palindromic</a:t>
            </a:r>
            <a:r>
              <a:rPr kumimoji="1" lang="en-US" altLang="zh-CN" sz="2000" dirty="0"/>
              <a:t> repeats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Cas complex (namely Cascade) cleaves </a:t>
            </a:r>
            <a:r>
              <a:rPr kumimoji="1" lang="en-US" altLang="zh-CN" sz="2000" dirty="0">
                <a:solidFill>
                  <a:srgbClr val="FF0000"/>
                </a:solidFill>
              </a:rPr>
              <a:t>at the base of each stem-loop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Producing short crRNAs associated with Cascade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Cas-crRNA complex scans DNAs to find the sequence (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protospacer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) matching the crRNA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Cascade also needs to recognize a short sequence motif located </a:t>
            </a:r>
            <a:r>
              <a:rPr kumimoji="1" lang="en-US" altLang="zh-CN" dirty="0">
                <a:solidFill>
                  <a:srgbClr val="FF0000"/>
                </a:solidFill>
              </a:rPr>
              <a:t>immediately upstream</a:t>
            </a:r>
            <a:r>
              <a:rPr kumimoji="1" lang="en-US" altLang="zh-CN" dirty="0"/>
              <a:t> of the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protospacer</a:t>
            </a:r>
            <a:r>
              <a:rPr kumimoji="1" lang="en-US" altLang="zh-CN" dirty="0"/>
              <a:t> recognized by the crRNA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This short sequence motif is called</a:t>
            </a:r>
            <a:r>
              <a:rPr kumimoji="1" lang="en-US" altLang="zh-CN" dirty="0">
                <a:solidFill>
                  <a:schemeClr val="accent6"/>
                </a:solidFill>
              </a:rPr>
              <a:t> protospacer adjacent motif (PAM)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b="0" i="0" u="none" strike="noStrike" dirty="0">
                <a:solidFill>
                  <a:schemeClr val="accent5"/>
                </a:solidFill>
                <a:effectLst/>
                <a:latin typeface="system-ui"/>
              </a:rPr>
              <a:t>T</a:t>
            </a:r>
            <a:r>
              <a:rPr lang="en-US" b="0" i="0" u="none" strike="noStrike" dirty="0">
                <a:solidFill>
                  <a:schemeClr val="accent5"/>
                </a:solidFill>
                <a:effectLst/>
                <a:latin typeface="system-ui"/>
              </a:rPr>
              <a:t>wo-factor authentication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Cascade binds to the target 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Annealing of the crRNA to the target strand forms an </a:t>
            </a:r>
            <a:r>
              <a:rPr kumimoji="1" lang="en-US" altLang="zh-CN" b="1" dirty="0"/>
              <a:t>R-loop </a:t>
            </a:r>
            <a:r>
              <a:rPr kumimoji="1" lang="en-US" altLang="zh-CN" dirty="0"/>
              <a:t>in non-target strand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Cas3 nuclease is recruited and cleaves </a:t>
            </a:r>
            <a:r>
              <a:rPr kumimoji="1" lang="en-US" altLang="zh-CN" dirty="0">
                <a:solidFill>
                  <a:srgbClr val="FF0000"/>
                </a:solidFill>
              </a:rPr>
              <a:t>single</a:t>
            </a:r>
            <a:r>
              <a:rPr kumimoji="1" lang="en-US" altLang="zh-CN" dirty="0"/>
              <a:t> strand of the target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B26E5F1-CE53-7A4E-987A-6951D7BF1C31}"/>
              </a:ext>
            </a:extLst>
          </p:cNvPr>
          <p:cNvGrpSpPr/>
          <p:nvPr/>
        </p:nvGrpSpPr>
        <p:grpSpPr>
          <a:xfrm>
            <a:off x="9282124" y="1011040"/>
            <a:ext cx="2095625" cy="4704235"/>
            <a:chOff x="8851050" y="771982"/>
            <a:chExt cx="2512618" cy="548701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F53BF32-6746-4D41-9ACA-B071A134B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51050" y="771982"/>
              <a:ext cx="2512618" cy="5487014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7C6BB79-BCD1-C749-93D3-E47DB7BBC807}"/>
                </a:ext>
              </a:extLst>
            </p:cNvPr>
            <p:cNvCxnSpPr/>
            <p:nvPr/>
          </p:nvCxnSpPr>
          <p:spPr>
            <a:xfrm flipH="1" flipV="1">
              <a:off x="9448800" y="3299589"/>
              <a:ext cx="165100" cy="38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AB1E9B-DD51-CF48-86C6-15E6F4138E33}"/>
                </a:ext>
              </a:extLst>
            </p:cNvPr>
            <p:cNvSpPr txBox="1"/>
            <p:nvPr/>
          </p:nvSpPr>
          <p:spPr>
            <a:xfrm>
              <a:off x="8993552" y="2959829"/>
              <a:ext cx="848833" cy="3737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600" dirty="0">
                  <a:latin typeface="Arial" panose="020B0604020202020204" pitchFamily="34" charset="0"/>
                  <a:cs typeface="Arial" panose="020B0604020202020204" pitchFamily="34" charset="0"/>
                </a:rPr>
                <a:t>R-loop</a:t>
              </a:r>
              <a:endPara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0595773-9F0A-AF4A-A327-FAB99DDF12B6}"/>
              </a:ext>
            </a:extLst>
          </p:cNvPr>
          <p:cNvSpPr txBox="1"/>
          <p:nvPr/>
        </p:nvSpPr>
        <p:spPr>
          <a:xfrm>
            <a:off x="8512207" y="5823730"/>
            <a:ext cx="3378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BlinkMacSystemFont"/>
              </a:rPr>
              <a:t>Marraffini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LA. CRISPR-Cas immunity in prokaryotes.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BlinkMacSystemFont"/>
              </a:rPr>
              <a:t>Nature.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2015 Oct 1;526(7571):55-61.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  <p:pic>
        <p:nvPicPr>
          <p:cNvPr id="15362" name="Picture 2" descr="Image result for palindromic sequence and stem loop">
            <a:extLst>
              <a:ext uri="{FF2B5EF4-FFF2-40B4-BE49-F238E27FC236}">
                <a16:creationId xmlns:a16="http://schemas.microsoft.com/office/drawing/2014/main" id="{D652EE71-0B7F-7743-AB1A-3FE721764F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21" b="33981"/>
          <a:stretch/>
        </p:blipFill>
        <p:spPr bwMode="auto">
          <a:xfrm>
            <a:off x="5327722" y="246623"/>
            <a:ext cx="2269127" cy="963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01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3238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Type II CRISPR-Cas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18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Composition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Mechanism</a:t>
              </a:r>
              <a:endParaRPr kumimoji="1" lang="zh-CN" altLang="en-US" sz="2000" b="1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62ED3C3-3C0B-924F-8520-090E38F38EF9}"/>
              </a:ext>
            </a:extLst>
          </p:cNvPr>
          <p:cNvGrpSpPr/>
          <p:nvPr/>
        </p:nvGrpSpPr>
        <p:grpSpPr>
          <a:xfrm>
            <a:off x="9549473" y="1153005"/>
            <a:ext cx="3142208" cy="4064000"/>
            <a:chOff x="7386092" y="1397000"/>
            <a:chExt cx="3142208" cy="4064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507ADC4-CBC7-8746-889F-4FB0F5A35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86092" y="1397000"/>
              <a:ext cx="2387600" cy="406400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FF9944-16FD-944E-A962-7F783695B8CD}"/>
                </a:ext>
              </a:extLst>
            </p:cNvPr>
            <p:cNvSpPr/>
            <p:nvPr/>
          </p:nvSpPr>
          <p:spPr>
            <a:xfrm>
              <a:off x="9448800" y="2514600"/>
              <a:ext cx="1079500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701869A-AF22-D84F-8DA1-EB7C53A97766}"/>
              </a:ext>
            </a:extLst>
          </p:cNvPr>
          <p:cNvSpPr txBox="1"/>
          <p:nvPr/>
        </p:nvSpPr>
        <p:spPr>
          <a:xfrm>
            <a:off x="325818" y="992811"/>
            <a:ext cx="8907440" cy="5312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Cas9 cleavage of Pre-crRNA does</a:t>
            </a:r>
            <a:r>
              <a:rPr kumimoji="1" lang="en-CN" altLang="zh-CN" sz="2000" b="1" dirty="0"/>
              <a:t> not</a:t>
            </a:r>
            <a:r>
              <a:rPr kumimoji="1" lang="en-CN" altLang="zh-CN" sz="2000" dirty="0"/>
              <a:t> rely on stem-loops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i="1" dirty="0">
                <a:solidFill>
                  <a:srgbClr val="FF7E79"/>
                </a:solidFill>
              </a:rPr>
              <a:t>Trans</a:t>
            </a:r>
            <a:r>
              <a:rPr kumimoji="1" lang="en-CN" altLang="zh-CN" sz="2000" dirty="0">
                <a:solidFill>
                  <a:srgbClr val="FF7E79"/>
                </a:solidFill>
              </a:rPr>
              <a:t>-activating crRNA (tracrRNA)</a:t>
            </a:r>
            <a:r>
              <a:rPr kumimoji="1" lang="en-CN" altLang="zh-CN" sz="2000" dirty="0"/>
              <a:t> links Cas9 and pre-crRNA</a:t>
            </a:r>
            <a:endParaRPr kumimoji="1"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dsRNA is cleaved by 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RNase III </a:t>
            </a:r>
            <a:r>
              <a:rPr kumimoji="1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in the presence of Cas9</a:t>
            </a:r>
            <a:endParaRPr kumimoji="1"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Producing short crRNAs associated with Cas9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Cas9-tracrRNA:crRNA complex scans DNAs to find the 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protospacer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matching the crRNA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/>
              <a:t>Cas9 recognizes </a:t>
            </a:r>
            <a:r>
              <a:rPr kumimoji="1" lang="en-US" altLang="zh-CN" dirty="0">
                <a:solidFill>
                  <a:schemeClr val="accent6"/>
                </a:solidFill>
              </a:rPr>
              <a:t>PAM</a:t>
            </a:r>
            <a:r>
              <a:rPr kumimoji="1" lang="en-US" altLang="zh-CN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immediately downstream</a:t>
            </a:r>
            <a:r>
              <a:rPr kumimoji="1" lang="en-US" altLang="zh-CN" i="1" dirty="0"/>
              <a:t> </a:t>
            </a:r>
            <a:r>
              <a:rPr kumimoji="1" lang="en-US" altLang="zh-CN" dirty="0"/>
              <a:t>of the </a:t>
            </a: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protospacer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Cas9 binds to the target 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Annealing of the crRNA to the target strand forms an </a:t>
            </a:r>
            <a:r>
              <a:rPr kumimoji="1" lang="en-US" altLang="zh-CN" b="1" dirty="0"/>
              <a:t>R-loop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Cas9 undergoes conformational changes that result in activation of its nuclease domains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Nuclease domain of Cas9 cleaves</a:t>
            </a:r>
            <a:r>
              <a:rPr kumimoji="1" lang="en-US" altLang="zh-CN" i="1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double</a:t>
            </a:r>
            <a:r>
              <a:rPr kumimoji="1" lang="en-US" altLang="zh-CN" dirty="0"/>
              <a:t> strands of the target in the presence of Mg</a:t>
            </a:r>
            <a:r>
              <a:rPr kumimoji="1" lang="en-US" altLang="zh-CN" baseline="30000" dirty="0"/>
              <a:t>2+</a:t>
            </a:r>
            <a:endParaRPr kumimoji="1" lang="en-US" altLang="zh-C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024B2F-36B1-4845-AEB1-25D9405C8A98}"/>
              </a:ext>
            </a:extLst>
          </p:cNvPr>
          <p:cNvCxnSpPr/>
          <p:nvPr/>
        </p:nvCxnSpPr>
        <p:spPr>
          <a:xfrm flipH="1" flipV="1">
            <a:off x="10171696" y="3579737"/>
            <a:ext cx="165100" cy="381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648A457-2827-904E-9234-C85A2E7383B6}"/>
              </a:ext>
            </a:extLst>
          </p:cNvPr>
          <p:cNvSpPr txBox="1"/>
          <p:nvPr/>
        </p:nvSpPr>
        <p:spPr>
          <a:xfrm>
            <a:off x="9573946" y="3210405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R-loop</a:t>
            </a:r>
            <a:endParaRPr kumimoji="1"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C7D0EC-4CC8-CA40-906E-EBA6760D37F0}"/>
              </a:ext>
            </a:extLst>
          </p:cNvPr>
          <p:cNvSpPr txBox="1"/>
          <p:nvPr/>
        </p:nvSpPr>
        <p:spPr>
          <a:xfrm>
            <a:off x="9273327" y="5425983"/>
            <a:ext cx="2878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BlinkMacSystemFont"/>
              </a:rPr>
              <a:t>Marraffini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LA. CRISPR-Cas immunity in prokaryotes.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BlinkMacSystemFont"/>
              </a:rPr>
              <a:t>Nature.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2015 Oct 1;526(7571):55-61.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261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58262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Summary: RNA-guided Nucleases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19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Composition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Mechanism</a:t>
              </a:r>
              <a:endParaRPr kumimoji="1" lang="zh-CN" altLang="en-US" sz="20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587F84-4BC3-AA4B-B6D2-E36382DD5762}"/>
                  </a:ext>
                </a:extLst>
              </p:cNvPr>
              <p:cNvSpPr txBox="1"/>
              <p:nvPr/>
            </p:nvSpPr>
            <p:spPr>
              <a:xfrm>
                <a:off x="325819" y="1100035"/>
                <a:ext cx="8206211" cy="43890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CN" altLang="zh-CN" sz="2000" dirty="0"/>
                  <a:t>Site specificity is provided by </a:t>
                </a:r>
                <a:r>
                  <a:rPr kumimoji="1" lang="en-CN" altLang="zh-CN" sz="2000" dirty="0">
                    <a:solidFill>
                      <a:srgbClr val="FF0000"/>
                    </a:solidFill>
                  </a:rPr>
                  <a:t>RNA-DNA base pairing</a:t>
                </a:r>
              </a:p>
              <a:p>
                <a:pPr marL="800100" lvl="1" indent="-342900">
                  <a:lnSpc>
                    <a:spcPct val="150000"/>
                  </a:lnSpc>
                  <a:buFont typeface="Wingdings" pitchFamily="2" charset="2"/>
                  <a:buChar char="ü"/>
                </a:pPr>
                <a:r>
                  <a:rPr kumimoji="1" lang="en-CN" altLang="zh-CN" dirty="0"/>
                  <a:t>rather than protein-DNA interaction</a:t>
                </a:r>
                <a:r>
                  <a:rPr kumimoji="1" lang="en-CN" altLang="zh-CN" sz="2000" dirty="0"/>
                  <a:t>  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en-CN" altLang="zh-CN" sz="2000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1 nt </a:t>
                </a:r>
                <a14:m>
                  <m:oMath xmlns:m="http://schemas.openxmlformats.org/officeDocument/2006/math">
                    <m:r>
                      <a:rPr kumimoji="1" lang="en-CN" altLang="zh-CN" sz="20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kumimoji="1" lang="en-CN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  <a:cs typeface="+mn-cs"/>
                  </a:rPr>
                  <a:t> 1nt, theoretically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  <a:defRPr/>
                </a:pPr>
                <a:r>
                  <a:rPr kumimoji="1" lang="en-CN" altLang="zh-CN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Much higher information capacity than protein-guided mechanisms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  <a:defRPr/>
                </a:pPr>
                <a:r>
                  <a:rPr kumimoji="1" lang="en-CN" altLang="zh-CN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No need to </a:t>
                </a:r>
                <a:r>
                  <a:rPr lang="en-US" b="0" u="none" strike="noStrike" dirty="0">
                    <a:solidFill>
                      <a:srgbClr val="111111"/>
                    </a:solidFill>
                    <a:effectLst/>
                    <a:latin typeface="Calibri" panose="020F0502020204030204" pitchFamily="34" charset="0"/>
                    <a:cs typeface="Calibri" panose="020F0502020204030204" pitchFamily="34" charset="0"/>
                  </a:rPr>
                  <a:t>decrypt</a:t>
                </a:r>
                <a:endParaRPr kumimoji="1" lang="en-CN" altLang="zh-CN" dirty="0">
                  <a:solidFill>
                    <a:prstClr val="black"/>
                  </a:solidFill>
                  <a:latin typeface="Calibri" panose="020F0502020204030204" pitchFamily="34" charset="0"/>
                  <a:ea typeface="等线" panose="02010600030101010101" pitchFamily="2" charset="-122"/>
                  <a:cs typeface="Calibri" panose="020F050202020403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  <a:defRPr/>
                </a:pPr>
                <a:r>
                  <a:rPr kumimoji="1" lang="en-CN" altLang="zh-CN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And nucleotides are much smaller than amino acid residues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1" lang="en-CN" altLang="zh-CN" sz="2000" dirty="0">
                    <a:solidFill>
                      <a:prstClr val="black"/>
                    </a:solidFill>
                  </a:rPr>
                  <a:t>Problems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  <a:defRPr/>
                </a:pPr>
                <a:r>
                  <a:rPr kumimoji="1" lang="en-CN" altLang="zh-CN" dirty="0">
                    <a:solidFill>
                      <a:srgbClr val="FF0000"/>
                    </a:solidFill>
                    <a:latin typeface="Calibri" panose="020F0502020204030204"/>
                    <a:ea typeface="等线" panose="02010600030101010101" pitchFamily="2" charset="-122"/>
                  </a:rPr>
                  <a:t>PAM is necessary</a:t>
                </a:r>
                <a:r>
                  <a:rPr kumimoji="1" lang="en-CN" altLang="zh-CN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 for many Cas nucleases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  <a:defRPr/>
                </a:pPr>
                <a:r>
                  <a:rPr kumimoji="1" lang="en-CN" altLang="zh-CN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Complicated mechanism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itchFamily="2" charset="2"/>
                  <a:buChar char="ü"/>
                  <a:defRPr/>
                </a:pPr>
                <a:r>
                  <a:rPr kumimoji="1" lang="en-CN" altLang="zh-CN" dirty="0">
                    <a:solidFill>
                      <a:prstClr val="black"/>
                    </a:solidFill>
                    <a:latin typeface="Calibri" panose="020F0502020204030204"/>
                    <a:ea typeface="等线" panose="02010600030101010101" pitchFamily="2" charset="-122"/>
                  </a:rPr>
                  <a:t>…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587F84-4BC3-AA4B-B6D2-E36382DD5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19" y="1100035"/>
                <a:ext cx="8206211" cy="4389022"/>
              </a:xfrm>
              <a:prstGeom prst="rect">
                <a:avLst/>
              </a:prstGeom>
              <a:blipFill>
                <a:blip r:embed="rId2"/>
                <a:stretch>
                  <a:fillRect l="-618" b="-11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3586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54138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Aside: Seed Sequence and PAM</a:t>
            </a:r>
            <a:endParaRPr kumimoji="1" lang="zh-CN" alt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20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Composition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Mechanism</a:t>
              </a:r>
              <a:endParaRPr kumimoji="1" lang="zh-CN" altLang="en-US" sz="2000" b="1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701869A-AF22-D84F-8DA1-EB7C53A97766}"/>
              </a:ext>
            </a:extLst>
          </p:cNvPr>
          <p:cNvSpPr txBox="1"/>
          <p:nvPr/>
        </p:nvSpPr>
        <p:spPr>
          <a:xfrm>
            <a:off x="325821" y="1153806"/>
            <a:ext cx="8473254" cy="5220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b="1" dirty="0"/>
              <a:t>Seed Sequence</a:t>
            </a:r>
            <a:r>
              <a:rPr kumimoji="1" lang="en-CN" altLang="zh-CN" sz="2000" dirty="0"/>
              <a:t>:</a:t>
            </a:r>
            <a:r>
              <a:rPr kumimoji="1" lang="zh-CN" altLang="en-US" sz="2000" dirty="0"/>
              <a:t>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short, highly conserved sequence in the crRNA/protospacer </a:t>
            </a:r>
            <a:r>
              <a:rPr lang="en-US" sz="2000" dirty="0">
                <a:solidFill>
                  <a:srgbClr val="000000"/>
                </a:solidFill>
                <a:latin typeface="-webkit-standard"/>
              </a:rPr>
              <a:t>,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critical for the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crRNA recognition and binding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of the target DNA sequence.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b="1" dirty="0"/>
              <a:t>PAM</a:t>
            </a:r>
            <a:r>
              <a:rPr kumimoji="1" lang="en-CN" altLang="zh-CN" sz="2000" dirty="0"/>
              <a:t>: </a:t>
            </a:r>
            <a:r>
              <a:rPr kumimoji="1" lang="zh-CN" altLang="en-US" sz="2000" dirty="0"/>
              <a:t>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short, conserved</a:t>
            </a:r>
            <a:r>
              <a:rPr lang="zh-CN" alt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sequence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 target DNA</a:t>
            </a:r>
            <a:r>
              <a:rPr lang="zh-CN" alt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required for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Cas recognition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b="1" dirty="0"/>
              <a:t>Only exist next to the protospacer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/>
              <a:t>Usually 3 bases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Cas9</a:t>
            </a:r>
            <a:r>
              <a:rPr kumimoji="1" lang="en-CN" altLang="zh-CN" dirty="0"/>
              <a:t>, e.g. </a:t>
            </a:r>
            <a:r>
              <a:rPr kumimoji="1" lang="en-CN" altLang="zh-CN" dirty="0">
                <a:solidFill>
                  <a:srgbClr val="FF0000"/>
                </a:solidFill>
              </a:rPr>
              <a:t>5’-NGG-3’</a:t>
            </a:r>
            <a:r>
              <a:rPr kumimoji="1" lang="en-CN" altLang="zh-CN" dirty="0"/>
              <a:t> for SpCas9 (most widely used Cas9 discovered in </a:t>
            </a:r>
            <a:r>
              <a:rPr lang="en-US" b="0" i="1" u="none" strike="noStrike" dirty="0">
                <a:solidFill>
                  <a:srgbClr val="000000"/>
                </a:solidFill>
                <a:effectLst/>
                <a:latin typeface="-webkit-standard"/>
              </a:rPr>
              <a:t>Streptococcus pyogenes</a:t>
            </a:r>
            <a:r>
              <a:rPr kumimoji="1" lang="en-CN" altLang="zh-CN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Two-factor authentication to avoid </a:t>
            </a:r>
            <a:r>
              <a:rPr kumimoji="1" lang="en-CN" altLang="zh-CN" sz="2000" b="1" dirty="0"/>
              <a:t>auto-immunity</a:t>
            </a:r>
            <a:endParaRPr kumimoji="1" lang="en-US" altLang="zh-CN" sz="2000" b="1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Type I: crRNA and Cascade recognize the </a:t>
            </a:r>
            <a:r>
              <a:rPr kumimoji="1" lang="en-US" altLang="zh-CN" dirty="0">
                <a:solidFill>
                  <a:srgbClr val="FF0000"/>
                </a:solidFill>
              </a:rPr>
              <a:t>complementary </a:t>
            </a:r>
            <a:r>
              <a:rPr kumimoji="1" lang="en-US" altLang="zh-CN" dirty="0"/>
              <a:t>strand of DNA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Type II: crRNA and Cas9 recognize </a:t>
            </a:r>
            <a:r>
              <a:rPr kumimoji="1" lang="en-US" altLang="zh-CN" dirty="0">
                <a:solidFill>
                  <a:srgbClr val="FF0000"/>
                </a:solidFill>
              </a:rPr>
              <a:t>complementary </a:t>
            </a:r>
            <a:r>
              <a:rPr kumimoji="1" lang="en-US" altLang="zh-CN" dirty="0"/>
              <a:t>and</a:t>
            </a:r>
            <a:r>
              <a:rPr kumimoji="1" lang="en-US" altLang="zh-CN" dirty="0">
                <a:solidFill>
                  <a:srgbClr val="FF0000"/>
                </a:solidFill>
              </a:rPr>
              <a:t> non-complementary</a:t>
            </a:r>
            <a:r>
              <a:rPr kumimoji="1" lang="en-US" altLang="zh-CN" dirty="0"/>
              <a:t> strands of DNA, respectively</a:t>
            </a:r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(Type III Cas does not rely on PAM, instead relies on differential base pairing between crRNA tag and the target sequence)</a:t>
            </a:r>
            <a:endParaRPr kumimoji="1" lang="en-CN" altLang="zh-C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6F4E8D-A05F-9B41-8CCF-C6A1DBF43E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8984" r="2560" b="18516"/>
          <a:stretch/>
        </p:blipFill>
        <p:spPr>
          <a:xfrm>
            <a:off x="8889362" y="2555985"/>
            <a:ext cx="2594897" cy="10228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5F1167-D279-994F-8E7F-D16D2403BDB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8869" b="18309"/>
          <a:stretch/>
        </p:blipFill>
        <p:spPr>
          <a:xfrm>
            <a:off x="8889362" y="1185645"/>
            <a:ext cx="3236306" cy="90619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1614887-C9C3-474E-A409-06B5B7CD4B7F}"/>
              </a:ext>
            </a:extLst>
          </p:cNvPr>
          <p:cNvGrpSpPr/>
          <p:nvPr/>
        </p:nvGrpSpPr>
        <p:grpSpPr>
          <a:xfrm>
            <a:off x="8741038" y="4043022"/>
            <a:ext cx="2565400" cy="2038978"/>
            <a:chOff x="8534341" y="3848864"/>
            <a:chExt cx="2565400" cy="203897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C7DF7E0-B54E-944D-BB35-4E3C2D45C800}"/>
                </a:ext>
              </a:extLst>
            </p:cNvPr>
            <p:cNvGrpSpPr/>
            <p:nvPr/>
          </p:nvGrpSpPr>
          <p:grpSpPr>
            <a:xfrm>
              <a:off x="8534341" y="3848864"/>
              <a:ext cx="2565400" cy="2038978"/>
              <a:chOff x="8566434" y="4172310"/>
              <a:chExt cx="2565400" cy="2038978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39DBB0F6-67E4-C040-84C3-D0D5AE7A53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66434" y="4172310"/>
                <a:ext cx="2565400" cy="1663700"/>
              </a:xfrm>
              <a:prstGeom prst="rect">
                <a:avLst/>
              </a:prstGeom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ABF0FAB-1864-2F44-9464-CBF4EA930913}"/>
                  </a:ext>
                </a:extLst>
              </p:cNvPr>
              <p:cNvSpPr/>
              <p:nvPr/>
            </p:nvSpPr>
            <p:spPr>
              <a:xfrm>
                <a:off x="9213850" y="5747138"/>
                <a:ext cx="469900" cy="4641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CA9D16-DB83-D047-8F77-18D709ACADB7}"/>
                </a:ext>
              </a:extLst>
            </p:cNvPr>
            <p:cNvSpPr/>
            <p:nvPr/>
          </p:nvSpPr>
          <p:spPr>
            <a:xfrm>
              <a:off x="9980114" y="5256982"/>
              <a:ext cx="469900" cy="464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8D7A9E8-C87B-F842-B1AB-6215D37B7E89}"/>
              </a:ext>
            </a:extLst>
          </p:cNvPr>
          <p:cNvSpPr txBox="1"/>
          <p:nvPr/>
        </p:nvSpPr>
        <p:spPr>
          <a:xfrm>
            <a:off x="8427834" y="5776260"/>
            <a:ext cx="34383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BlinkMacSystemFont"/>
              </a:rPr>
              <a:t>Marraffini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LA. CRISPR-Cas immunity in prokaryotes.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BlinkMacSystemFont"/>
              </a:rPr>
              <a:t>Nature.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2015 Oct 1;526(7571):55-61.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941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21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95DCF65-93BB-9C4B-A7D6-A30D1F6F2B65}"/>
              </a:ext>
            </a:extLst>
          </p:cNvPr>
          <p:cNvGrpSpPr/>
          <p:nvPr/>
        </p:nvGrpSpPr>
        <p:grpSpPr>
          <a:xfrm>
            <a:off x="0" y="6393850"/>
            <a:ext cx="12192000" cy="464151"/>
            <a:chOff x="0" y="6393850"/>
            <a:chExt cx="7962900" cy="46415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87F2F2-D715-C64B-B540-8DAC274AFED3}"/>
                </a:ext>
              </a:extLst>
            </p:cNvPr>
            <p:cNvSpPr/>
            <p:nvPr/>
          </p:nvSpPr>
          <p:spPr>
            <a:xfrm>
              <a:off x="0" y="6393851"/>
              <a:ext cx="2650603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Introduction</a:t>
              </a:r>
              <a:endParaRPr kumimoji="1" lang="zh-CN" altLang="en-US" sz="20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A1F732-659B-224D-84D3-7EE3E45ACF93}"/>
                </a:ext>
              </a:extLst>
            </p:cNvPr>
            <p:cNvSpPr/>
            <p:nvPr/>
          </p:nvSpPr>
          <p:spPr>
            <a:xfrm>
              <a:off x="2650603" y="6393850"/>
              <a:ext cx="2661695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Composition</a:t>
              </a:r>
              <a:endParaRPr kumimoji="1" lang="zh-CN" altLang="en-US" sz="2000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4F58786-A380-B54C-872B-11A9266BE734}"/>
                </a:ext>
              </a:extLst>
            </p:cNvPr>
            <p:cNvSpPr/>
            <p:nvPr/>
          </p:nvSpPr>
          <p:spPr>
            <a:xfrm>
              <a:off x="5312297" y="6393850"/>
              <a:ext cx="2650603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Mechanism</a:t>
              </a:r>
              <a:endParaRPr kumimoji="1" lang="zh-CN" altLang="en-US" sz="2000" b="1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CAE5001-32D9-994D-951B-6588E3BAFE18}"/>
              </a:ext>
            </a:extLst>
          </p:cNvPr>
          <p:cNvSpPr txBox="1"/>
          <p:nvPr/>
        </p:nvSpPr>
        <p:spPr>
          <a:xfrm>
            <a:off x="325821" y="464150"/>
            <a:ext cx="5568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Aside: CRISPR-Cas Immunization</a:t>
            </a:r>
            <a:endParaRPr kumimoji="1" lang="zh-CN" altLang="en-US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012B81-0A67-6146-862C-F3E2E9C66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829" y="1362017"/>
            <a:ext cx="7183177" cy="42025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2E7EF5-98C9-6049-8076-F3369710E79C}"/>
              </a:ext>
            </a:extLst>
          </p:cNvPr>
          <p:cNvSpPr txBox="1"/>
          <p:nvPr/>
        </p:nvSpPr>
        <p:spPr>
          <a:xfrm>
            <a:off x="325820" y="1100035"/>
            <a:ext cx="4232532" cy="4296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Spacer sampling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/>
              <a:t>Cas1&amp;2 are involved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solidFill>
                  <a:srgbClr val="FF0000"/>
                </a:solidFill>
              </a:rPr>
              <a:t>PAM (e.g., NGG) must be near the protospacer</a:t>
            </a:r>
            <a:endParaRPr kumimoji="1" lang="en-CN" altLang="zh-CN" dirty="0">
              <a:solidFill>
                <a:schemeClr val="accent5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Spacer integration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A reaction that resembles retroviral integration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Could be viewed as a type of horizontal </a:t>
            </a:r>
            <a:r>
              <a:rPr lang="en-US" b="0" i="0" u="none" strike="noStrike" dirty="0">
                <a:solidFill>
                  <a:srgbClr val="111111"/>
                </a:solidFill>
                <a:effectLst/>
                <a:latin typeface="system-ui"/>
              </a:rPr>
              <a:t>gene transfer (HGT)</a:t>
            </a:r>
            <a:r>
              <a:rPr kumimoji="1" lang="en-US" altLang="zh-CN" dirty="0"/>
              <a:t> 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>
                <a:solidFill>
                  <a:schemeClr val="accent5"/>
                </a:solidFill>
              </a:rPr>
              <a:t>Why always repeat-spacer-…repeat?</a:t>
            </a:r>
            <a:endParaRPr kumimoji="1" lang="en-CN" altLang="zh-CN" dirty="0">
              <a:solidFill>
                <a:schemeClr val="accent5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A5592-7411-4947-82B7-1987D1FECDC3}"/>
              </a:ext>
            </a:extLst>
          </p:cNvPr>
          <p:cNvSpPr txBox="1"/>
          <p:nvPr/>
        </p:nvSpPr>
        <p:spPr>
          <a:xfrm>
            <a:off x="8427834" y="5776260"/>
            <a:ext cx="34383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BlinkMacSystemFont"/>
              </a:rPr>
              <a:t>Marraffini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LA. CRISPR-Cas immunity in prokaryotes.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BlinkMacSystemFont"/>
              </a:rPr>
              <a:t>Nature.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BlinkMacSystemFont"/>
              </a:rPr>
              <a:t> 2015 Oct 1;526(7571):55-61.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7A913A-44F3-354E-BF4E-C8C815B9D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27" y="5224994"/>
            <a:ext cx="3841750" cy="116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760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83741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CRISPR/Cas-derived Genome Editing</a:t>
            </a:r>
          </a:p>
        </p:txBody>
      </p:sp>
    </p:spTree>
    <p:extLst>
      <p:ext uri="{BB962C8B-B14F-4D97-AF65-F5344CB8AC3E}">
        <p14:creationId xmlns:p14="http://schemas.microsoft.com/office/powerpoint/2010/main" val="1785770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66141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Class 2 CRISPR-Cas for Genome Editing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776E9A-5EC6-504C-ADE8-0F5CE1FAB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05" y="1277332"/>
            <a:ext cx="10174774" cy="22309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64CC262-F3C5-EA4C-8A15-71F952657804}"/>
              </a:ext>
            </a:extLst>
          </p:cNvPr>
          <p:cNvSpPr/>
          <p:nvPr/>
        </p:nvSpPr>
        <p:spPr>
          <a:xfrm>
            <a:off x="2311655" y="2732313"/>
            <a:ext cx="821803" cy="77599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EBC4C8-1BC1-3F47-B8EE-1B913AB17732}"/>
              </a:ext>
            </a:extLst>
          </p:cNvPr>
          <p:cNvSpPr/>
          <p:nvPr/>
        </p:nvSpPr>
        <p:spPr>
          <a:xfrm>
            <a:off x="3133459" y="1277331"/>
            <a:ext cx="4166886" cy="22309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B173F6C-9664-EC44-8630-8F392C85AB62}"/>
              </a:ext>
            </a:extLst>
          </p:cNvPr>
          <p:cNvCxnSpPr>
            <a:cxnSpLocks/>
          </p:cNvCxnSpPr>
          <p:nvPr/>
        </p:nvCxnSpPr>
        <p:spPr>
          <a:xfrm>
            <a:off x="7300344" y="3508302"/>
            <a:ext cx="634272" cy="3676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476A1DF-B98B-584A-846D-F1E9FEC08A16}"/>
              </a:ext>
            </a:extLst>
          </p:cNvPr>
          <p:cNvSpPr txBox="1"/>
          <p:nvPr/>
        </p:nvSpPr>
        <p:spPr>
          <a:xfrm>
            <a:off x="7934616" y="3762702"/>
            <a:ext cx="4166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This is why Class 2 CRISPR-Cas systems are selected to manipulate genome.</a:t>
            </a:r>
            <a:endParaRPr kumimoji="1" lang="zh-CN" alt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7E806E-AFAB-9A49-ADA3-48AECCECDEB7}"/>
              </a:ext>
            </a:extLst>
          </p:cNvPr>
          <p:cNvCxnSpPr>
            <a:cxnSpLocks/>
          </p:cNvCxnSpPr>
          <p:nvPr/>
        </p:nvCxnSpPr>
        <p:spPr>
          <a:xfrm flipH="1" flipV="1">
            <a:off x="1828801" y="2606719"/>
            <a:ext cx="482854" cy="12559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5788EC9-ED52-6A4F-825E-0C94F04BDE84}"/>
              </a:ext>
            </a:extLst>
          </p:cNvPr>
          <p:cNvSpPr txBox="1"/>
          <p:nvPr/>
        </p:nvSpPr>
        <p:spPr>
          <a:xfrm>
            <a:off x="54593" y="2139074"/>
            <a:ext cx="2257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This is why they need to be engineered.</a:t>
            </a:r>
            <a:endParaRPr kumimoji="1"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EA2FAC-1D46-7B41-8088-03EFABC1559D}"/>
              </a:ext>
            </a:extLst>
          </p:cNvPr>
          <p:cNvSpPr txBox="1"/>
          <p:nvPr/>
        </p:nvSpPr>
        <p:spPr>
          <a:xfrm>
            <a:off x="325821" y="4291052"/>
            <a:ext cx="7235038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Within class 2,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Cas9 (Type II)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and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Cas12 (Type V)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are the most widely used nucleases in the context of genome editing.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By default, our discussion below will mainly focus on Cas9, with Cas12 as complement.</a:t>
            </a:r>
            <a:endParaRPr kumimoji="1" lang="en-CN" altLang="zh-CN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15C659-1AC5-4C4C-A06B-33DBE49E2865}"/>
                  </a:ext>
                </a:extLst>
              </p:cNvPr>
              <p:cNvSpPr txBox="1"/>
              <p:nvPr/>
            </p:nvSpPr>
            <p:spPr>
              <a:xfrm>
                <a:off x="8378524" y="4590365"/>
                <a:ext cx="262123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kumimoji="1" lang="en-US" altLang="zh-CN" dirty="0"/>
                  <a:t>  only one Cas nucleases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dirty="0"/>
                  <a:t> an extra RNA required</a:t>
                </a:r>
                <a:endParaRPr kumimoji="1" lang="zh-CN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15C659-1AC5-4C4C-A06B-33DBE49E2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8524" y="4590365"/>
                <a:ext cx="2621230" cy="646331"/>
              </a:xfrm>
              <a:prstGeom prst="rect">
                <a:avLst/>
              </a:prstGeom>
              <a:blipFill>
                <a:blip r:embed="rId3"/>
                <a:stretch>
                  <a:fillRect t="-3846" r="-1449" b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E4D0394-B6BA-D043-B507-1C60688797CB}"/>
              </a:ext>
            </a:extLst>
          </p:cNvPr>
          <p:cNvSpPr txBox="1"/>
          <p:nvPr/>
        </p:nvSpPr>
        <p:spPr>
          <a:xfrm>
            <a:off x="7934616" y="5859173"/>
            <a:ext cx="37143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Makarova </a:t>
            </a:r>
            <a:r>
              <a:rPr lang="en-US" altLang="zh-CN" sz="1200" i="1" dirty="0">
                <a:solidFill>
                  <a:schemeClr val="accent3"/>
                </a:solidFill>
              </a:rPr>
              <a:t>et al.</a:t>
            </a:r>
            <a:r>
              <a:rPr lang="en-US" altLang="zh-CN" sz="1200" dirty="0">
                <a:solidFill>
                  <a:schemeClr val="accent3"/>
                </a:solidFill>
              </a:rPr>
              <a:t> Evolutionary classification of CRISPR-Cas systems: a burst of class 2 and derived variants. </a:t>
            </a:r>
            <a:r>
              <a:rPr lang="en-US" altLang="zh-CN" sz="1200" i="1" dirty="0">
                <a:solidFill>
                  <a:schemeClr val="accent3"/>
                </a:solidFill>
              </a:rPr>
              <a:t>Nat Rev Microbiol</a:t>
            </a:r>
            <a:r>
              <a:rPr lang="en-US" altLang="zh-CN" sz="1200" dirty="0">
                <a:solidFill>
                  <a:schemeClr val="accent3"/>
                </a:solidFill>
              </a:rPr>
              <a:t>. 2020 Feb;18(2):67-83.</a:t>
            </a:r>
            <a:endParaRPr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025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/>
      <p:bldP spid="14" grpId="0"/>
      <p:bldP spid="16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03573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Unlocking the Potential of CRISPR-Cas-based Genome Editing</a:t>
            </a:r>
            <a:endParaRPr kumimoji="1" lang="en-US" altLang="zh-CN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CB9135-FF19-F246-9AE6-A75BF6485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51" y="1960300"/>
            <a:ext cx="6294556" cy="21041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4E458F-3761-5C46-BE53-C5626865C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892" y="1454389"/>
            <a:ext cx="3990299" cy="3795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7D338B-E6AD-CD4A-BABD-4954C7F48746}"/>
              </a:ext>
            </a:extLst>
          </p:cNvPr>
          <p:cNvSpPr txBox="1"/>
          <p:nvPr/>
        </p:nvSpPr>
        <p:spPr>
          <a:xfrm>
            <a:off x="7191099" y="5250229"/>
            <a:ext cx="4489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Nobel Prize in Chemistry 2020</a:t>
            </a:r>
          </a:p>
          <a:p>
            <a:pPr algn="ctr"/>
            <a:r>
              <a:rPr kumimoji="1" lang="en-US" altLang="zh-CN" sz="1400" i="1" dirty="0"/>
              <a:t>“</a:t>
            </a:r>
            <a:r>
              <a:rPr lang="en-US" sz="1400" b="0" i="1" u="none" strike="noStrike" dirty="0">
                <a:solidFill>
                  <a:srgbClr val="2E2A25"/>
                </a:solidFill>
                <a:effectLst/>
                <a:latin typeface="Alfred Serif"/>
              </a:rPr>
              <a:t>for the development of a method for genome editing</a:t>
            </a:r>
            <a:r>
              <a:rPr kumimoji="1" lang="en-US" altLang="zh-CN" sz="1400" i="1" dirty="0"/>
              <a:t>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88CDE-B8DD-7D46-ADA3-4541490B01D3}"/>
              </a:ext>
            </a:extLst>
          </p:cNvPr>
          <p:cNvSpPr txBox="1"/>
          <p:nvPr/>
        </p:nvSpPr>
        <p:spPr>
          <a:xfrm>
            <a:off x="743099" y="4492687"/>
            <a:ext cx="6101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“</a:t>
            </a:r>
            <a:r>
              <a:rPr lang="zh-CN" altLang="en-US" dirty="0"/>
              <a:t>The </a:t>
            </a:r>
            <a:r>
              <a:rPr lang="zh-CN" altLang="en-US" dirty="0">
                <a:solidFill>
                  <a:srgbClr val="FF0000"/>
                </a:solidFill>
              </a:rPr>
              <a:t>dual-tracrRNA:crRNA</a:t>
            </a:r>
            <a:r>
              <a:rPr lang="zh-CN" altLang="en-US" dirty="0"/>
              <a:t>, when engineered as </a:t>
            </a:r>
            <a:r>
              <a:rPr lang="zh-CN" altLang="en-US" dirty="0">
                <a:solidFill>
                  <a:srgbClr val="FF0000"/>
                </a:solidFill>
              </a:rPr>
              <a:t>a single RNA chimera</a:t>
            </a:r>
            <a:r>
              <a:rPr lang="zh-CN" altLang="en-US" dirty="0"/>
              <a:t>, also directs sequence-specific Cas9 dsDNA cleavage.</a:t>
            </a:r>
            <a:r>
              <a:rPr lang="en-US" altLang="zh-CN" dirty="0"/>
              <a:t>”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1B43C6-AA39-9D46-9C0B-7F46DDBD0D73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</p:spTree>
    <p:extLst>
      <p:ext uri="{BB962C8B-B14F-4D97-AF65-F5344CB8AC3E}">
        <p14:creationId xmlns:p14="http://schemas.microsoft.com/office/powerpoint/2010/main" val="571569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25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78BF92-2B21-A145-BF07-50EA2B0EDDAB}"/>
              </a:ext>
            </a:extLst>
          </p:cNvPr>
          <p:cNvSpPr txBox="1"/>
          <p:nvPr/>
        </p:nvSpPr>
        <p:spPr>
          <a:xfrm>
            <a:off x="325821" y="464150"/>
            <a:ext cx="67539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CRISPR-Cas9 Machinery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EFB511E-6B3D-E74B-847A-84688BFD901A}"/>
              </a:ext>
            </a:extLst>
          </p:cNvPr>
          <p:cNvGrpSpPr/>
          <p:nvPr/>
        </p:nvGrpSpPr>
        <p:grpSpPr>
          <a:xfrm>
            <a:off x="899465" y="1648044"/>
            <a:ext cx="10393069" cy="2810966"/>
            <a:chOff x="111645" y="1640912"/>
            <a:chExt cx="11968709" cy="322707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316460B-6F29-9741-8F7D-2B744A071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645" y="1990014"/>
              <a:ext cx="11968709" cy="2877972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BAAF98E-815B-7B4F-AD64-1E5AFB80FB41}"/>
                </a:ext>
              </a:extLst>
            </p:cNvPr>
            <p:cNvSpPr/>
            <p:nvPr/>
          </p:nvSpPr>
          <p:spPr>
            <a:xfrm>
              <a:off x="5818896" y="1640912"/>
              <a:ext cx="1079500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F88CE7D-5D3B-9A4C-910B-4CE6A7B2F784}"/>
                </a:ext>
              </a:extLst>
            </p:cNvPr>
            <p:cNvSpPr/>
            <p:nvPr/>
          </p:nvSpPr>
          <p:spPr>
            <a:xfrm>
              <a:off x="5818896" y="2723811"/>
              <a:ext cx="1079500" cy="333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ABCA772-FAF5-1446-B327-F7534AA88972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2360A2-A742-F342-984C-5D1BFBCD5971}"/>
              </a:ext>
            </a:extLst>
          </p:cNvPr>
          <p:cNvSpPr txBox="1"/>
          <p:nvPr/>
        </p:nvSpPr>
        <p:spPr>
          <a:xfrm>
            <a:off x="2102176" y="5137663"/>
            <a:ext cx="84437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i="1" dirty="0"/>
              <a:t>At that time, </a:t>
            </a:r>
            <a:r>
              <a:rPr kumimoji="1" lang="en-US" altLang="zh-CN" sz="2000" i="1" dirty="0" err="1"/>
              <a:t>tracrRNA</a:t>
            </a:r>
            <a:r>
              <a:rPr kumimoji="1" lang="en-US" altLang="zh-CN" sz="2000" i="1" dirty="0"/>
              <a:t> was considered to function only in pre-crRNA processing.</a:t>
            </a:r>
            <a:endParaRPr kumimoji="1" lang="zh-CN" alt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2193651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94812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</a:t>
            </a:r>
            <a:r>
              <a:rPr kumimoji="1" lang="en-US" altLang="zh-CN" sz="3200" dirty="0" err="1"/>
              <a:t>tracrRNA</a:t>
            </a:r>
            <a:r>
              <a:rPr kumimoji="1" lang="en-US" altLang="zh-CN" sz="3200" dirty="0"/>
              <a:t> also functions in DNA cleavage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FDE011-8D2D-C140-A8BE-1DFDC912D524}"/>
                  </a:ext>
                </a:extLst>
              </p:cNvPr>
              <p:cNvSpPr txBox="1"/>
              <p:nvPr/>
            </p:nvSpPr>
            <p:spPr>
              <a:xfrm>
                <a:off x="2909626" y="5509810"/>
                <a:ext cx="63727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000" dirty="0"/>
                  <a:t>sp2 + Cas9 + crRNA-sp2 + </a:t>
                </a:r>
                <a:r>
                  <a:rPr kumimoji="1" lang="en-US" altLang="zh-CN" sz="2000" b="1" dirty="0" err="1"/>
                  <a:t>tracrRNA</a:t>
                </a:r>
                <a:r>
                  <a:rPr kumimoji="1" lang="en-US" altLang="zh-CN" sz="2000" dirty="0"/>
                  <a:t> + Mg</a:t>
                </a:r>
                <a:r>
                  <a:rPr kumimoji="1" lang="en-US" altLang="zh-CN" sz="2000" baseline="30000" dirty="0"/>
                  <a:t>2+</a:t>
                </a:r>
                <a:r>
                  <a:rPr kumimoji="1"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kumimoji="1" lang="en-US" altLang="zh-CN" sz="2000" dirty="0"/>
                  <a:t> DNA cleavage</a:t>
                </a:r>
                <a:endParaRPr kumimoji="1" lang="zh-CN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FDE011-8D2D-C140-A8BE-1DFDC912D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626" y="5509810"/>
                <a:ext cx="6372748" cy="400110"/>
              </a:xfrm>
              <a:prstGeom prst="rect">
                <a:avLst/>
              </a:prstGeom>
              <a:blipFill>
                <a:blip r:embed="rId2"/>
                <a:stretch>
                  <a:fillRect l="-198" t="-6061" r="-198" b="-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4A6CB1E-3CE4-6E4A-A897-86032A9F9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21" y="1599182"/>
            <a:ext cx="6021799" cy="33363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161D60-94ED-D243-AC55-53F4A210B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670" y="1148135"/>
            <a:ext cx="5177509" cy="42384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B736F8-9326-E24F-80CE-7528C181744C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</p:spTree>
    <p:extLst>
      <p:ext uri="{BB962C8B-B14F-4D97-AF65-F5344CB8AC3E}">
        <p14:creationId xmlns:p14="http://schemas.microsoft.com/office/powerpoint/2010/main" val="3797943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72041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Site-specific DNA Cleavage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B67548D-5C48-6745-84D4-BCC1711624E3}"/>
              </a:ext>
            </a:extLst>
          </p:cNvPr>
          <p:cNvGrpSpPr/>
          <p:nvPr/>
        </p:nvGrpSpPr>
        <p:grpSpPr>
          <a:xfrm>
            <a:off x="3302745" y="1412432"/>
            <a:ext cx="2452103" cy="3144396"/>
            <a:chOff x="562841" y="3682309"/>
            <a:chExt cx="2272580" cy="3179221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7281B6C-0B11-5648-A7D2-F8CB59CF89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6877"/>
            <a:stretch/>
          </p:blipFill>
          <p:spPr>
            <a:xfrm>
              <a:off x="741116" y="3682309"/>
              <a:ext cx="2094305" cy="3179221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A49B736-B348-E94C-BBC7-F0C41F1C1DA9}"/>
                </a:ext>
              </a:extLst>
            </p:cNvPr>
            <p:cNvSpPr/>
            <p:nvPr/>
          </p:nvSpPr>
          <p:spPr>
            <a:xfrm>
              <a:off x="562841" y="3682309"/>
              <a:ext cx="592183" cy="7993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38E674-EC5D-5C47-BDD0-75A1C6570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38" y="1466974"/>
            <a:ext cx="2907974" cy="3144396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6554300B-B30C-6643-9850-C0F82B5BE13D}"/>
              </a:ext>
            </a:extLst>
          </p:cNvPr>
          <p:cNvGrpSpPr/>
          <p:nvPr/>
        </p:nvGrpSpPr>
        <p:grpSpPr>
          <a:xfrm>
            <a:off x="462614" y="4656525"/>
            <a:ext cx="6987902" cy="1697625"/>
            <a:chOff x="548680" y="4761930"/>
            <a:chExt cx="7174524" cy="169762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53A95C1-2B1D-EB43-8719-679EED6761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-2" b="-1188"/>
            <a:stretch/>
          </p:blipFill>
          <p:spPr>
            <a:xfrm>
              <a:off x="548680" y="4761930"/>
              <a:ext cx="7174524" cy="169762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D82BCC7-B65A-1F4D-9B67-AEF54B91792A}"/>
                </a:ext>
              </a:extLst>
            </p:cNvPr>
            <p:cNvSpPr/>
            <p:nvPr/>
          </p:nvSpPr>
          <p:spPr>
            <a:xfrm>
              <a:off x="4326861" y="5363677"/>
              <a:ext cx="592183" cy="102326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B062BD1-D26F-EC4F-BD8C-360329DA8787}"/>
                </a:ext>
              </a:extLst>
            </p:cNvPr>
            <p:cNvSpPr/>
            <p:nvPr/>
          </p:nvSpPr>
          <p:spPr>
            <a:xfrm>
              <a:off x="3029284" y="5016348"/>
              <a:ext cx="1387716" cy="166626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2B91B1F-150D-B145-9296-512F148F5969}"/>
              </a:ext>
            </a:extLst>
          </p:cNvPr>
          <p:cNvSpPr txBox="1"/>
          <p:nvPr/>
        </p:nvSpPr>
        <p:spPr>
          <a:xfrm>
            <a:off x="5794714" y="1093343"/>
            <a:ext cx="6240767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For SpCas9 (used in this research), Cleavage usually occurs at</a:t>
            </a:r>
            <a:r>
              <a:rPr kumimoji="1" lang="en-US" altLang="zh-CN" sz="2000" dirty="0">
                <a:solidFill>
                  <a:srgbClr val="FF0000"/>
                </a:solidFill>
              </a:rPr>
              <a:t> 3 </a:t>
            </a:r>
            <a:r>
              <a:rPr kumimoji="1" lang="en-US" altLang="zh-CN" sz="2000" dirty="0" err="1">
                <a:solidFill>
                  <a:srgbClr val="FF0000"/>
                </a:solidFill>
              </a:rPr>
              <a:t>nt</a:t>
            </a:r>
            <a:r>
              <a:rPr kumimoji="1" lang="en-US" altLang="zh-CN" sz="2000" dirty="0">
                <a:solidFill>
                  <a:srgbClr val="FF0000"/>
                </a:solidFill>
              </a:rPr>
              <a:t> upstream of the NGG PAM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For Cas12, it occurs at </a:t>
            </a:r>
            <a:r>
              <a:rPr kumimoji="1" lang="en-US" altLang="zh-CN" sz="2000" dirty="0">
                <a:solidFill>
                  <a:srgbClr val="FF0000"/>
                </a:solidFill>
              </a:rPr>
              <a:t>several nucleotides downstream of the T-rich PAM</a:t>
            </a:r>
            <a:endParaRPr kumimoji="1" lang="zh-CN" altLang="en-US" sz="2000" dirty="0">
              <a:solidFill>
                <a:srgbClr val="FF0000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73B5B75-F8D9-6A41-8B90-89D8364A7A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2222" y="3120077"/>
            <a:ext cx="2283418" cy="127106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82C1880-01D2-A449-9382-969D392656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344" y="3113259"/>
            <a:ext cx="2341436" cy="1271065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DA17088-DBE5-DE4E-B650-70DA5F505FB8}"/>
              </a:ext>
            </a:extLst>
          </p:cNvPr>
          <p:cNvCxnSpPr/>
          <p:nvPr/>
        </p:nvCxnSpPr>
        <p:spPr>
          <a:xfrm>
            <a:off x="8316101" y="4250725"/>
            <a:ext cx="321275" cy="45720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E2B0F7F-E88A-DE4F-BFC4-016C21E18861}"/>
              </a:ext>
            </a:extLst>
          </p:cNvPr>
          <p:cNvSpPr txBox="1"/>
          <p:nvPr/>
        </p:nvSpPr>
        <p:spPr>
          <a:xfrm>
            <a:off x="7839466" y="4747243"/>
            <a:ext cx="2252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C000"/>
                </a:solidFill>
              </a:rPr>
              <a:t>fused </a:t>
            </a:r>
            <a:r>
              <a:rPr kumimoji="1" lang="en-US" altLang="zh-CN" dirty="0" err="1">
                <a:solidFill>
                  <a:srgbClr val="FFC000"/>
                </a:solidFill>
              </a:rPr>
              <a:t>tracrRNA:crRNA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8C5C6A6-9BA0-1D43-B078-E78487084DEC}"/>
              </a:ext>
            </a:extLst>
          </p:cNvPr>
          <p:cNvCxnSpPr>
            <a:cxnSpLocks/>
          </p:cNvCxnSpPr>
          <p:nvPr/>
        </p:nvCxnSpPr>
        <p:spPr>
          <a:xfrm>
            <a:off x="10293293" y="4250725"/>
            <a:ext cx="0" cy="112406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7B9CC91-5477-704F-8EAE-2FB3DED65CF3}"/>
              </a:ext>
            </a:extLst>
          </p:cNvPr>
          <p:cNvSpPr txBox="1"/>
          <p:nvPr/>
        </p:nvSpPr>
        <p:spPr>
          <a:xfrm>
            <a:off x="8548160" y="5444276"/>
            <a:ext cx="3487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6"/>
                </a:solidFill>
              </a:rPr>
              <a:t>Many Cas12 nucleases are naturally guided by a single crRNA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845206-270A-9E43-A8A5-FD2D2AEC16FC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</p:spTree>
    <p:extLst>
      <p:ext uri="{BB962C8B-B14F-4D97-AF65-F5344CB8AC3E}">
        <p14:creationId xmlns:p14="http://schemas.microsoft.com/office/powerpoint/2010/main" val="1078924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4" grpId="0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91919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</a:t>
            </a:r>
            <a:r>
              <a:rPr kumimoji="1" lang="en-US" altLang="zh-CN" sz="3200" dirty="0" err="1"/>
              <a:t>tracrRNA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helps Cas9 recognize targets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EDC9C0-F516-B04B-B757-74B6CFCDB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382" y="1357879"/>
            <a:ext cx="6668797" cy="41645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C8F58A4-83ED-5A4B-BD94-F50FF6ABE56E}"/>
              </a:ext>
            </a:extLst>
          </p:cNvPr>
          <p:cNvSpPr txBox="1"/>
          <p:nvPr/>
        </p:nvSpPr>
        <p:spPr>
          <a:xfrm>
            <a:off x="325821" y="1155668"/>
            <a:ext cx="5119636" cy="4568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Use catalytically dead Cas9 (dCas9)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Cas9 alone </a:t>
            </a:r>
            <a:r>
              <a:rPr kumimoji="1" lang="en-US" altLang="zh-CN" sz="2000" dirty="0"/>
              <a:t>binds target DNA with moderate affinity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Unaffected by crRNA, indicating non-specific binding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With </a:t>
            </a:r>
            <a:r>
              <a:rPr kumimoji="1" lang="en-US" altLang="zh-CN" sz="2000" dirty="0" err="1"/>
              <a:t>tracrRNA</a:t>
            </a:r>
            <a:r>
              <a:rPr kumimoji="1" lang="en-US" altLang="zh-CN" sz="2000" dirty="0"/>
              <a:t> alone, Cas9 no longer binds target DNA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/>
              <a:t>With tracrRNA and crRNA, </a:t>
            </a:r>
            <a:r>
              <a:rPr kumimoji="1" lang="en-US" altLang="zh-CN" sz="2000" dirty="0"/>
              <a:t>target DNA binding is substantially enhanced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Distinct mobility indicates specific binding</a:t>
            </a:r>
            <a:endParaRPr kumimoji="1" lang="en-CN" altLang="zh-C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D664FE-0B3F-AF4A-A8E2-1FD6E6DF7E69}"/>
              </a:ext>
            </a:extLst>
          </p:cNvPr>
          <p:cNvSpPr txBox="1"/>
          <p:nvPr/>
        </p:nvSpPr>
        <p:spPr>
          <a:xfrm>
            <a:off x="3135467" y="5791528"/>
            <a:ext cx="5921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 err="1"/>
              <a:t>tracrRNA</a:t>
            </a:r>
            <a:r>
              <a:rPr kumimoji="1" lang="en-US" altLang="zh-CN" sz="2000" dirty="0"/>
              <a:t> is necessary for Cas9 to recognize target DNA</a:t>
            </a:r>
            <a:endParaRPr kumimoji="1" lang="zh-CN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00588D-E5DC-F648-B22C-CD75768E2199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</p:spTree>
    <p:extLst>
      <p:ext uri="{BB962C8B-B14F-4D97-AF65-F5344CB8AC3E}">
        <p14:creationId xmlns:p14="http://schemas.microsoft.com/office/powerpoint/2010/main" val="2975718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7218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Part of </a:t>
            </a:r>
            <a:r>
              <a:rPr kumimoji="1" lang="en-US" altLang="zh-CN" sz="3200" dirty="0" err="1"/>
              <a:t>tracrRNA</a:t>
            </a:r>
            <a:r>
              <a:rPr kumimoji="1" lang="en-US" altLang="zh-CN" sz="3200" dirty="0"/>
              <a:t> is enough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29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3C355-5752-8A48-B542-515E5F74ED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5772"/>
          <a:stretch/>
        </p:blipFill>
        <p:spPr>
          <a:xfrm>
            <a:off x="258621" y="1476468"/>
            <a:ext cx="4174755" cy="39050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1126E4-DBAD-2E49-B23A-7FA6AF759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685" y="2539195"/>
            <a:ext cx="7233694" cy="19339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04E693-1DB7-1B43-A643-EAC6FFFD4064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FCD223-0240-BF40-B8CC-D7B03377058A}"/>
              </a:ext>
            </a:extLst>
          </p:cNvPr>
          <p:cNvSpPr/>
          <p:nvPr/>
        </p:nvSpPr>
        <p:spPr>
          <a:xfrm>
            <a:off x="3540034" y="3056709"/>
            <a:ext cx="483327" cy="1959428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878768-FA2A-8244-83C8-C1814989E895}"/>
              </a:ext>
            </a:extLst>
          </p:cNvPr>
          <p:cNvSpPr txBox="1"/>
          <p:nvPr/>
        </p:nvSpPr>
        <p:spPr>
          <a:xfrm>
            <a:off x="4794069" y="4512289"/>
            <a:ext cx="5256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Secondary structure of </a:t>
            </a:r>
            <a:r>
              <a:rPr kumimoji="1" lang="en-US" altLang="zh-CN" dirty="0" err="1"/>
              <a:t>tracrRNA</a:t>
            </a:r>
            <a:r>
              <a:rPr kumimoji="1" lang="en-US" altLang="zh-CN" dirty="0"/>
              <a:t> is not that important</a:t>
            </a:r>
            <a:endParaRPr kumimoji="1" lang="zh-CN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5D4FB1-9879-BA4F-A6AA-D154E1E7422E}"/>
              </a:ext>
            </a:extLst>
          </p:cNvPr>
          <p:cNvSpPr/>
          <p:nvPr/>
        </p:nvSpPr>
        <p:spPr>
          <a:xfrm>
            <a:off x="5793594" y="3675055"/>
            <a:ext cx="1719943" cy="544682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3804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66519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Same is true for crRNA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1126E4-DBAD-2E49-B23A-7FA6AF759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21" y="2462047"/>
            <a:ext cx="7233694" cy="19339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1188F3-F33E-C74A-9014-97E74D925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998" y="1333919"/>
            <a:ext cx="2743199" cy="41901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3C5553-7207-7A44-A816-7FB78BFC0054}"/>
              </a:ext>
            </a:extLst>
          </p:cNvPr>
          <p:cNvSpPr txBox="1"/>
          <p:nvPr/>
        </p:nvSpPr>
        <p:spPr>
          <a:xfrm>
            <a:off x="1549100" y="5709398"/>
            <a:ext cx="9093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/>
              <a:t>A </a:t>
            </a:r>
            <a:r>
              <a:rPr kumimoji="1" lang="en-US" altLang="zh-CN" sz="2000" b="1" dirty="0"/>
              <a:t>short segment of </a:t>
            </a:r>
            <a:r>
              <a:rPr kumimoji="1" lang="en-US" altLang="zh-CN" sz="2000" b="1" dirty="0" err="1"/>
              <a:t>tracrRNA</a:t>
            </a:r>
            <a:r>
              <a:rPr kumimoji="1" lang="en-US" altLang="zh-CN" sz="2000" dirty="0"/>
              <a:t> along with </a:t>
            </a:r>
            <a:r>
              <a:rPr kumimoji="1" lang="en-US" altLang="zh-CN" sz="2000" b="1" dirty="0"/>
              <a:t>part of crRNA</a:t>
            </a:r>
            <a:r>
              <a:rPr kumimoji="1" lang="en-US" altLang="zh-CN" sz="2000" dirty="0"/>
              <a:t> is sufficient for DNA cleavage</a:t>
            </a:r>
            <a:endParaRPr kumimoji="1" lang="zh-CN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E2D3E9-40BB-5242-B5B6-ABDD6F2A4682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</p:spTree>
    <p:extLst>
      <p:ext uri="{BB962C8B-B14F-4D97-AF65-F5344CB8AC3E}">
        <p14:creationId xmlns:p14="http://schemas.microsoft.com/office/powerpoint/2010/main" val="3836994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76542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Also the case for protospacer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75A1A6-8161-EF47-BDED-603391148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908" y="3594662"/>
            <a:ext cx="6413500" cy="25654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D352165-4919-7F43-885D-50539AF6D054}"/>
              </a:ext>
            </a:extLst>
          </p:cNvPr>
          <p:cNvGrpSpPr/>
          <p:nvPr/>
        </p:nvGrpSpPr>
        <p:grpSpPr>
          <a:xfrm>
            <a:off x="705082" y="1242607"/>
            <a:ext cx="1517898" cy="1102518"/>
            <a:chOff x="2651432" y="1341632"/>
            <a:chExt cx="1517898" cy="1102518"/>
          </a:xfrm>
        </p:grpSpPr>
        <p:pic>
          <p:nvPicPr>
            <p:cNvPr id="35" name="Picture 2" descr="DNA photo-cleaving agents in the far-red to near-infrared range – a ...">
              <a:extLst>
                <a:ext uri="{FF2B5EF4-FFF2-40B4-BE49-F238E27FC236}">
                  <a16:creationId xmlns:a16="http://schemas.microsoft.com/office/drawing/2014/main" id="{DC003D28-5D90-A641-A794-2C526D1F43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585"/>
            <a:stretch/>
          </p:blipFill>
          <p:spPr bwMode="auto">
            <a:xfrm>
              <a:off x="2793441" y="1341632"/>
              <a:ext cx="1375889" cy="11025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7B7E2FF-8264-114B-B0DE-79BF7B578024}"/>
                </a:ext>
              </a:extLst>
            </p:cNvPr>
            <p:cNvSpPr/>
            <p:nvPr/>
          </p:nvSpPr>
          <p:spPr>
            <a:xfrm>
              <a:off x="2651432" y="1424345"/>
              <a:ext cx="324207" cy="333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C2D018F-8985-A449-88E0-1020F9E7FAE0}"/>
              </a:ext>
            </a:extLst>
          </p:cNvPr>
          <p:cNvSpPr txBox="1"/>
          <p:nvPr/>
        </p:nvSpPr>
        <p:spPr>
          <a:xfrm>
            <a:off x="3135467" y="6292820"/>
            <a:ext cx="5921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/>
              <a:t>Seed sequence was discovered</a:t>
            </a:r>
            <a:endParaRPr kumimoji="1" lang="zh-CN" alt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147885-0136-F34C-9B37-AF8EDEAD077B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655BC0-F40D-2C4B-AB60-C7B98FBB25D8}"/>
              </a:ext>
            </a:extLst>
          </p:cNvPr>
          <p:cNvSpPr/>
          <p:nvPr/>
        </p:nvSpPr>
        <p:spPr>
          <a:xfrm>
            <a:off x="4349930" y="4933209"/>
            <a:ext cx="444139" cy="850958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2ABBFD9-E11C-4447-9A00-51B71A5DA77D}"/>
              </a:ext>
            </a:extLst>
          </p:cNvPr>
          <p:cNvGrpSpPr/>
          <p:nvPr/>
        </p:nvGrpSpPr>
        <p:grpSpPr>
          <a:xfrm>
            <a:off x="2417508" y="960825"/>
            <a:ext cx="7200900" cy="2768600"/>
            <a:chOff x="2417508" y="960825"/>
            <a:chExt cx="7200900" cy="276860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5407A49-18E0-EA4D-A811-84D15DCC44C8}"/>
                </a:ext>
              </a:extLst>
            </p:cNvPr>
            <p:cNvGrpSpPr/>
            <p:nvPr/>
          </p:nvGrpSpPr>
          <p:grpSpPr>
            <a:xfrm>
              <a:off x="2417508" y="960825"/>
              <a:ext cx="7200900" cy="2768600"/>
              <a:chOff x="2417508" y="960825"/>
              <a:chExt cx="7200900" cy="27686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0BD16436-C2FF-7545-A151-3A785C6D41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17508" y="960825"/>
                <a:ext cx="7200900" cy="2768600"/>
              </a:xfrm>
              <a:prstGeom prst="rect">
                <a:avLst/>
              </a:prstGeom>
            </p:spPr>
          </p:pic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CF9594E-B94C-184E-99BA-2D99B5FB3ACA}"/>
                  </a:ext>
                </a:extLst>
              </p:cNvPr>
              <p:cNvSpPr/>
              <p:nvPr/>
            </p:nvSpPr>
            <p:spPr>
              <a:xfrm>
                <a:off x="2622295" y="1015039"/>
                <a:ext cx="582613" cy="333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C3B10B7-A627-884F-A0CC-5F10381C437A}"/>
                </a:ext>
              </a:extLst>
            </p:cNvPr>
            <p:cNvSpPr/>
            <p:nvPr/>
          </p:nvSpPr>
          <p:spPr>
            <a:xfrm>
              <a:off x="4467497" y="1658608"/>
              <a:ext cx="914400" cy="366135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4B461F5-DF1F-AB41-B929-879107D5C652}"/>
                </a:ext>
              </a:extLst>
            </p:cNvPr>
            <p:cNvSpPr/>
            <p:nvPr/>
          </p:nvSpPr>
          <p:spPr>
            <a:xfrm>
              <a:off x="2573592" y="2278258"/>
              <a:ext cx="3662108" cy="13664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6342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1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97733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/>
              <a:t>Paper Reading</a:t>
            </a:r>
            <a:r>
              <a:rPr kumimoji="1" lang="en-US" altLang="zh-CN" sz="3200" dirty="0"/>
              <a:t>: Engineer CRISPR-Cas9 for Genome Editing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32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93FAB60-FA3B-6249-9237-8C916AAB9F0D}"/>
              </a:ext>
            </a:extLst>
          </p:cNvPr>
          <p:cNvGrpSpPr/>
          <p:nvPr/>
        </p:nvGrpSpPr>
        <p:grpSpPr>
          <a:xfrm>
            <a:off x="325821" y="2710978"/>
            <a:ext cx="9275379" cy="3134353"/>
            <a:chOff x="325821" y="2853130"/>
            <a:chExt cx="11445267" cy="387350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DB7BFE-C3DE-C241-B65B-B92FAA8B5D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48939"/>
            <a:stretch/>
          </p:blipFill>
          <p:spPr>
            <a:xfrm>
              <a:off x="325821" y="2853130"/>
              <a:ext cx="4852151" cy="3873509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B6ED118-3890-6944-8158-F2E0F5E64E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51061"/>
            <a:stretch/>
          </p:blipFill>
          <p:spPr>
            <a:xfrm>
              <a:off x="7014030" y="2853130"/>
              <a:ext cx="4757058" cy="3639745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E6AABC1-4CF1-434B-9575-4ACB62EB8D56}"/>
                </a:ext>
              </a:extLst>
            </p:cNvPr>
            <p:cNvCxnSpPr>
              <a:stCxn id="5" idx="3"/>
            </p:cNvCxnSpPr>
            <p:nvPr/>
          </p:nvCxnSpPr>
          <p:spPr>
            <a:xfrm flipV="1">
              <a:off x="5177972" y="4789884"/>
              <a:ext cx="183605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2D6C26A5-47EC-3A40-A0D1-E32F44B784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351" t="45665" r="1886"/>
          <a:stretch/>
        </p:blipFill>
        <p:spPr>
          <a:xfrm>
            <a:off x="325821" y="1496709"/>
            <a:ext cx="5410873" cy="9383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CBF3D3-C25D-B64E-9975-CE0A03E619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089" y="1482780"/>
            <a:ext cx="3403600" cy="838200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C8E94B7-9169-3D40-AC45-A7D700D21753}"/>
              </a:ext>
            </a:extLst>
          </p:cNvPr>
          <p:cNvCxnSpPr>
            <a:cxnSpLocks/>
          </p:cNvCxnSpPr>
          <p:nvPr/>
        </p:nvCxnSpPr>
        <p:spPr>
          <a:xfrm flipV="1">
            <a:off x="5736694" y="1839615"/>
            <a:ext cx="1251935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435584A7-1EEF-894C-A8FA-B9EDD95948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6551" y="2467442"/>
            <a:ext cx="2069501" cy="38384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EF6D294-EDAB-5240-9F99-5E9EDA17B708}"/>
              </a:ext>
            </a:extLst>
          </p:cNvPr>
          <p:cNvSpPr txBox="1"/>
          <p:nvPr/>
        </p:nvSpPr>
        <p:spPr>
          <a:xfrm>
            <a:off x="4733652" y="5936562"/>
            <a:ext cx="395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u="none" strike="noStrike" dirty="0">
                <a:solidFill>
                  <a:srgbClr val="111111"/>
                </a:solidFill>
                <a:effectLst/>
                <a:latin typeface="system-ui"/>
              </a:rPr>
              <a:t>It’s now called single guide RNA (sgRNA)</a:t>
            </a:r>
            <a:endParaRPr kumimoji="1" lang="zh-CN" alt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398C543-D450-7E4E-AFED-7096DEE79D5B}"/>
              </a:ext>
            </a:extLst>
          </p:cNvPr>
          <p:cNvCxnSpPr/>
          <p:nvPr/>
        </p:nvCxnSpPr>
        <p:spPr>
          <a:xfrm flipH="1">
            <a:off x="6987597" y="5588629"/>
            <a:ext cx="684983" cy="3925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FC22883-67A0-0249-A14D-2BC2A86DEA9D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Jinek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A programmable dual-RNA-guided DNA endonuclease in adaptive bacterial immunity.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2012 Aug 17;337(6096):816-21.</a:t>
            </a:r>
          </a:p>
        </p:txBody>
      </p:sp>
    </p:spTree>
    <p:extLst>
      <p:ext uri="{BB962C8B-B14F-4D97-AF65-F5344CB8AC3E}">
        <p14:creationId xmlns:p14="http://schemas.microsoft.com/office/powerpoint/2010/main" val="3904045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7225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They deserve 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4E458F-3761-5C46-BE53-C5626865C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680" y="1239289"/>
            <a:ext cx="5714639" cy="543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503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58603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Striking Advantage of CRISPR-Cas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34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E05926-FA31-1746-BE91-565454F2DF17}"/>
              </a:ext>
            </a:extLst>
          </p:cNvPr>
          <p:cNvSpPr txBox="1"/>
          <p:nvPr/>
        </p:nvSpPr>
        <p:spPr>
          <a:xfrm>
            <a:off x="224475" y="5493522"/>
            <a:ext cx="3199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User-friendly and quick creation of KO/</a:t>
            </a:r>
            <a:r>
              <a:rPr kumimoji="1" lang="en-US" altLang="zh-CN" dirty="0" err="1"/>
              <a:t>transgenetic</a:t>
            </a:r>
            <a:r>
              <a:rPr kumimoji="1" lang="en-US" altLang="zh-CN" dirty="0"/>
              <a:t> models</a:t>
            </a:r>
            <a:endParaRPr kumimoji="1" lang="zh-CN" alt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6B55E8A-A4FB-124D-A989-5CE5C90F2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456" y="1163637"/>
            <a:ext cx="7239000" cy="5511800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F0EB01E-EDC5-3941-A98C-2BFF6F31688A}"/>
              </a:ext>
            </a:extLst>
          </p:cNvPr>
          <p:cNvCxnSpPr>
            <a:cxnSpLocks/>
          </p:cNvCxnSpPr>
          <p:nvPr/>
        </p:nvCxnSpPr>
        <p:spPr>
          <a:xfrm>
            <a:off x="3391406" y="3429000"/>
            <a:ext cx="91096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825BDAE-602E-5E4B-9B04-C6140EEBCE68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Wang JY, </a:t>
            </a:r>
            <a:r>
              <a:rPr lang="en-US" altLang="zh-CN" sz="1200" dirty="0" err="1">
                <a:solidFill>
                  <a:schemeClr val="accent3"/>
                </a:solidFill>
              </a:rPr>
              <a:t>Doudna</a:t>
            </a:r>
            <a:r>
              <a:rPr lang="en-US" altLang="zh-CN" sz="1200" dirty="0">
                <a:solidFill>
                  <a:schemeClr val="accent3"/>
                </a:solidFill>
              </a:rPr>
              <a:t> JA. CRISPR technology: A decade of genome editing is only the beginning.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2023 Jan 20;379(6629):eadd8643.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009D79D-D199-D04F-8345-31CFF93C60EA}"/>
              </a:ext>
            </a:extLst>
          </p:cNvPr>
          <p:cNvGrpSpPr/>
          <p:nvPr/>
        </p:nvGrpSpPr>
        <p:grpSpPr>
          <a:xfrm>
            <a:off x="325821" y="1350234"/>
            <a:ext cx="3521065" cy="4143288"/>
            <a:chOff x="325821" y="1350234"/>
            <a:chExt cx="3521065" cy="414328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6FF62E6-E095-5B4C-91E8-F3DB645C21B8}"/>
                </a:ext>
              </a:extLst>
            </p:cNvPr>
            <p:cNvGrpSpPr/>
            <p:nvPr/>
          </p:nvGrpSpPr>
          <p:grpSpPr>
            <a:xfrm>
              <a:off x="325821" y="1350234"/>
              <a:ext cx="3521065" cy="4143288"/>
              <a:chOff x="325821" y="1350234"/>
              <a:chExt cx="3521065" cy="4143288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64B64404-9B65-F34A-824E-AC18EFB80523}"/>
                  </a:ext>
                </a:extLst>
              </p:cNvPr>
              <p:cNvGrpSpPr/>
              <p:nvPr/>
            </p:nvGrpSpPr>
            <p:grpSpPr>
              <a:xfrm>
                <a:off x="325821" y="1364478"/>
                <a:ext cx="3065585" cy="4129044"/>
                <a:chOff x="228600" y="1459523"/>
                <a:chExt cx="3065585" cy="4129044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C2559318-69F7-7648-9BC5-95126C12A26D}"/>
                    </a:ext>
                  </a:extLst>
                </p:cNvPr>
                <p:cNvSpPr/>
                <p:nvPr/>
              </p:nvSpPr>
              <p:spPr>
                <a:xfrm>
                  <a:off x="1676401" y="5102879"/>
                  <a:ext cx="1465384" cy="3332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1167A468-445C-8C40-B535-49B0F426B4B3}"/>
                    </a:ext>
                  </a:extLst>
                </p:cNvPr>
                <p:cNvSpPr/>
                <p:nvPr/>
              </p:nvSpPr>
              <p:spPr>
                <a:xfrm>
                  <a:off x="1828801" y="5255279"/>
                  <a:ext cx="1465384" cy="3332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DDF1F879-AB3A-374F-9E99-802BAA7632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9384" y="1459523"/>
                  <a:ext cx="2758834" cy="3924300"/>
                </a:xfrm>
                <a:prstGeom prst="rect">
                  <a:avLst/>
                </a:prstGeom>
              </p:spPr>
            </p:pic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C174EE70-53B1-AE49-A2F1-772785C54FA1}"/>
                    </a:ext>
                  </a:extLst>
                </p:cNvPr>
                <p:cNvSpPr/>
                <p:nvPr/>
              </p:nvSpPr>
              <p:spPr>
                <a:xfrm>
                  <a:off x="1727202" y="5244533"/>
                  <a:ext cx="1465384" cy="3332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33B6EF79-6389-FB4C-90FB-A2CC7C318F7A}"/>
                    </a:ext>
                  </a:extLst>
                </p:cNvPr>
                <p:cNvSpPr/>
                <p:nvPr/>
              </p:nvSpPr>
              <p:spPr>
                <a:xfrm>
                  <a:off x="228600" y="5244533"/>
                  <a:ext cx="1231900" cy="3332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E3EC8D7-9244-A645-8E73-71A1A3153070}"/>
                  </a:ext>
                </a:extLst>
              </p:cNvPr>
              <p:cNvSpPr/>
              <p:nvPr/>
            </p:nvSpPr>
            <p:spPr>
              <a:xfrm>
                <a:off x="2381502" y="1350234"/>
                <a:ext cx="1465384" cy="333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F3B3D0F-1003-6F4C-A4EF-606FDC3DF8A4}"/>
                </a:ext>
              </a:extLst>
            </p:cNvPr>
            <p:cNvSpPr/>
            <p:nvPr/>
          </p:nvSpPr>
          <p:spPr>
            <a:xfrm>
              <a:off x="1855320" y="1364478"/>
              <a:ext cx="398208" cy="2109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53102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D94BBF-ACEA-5D4B-B855-A7CF2020B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619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42AED1-9CB0-B74D-98EB-44DD7BC15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21" y="3491151"/>
            <a:ext cx="4302387" cy="24542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A4FD9C-3F14-4B4C-A955-5AA7CF0F4159}"/>
              </a:ext>
            </a:extLst>
          </p:cNvPr>
          <p:cNvSpPr txBox="1"/>
          <p:nvPr/>
        </p:nvSpPr>
        <p:spPr>
          <a:xfrm>
            <a:off x="1174253" y="5979842"/>
            <a:ext cx="2605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(Relatively) low specificity</a:t>
            </a:r>
            <a:endParaRPr kumimoji="1"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79CC9D-E178-1E43-9B10-B43F1C0D2E3A}"/>
              </a:ext>
            </a:extLst>
          </p:cNvPr>
          <p:cNvSpPr txBox="1"/>
          <p:nvPr/>
        </p:nvSpPr>
        <p:spPr>
          <a:xfrm>
            <a:off x="325821" y="464150"/>
            <a:ext cx="66040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Key Problems of CRISPR-Cas Nucleases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3BC927-961D-E149-86DC-45BE6D1C3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0562" y="1403818"/>
            <a:ext cx="1927646" cy="10730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C04812-2C4C-CA47-BDCE-4962A919D4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821" y="1397000"/>
            <a:ext cx="1927646" cy="10464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64E8D0-A039-EB4D-B799-59A29947A7FE}"/>
              </a:ext>
            </a:extLst>
          </p:cNvPr>
          <p:cNvSpPr txBox="1"/>
          <p:nvPr/>
        </p:nvSpPr>
        <p:spPr>
          <a:xfrm>
            <a:off x="937078" y="2647069"/>
            <a:ext cx="3184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PAM constraint on target scope</a:t>
            </a:r>
            <a:endParaRPr kumimoji="1" lang="zh-CN" alt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9359AEE-7E21-8942-BD92-7FF0B5E3A6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0954" y="2354963"/>
            <a:ext cx="3613039" cy="252823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FFB42C3-F5B2-CF48-A1A4-1CE080636128}"/>
              </a:ext>
            </a:extLst>
          </p:cNvPr>
          <p:cNvSpPr txBox="1"/>
          <p:nvPr/>
        </p:nvSpPr>
        <p:spPr>
          <a:xfrm>
            <a:off x="5383277" y="4883194"/>
            <a:ext cx="2788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Uncertain editing outcomes</a:t>
            </a:r>
            <a:endParaRPr kumimoji="1" lang="zh-CN" alt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9EBEC8-53FB-134F-AB61-C2A91F5D3DE4}"/>
              </a:ext>
            </a:extLst>
          </p:cNvPr>
          <p:cNvSpPr/>
          <p:nvPr/>
        </p:nvSpPr>
        <p:spPr>
          <a:xfrm>
            <a:off x="8282036" y="1618174"/>
            <a:ext cx="760364" cy="333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9E9E36-B1D8-AA42-B028-76129C748245}"/>
              </a:ext>
            </a:extLst>
          </p:cNvPr>
          <p:cNvSpPr txBox="1"/>
          <p:nvPr/>
        </p:nvSpPr>
        <p:spPr>
          <a:xfrm>
            <a:off x="0" y="639385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Wang JY, </a:t>
            </a:r>
            <a:r>
              <a:rPr lang="en-US" altLang="zh-CN" sz="1200" dirty="0" err="1">
                <a:solidFill>
                  <a:schemeClr val="accent3"/>
                </a:solidFill>
              </a:rPr>
              <a:t>Doudna</a:t>
            </a:r>
            <a:r>
              <a:rPr lang="en-US" altLang="zh-CN" sz="1200" dirty="0">
                <a:solidFill>
                  <a:schemeClr val="accent3"/>
                </a:solidFill>
              </a:rPr>
              <a:t> JA. CRISPR technology: A decade of genome editing is only the beginning.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2023 Jan 20;379(6629):eadd8643.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935B4C-D06B-C249-ADC4-B4A5DB22B6B1}"/>
              </a:ext>
            </a:extLst>
          </p:cNvPr>
          <p:cNvSpPr txBox="1"/>
          <p:nvPr/>
        </p:nvSpPr>
        <p:spPr>
          <a:xfrm>
            <a:off x="8578961" y="5656676"/>
            <a:ext cx="3613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Some common issues: delivery, gene integration, ethics &amp; morality…</a:t>
            </a:r>
            <a:endParaRPr kumimoji="1"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B4C8F5-75BA-DE45-B1F5-6850CB1C3E0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370"/>
          <a:stretch/>
        </p:blipFill>
        <p:spPr>
          <a:xfrm>
            <a:off x="9147897" y="1004835"/>
            <a:ext cx="2475166" cy="456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470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9" grpId="0"/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D94BBF-ACEA-5D4B-B855-A7CF2020B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619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79CC9D-E178-1E43-9B10-B43F1C0D2E3A}"/>
              </a:ext>
            </a:extLst>
          </p:cNvPr>
          <p:cNvSpPr txBox="1"/>
          <p:nvPr/>
        </p:nvSpPr>
        <p:spPr>
          <a:xfrm>
            <a:off x="325821" y="464150"/>
            <a:ext cx="74749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Next: Step-by-step CRISPR-Cas Optimization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E208D2D-5E5E-8F4C-B143-5BBCB0C9294D}"/>
              </a:ext>
            </a:extLst>
          </p:cNvPr>
          <p:cNvCxnSpPr/>
          <p:nvPr/>
        </p:nvCxnSpPr>
        <p:spPr>
          <a:xfrm>
            <a:off x="5352267" y="3483952"/>
            <a:ext cx="7437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D9F8C74-7C9B-474F-9AC8-091A87003B82}"/>
              </a:ext>
            </a:extLst>
          </p:cNvPr>
          <p:cNvSpPr txBox="1"/>
          <p:nvPr/>
        </p:nvSpPr>
        <p:spPr>
          <a:xfrm>
            <a:off x="3413018" y="2889566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Nucleases</a:t>
            </a:r>
            <a:endParaRPr kumimoji="1"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2EFB92-87D6-F745-A0F4-CEDA70841201}"/>
              </a:ext>
            </a:extLst>
          </p:cNvPr>
          <p:cNvSpPr txBox="1"/>
          <p:nvPr/>
        </p:nvSpPr>
        <p:spPr>
          <a:xfrm>
            <a:off x="9509545" y="2518726"/>
            <a:ext cx="2089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More Cas-accessible target sequences</a:t>
            </a:r>
            <a:endParaRPr kumimoji="1" lang="zh-CN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A13DE82-24AC-C942-B2FA-E6422DC0360E}"/>
              </a:ext>
            </a:extLst>
          </p:cNvPr>
          <p:cNvSpPr txBox="1"/>
          <p:nvPr/>
        </p:nvSpPr>
        <p:spPr>
          <a:xfrm>
            <a:off x="9757473" y="4008410"/>
            <a:ext cx="1593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Less off targets</a:t>
            </a:r>
            <a:endParaRPr kumimoji="1" lang="zh-CN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FC3214-367E-7946-BE24-2E36DFE0674F}"/>
              </a:ext>
            </a:extLst>
          </p:cNvPr>
          <p:cNvSpPr txBox="1"/>
          <p:nvPr/>
        </p:nvSpPr>
        <p:spPr>
          <a:xfrm>
            <a:off x="6438900" y="2670120"/>
            <a:ext cx="2082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Expand target scope</a:t>
            </a:r>
            <a:endParaRPr kumimoji="1" lang="zh-CN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EC5E2A-F018-E04B-9333-A001411AD4E3}"/>
              </a:ext>
            </a:extLst>
          </p:cNvPr>
          <p:cNvSpPr txBox="1"/>
          <p:nvPr/>
        </p:nvSpPr>
        <p:spPr>
          <a:xfrm>
            <a:off x="6636967" y="4008410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Enhance</a:t>
            </a:r>
            <a:r>
              <a:rPr kumimoji="1" lang="en-US" altLang="zh-CN" i="1" dirty="0"/>
              <a:t> </a:t>
            </a:r>
            <a:r>
              <a:rPr kumimoji="1" lang="en-US" altLang="zh-CN" dirty="0"/>
              <a:t>fidelity</a:t>
            </a:r>
            <a:endParaRPr kumimoji="1" lang="zh-CN" alt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30B77F-1698-164B-A6E9-0DDFE9041A51}"/>
              </a:ext>
            </a:extLst>
          </p:cNvPr>
          <p:cNvCxnSpPr/>
          <p:nvPr/>
        </p:nvCxnSpPr>
        <p:spPr>
          <a:xfrm>
            <a:off x="8641567" y="2854786"/>
            <a:ext cx="7437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C344512-66C4-0447-B043-75F58DA113EA}"/>
              </a:ext>
            </a:extLst>
          </p:cNvPr>
          <p:cNvCxnSpPr/>
          <p:nvPr/>
        </p:nvCxnSpPr>
        <p:spPr>
          <a:xfrm>
            <a:off x="8641567" y="4193076"/>
            <a:ext cx="7437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DCF84B6-C64D-D34F-9EB6-2FBA53A9589A}"/>
              </a:ext>
            </a:extLst>
          </p:cNvPr>
          <p:cNvCxnSpPr>
            <a:cxnSpLocks/>
          </p:cNvCxnSpPr>
          <p:nvPr/>
        </p:nvCxnSpPr>
        <p:spPr>
          <a:xfrm flipH="1">
            <a:off x="2578100" y="1689100"/>
            <a:ext cx="1" cy="1794852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B2BF681-850F-F943-ACCD-8383940D4391}"/>
              </a:ext>
            </a:extLst>
          </p:cNvPr>
          <p:cNvSpPr/>
          <p:nvPr/>
        </p:nvSpPr>
        <p:spPr>
          <a:xfrm rot="10800000">
            <a:off x="2349500" y="2117788"/>
            <a:ext cx="457192" cy="206312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265C8B3-0CA5-D74E-AED7-DD3EA8F0E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46" y="1475822"/>
            <a:ext cx="1974353" cy="147043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B321CE6-D4AB-A545-A5C8-2B294EA92E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5548"/>
          <a:stretch/>
        </p:blipFill>
        <p:spPr>
          <a:xfrm>
            <a:off x="2913761" y="1701181"/>
            <a:ext cx="2103662" cy="113504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7B28D88-A51B-674E-965F-45F4D0BFADE1}"/>
              </a:ext>
            </a:extLst>
          </p:cNvPr>
          <p:cNvSpPr txBox="1"/>
          <p:nvPr/>
        </p:nvSpPr>
        <p:spPr>
          <a:xfrm>
            <a:off x="545781" y="288956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Base Editors</a:t>
            </a:r>
            <a:endParaRPr kumimoji="1" lang="zh-CN" alt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427631D-E780-904E-821D-C08477C7A37C}"/>
              </a:ext>
            </a:extLst>
          </p:cNvPr>
          <p:cNvCxnSpPr>
            <a:cxnSpLocks/>
          </p:cNvCxnSpPr>
          <p:nvPr/>
        </p:nvCxnSpPr>
        <p:spPr>
          <a:xfrm>
            <a:off x="-31755" y="3483952"/>
            <a:ext cx="52197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5" name="Right Arrow 54">
            <a:extLst>
              <a:ext uri="{FF2B5EF4-FFF2-40B4-BE49-F238E27FC236}">
                <a16:creationId xmlns:a16="http://schemas.microsoft.com/office/drawing/2014/main" id="{26D54684-EC76-A345-B33D-3806979AF04A}"/>
              </a:ext>
            </a:extLst>
          </p:cNvPr>
          <p:cNvSpPr/>
          <p:nvPr/>
        </p:nvSpPr>
        <p:spPr>
          <a:xfrm rot="5400000">
            <a:off x="2283758" y="3419195"/>
            <a:ext cx="588674" cy="155572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B7CFCD11-3E56-B249-93F9-3390D58764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546" y="3948989"/>
            <a:ext cx="2178285" cy="160037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5646C81B-7C29-AF42-BF26-DB6A137C74A9}"/>
              </a:ext>
            </a:extLst>
          </p:cNvPr>
          <p:cNvSpPr txBox="1"/>
          <p:nvPr/>
        </p:nvSpPr>
        <p:spPr>
          <a:xfrm>
            <a:off x="451012" y="5677332"/>
            <a:ext cx="141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Transposases</a:t>
            </a:r>
            <a:endParaRPr kumimoji="1" lang="zh-CN" altLang="en-US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8C597BF7-4DE3-CA46-B06C-42AE5D57CE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4553" y="3844728"/>
            <a:ext cx="2340089" cy="1704634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6F18EDC0-A1D1-D44B-BA82-608F78FEC7B2}"/>
              </a:ext>
            </a:extLst>
          </p:cNvPr>
          <p:cNvSpPr txBox="1"/>
          <p:nvPr/>
        </p:nvSpPr>
        <p:spPr>
          <a:xfrm>
            <a:off x="3259989" y="5677332"/>
            <a:ext cx="1349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Prime Editor</a:t>
            </a:r>
            <a:endParaRPr kumimoji="1" lang="zh-CN" altLang="en-US" dirty="0"/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4143DB7C-B339-F842-99BB-6AEF9ACBC3E8}"/>
              </a:ext>
            </a:extLst>
          </p:cNvPr>
          <p:cNvSpPr/>
          <p:nvPr/>
        </p:nvSpPr>
        <p:spPr>
          <a:xfrm>
            <a:off x="6387322" y="2320988"/>
            <a:ext cx="5219695" cy="2351987"/>
          </a:xfrm>
          <a:prstGeom prst="roundRect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0A601D5-0775-8140-A2F4-5B8F967923CE}"/>
              </a:ext>
            </a:extLst>
          </p:cNvPr>
          <p:cNvSpPr txBox="1"/>
          <p:nvPr/>
        </p:nvSpPr>
        <p:spPr>
          <a:xfrm>
            <a:off x="7473450" y="1873985"/>
            <a:ext cx="30474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General Optimization Goals</a:t>
            </a:r>
            <a:endParaRPr kumimoji="1" lang="zh-CN" altLang="en-US" sz="2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F0E5754-DC3D-304A-B76C-356FA7FF4390}"/>
              </a:ext>
            </a:extLst>
          </p:cNvPr>
          <p:cNvSpPr txBox="1"/>
          <p:nvPr/>
        </p:nvSpPr>
        <p:spPr>
          <a:xfrm>
            <a:off x="-47536" y="6396335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</p:spTree>
    <p:extLst>
      <p:ext uri="{BB962C8B-B14F-4D97-AF65-F5344CB8AC3E}">
        <p14:creationId xmlns:p14="http://schemas.microsoft.com/office/powerpoint/2010/main" val="1772178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28" grpId="0"/>
      <p:bldP spid="29" grpId="0"/>
      <p:bldP spid="30" grpId="0"/>
      <p:bldP spid="41" grpId="0" animBg="1"/>
      <p:bldP spid="44" grpId="0"/>
      <p:bldP spid="55" grpId="0" animBg="1"/>
      <p:bldP spid="57" grpId="0"/>
      <p:bldP spid="61" grpId="0"/>
      <p:bldP spid="62" grpId="0" animBg="1"/>
      <p:bldP spid="6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68960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Cas variants with expanded target scope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37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2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Nucleases</a:t>
              </a:r>
              <a:endParaRPr kumimoji="1" lang="zh-CN" altLang="en-US" sz="2000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727404E-E911-294E-B880-85626A697C89}"/>
              </a:ext>
            </a:extLst>
          </p:cNvPr>
          <p:cNvSpPr txBox="1"/>
          <p:nvPr/>
        </p:nvSpPr>
        <p:spPr>
          <a:xfrm>
            <a:off x="325820" y="1054874"/>
            <a:ext cx="8691179" cy="355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b="1" dirty="0"/>
              <a:t>Key: relax the constraint of PAM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/>
              <a:t>Not all target sequences have a PAM nearby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/>
              <a:t>Theoretically, shorter PAM is better (more easily to enumerate all possible PAMs)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Many natural Cas9/12 orthologs recognize diversed PAMs</a:t>
            </a:r>
            <a:endParaRPr kumimoji="1" lang="en-CN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/>
              <a:t>e.g., SaCas9: NNGRRT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Engineered Cas variants through rational design and/or evolution methods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Result: over </a:t>
            </a: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half of the PAM sequence space can be recognized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Still not enough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72D79B-1665-DC49-A28A-CDF02C24517D}"/>
              </a:ext>
            </a:extLst>
          </p:cNvPr>
          <p:cNvSpPr txBox="1"/>
          <p:nvPr/>
        </p:nvSpPr>
        <p:spPr>
          <a:xfrm>
            <a:off x="-3" y="5932185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</p:spTree>
    <p:extLst>
      <p:ext uri="{BB962C8B-B14F-4D97-AF65-F5344CB8AC3E}">
        <p14:creationId xmlns:p14="http://schemas.microsoft.com/office/powerpoint/2010/main" val="1370681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9600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Enhancing Fidelity Externally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38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2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Nucleases</a:t>
              </a:r>
              <a:endParaRPr kumimoji="1" lang="zh-CN" altLang="en-US" sz="2000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3ABE1F19-25E8-9E4B-8B33-99E617D76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1567115"/>
            <a:ext cx="4321871" cy="4321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FAC24A69-F53A-3849-B4A8-3AB2E66A48A2}"/>
              </a:ext>
            </a:extLst>
          </p:cNvPr>
          <p:cNvGrpSpPr/>
          <p:nvPr/>
        </p:nvGrpSpPr>
        <p:grpSpPr>
          <a:xfrm>
            <a:off x="5539850" y="1390158"/>
            <a:ext cx="6144150" cy="2543748"/>
            <a:chOff x="5539850" y="1135630"/>
            <a:chExt cx="6144150" cy="254374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36113D7-67C1-A14F-BE45-492EBA44E7F4}"/>
                </a:ext>
              </a:extLst>
            </p:cNvPr>
            <p:cNvGrpSpPr/>
            <p:nvPr/>
          </p:nvGrpSpPr>
          <p:grpSpPr>
            <a:xfrm>
              <a:off x="5539850" y="1135630"/>
              <a:ext cx="6144150" cy="2438928"/>
              <a:chOff x="5539850" y="1135630"/>
              <a:chExt cx="6144150" cy="2438928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E288286-49B9-1741-8C22-7F39354E9F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95950" y="1135630"/>
                <a:ext cx="5988050" cy="2438928"/>
              </a:xfrm>
              <a:prstGeom prst="rect">
                <a:avLst/>
              </a:prstGeom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F282F6F-5F08-FE48-85B9-584272B0A985}"/>
                  </a:ext>
                </a:extLst>
              </p:cNvPr>
              <p:cNvSpPr/>
              <p:nvPr/>
            </p:nvSpPr>
            <p:spPr>
              <a:xfrm>
                <a:off x="5539850" y="1160029"/>
                <a:ext cx="591600" cy="333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4313E12-4AC4-944C-9565-E30177A538B2}"/>
                </a:ext>
              </a:extLst>
            </p:cNvPr>
            <p:cNvSpPr/>
            <p:nvPr/>
          </p:nvSpPr>
          <p:spPr>
            <a:xfrm>
              <a:off x="5549900" y="3346090"/>
              <a:ext cx="591600" cy="333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B41FAB6-53F6-DA4F-939B-195EBD054891}"/>
              </a:ext>
            </a:extLst>
          </p:cNvPr>
          <p:cNvGrpSpPr/>
          <p:nvPr/>
        </p:nvGrpSpPr>
        <p:grpSpPr>
          <a:xfrm>
            <a:off x="5504353" y="4131073"/>
            <a:ext cx="6371243" cy="1745263"/>
            <a:chOff x="5504399" y="4106988"/>
            <a:chExt cx="6371243" cy="1745263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33C8366-A1CA-0C4C-B53B-3D6BF6BF4B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22034" y="4129859"/>
              <a:ext cx="6253608" cy="1722392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8ADDD0C-3CCB-CC4F-BD26-8080FC78DB7C}"/>
                </a:ext>
              </a:extLst>
            </p:cNvPr>
            <p:cNvSpPr/>
            <p:nvPr/>
          </p:nvSpPr>
          <p:spPr>
            <a:xfrm>
              <a:off x="5504399" y="4106988"/>
              <a:ext cx="591600" cy="333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6312E076-6B43-3149-9194-6A2ABD66518D}"/>
              </a:ext>
            </a:extLst>
          </p:cNvPr>
          <p:cNvSpPr txBox="1"/>
          <p:nvPr/>
        </p:nvSpPr>
        <p:spPr>
          <a:xfrm>
            <a:off x="325821" y="969014"/>
            <a:ext cx="8691179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Through multiple verifications (at the cost of higher complexity)</a:t>
            </a:r>
            <a:endParaRPr kumimoji="1" lang="en-US" altLang="zh-CN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2BCCBE-A5FE-994C-BF9D-3DEB8DD4B437}"/>
              </a:ext>
            </a:extLst>
          </p:cNvPr>
          <p:cNvSpPr txBox="1"/>
          <p:nvPr/>
        </p:nvSpPr>
        <p:spPr>
          <a:xfrm>
            <a:off x="325821" y="5909051"/>
            <a:ext cx="47940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Ran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Double nicking by RNA-guided CRISPR Cas9 for enhanced genome editing specificity. </a:t>
            </a:r>
            <a:r>
              <a:rPr lang="en-US" altLang="zh-CN" sz="1200" i="1" dirty="0">
                <a:solidFill>
                  <a:schemeClr val="accent3"/>
                </a:solidFill>
              </a:rPr>
              <a:t>Cell</a:t>
            </a:r>
            <a:r>
              <a:rPr lang="en-US" altLang="zh-CN" sz="1200" dirty="0">
                <a:solidFill>
                  <a:schemeClr val="accent3"/>
                </a:solidFill>
              </a:rPr>
              <a:t>. 2013 Sep 12;154(6):1380-9.</a:t>
            </a:r>
          </a:p>
          <a:p>
            <a:endParaRPr lang="en-US" altLang="zh-CN" sz="1200" dirty="0">
              <a:solidFill>
                <a:schemeClr val="accent3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838D72-2E79-4641-8ACF-7385248D69EC}"/>
              </a:ext>
            </a:extLst>
          </p:cNvPr>
          <p:cNvSpPr txBox="1"/>
          <p:nvPr/>
        </p:nvSpPr>
        <p:spPr>
          <a:xfrm>
            <a:off x="5759071" y="5941606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Bolukbasi</a:t>
            </a:r>
            <a:r>
              <a:rPr lang="en-US" altLang="zh-CN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Orthogonal Cas9-Cas9 chimeras provide a versatile platform for genome editing.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Commun</a:t>
            </a:r>
            <a:r>
              <a:rPr lang="en-US" altLang="zh-CN" sz="1200" dirty="0">
                <a:solidFill>
                  <a:schemeClr val="accent3"/>
                </a:solidFill>
              </a:rPr>
              <a:t>. 2018 Nov 19;9(1):4856.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3E5D41-8949-B34E-907F-9D8FF3D628B5}"/>
              </a:ext>
            </a:extLst>
          </p:cNvPr>
          <p:cNvSpPr txBox="1"/>
          <p:nvPr/>
        </p:nvSpPr>
        <p:spPr>
          <a:xfrm>
            <a:off x="5759071" y="3572505"/>
            <a:ext cx="4573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Guilinger</a:t>
            </a:r>
            <a:r>
              <a:rPr lang="en-US" altLang="zh-CN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Fusion of catalytically inactive Cas9 to </a:t>
            </a:r>
            <a:r>
              <a:rPr lang="en-US" altLang="zh-CN" sz="1200" dirty="0" err="1">
                <a:solidFill>
                  <a:schemeClr val="accent3"/>
                </a:solidFill>
              </a:rPr>
              <a:t>FokI</a:t>
            </a:r>
            <a:r>
              <a:rPr lang="en-US" altLang="zh-CN" sz="1200" dirty="0">
                <a:solidFill>
                  <a:schemeClr val="accent3"/>
                </a:solidFill>
              </a:rPr>
              <a:t> nuclease improves the specificity of genome modification.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2014 Jun;32(6):577-582.</a:t>
            </a:r>
          </a:p>
        </p:txBody>
      </p:sp>
    </p:spTree>
    <p:extLst>
      <p:ext uri="{BB962C8B-B14F-4D97-AF65-F5344CB8AC3E}">
        <p14:creationId xmlns:p14="http://schemas.microsoft.com/office/powerpoint/2010/main" val="2091043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990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Enhancing Fidelity Internally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39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2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Nucleases</a:t>
              </a:r>
              <a:endParaRPr kumimoji="1" lang="zh-CN" altLang="en-US" sz="2000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DE25C83-F76C-E540-BA8B-D0BB06A16D0A}"/>
              </a:ext>
            </a:extLst>
          </p:cNvPr>
          <p:cNvGrpSpPr/>
          <p:nvPr/>
        </p:nvGrpSpPr>
        <p:grpSpPr>
          <a:xfrm>
            <a:off x="412750" y="1761259"/>
            <a:ext cx="11366498" cy="3924300"/>
            <a:chOff x="825500" y="1921863"/>
            <a:chExt cx="11366498" cy="392430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FFCD3957-5D49-CD42-9D85-290B04085D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71"/>
            <a:stretch/>
          </p:blipFill>
          <p:spPr bwMode="auto">
            <a:xfrm>
              <a:off x="825500" y="1921863"/>
              <a:ext cx="11366498" cy="39243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B35E074-E4F7-1F40-BCF3-87D3F2E2776E}"/>
                </a:ext>
              </a:extLst>
            </p:cNvPr>
            <p:cNvSpPr/>
            <p:nvPr/>
          </p:nvSpPr>
          <p:spPr>
            <a:xfrm>
              <a:off x="4571999" y="1921863"/>
              <a:ext cx="591600" cy="333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4A0C9E2-D0ED-5C4B-9FFE-9F161BC5423B}"/>
              </a:ext>
            </a:extLst>
          </p:cNvPr>
          <p:cNvSpPr txBox="1"/>
          <p:nvPr/>
        </p:nvSpPr>
        <p:spPr>
          <a:xfrm>
            <a:off x="325820" y="1054874"/>
            <a:ext cx="938968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Through interupting non-specific DNA cleavage (at the cost of lower on-target activity)</a:t>
            </a:r>
            <a:endParaRPr kumimoji="1" lang="en-US" altLang="zh-CN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BC5D05-5A2C-2A48-9D5B-AA59A8194774}"/>
              </a:ext>
            </a:extLst>
          </p:cNvPr>
          <p:cNvSpPr txBox="1"/>
          <p:nvPr/>
        </p:nvSpPr>
        <p:spPr>
          <a:xfrm>
            <a:off x="325820" y="5749622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</a:rPr>
              <a:t>Slaymaker</a:t>
            </a:r>
            <a:r>
              <a:rPr lang="en-US" altLang="zh-CN" sz="1200" i="1" dirty="0">
                <a:solidFill>
                  <a:schemeClr val="accent3"/>
                </a:solidFill>
              </a:rPr>
              <a:t> et al</a:t>
            </a:r>
            <a:r>
              <a:rPr lang="en-US" altLang="zh-CN" sz="1200" dirty="0">
                <a:solidFill>
                  <a:schemeClr val="accent3"/>
                </a:solidFill>
              </a:rPr>
              <a:t>. Rationally engineered Cas9 nucleases with improved specificity.</a:t>
            </a:r>
            <a:r>
              <a:rPr lang="en-US" altLang="zh-CN" sz="1200" i="1" dirty="0">
                <a:solidFill>
                  <a:schemeClr val="accent3"/>
                </a:solidFill>
              </a:rPr>
              <a:t> Science</a:t>
            </a:r>
            <a:r>
              <a:rPr lang="en-US" altLang="zh-CN" sz="1200" dirty="0">
                <a:solidFill>
                  <a:schemeClr val="accent3"/>
                </a:solidFill>
              </a:rPr>
              <a:t>. 2016 Jan 1;351(6268):84-8.</a:t>
            </a:r>
          </a:p>
        </p:txBody>
      </p:sp>
    </p:spTree>
    <p:extLst>
      <p:ext uri="{BB962C8B-B14F-4D97-AF65-F5344CB8AC3E}">
        <p14:creationId xmlns:p14="http://schemas.microsoft.com/office/powerpoint/2010/main" val="2762631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49902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Enhancing Fidelity Internally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40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2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Nucleases</a:t>
              </a:r>
              <a:endParaRPr kumimoji="1" lang="zh-CN" altLang="en-US" sz="2000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4A0C9E2-D0ED-5C4B-9FFE-9F161BC5423B}"/>
              </a:ext>
            </a:extLst>
          </p:cNvPr>
          <p:cNvSpPr txBox="1"/>
          <p:nvPr/>
        </p:nvSpPr>
        <p:spPr>
          <a:xfrm>
            <a:off x="325820" y="1054874"/>
            <a:ext cx="931348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Through interupting non-specific DNA cleavage (at the cost of limited Cas)</a:t>
            </a:r>
            <a:endParaRPr kumimoji="1" lang="en-US" altLang="zh-CN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18CAEF1-5D17-F344-843B-E1341F339250}"/>
              </a:ext>
            </a:extLst>
          </p:cNvPr>
          <p:cNvGrpSpPr/>
          <p:nvPr/>
        </p:nvGrpSpPr>
        <p:grpSpPr>
          <a:xfrm>
            <a:off x="1819273" y="1685075"/>
            <a:ext cx="8553451" cy="4072626"/>
            <a:chOff x="2063749" y="1808983"/>
            <a:chExt cx="8064500" cy="36068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1395B50-C511-0D48-9032-65BA841EB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63749" y="1808983"/>
              <a:ext cx="8064500" cy="360680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D5D302A-6BD8-1C47-8B65-110FEC0B7A39}"/>
                </a:ext>
              </a:extLst>
            </p:cNvPr>
            <p:cNvSpPr/>
            <p:nvPr/>
          </p:nvSpPr>
          <p:spPr>
            <a:xfrm>
              <a:off x="2063749" y="1860348"/>
              <a:ext cx="591600" cy="333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FA0B687-2C9F-B74D-8B7E-DC4B11B973E0}"/>
              </a:ext>
            </a:extLst>
          </p:cNvPr>
          <p:cNvSpPr txBox="1"/>
          <p:nvPr/>
        </p:nvSpPr>
        <p:spPr>
          <a:xfrm>
            <a:off x="325820" y="5815700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Fu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Improving CRISPR-Cas nuclease specificity using truncated guide RNAs. Nat </a:t>
            </a:r>
            <a:r>
              <a:rPr lang="en-US" altLang="zh-CN" sz="1200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2014 Mar;32(3):279-284.</a:t>
            </a:r>
          </a:p>
        </p:txBody>
      </p:sp>
    </p:spTree>
    <p:extLst>
      <p:ext uri="{BB962C8B-B14F-4D97-AF65-F5344CB8AC3E}">
        <p14:creationId xmlns:p14="http://schemas.microsoft.com/office/powerpoint/2010/main" val="729207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059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Base Editor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41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Base Editors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C164568-E2C5-344C-ADFC-68961FA16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311" y="1102263"/>
            <a:ext cx="8393373" cy="470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073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059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Base Editor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42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Base Editors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7EB8665-955F-4943-9FB3-1B58E5068C3E}"/>
              </a:ext>
            </a:extLst>
          </p:cNvPr>
          <p:cNvSpPr txBox="1"/>
          <p:nvPr/>
        </p:nvSpPr>
        <p:spPr>
          <a:xfrm>
            <a:off x="325821" y="1124879"/>
            <a:ext cx="5793498" cy="4389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Definition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Edit bases of interest without generating DSBs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Motivation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DSB-induced DNA repairs lead to uncertain results</a:t>
            </a:r>
            <a:endParaRPr kumimoji="1" lang="en-CN" altLang="zh-CN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Classification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CBE: 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C•G to T•A</a:t>
            </a:r>
            <a:endParaRPr kumimoji="1" lang="en-CN" altLang="zh-CN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ABE: 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A•T to G•C</a:t>
            </a:r>
            <a:endParaRPr kumimoji="1" lang="en-CN" altLang="zh-CN" sz="20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Basic Principle</a:t>
            </a:r>
            <a:endParaRPr kumimoji="1" lang="en-CN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Deaminases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were connected to </a:t>
            </a:r>
            <a:r>
              <a:rPr kumimoji="1" lang="en-US" altLang="zh-CN" dirty="0">
                <a:latin typeface="Calibri" panose="020F0502020204030204"/>
                <a:ea typeface="等线" panose="02010600030101010101" pitchFamily="2" charset="-122"/>
              </a:rPr>
              <a:t>Cas </a:t>
            </a:r>
            <a:r>
              <a:rPr kumimoji="1" lang="en-US" altLang="zh-CN" dirty="0" err="1">
                <a:latin typeface="Calibri" panose="020F0502020204030204"/>
                <a:ea typeface="等线" panose="02010600030101010101" pitchFamily="2" charset="-122"/>
              </a:rPr>
              <a:t>nickase</a:t>
            </a:r>
            <a:r>
              <a:rPr kumimoji="1" lang="zh-CN" altLang="en-US" dirty="0">
                <a:latin typeface="Calibri" panose="020F0502020204030204"/>
                <a:ea typeface="等线" panose="02010600030101010101" pitchFamily="2" charset="-122"/>
              </a:rPr>
              <a:t> </a:t>
            </a:r>
            <a:r>
              <a:rPr kumimoji="1" lang="en-US" altLang="zh-CN" dirty="0">
                <a:latin typeface="Calibri" panose="020F0502020204030204"/>
                <a:ea typeface="等线" panose="02010600030101010101" pitchFamily="2" charset="-122"/>
              </a:rPr>
              <a:t>(e.g., Cas9n) or </a:t>
            </a:r>
            <a:r>
              <a:rPr kumimoji="1" lang="en-US" altLang="zh-CN" dirty="0" err="1">
                <a:latin typeface="Calibri" panose="020F0502020204030204"/>
                <a:ea typeface="等线" panose="02010600030101010101" pitchFamily="2" charset="-122"/>
              </a:rPr>
              <a:t>dCas</a:t>
            </a:r>
            <a:r>
              <a:rPr kumimoji="1" lang="en-US" altLang="zh-CN" dirty="0">
                <a:latin typeface="Calibri" panose="020F0502020204030204"/>
                <a:ea typeface="等线" panose="02010600030101010101" pitchFamily="2" charset="-122"/>
              </a:rPr>
              <a:t> (e.g., dCas9)</a:t>
            </a:r>
            <a:endParaRPr kumimoji="1" lang="en-CN" altLang="zh-CN" dirty="0"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1028" name="Picture 4" descr="胞嘧啶_360百科">
            <a:extLst>
              <a:ext uri="{FF2B5EF4-FFF2-40B4-BE49-F238E27FC236}">
                <a16:creationId xmlns:a16="http://schemas.microsoft.com/office/drawing/2014/main" id="{D147ACE5-D60A-BA4C-9ECD-C59D6A945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721" y="1487332"/>
            <a:ext cx="909179" cy="1230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尿嘧啶_360百科">
            <a:extLst>
              <a:ext uri="{FF2B5EF4-FFF2-40B4-BE49-F238E27FC236}">
                <a16:creationId xmlns:a16="http://schemas.microsoft.com/office/drawing/2014/main" id="{2D2C5812-DD89-3F49-92CA-4D516FB9C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141" y="1487332"/>
            <a:ext cx="911458" cy="1230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腺嘌呤 – 美仑生物">
            <a:extLst>
              <a:ext uri="{FF2B5EF4-FFF2-40B4-BE49-F238E27FC236}">
                <a16:creationId xmlns:a16="http://schemas.microsoft.com/office/drawing/2014/main" id="{EC2CB1A3-7DC4-BE4E-91D9-FC94786F8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0035" y="3314628"/>
            <a:ext cx="1886550" cy="188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次黄嘌呤 – 美仑生物">
            <a:extLst>
              <a:ext uri="{FF2B5EF4-FFF2-40B4-BE49-F238E27FC236}">
                <a16:creationId xmlns:a16="http://schemas.microsoft.com/office/drawing/2014/main" id="{B1CB79BE-058A-7043-8A87-F1AECC24C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6157" y="3497190"/>
            <a:ext cx="1521425" cy="152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鸟嘌呤|Guanosine|73-40-5|参数，分子结构式，图谱信息 – 物竞">
            <a:extLst>
              <a:ext uri="{FF2B5EF4-FFF2-40B4-BE49-F238E27FC236}">
                <a16:creationId xmlns:a16="http://schemas.microsoft.com/office/drawing/2014/main" id="{C55743AD-D762-1841-A288-246DCF426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49517">
            <a:off x="10493192" y="3675470"/>
            <a:ext cx="1612940" cy="1336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81026D7-FA39-DA49-9061-D0FAD552AF68}"/>
              </a:ext>
            </a:extLst>
          </p:cNvPr>
          <p:cNvCxnSpPr>
            <a:cxnSpLocks/>
          </p:cNvCxnSpPr>
          <p:nvPr/>
        </p:nvCxnSpPr>
        <p:spPr>
          <a:xfrm>
            <a:off x="7473685" y="2122332"/>
            <a:ext cx="736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2646E44-5FD4-8546-83A2-F38763266241}"/>
              </a:ext>
            </a:extLst>
          </p:cNvPr>
          <p:cNvCxnSpPr>
            <a:cxnSpLocks/>
          </p:cNvCxnSpPr>
          <p:nvPr/>
        </p:nvCxnSpPr>
        <p:spPr>
          <a:xfrm>
            <a:off x="7473685" y="4343918"/>
            <a:ext cx="736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EA56D43-3E97-D94D-A789-0ED217B6EE18}"/>
              </a:ext>
            </a:extLst>
          </p:cNvPr>
          <p:cNvCxnSpPr>
            <a:cxnSpLocks/>
          </p:cNvCxnSpPr>
          <p:nvPr/>
        </p:nvCxnSpPr>
        <p:spPr>
          <a:xfrm>
            <a:off x="9581885" y="4343918"/>
            <a:ext cx="736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77176B9-03CB-4843-A16A-D2E056D1FDDC}"/>
              </a:ext>
            </a:extLst>
          </p:cNvPr>
          <p:cNvSpPr txBox="1"/>
          <p:nvPr/>
        </p:nvSpPr>
        <p:spPr>
          <a:xfrm>
            <a:off x="6265104" y="2805142"/>
            <a:ext cx="964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cytosine</a:t>
            </a:r>
            <a:endParaRPr kumimoji="1" lang="zh-CN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C5CDA8-F83A-FA49-9A10-F2A83997FCBE}"/>
              </a:ext>
            </a:extLst>
          </p:cNvPr>
          <p:cNvSpPr txBox="1"/>
          <p:nvPr/>
        </p:nvSpPr>
        <p:spPr>
          <a:xfrm>
            <a:off x="8252744" y="2805142"/>
            <a:ext cx="1132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thymidine</a:t>
            </a:r>
            <a:endParaRPr kumimoji="1"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4A8B52-DF11-7440-AC86-272040CF1C2E}"/>
              </a:ext>
            </a:extLst>
          </p:cNvPr>
          <p:cNvSpPr txBox="1"/>
          <p:nvPr/>
        </p:nvSpPr>
        <p:spPr>
          <a:xfrm>
            <a:off x="6338514" y="493070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adenine</a:t>
            </a:r>
            <a:endParaRPr kumimoji="1" lang="zh-CN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E12098-F46E-EF45-8748-36F8BE8682FE}"/>
              </a:ext>
            </a:extLst>
          </p:cNvPr>
          <p:cNvSpPr txBox="1"/>
          <p:nvPr/>
        </p:nvSpPr>
        <p:spPr>
          <a:xfrm>
            <a:off x="10773979" y="4884996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11111"/>
                </a:solidFill>
                <a:latin typeface="system-ui"/>
              </a:rPr>
              <a:t>g</a:t>
            </a:r>
            <a:r>
              <a:rPr lang="en-US" b="0" i="0" u="none" strike="noStrike" dirty="0">
                <a:solidFill>
                  <a:srgbClr val="111111"/>
                </a:solidFill>
                <a:effectLst/>
                <a:latin typeface="system-ui"/>
              </a:rPr>
              <a:t>uanine</a:t>
            </a:r>
            <a:endParaRPr kumimoji="1" lang="zh-CN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CEFDB9-60B6-5B42-B35A-F81BC965EEBE}"/>
              </a:ext>
            </a:extLst>
          </p:cNvPr>
          <p:cNvSpPr txBox="1"/>
          <p:nvPr/>
        </p:nvSpPr>
        <p:spPr>
          <a:xfrm>
            <a:off x="8186861" y="4912665"/>
            <a:ext cx="1460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11111"/>
                </a:solidFill>
                <a:latin typeface="system-ui"/>
              </a:rPr>
              <a:t>h</a:t>
            </a:r>
            <a:r>
              <a:rPr lang="en-US" b="0" i="0" u="none" strike="noStrike" dirty="0">
                <a:solidFill>
                  <a:srgbClr val="111111"/>
                </a:solidFill>
                <a:effectLst/>
                <a:latin typeface="system-ui"/>
              </a:rPr>
              <a:t>ypoxanthine</a:t>
            </a:r>
            <a:endParaRPr kumimoji="1" lang="zh-CN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71E8E6-53EE-DC48-9E11-9B809A1B4C7B}"/>
              </a:ext>
            </a:extLst>
          </p:cNvPr>
          <p:cNvSpPr txBox="1"/>
          <p:nvPr/>
        </p:nvSpPr>
        <p:spPr>
          <a:xfrm>
            <a:off x="3028" y="5912172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</p:spTree>
    <p:extLst>
      <p:ext uri="{BB962C8B-B14F-4D97-AF65-F5344CB8AC3E}">
        <p14:creationId xmlns:p14="http://schemas.microsoft.com/office/powerpoint/2010/main" val="453238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6321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Principle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43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Base Editors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0907372-AD35-344D-A34F-DE12998B0189}"/>
              </a:ext>
            </a:extLst>
          </p:cNvPr>
          <p:cNvGrpSpPr/>
          <p:nvPr/>
        </p:nvGrpSpPr>
        <p:grpSpPr>
          <a:xfrm>
            <a:off x="932454" y="943372"/>
            <a:ext cx="10445296" cy="5072290"/>
            <a:chOff x="514441" y="919061"/>
            <a:chExt cx="11131457" cy="529222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8EAB6BC-1067-3B40-A13D-FA5D647D1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6098" y="919061"/>
              <a:ext cx="11099800" cy="5292226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B791287-9B27-BB47-90E9-7377B57A9946}"/>
                </a:ext>
              </a:extLst>
            </p:cNvPr>
            <p:cNvSpPr/>
            <p:nvPr/>
          </p:nvSpPr>
          <p:spPr>
            <a:xfrm>
              <a:off x="514441" y="1048925"/>
              <a:ext cx="627469" cy="3763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78D3420-525C-514D-88F1-8A41B8D686DB}"/>
                </a:ext>
              </a:extLst>
            </p:cNvPr>
            <p:cNvSpPr/>
            <p:nvPr/>
          </p:nvSpPr>
          <p:spPr>
            <a:xfrm>
              <a:off x="546098" y="3533220"/>
              <a:ext cx="627469" cy="3763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0865F15-7529-FD46-BA3A-E90A4CF8A66B}"/>
              </a:ext>
            </a:extLst>
          </p:cNvPr>
          <p:cNvSpPr txBox="1"/>
          <p:nvPr/>
        </p:nvSpPr>
        <p:spPr>
          <a:xfrm>
            <a:off x="325821" y="1147208"/>
            <a:ext cx="9316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CBE</a:t>
            </a:r>
            <a:endParaRPr kumimoji="1" lang="zh-CN" alt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A95A38-2594-F741-AAA2-3A38A531E2A4}"/>
              </a:ext>
            </a:extLst>
          </p:cNvPr>
          <p:cNvSpPr txBox="1"/>
          <p:nvPr/>
        </p:nvSpPr>
        <p:spPr>
          <a:xfrm>
            <a:off x="325821" y="3648469"/>
            <a:ext cx="9444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ABE</a:t>
            </a:r>
            <a:endParaRPr kumimoji="1" lang="zh-CN" alt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38807B-1C0A-C244-8A8C-EAE6467C4332}"/>
              </a:ext>
            </a:extLst>
          </p:cNvPr>
          <p:cNvSpPr txBox="1"/>
          <p:nvPr/>
        </p:nvSpPr>
        <p:spPr>
          <a:xfrm>
            <a:off x="6673850" y="2391619"/>
            <a:ext cx="61087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UNG2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992BD0-0C14-E84D-BF8F-FBE3DAA73E9A}"/>
              </a:ext>
            </a:extLst>
          </p:cNvPr>
          <p:cNvSpPr txBox="1"/>
          <p:nvPr/>
        </p:nvSpPr>
        <p:spPr>
          <a:xfrm>
            <a:off x="-3" y="5932185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</p:spTree>
    <p:extLst>
      <p:ext uri="{BB962C8B-B14F-4D97-AF65-F5344CB8AC3E}">
        <p14:creationId xmlns:p14="http://schemas.microsoft.com/office/powerpoint/2010/main" val="2559859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3411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Optimization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44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Base Editors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7EB8665-955F-4943-9FB3-1B58E5068C3E}"/>
              </a:ext>
            </a:extLst>
          </p:cNvPr>
          <p:cNvSpPr txBox="1"/>
          <p:nvPr/>
        </p:nvSpPr>
        <p:spPr>
          <a:xfrm>
            <a:off x="325821" y="1054874"/>
            <a:ext cx="7522780" cy="5173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Again, </a:t>
            </a:r>
            <a:r>
              <a:rPr kumimoji="1" lang="en-US" altLang="zh-CN" sz="2000" dirty="0"/>
              <a:t>expanding target scope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PAM is always a constraint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Modifying R-loop-deaminase interactions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R-loop forms after Cas binds its target and defines where base editing would occur (</a:t>
            </a:r>
            <a:r>
              <a:rPr kumimoji="1" lang="en-US" altLang="zh-CN" b="1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activity window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)</a:t>
            </a:r>
            <a:endParaRPr kumimoji="1" lang="en-US" altLang="zh-CN" sz="2000" dirty="0">
              <a:solidFill>
                <a:prstClr val="black"/>
              </a:solidFill>
              <a:latin typeface="Calibri" panose="020F0502020204030204"/>
              <a:ea typeface="等线" panose="0201060003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Generally a smaller Cas leads to a larger activity window (e.g., SaCas9, Cas12a vs. SpCas9)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Position and structure of deaminase domain also makes a difference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Minimizing undesired base editing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Transition/transversion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Bystander editing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Indels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CC0438B-27B0-7C46-9915-5765BECC86C0}"/>
              </a:ext>
            </a:extLst>
          </p:cNvPr>
          <p:cNvGrpSpPr/>
          <p:nvPr/>
        </p:nvGrpSpPr>
        <p:grpSpPr>
          <a:xfrm>
            <a:off x="8482979" y="1851606"/>
            <a:ext cx="2908921" cy="2402894"/>
            <a:chOff x="6802031" y="1581732"/>
            <a:chExt cx="2545169" cy="205746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0FDAFF4-6056-CB45-AA5D-BDBC9F3572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0412" t="5912" r="71281" b="68411"/>
            <a:stretch/>
          </p:blipFill>
          <p:spPr>
            <a:xfrm>
              <a:off x="6802031" y="2003261"/>
              <a:ext cx="2446260" cy="1635936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A1A8010-077C-9A41-A53F-C1E9E3031A33}"/>
                </a:ext>
              </a:extLst>
            </p:cNvPr>
            <p:cNvSpPr/>
            <p:nvPr/>
          </p:nvSpPr>
          <p:spPr>
            <a:xfrm>
              <a:off x="7923561" y="1581732"/>
              <a:ext cx="1423639" cy="464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6A2212B-58A6-B844-A82A-DD6CFB22C651}"/>
              </a:ext>
            </a:extLst>
          </p:cNvPr>
          <p:cNvSpPr txBox="1"/>
          <p:nvPr/>
        </p:nvSpPr>
        <p:spPr>
          <a:xfrm>
            <a:off x="7483882" y="4667251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</p:spTree>
    <p:extLst>
      <p:ext uri="{BB962C8B-B14F-4D97-AF65-F5344CB8AC3E}">
        <p14:creationId xmlns:p14="http://schemas.microsoft.com/office/powerpoint/2010/main" val="2698665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6302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Precision Issue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45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Base Editors</a:t>
              </a:r>
              <a:endParaRPr kumimoji="1" lang="zh-CN" altLang="en-US" sz="20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68E0705-8DB0-FB46-BB91-5A4FED09C9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86" b="138"/>
          <a:stretch/>
        </p:blipFill>
        <p:spPr>
          <a:xfrm>
            <a:off x="2505182" y="1510590"/>
            <a:ext cx="7181632" cy="38234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8758B7-9125-FF44-9205-63F70A520118}"/>
              </a:ext>
            </a:extLst>
          </p:cNvPr>
          <p:cNvSpPr txBox="1"/>
          <p:nvPr/>
        </p:nvSpPr>
        <p:spPr>
          <a:xfrm>
            <a:off x="0" y="5932185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Wang JY, </a:t>
            </a:r>
            <a:r>
              <a:rPr lang="en-US" altLang="zh-CN" sz="1200" dirty="0" err="1">
                <a:solidFill>
                  <a:schemeClr val="accent3"/>
                </a:solidFill>
              </a:rPr>
              <a:t>Doudna</a:t>
            </a:r>
            <a:r>
              <a:rPr lang="en-US" altLang="zh-CN" sz="1200" dirty="0">
                <a:solidFill>
                  <a:schemeClr val="accent3"/>
                </a:solidFill>
              </a:rPr>
              <a:t> JA. CRISPR technology: A decade of genome editing is only the beginning.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2023 Jan 20;379(6629):eadd8643.</a:t>
            </a:r>
          </a:p>
        </p:txBody>
      </p:sp>
    </p:spTree>
    <p:extLst>
      <p:ext uri="{BB962C8B-B14F-4D97-AF65-F5344CB8AC3E}">
        <p14:creationId xmlns:p14="http://schemas.microsoft.com/office/powerpoint/2010/main" val="1776641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70369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Motivation: Difficulty in Gene Integration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46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2DE72D8-0DFC-EA43-8BD0-90A8A5B706FC}"/>
              </a:ext>
            </a:extLst>
          </p:cNvPr>
          <p:cNvSpPr txBox="1"/>
          <p:nvPr/>
        </p:nvSpPr>
        <p:spPr>
          <a:xfrm>
            <a:off x="325822" y="1048925"/>
            <a:ext cx="7268777" cy="2219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Recap: HDR mainly occurs during </a:t>
            </a:r>
            <a:r>
              <a:rPr kumimoji="1" lang="en-CN" altLang="zh-CN" sz="2000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S/G2</a:t>
            </a: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 phase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Nuclease- and </a:t>
            </a:r>
            <a:r>
              <a:rPr kumimoji="1" lang="en-US" altLang="zh-CN" dirty="0" err="1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nickase</a:t>
            </a:r>
            <a:r>
              <a:rPr kumimoji="1" lang="en-US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-mediated gene integration is limited to </a:t>
            </a:r>
            <a:r>
              <a:rPr kumimoji="1" lang="en-US" altLang="zh-CN" dirty="0">
                <a:solidFill>
                  <a:srgbClr val="FF0000"/>
                </a:solidFill>
                <a:latin typeface="Calibri" panose="020F0502020204030204"/>
                <a:ea typeface="等线" panose="02010600030101010101" pitchFamily="2" charset="-122"/>
              </a:rPr>
              <a:t>actively dividing cells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D</a:t>
            </a:r>
            <a:r>
              <a:rPr kumimoji="1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iscovery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of CRISPR-associated transposases</a:t>
            </a:r>
            <a:endParaRPr kumimoji="1" lang="en-CN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latin typeface="Calibri" panose="020F0502020204030204"/>
                <a:ea typeface="等线" panose="02010600030101010101" pitchFamily="2" charset="-122"/>
              </a:rPr>
              <a:t>Nuclease activity of Cas is </a:t>
            </a:r>
            <a:r>
              <a:rPr kumimoji="1" lang="en-CN" altLang="zh-CN" b="1" dirty="0">
                <a:latin typeface="Calibri" panose="020F0502020204030204"/>
                <a:ea typeface="等线" panose="02010600030101010101" pitchFamily="2" charset="-122"/>
              </a:rPr>
              <a:t>not involved</a:t>
            </a:r>
            <a:endParaRPr kumimoji="1" lang="en-CN" altLang="zh-CN" dirty="0"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C055B8A-37DD-394D-84AF-B524AB5107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616" r="44407"/>
          <a:stretch/>
        </p:blipFill>
        <p:spPr>
          <a:xfrm>
            <a:off x="7308850" y="971970"/>
            <a:ext cx="4279900" cy="225319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FDE8D6D-63AD-5E43-AB19-05C287C043AC}"/>
              </a:ext>
            </a:extLst>
          </p:cNvPr>
          <p:cNvGrpSpPr/>
          <p:nvPr/>
        </p:nvGrpSpPr>
        <p:grpSpPr>
          <a:xfrm>
            <a:off x="317327" y="3470380"/>
            <a:ext cx="7772935" cy="2712164"/>
            <a:chOff x="1802864" y="3359514"/>
            <a:chExt cx="7772935" cy="271216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961E4CA-E317-684F-B619-31FC16F70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28924" y="3433182"/>
              <a:ext cx="7546875" cy="2638496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0731D16-35A0-784B-A383-BE909FE47899}"/>
                </a:ext>
              </a:extLst>
            </p:cNvPr>
            <p:cNvSpPr/>
            <p:nvPr/>
          </p:nvSpPr>
          <p:spPr>
            <a:xfrm>
              <a:off x="1802864" y="3359514"/>
              <a:ext cx="531758" cy="4238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FE52BE08-B058-2146-97E1-1462DF1EB569}"/>
              </a:ext>
            </a:extLst>
          </p:cNvPr>
          <p:cNvSpPr txBox="1"/>
          <p:nvPr/>
        </p:nvSpPr>
        <p:spPr>
          <a:xfrm>
            <a:off x="7307073" y="3134182"/>
            <a:ext cx="4735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Gaj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T, </a:t>
            </a:r>
            <a:r>
              <a:rPr lang="en-US" sz="1200" b="0" i="0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Sirk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SJ, Shui SL, Liu J. Genome-Editing Technologies: Principles and Applications.</a:t>
            </a:r>
            <a:r>
              <a:rPr lang="en-US" sz="120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Cold Spring </a:t>
            </a:r>
            <a:r>
              <a:rPr lang="en-US" sz="120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Harb</a:t>
            </a:r>
            <a:r>
              <a:rPr lang="en-US" sz="120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i="1" u="none" strike="noStrike" dirty="0" err="1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Perspect</a:t>
            </a:r>
            <a:r>
              <a:rPr lang="en-US" sz="120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Biol</a:t>
            </a:r>
            <a:r>
              <a:rPr lang="en-US" sz="120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2016 Dec 1;8(12):a023754.</a:t>
            </a:r>
            <a:endParaRPr lang="zh-CN" altLang="en-US" sz="12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F862BD-0D1B-5347-A99A-677B80440D78}"/>
              </a:ext>
            </a:extLst>
          </p:cNvPr>
          <p:cNvSpPr txBox="1"/>
          <p:nvPr/>
        </p:nvSpPr>
        <p:spPr>
          <a:xfrm>
            <a:off x="8382000" y="5512388"/>
            <a:ext cx="3193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Klompe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Transposon-encoded CRISPR-Cas systems direct RNA-guided DNA integration. </a:t>
            </a:r>
            <a:r>
              <a:rPr lang="en-US" altLang="zh-CN" sz="1200" i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Nature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2019 Jul;571(7764):219-225.</a:t>
            </a:r>
          </a:p>
        </p:txBody>
      </p:sp>
    </p:spTree>
    <p:extLst>
      <p:ext uri="{BB962C8B-B14F-4D97-AF65-F5344CB8AC3E}">
        <p14:creationId xmlns:p14="http://schemas.microsoft.com/office/powerpoint/2010/main" val="467259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382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Transposases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47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E4DF578-EA15-8548-91C4-DB64F262D308}"/>
              </a:ext>
            </a:extLst>
          </p:cNvPr>
          <p:cNvSpPr txBox="1"/>
          <p:nvPr/>
        </p:nvSpPr>
        <p:spPr>
          <a:xfrm>
            <a:off x="5567744" y="3831838"/>
            <a:ext cx="5877443" cy="14296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 err="1"/>
              <a:t>TnsAB</a:t>
            </a:r>
            <a:r>
              <a:rPr kumimoji="1" lang="en-US" altLang="zh-CN" sz="2000" dirty="0"/>
              <a:t> complex catalyzes the excision of transposon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 err="1">
                <a:solidFill>
                  <a:srgbClr val="FF0000"/>
                </a:solidFill>
              </a:rPr>
              <a:t>TnsD</a:t>
            </a:r>
            <a:r>
              <a:rPr kumimoji="1" lang="en-US" altLang="zh-CN" sz="2000" dirty="0">
                <a:solidFill>
                  <a:srgbClr val="FF0000"/>
                </a:solidFill>
              </a:rPr>
              <a:t> or </a:t>
            </a:r>
            <a:r>
              <a:rPr kumimoji="1" lang="en-US" altLang="zh-CN" sz="2000" dirty="0" err="1">
                <a:solidFill>
                  <a:srgbClr val="FF0000"/>
                </a:solidFill>
              </a:rPr>
              <a:t>TnsE</a:t>
            </a:r>
            <a:r>
              <a:rPr kumimoji="1" lang="en-US" altLang="zh-CN" sz="2000" dirty="0">
                <a:solidFill>
                  <a:srgbClr val="FF0000"/>
                </a:solidFill>
              </a:rPr>
              <a:t> determines target DNA substrate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 err="1"/>
              <a:t>TnsC</a:t>
            </a:r>
            <a:r>
              <a:rPr kumimoji="1" lang="en-US" altLang="zh-CN" sz="2000" dirty="0"/>
              <a:t> is an ATPase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C48B816-B634-C64F-AD4D-CACF7BD13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554" y="2318696"/>
            <a:ext cx="4682795" cy="8817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0597C0-C66A-0F46-BF25-1BD6A5627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847" y="1638226"/>
            <a:ext cx="4354897" cy="440709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45F0CE0-86A8-0E4C-B095-5AA078E5FD05}"/>
              </a:ext>
            </a:extLst>
          </p:cNvPr>
          <p:cNvSpPr/>
          <p:nvPr/>
        </p:nvSpPr>
        <p:spPr>
          <a:xfrm>
            <a:off x="4215823" y="3542276"/>
            <a:ext cx="1351922" cy="2503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9CAF2E-3B2A-C645-B646-62A6B6877581}"/>
              </a:ext>
            </a:extLst>
          </p:cNvPr>
          <p:cNvSpPr txBox="1"/>
          <p:nvPr/>
        </p:nvSpPr>
        <p:spPr>
          <a:xfrm>
            <a:off x="-115459" y="1341313"/>
            <a:ext cx="72655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Transposon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(DNA donor)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E6DCFD-BC0C-F34F-9820-8A6A0FBD7C33}"/>
              </a:ext>
            </a:extLst>
          </p:cNvPr>
          <p:cNvCxnSpPr/>
          <p:nvPr/>
        </p:nvCxnSpPr>
        <p:spPr>
          <a:xfrm flipH="1">
            <a:off x="4450842" y="2930109"/>
            <a:ext cx="149539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EA46191-DA79-1C47-B8AC-0F2758EBA735}"/>
              </a:ext>
            </a:extLst>
          </p:cNvPr>
          <p:cNvSpPr txBox="1"/>
          <p:nvPr/>
        </p:nvSpPr>
        <p:spPr>
          <a:xfrm>
            <a:off x="7465405" y="1987930"/>
            <a:ext cx="72655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Transpos</a:t>
            </a:r>
            <a:r>
              <a:rPr lang="en-US" altLang="zh-CN" sz="1600" dirty="0" err="1">
                <a:latin typeface="Arial" panose="020B0604020202020204" pitchFamily="34" charset="0"/>
                <a:cs typeface="Arial" panose="020B0604020202020204" pitchFamily="34" charset="0"/>
              </a:rPr>
              <a:t>ase</a:t>
            </a:r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 locus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8E7535-D19C-5E47-9CE9-1DCFFB2E7359}"/>
              </a:ext>
            </a:extLst>
          </p:cNvPr>
          <p:cNvSpPr txBox="1"/>
          <p:nvPr/>
        </p:nvSpPr>
        <p:spPr>
          <a:xfrm>
            <a:off x="-3" y="5932185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339DC8-A220-334B-87C9-8BE1E6A32901}"/>
              </a:ext>
            </a:extLst>
          </p:cNvPr>
          <p:cNvSpPr txBox="1"/>
          <p:nvPr/>
        </p:nvSpPr>
        <p:spPr>
          <a:xfrm>
            <a:off x="6213565" y="3271764"/>
            <a:ext cx="36459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Peters JE, Craig NL. Tn7: smarter than we thought.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Nat Rev Mol Cell Biol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2001 Nov;2(11):806-14.</a:t>
            </a:r>
            <a:endParaRPr lang="zh-CN" altLang="en-US" sz="12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637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2" grpId="0"/>
      <p:bldP spid="31" grpId="0"/>
      <p:bldP spid="3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54820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CRISPR-associated Transposases</a:t>
            </a:r>
            <a:endParaRPr kumimoji="1" lang="en-US" altLang="zh-CN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48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E4DF578-EA15-8548-91C4-DB64F262D308}"/>
              </a:ext>
            </a:extLst>
          </p:cNvPr>
          <p:cNvSpPr txBox="1"/>
          <p:nvPr/>
        </p:nvSpPr>
        <p:spPr>
          <a:xfrm>
            <a:off x="325821" y="1048925"/>
            <a:ext cx="6115905" cy="926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Replace the </a:t>
            </a:r>
            <a:r>
              <a:rPr kumimoji="1" lang="en-US" altLang="zh-CN" sz="2000" i="1" dirty="0" err="1"/>
              <a:t>tnsD</a:t>
            </a:r>
            <a:r>
              <a:rPr kumimoji="1" lang="en-US" altLang="zh-CN" sz="2000" dirty="0"/>
              <a:t> or </a:t>
            </a:r>
            <a:r>
              <a:rPr kumimoji="1" lang="en-US" altLang="zh-CN" sz="2000" i="1" dirty="0" err="1"/>
              <a:t>tnsE</a:t>
            </a:r>
            <a:r>
              <a:rPr kumimoji="1" lang="en-US" altLang="zh-CN" sz="2000" dirty="0"/>
              <a:t> genes with </a:t>
            </a:r>
            <a:r>
              <a:rPr kumimoji="1" lang="en-US" altLang="zh-CN" sz="2000" i="1" dirty="0" err="1"/>
              <a:t>cas</a:t>
            </a:r>
            <a:endParaRPr kumimoji="1" lang="en-US" altLang="zh-CN" sz="2000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/>
              <a:t>T</a:t>
            </a:r>
            <a:r>
              <a:rPr kumimoji="1" lang="en-US" altLang="zh-CN" sz="1800" dirty="0"/>
              <a:t>arget DNA substrate is now determined by Cas-sgRNA</a:t>
            </a:r>
            <a:endParaRPr kumimoji="1" lang="zh-CN" alt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B8E4D02-5D16-9B46-9246-3A16EE281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35" y="2155942"/>
            <a:ext cx="4682795" cy="88177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955F3C6-D616-3B42-BE18-940D4338F8AA}"/>
              </a:ext>
            </a:extLst>
          </p:cNvPr>
          <p:cNvGrpSpPr/>
          <p:nvPr/>
        </p:nvGrpSpPr>
        <p:grpSpPr>
          <a:xfrm>
            <a:off x="161271" y="3381209"/>
            <a:ext cx="5772025" cy="2399942"/>
            <a:chOff x="1908935" y="2753215"/>
            <a:chExt cx="7797800" cy="3117678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AE0D389-7E9C-D545-9959-350DBF95914C}"/>
                </a:ext>
              </a:extLst>
            </p:cNvPr>
            <p:cNvGrpSpPr/>
            <p:nvPr/>
          </p:nvGrpSpPr>
          <p:grpSpPr>
            <a:xfrm>
              <a:off x="1908935" y="2953126"/>
              <a:ext cx="7797800" cy="2917767"/>
              <a:chOff x="1777999" y="3153911"/>
              <a:chExt cx="7797800" cy="2917767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12864841-6FA1-044C-A96B-CA009FFF5B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28924" y="3433183"/>
                <a:ext cx="7546875" cy="2638495"/>
              </a:xfrm>
              <a:prstGeom prst="rect">
                <a:avLst/>
              </a:prstGeom>
            </p:spPr>
          </p:pic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A5480D3-B40E-6C45-AF60-CBF5E0D357A6}"/>
                  </a:ext>
                </a:extLst>
              </p:cNvPr>
              <p:cNvSpPr/>
              <p:nvPr/>
            </p:nvSpPr>
            <p:spPr>
              <a:xfrm>
                <a:off x="1777999" y="3153911"/>
                <a:ext cx="520701" cy="6735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F64C4C4-5931-D849-8175-EE5A1D8FEB70}"/>
                </a:ext>
              </a:extLst>
            </p:cNvPr>
            <p:cNvSpPr txBox="1"/>
            <p:nvPr/>
          </p:nvSpPr>
          <p:spPr>
            <a:xfrm>
              <a:off x="2718226" y="2753215"/>
              <a:ext cx="6106886" cy="399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sz="1400" i="1" dirty="0" err="1"/>
                <a:t>tnsD</a:t>
              </a:r>
              <a:r>
                <a:rPr kumimoji="1" lang="en-US" altLang="zh-CN" sz="1400" i="1" dirty="0"/>
                <a:t> </a:t>
              </a:r>
              <a:r>
                <a:rPr kumimoji="1" lang="en-US" altLang="zh-CN" sz="1400" dirty="0"/>
                <a:t>homolog</a:t>
              </a:r>
              <a:endParaRPr lang="zh-CN" altLang="en-US" sz="1400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D6FEF90-1A17-954B-B1F3-A5F8BD0BE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3773" y="3153037"/>
              <a:ext cx="0" cy="60906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BF60426-69B8-A14B-B9F9-11139AEC499B}"/>
              </a:ext>
            </a:extLst>
          </p:cNvPr>
          <p:cNvGrpSpPr/>
          <p:nvPr/>
        </p:nvGrpSpPr>
        <p:grpSpPr>
          <a:xfrm>
            <a:off x="6193391" y="3299373"/>
            <a:ext cx="5630750" cy="2546790"/>
            <a:chOff x="6065991" y="3324499"/>
            <a:chExt cx="5630750" cy="254679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8E8218A-DF68-7F45-BE7A-7E70A163F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5998" y="3533501"/>
              <a:ext cx="5600743" cy="2337788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CFA5138-7AAD-5142-BDD2-B8DBEE1A1DA9}"/>
                </a:ext>
              </a:extLst>
            </p:cNvPr>
            <p:cNvSpPr/>
            <p:nvPr/>
          </p:nvSpPr>
          <p:spPr>
            <a:xfrm>
              <a:off x="6065991" y="3324499"/>
              <a:ext cx="385429" cy="5185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17BBECB4-0E65-9846-A5E2-F612116EB065}"/>
              </a:ext>
            </a:extLst>
          </p:cNvPr>
          <p:cNvSpPr txBox="1"/>
          <p:nvPr/>
        </p:nvSpPr>
        <p:spPr>
          <a:xfrm>
            <a:off x="353985" y="5856668"/>
            <a:ext cx="5479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Klompe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Transposon-encoded CRISPR-Cas systems direct RNA-guided DNA integration. </a:t>
            </a:r>
            <a:r>
              <a:rPr lang="en-US" altLang="zh-CN" sz="1200" i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Nature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2019 Jul;571(7764):219-225.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166B71-9630-5A4C-89B0-0409A3BBFB9B}"/>
              </a:ext>
            </a:extLst>
          </p:cNvPr>
          <p:cNvSpPr txBox="1"/>
          <p:nvPr/>
        </p:nvSpPr>
        <p:spPr>
          <a:xfrm>
            <a:off x="5280708" y="2445344"/>
            <a:ext cx="24906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Peters JE, Craig NL. Tn7: smarter than we thought. </a:t>
            </a:r>
            <a:r>
              <a:rPr lang="en-US" sz="1200" b="0" i="1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Nat Rev Mol Cell Biol</a:t>
            </a:r>
            <a:r>
              <a:rPr lang="en-US" sz="1200" b="0" i="0" u="none" strike="noStrike" dirty="0">
                <a:solidFill>
                  <a:schemeClr val="accent3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2001 Nov;2(11):806-14.</a:t>
            </a:r>
            <a:endParaRPr lang="zh-CN" altLang="en-US" sz="120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AF6996-FAD9-FB4C-B892-E36065C5185D}"/>
              </a:ext>
            </a:extLst>
          </p:cNvPr>
          <p:cNvSpPr txBox="1"/>
          <p:nvPr/>
        </p:nvSpPr>
        <p:spPr>
          <a:xfrm>
            <a:off x="6358411" y="5846163"/>
            <a:ext cx="5479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Lampe </a:t>
            </a:r>
            <a:r>
              <a:rPr lang="en-US" altLang="zh-CN" sz="1200" i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Targeted DNA integration in human cells without double-strand breaks using CRISPR-associated transposases. </a:t>
            </a:r>
            <a:r>
              <a:rPr lang="en-US" altLang="zh-CN" sz="1200" i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Biotechnol</a:t>
            </a:r>
            <a:r>
              <a:rPr lang="en-US" altLang="zh-CN" sz="1200" i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altLang="zh-CN" sz="12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2024 Jan;42(1):87-98.</a:t>
            </a:r>
          </a:p>
        </p:txBody>
      </p:sp>
    </p:spTree>
    <p:extLst>
      <p:ext uri="{BB962C8B-B14F-4D97-AF65-F5344CB8AC3E}">
        <p14:creationId xmlns:p14="http://schemas.microsoft.com/office/powerpoint/2010/main" val="583421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4" grpId="0"/>
      <p:bldP spid="35" grpId="0"/>
      <p:bldP spid="3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54820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CRISPR-associated Transposases</a:t>
            </a:r>
            <a:endParaRPr kumimoji="1" lang="en-US" altLang="zh-CN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49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Prime Editors</a:t>
              </a:r>
              <a:endParaRPr kumimoji="1" lang="zh-CN" altLang="en-US" sz="20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C0EF16A-5994-8346-896B-3194D4BA553D}"/>
              </a:ext>
            </a:extLst>
          </p:cNvPr>
          <p:cNvGrpSpPr/>
          <p:nvPr/>
        </p:nvGrpSpPr>
        <p:grpSpPr>
          <a:xfrm>
            <a:off x="162909" y="1048925"/>
            <a:ext cx="11866178" cy="3583542"/>
            <a:chOff x="325821" y="1524000"/>
            <a:chExt cx="11866178" cy="358354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01D6EEB-4602-EE48-8CAF-476F9636D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1199" y="1750457"/>
              <a:ext cx="11480800" cy="335708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1850C5-FBEF-4C42-9FD1-111D5FEAC138}"/>
                </a:ext>
              </a:extLst>
            </p:cNvPr>
            <p:cNvSpPr/>
            <p:nvPr/>
          </p:nvSpPr>
          <p:spPr>
            <a:xfrm>
              <a:off x="7918449" y="3428998"/>
              <a:ext cx="4032251" cy="13716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9AFB31D-7694-824F-B32E-7518778D177E}"/>
                </a:ext>
              </a:extLst>
            </p:cNvPr>
            <p:cNvSpPr/>
            <p:nvPr/>
          </p:nvSpPr>
          <p:spPr>
            <a:xfrm>
              <a:off x="325821" y="1524000"/>
              <a:ext cx="1016000" cy="634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012C734-2E63-5447-8B90-3A3E3337EEB4}"/>
              </a:ext>
            </a:extLst>
          </p:cNvPr>
          <p:cNvSpPr txBox="1"/>
          <p:nvPr/>
        </p:nvSpPr>
        <p:spPr>
          <a:xfrm>
            <a:off x="325821" y="4878205"/>
            <a:ext cx="9705221" cy="96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Now </a:t>
            </a: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C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RISPR-associated </a:t>
            </a:r>
            <a:r>
              <a:rPr kumimoji="1" lang="en-US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t</a:t>
            </a:r>
            <a:r>
              <a:rPr kumimoji="1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ransposases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  <a:t> have been successfully applied in mammalian cells</a:t>
            </a:r>
            <a:endParaRPr kumimoji="1" lang="en-US" altLang="zh-CN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Cons: low efficiency and substantial target sequence restrictions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B1D564-8F50-E44A-95EC-9E21BB2AAD9A}"/>
              </a:ext>
            </a:extLst>
          </p:cNvPr>
          <p:cNvSpPr txBox="1"/>
          <p:nvPr/>
        </p:nvSpPr>
        <p:spPr>
          <a:xfrm>
            <a:off x="-3" y="5932185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6B209C-F739-D248-80FF-6B8EE286CE98}"/>
              </a:ext>
            </a:extLst>
          </p:cNvPr>
          <p:cNvSpPr txBox="1"/>
          <p:nvPr/>
        </p:nvSpPr>
        <p:spPr>
          <a:xfrm>
            <a:off x="7888710" y="5357734"/>
            <a:ext cx="37659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Lampe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Targeted DNA integration in human cells without double-strand breaks using CRISPR-associated transposases.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2024 Jan;42(1):87-98.</a:t>
            </a:r>
          </a:p>
        </p:txBody>
      </p:sp>
    </p:spTree>
    <p:extLst>
      <p:ext uri="{BB962C8B-B14F-4D97-AF65-F5344CB8AC3E}">
        <p14:creationId xmlns:p14="http://schemas.microsoft.com/office/powerpoint/2010/main" val="3623708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2410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Prime Editors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02872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50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774D4-7512-9149-A01B-49E452622E6B}"/>
              </a:ext>
            </a:extLst>
          </p:cNvPr>
          <p:cNvGrpSpPr/>
          <p:nvPr/>
        </p:nvGrpSpPr>
        <p:grpSpPr>
          <a:xfrm>
            <a:off x="-2" y="6393850"/>
            <a:ext cx="12192001" cy="464150"/>
            <a:chOff x="-1" y="6393850"/>
            <a:chExt cx="9399184" cy="4641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24AE81-3029-7947-9ABF-B46496598BFE}"/>
                </a:ext>
              </a:extLst>
            </p:cNvPr>
            <p:cNvSpPr/>
            <p:nvPr/>
          </p:nvSpPr>
          <p:spPr>
            <a:xfrm>
              <a:off x="-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Nucleases</a:t>
              </a:r>
              <a:endParaRPr kumimoji="1" lang="zh-CN" altLang="en-US" sz="2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5CB423-90A9-784B-A2AD-94F04E57B41F}"/>
                </a:ext>
              </a:extLst>
            </p:cNvPr>
            <p:cNvSpPr/>
            <p:nvPr/>
          </p:nvSpPr>
          <p:spPr>
            <a:xfrm>
              <a:off x="2349795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/>
                <a:t>Base Editors</a:t>
              </a:r>
              <a:endParaRPr kumimoji="1" lang="zh-CN" alt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CDFD0C-E607-7745-B18C-D019930DD3F3}"/>
                </a:ext>
              </a:extLst>
            </p:cNvPr>
            <p:cNvSpPr/>
            <p:nvPr/>
          </p:nvSpPr>
          <p:spPr>
            <a:xfrm>
              <a:off x="4699591" y="6393850"/>
              <a:ext cx="2349796" cy="4641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dirty="0">
                  <a:solidFill>
                    <a:schemeClr val="bg1"/>
                  </a:solidFill>
                  <a:latin typeface="Calibri" panose="020F0502020204030204"/>
                  <a:ea typeface="等线" panose="02010600030101010101" pitchFamily="2" charset="-122"/>
                </a:rPr>
                <a:t>Transposases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3353DF-7A57-F04F-BE45-7D2DBE611ECE}"/>
                </a:ext>
              </a:extLst>
            </p:cNvPr>
            <p:cNvSpPr/>
            <p:nvPr/>
          </p:nvSpPr>
          <p:spPr>
            <a:xfrm>
              <a:off x="7049387" y="6393850"/>
              <a:ext cx="2349796" cy="46415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000" b="1" dirty="0"/>
                <a:t>Prime Editors</a:t>
              </a:r>
              <a:endParaRPr kumimoji="1" lang="zh-CN" altLang="en-US" sz="2000" b="1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FDE35E3-5D0B-5B40-8035-624B8B195C77}"/>
              </a:ext>
            </a:extLst>
          </p:cNvPr>
          <p:cNvGrpSpPr/>
          <p:nvPr/>
        </p:nvGrpSpPr>
        <p:grpSpPr>
          <a:xfrm>
            <a:off x="322215" y="2177911"/>
            <a:ext cx="11547566" cy="3819776"/>
            <a:chOff x="0" y="1291409"/>
            <a:chExt cx="12192000" cy="395747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920F42A-D6D3-ED44-BEBC-95CD783ED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609121"/>
              <a:ext cx="12192000" cy="3639758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D2F5208-BAB4-504C-9785-E3B9C0BB1D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9686" y="1609121"/>
              <a:ext cx="0" cy="6638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8613637-7F31-104C-96E7-D0C7FB0D1A3E}"/>
                </a:ext>
              </a:extLst>
            </p:cNvPr>
            <p:cNvSpPr txBox="1"/>
            <p:nvPr/>
          </p:nvSpPr>
          <p:spPr>
            <a:xfrm>
              <a:off x="4679707" y="1291409"/>
              <a:ext cx="21451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100" dirty="0">
                  <a:latin typeface="Arial" panose="020B0604020202020204" pitchFamily="34" charset="0"/>
                  <a:cs typeface="Arial" panose="020B0604020202020204" pitchFamily="34" charset="0"/>
                </a:rPr>
                <a:t>primer binding sequence (PBS)</a:t>
              </a:r>
              <a:endParaRPr kumimoji="1" lang="zh-CN" alt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73BF070-43D9-B744-B12A-F9B56B1D366D}"/>
              </a:ext>
            </a:extLst>
          </p:cNvPr>
          <p:cNvSpPr txBox="1"/>
          <p:nvPr/>
        </p:nvSpPr>
        <p:spPr>
          <a:xfrm>
            <a:off x="325821" y="1048925"/>
            <a:ext cx="8761822" cy="96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Motivation: nucleases and BEs are not precise enough to install point mutations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solidFill>
                  <a:srgbClr val="FF0000"/>
                </a:solidFill>
              </a:rPr>
              <a:t>Extend sgRNA</a:t>
            </a:r>
            <a:r>
              <a:rPr kumimoji="1" lang="en-US" altLang="zh-CN" sz="2000" dirty="0"/>
              <a:t> and </a:t>
            </a:r>
            <a:r>
              <a:rPr kumimoji="1" lang="en-US" altLang="zh-CN" sz="2000" dirty="0">
                <a:solidFill>
                  <a:srgbClr val="FF0000"/>
                </a:solidFill>
              </a:rPr>
              <a:t>add a reverse transcriptase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D9C5DE-4B55-FF43-B37D-C6BF5AC596D7}"/>
              </a:ext>
            </a:extLst>
          </p:cNvPr>
          <p:cNvSpPr txBox="1"/>
          <p:nvPr/>
        </p:nvSpPr>
        <p:spPr>
          <a:xfrm>
            <a:off x="-3" y="5932185"/>
            <a:ext cx="47940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Anzalone</a:t>
            </a:r>
            <a:r>
              <a:rPr lang="zh-CN" altLang="en-US" sz="1200" dirty="0">
                <a:solidFill>
                  <a:schemeClr val="accent3"/>
                </a:solidFill>
              </a:rPr>
              <a:t> </a:t>
            </a:r>
            <a:r>
              <a:rPr lang="en-US" altLang="zh-CN" sz="1200" i="1" dirty="0">
                <a:solidFill>
                  <a:schemeClr val="accent3"/>
                </a:solidFill>
              </a:rPr>
              <a:t>et al</a:t>
            </a:r>
            <a:r>
              <a:rPr lang="en-US" altLang="zh-CN" sz="1200" dirty="0">
                <a:solidFill>
                  <a:schemeClr val="accent3"/>
                </a:solidFill>
              </a:rPr>
              <a:t>. Genome editing with CRISPR-Cas nucleases, base editors, transposases and prime editors. </a:t>
            </a:r>
            <a:r>
              <a:rPr lang="en-US" altLang="zh-CN" sz="1200" i="1" dirty="0">
                <a:solidFill>
                  <a:schemeClr val="accent3"/>
                </a:solidFill>
              </a:rPr>
              <a:t>Nat </a:t>
            </a:r>
            <a:r>
              <a:rPr lang="en-US" altLang="zh-CN" sz="1200" i="1" dirty="0" err="1">
                <a:solidFill>
                  <a:schemeClr val="accent3"/>
                </a:solidFill>
              </a:rPr>
              <a:t>Biotechnol</a:t>
            </a:r>
            <a:r>
              <a:rPr lang="en-US" altLang="zh-CN" sz="1200" dirty="0">
                <a:solidFill>
                  <a:schemeClr val="accent3"/>
                </a:solidFill>
              </a:rPr>
              <a:t>. 2020 Jul;38(7):824-844.</a:t>
            </a:r>
          </a:p>
        </p:txBody>
      </p:sp>
    </p:spTree>
    <p:extLst>
      <p:ext uri="{BB962C8B-B14F-4D97-AF65-F5344CB8AC3E}">
        <p14:creationId xmlns:p14="http://schemas.microsoft.com/office/powerpoint/2010/main" val="3684704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83741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886637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775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CA4BA-E573-EF41-A9EE-F0FE45A1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52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EB8665-955F-4943-9FB3-1B58E5068C3E}"/>
              </a:ext>
            </a:extLst>
          </p:cNvPr>
          <p:cNvSpPr txBox="1"/>
          <p:nvPr/>
        </p:nvSpPr>
        <p:spPr>
          <a:xfrm>
            <a:off x="325820" y="1054874"/>
            <a:ext cx="10576642" cy="5358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Protein-guided vs. RNA-guided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ZFN &amp; TALEN vs. CRISPR-Cas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General principle: introduce site-specificity to non-specific molecules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</a:rPr>
              <a:t>Naturally occurred CRISPR-Cas is an diversed </a:t>
            </a:r>
            <a:r>
              <a:rPr kumimoji="1" lang="en-CN" altLang="zh-CN" sz="2000" i="1" dirty="0">
                <a:solidFill>
                  <a:prstClr val="black"/>
                </a:solidFill>
              </a:rPr>
              <a:t>inheritable </a:t>
            </a:r>
            <a:r>
              <a:rPr kumimoji="1" lang="en-CN" altLang="zh-CN" sz="2000" dirty="0">
                <a:solidFill>
                  <a:prstClr val="black"/>
                </a:solidFill>
              </a:rPr>
              <a:t>and </a:t>
            </a:r>
            <a:r>
              <a:rPr kumimoji="1" lang="en-CN" altLang="zh-CN" sz="2000" i="1" dirty="0">
                <a:solidFill>
                  <a:prstClr val="black"/>
                </a:solidFill>
              </a:rPr>
              <a:t>adaptive </a:t>
            </a:r>
            <a:r>
              <a:rPr kumimoji="1" lang="en-CN" altLang="zh-CN" sz="2000" dirty="0">
                <a:solidFill>
                  <a:prstClr val="black"/>
                </a:solidFill>
              </a:rPr>
              <a:t>immune system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sz="2000" dirty="0">
                <a:solidFill>
                  <a:prstClr val="black"/>
                </a:solidFill>
              </a:rPr>
              <a:t> Key concept: spacer, repeat, protospacer, pre-crRNA, crRNA, tracrRNA, Cas, PAM, seed sequence, R-loop…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sz="2000" dirty="0">
                <a:solidFill>
                  <a:prstClr val="black"/>
                </a:solidFill>
              </a:rPr>
              <a:t>Diversity: 2 classes, 6 types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CN" altLang="zh-CN" sz="2000" dirty="0">
                <a:solidFill>
                  <a:prstClr val="black"/>
                </a:solidFill>
              </a:rPr>
              <a:t>2012 marks the beginning of an era belonging to genome editing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CN" altLang="zh-CN" dirty="0">
                <a:solidFill>
                  <a:prstClr val="black"/>
                </a:solidFill>
              </a:rPr>
              <a:t>sgRNA simplifies CRISPR-Cas significantly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solidFill>
                  <a:prstClr val="black"/>
                </a:solidFill>
              </a:rPr>
              <a:t> Many extraordinary researches and figures working on improving CRISPR-Cas genome editing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>
                <a:solidFill>
                  <a:prstClr val="black"/>
                </a:solidFill>
              </a:rPr>
              <a:t>Improved Nucleases, base editors, transposases, prime editors…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kumimoji="1" lang="en-US" altLang="zh-CN" dirty="0">
                <a:solidFill>
                  <a:prstClr val="black"/>
                </a:solidFill>
              </a:rPr>
              <a:t>Charpentier, </a:t>
            </a:r>
            <a:r>
              <a:rPr kumimoji="1" lang="en-US" altLang="zh-CN" dirty="0" err="1">
                <a:solidFill>
                  <a:prstClr val="black"/>
                </a:solidFill>
              </a:rPr>
              <a:t>Doudna</a:t>
            </a:r>
            <a:r>
              <a:rPr kumimoji="1" lang="en-US" altLang="zh-CN" dirty="0">
                <a:solidFill>
                  <a:prstClr val="black"/>
                </a:solidFill>
              </a:rPr>
              <a:t>, David Liu, Feng Zhang…</a:t>
            </a:r>
            <a:endParaRPr kumimoji="1" lang="en-CN" altLang="zh-C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4580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F6D3B8-49A7-374A-99A4-022E14424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234E10DA-A4B5-3C41-BB56-C5CB7549EC2B}" type="slidenum">
              <a:rPr lang="en-US" smtClean="0"/>
              <a:t>53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16FFDC4-F2A1-2041-9FFC-2C9B1DE5C21B}"/>
              </a:ext>
            </a:extLst>
          </p:cNvPr>
          <p:cNvGrpSpPr/>
          <p:nvPr/>
        </p:nvGrpSpPr>
        <p:grpSpPr>
          <a:xfrm>
            <a:off x="2324099" y="190500"/>
            <a:ext cx="7124701" cy="6477000"/>
            <a:chOff x="2324099" y="198437"/>
            <a:chExt cx="7124701" cy="6477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A334A79-485E-1240-B346-84C75E301834}"/>
                </a:ext>
              </a:extLst>
            </p:cNvPr>
            <p:cNvGrpSpPr/>
            <p:nvPr/>
          </p:nvGrpSpPr>
          <p:grpSpPr>
            <a:xfrm>
              <a:off x="2324099" y="198437"/>
              <a:ext cx="7124701" cy="6477000"/>
              <a:chOff x="2324100" y="381000"/>
              <a:chExt cx="7124701" cy="6477000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508C738C-670B-9B44-B599-A007A51092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24100" y="381000"/>
                <a:ext cx="7124700" cy="6477000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EEB3903-1CFA-D04F-8DB6-A17BC273A8CC}"/>
                  </a:ext>
                </a:extLst>
              </p:cNvPr>
              <p:cNvSpPr/>
              <p:nvPr/>
            </p:nvSpPr>
            <p:spPr>
              <a:xfrm>
                <a:off x="7221923" y="381000"/>
                <a:ext cx="2226878" cy="333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1DFB997-7CD1-7D4C-BE74-AFE5E4582538}"/>
                </a:ext>
              </a:extLst>
            </p:cNvPr>
            <p:cNvSpPr/>
            <p:nvPr/>
          </p:nvSpPr>
          <p:spPr>
            <a:xfrm>
              <a:off x="5480049" y="3100387"/>
              <a:ext cx="812800" cy="673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D5CF29-F3C9-094D-8856-FBC6335DA35C}"/>
                </a:ext>
              </a:extLst>
            </p:cNvPr>
            <p:cNvSpPr/>
            <p:nvPr/>
          </p:nvSpPr>
          <p:spPr>
            <a:xfrm>
              <a:off x="5587998" y="3062287"/>
              <a:ext cx="336551" cy="2651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5D0684-9E04-9E41-9D6C-D70B04522105}"/>
                </a:ext>
              </a:extLst>
            </p:cNvPr>
            <p:cNvSpPr/>
            <p:nvPr/>
          </p:nvSpPr>
          <p:spPr>
            <a:xfrm>
              <a:off x="5333997" y="3265487"/>
              <a:ext cx="336551" cy="5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15BBE52-2E99-5342-8026-FF5BF2B6304F}"/>
                </a:ext>
              </a:extLst>
            </p:cNvPr>
            <p:cNvSpPr/>
            <p:nvPr/>
          </p:nvSpPr>
          <p:spPr>
            <a:xfrm>
              <a:off x="5727701" y="3438524"/>
              <a:ext cx="768349" cy="4079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0704496-B7D5-2E45-87A3-FC3E755F2E50}"/>
                </a:ext>
              </a:extLst>
            </p:cNvPr>
            <p:cNvSpPr/>
            <p:nvPr/>
          </p:nvSpPr>
          <p:spPr>
            <a:xfrm>
              <a:off x="5632449" y="3265487"/>
              <a:ext cx="768349" cy="660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C150C6C-6ACC-094A-B639-F5D11EC91A23}"/>
              </a:ext>
            </a:extLst>
          </p:cNvPr>
          <p:cNvSpPr txBox="1"/>
          <p:nvPr/>
        </p:nvSpPr>
        <p:spPr>
          <a:xfrm>
            <a:off x="-40279" y="6027003"/>
            <a:ext cx="2743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3"/>
                </a:solidFill>
              </a:rPr>
              <a:t>Wang JY, </a:t>
            </a:r>
            <a:r>
              <a:rPr lang="en-US" altLang="zh-CN" sz="1200" dirty="0" err="1">
                <a:solidFill>
                  <a:schemeClr val="accent3"/>
                </a:solidFill>
              </a:rPr>
              <a:t>Doudna</a:t>
            </a:r>
            <a:r>
              <a:rPr lang="en-US" altLang="zh-CN" sz="1200" dirty="0">
                <a:solidFill>
                  <a:schemeClr val="accent3"/>
                </a:solidFill>
              </a:rPr>
              <a:t> JA. CRISPR technology: A decade of genome editing is only the beginning. </a:t>
            </a:r>
            <a:r>
              <a:rPr lang="en-US" altLang="zh-CN" sz="1200" i="1" dirty="0">
                <a:solidFill>
                  <a:schemeClr val="accent3"/>
                </a:solidFill>
              </a:rPr>
              <a:t>Science</a:t>
            </a:r>
            <a:r>
              <a:rPr lang="en-US" altLang="zh-CN" sz="1200" dirty="0">
                <a:solidFill>
                  <a:schemeClr val="accent3"/>
                </a:solidFill>
              </a:rPr>
              <a:t>. 2023 Jan 20;379(6629):eadd8643.</a:t>
            </a:r>
          </a:p>
        </p:txBody>
      </p:sp>
    </p:spTree>
    <p:extLst>
      <p:ext uri="{BB962C8B-B14F-4D97-AF65-F5344CB8AC3E}">
        <p14:creationId xmlns:p14="http://schemas.microsoft.com/office/powerpoint/2010/main" val="4082925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8526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Reference</a:t>
            </a:r>
            <a:endParaRPr kumimoji="1" lang="zh-CN" alt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FE83CF-75D9-7247-8186-69DEED1168B7}"/>
              </a:ext>
            </a:extLst>
          </p:cNvPr>
          <p:cNvSpPr txBox="1"/>
          <p:nvPr/>
        </p:nvSpPr>
        <p:spPr>
          <a:xfrm>
            <a:off x="325821" y="931360"/>
            <a:ext cx="11744259" cy="628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dirty="0" err="1"/>
              <a:t>Gaj</a:t>
            </a:r>
            <a:r>
              <a:rPr kumimoji="1" lang="en-US" altLang="zh-CN" dirty="0"/>
              <a:t> T, </a:t>
            </a:r>
            <a:r>
              <a:rPr kumimoji="1" lang="en-US" altLang="zh-CN" dirty="0" err="1"/>
              <a:t>Sirk</a:t>
            </a:r>
            <a:r>
              <a:rPr kumimoji="1" lang="en-US" altLang="zh-CN" dirty="0"/>
              <a:t> SJ, Shui SL, Liu J. Genome-Editing Technologies: Principles and Applications. </a:t>
            </a:r>
            <a:r>
              <a:rPr kumimoji="1" lang="en-US" altLang="zh-CN" i="1" dirty="0"/>
              <a:t>Cold Spring </a:t>
            </a:r>
            <a:r>
              <a:rPr kumimoji="1" lang="en-US" altLang="zh-CN" i="1" dirty="0" err="1"/>
              <a:t>Harb</a:t>
            </a:r>
            <a:r>
              <a:rPr kumimoji="1" lang="en-US" altLang="zh-CN" i="1" dirty="0"/>
              <a:t> </a:t>
            </a:r>
            <a:r>
              <a:rPr kumimoji="1" lang="en-US" altLang="zh-CN" i="1" dirty="0" err="1"/>
              <a:t>Perspect</a:t>
            </a:r>
            <a:r>
              <a:rPr kumimoji="1" lang="en-US" altLang="zh-CN" i="1" dirty="0"/>
              <a:t> Biol. </a:t>
            </a:r>
            <a:r>
              <a:rPr kumimoji="1" lang="en-US" altLang="zh-CN" dirty="0"/>
              <a:t>2016 Dec 1;8(12):a023754.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 err="1"/>
              <a:t>Urnov</a:t>
            </a:r>
            <a:r>
              <a:rPr lang="en-US" dirty="0"/>
              <a:t> FD, Rebar EJ, Holmes MC, Zhang HS, Gregory PD. Genome editing with engineered zinc finger nucleases. </a:t>
            </a:r>
            <a:r>
              <a:rPr lang="en-US" i="1" dirty="0"/>
              <a:t>Nat Rev Genet.</a:t>
            </a:r>
            <a:r>
              <a:rPr lang="en-US" dirty="0"/>
              <a:t> 2010 Sep;11(9):636-46.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linkMacSystemFont"/>
              </a:rPr>
              <a:t>Lander ES. The Heroes of CRISPR. </a:t>
            </a:r>
            <a:r>
              <a:rPr lang="en-US" i="1" dirty="0">
                <a:latin typeface="BlinkMacSystemFont"/>
              </a:rPr>
              <a:t>Cell</a:t>
            </a:r>
            <a:r>
              <a:rPr lang="en-US" dirty="0">
                <a:latin typeface="BlinkMacSystemFont"/>
              </a:rPr>
              <a:t>. 2016 Jan 14;164(1-2):18-28.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 err="1">
                <a:latin typeface="BlinkMacSystemFont"/>
              </a:rPr>
              <a:t>Marraffini</a:t>
            </a:r>
            <a:r>
              <a:rPr lang="en-US" dirty="0">
                <a:latin typeface="BlinkMacSystemFont"/>
              </a:rPr>
              <a:t> LA. CRISPR-Cas immunity in prokaryotes. </a:t>
            </a:r>
            <a:r>
              <a:rPr lang="en-US" i="1" dirty="0">
                <a:latin typeface="BlinkMacSystemFont"/>
              </a:rPr>
              <a:t>Nature.</a:t>
            </a:r>
            <a:r>
              <a:rPr lang="en-US" dirty="0">
                <a:latin typeface="BlinkMacSystemFont"/>
              </a:rPr>
              <a:t> 2015 Oct 1;526(7571):55-61.</a:t>
            </a:r>
            <a:endParaRPr lang="zh-CN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Makarova </a:t>
            </a:r>
            <a:r>
              <a:rPr lang="en-US" altLang="zh-CN" i="1" dirty="0"/>
              <a:t>et al.</a:t>
            </a:r>
            <a:r>
              <a:rPr lang="en-US" altLang="zh-CN" dirty="0"/>
              <a:t> Evolutionary classification of CRISPR-Cas systems: a burst of class 2 and derived variants. </a:t>
            </a:r>
            <a:r>
              <a:rPr lang="en-US" altLang="zh-CN" i="1" dirty="0"/>
              <a:t>Nat Rev Microbiol</a:t>
            </a:r>
            <a:r>
              <a:rPr lang="en-US" altLang="zh-CN" dirty="0"/>
              <a:t>. 2020 Feb;18(2):67-83.</a:t>
            </a:r>
            <a:endParaRPr lang="zh-CN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 err="1"/>
              <a:t>Jinek</a:t>
            </a:r>
            <a:r>
              <a:rPr lang="en-US" altLang="zh-CN" i="1" dirty="0"/>
              <a:t> et al</a:t>
            </a:r>
            <a:r>
              <a:rPr lang="en-US" altLang="zh-CN" dirty="0"/>
              <a:t>. A programmable dual-RNA-guided DNA endonuclease in adaptive bacterial immunity. </a:t>
            </a:r>
            <a:r>
              <a:rPr lang="en-US" altLang="zh-CN" i="1" dirty="0"/>
              <a:t>Science</a:t>
            </a:r>
            <a:r>
              <a:rPr lang="en-US" altLang="zh-CN" dirty="0"/>
              <a:t>. 2012 Aug 17;337(6096):816-21.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Wang JY, </a:t>
            </a:r>
            <a:r>
              <a:rPr lang="en-US" altLang="zh-CN" dirty="0" err="1"/>
              <a:t>Doudna</a:t>
            </a:r>
            <a:r>
              <a:rPr lang="en-US" altLang="zh-CN" dirty="0"/>
              <a:t> JA. CRISPR technology: A decade of genome editing is only the beginning. </a:t>
            </a:r>
            <a:r>
              <a:rPr lang="en-US" altLang="zh-CN" i="1" dirty="0"/>
              <a:t>Science</a:t>
            </a:r>
            <a:r>
              <a:rPr lang="en-US" altLang="zh-CN" dirty="0"/>
              <a:t>. 2023 Jan 20;379(6629):eadd8643.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Anzalone</a:t>
            </a:r>
            <a:r>
              <a:rPr lang="zh-CN" altLang="en-US" dirty="0"/>
              <a:t> </a:t>
            </a:r>
            <a:r>
              <a:rPr lang="en-US" altLang="zh-CN" i="1" dirty="0"/>
              <a:t>et al</a:t>
            </a:r>
            <a:r>
              <a:rPr lang="en-US" altLang="zh-CN" dirty="0"/>
              <a:t>. Genome editing with CRISPR-Cas nucleases, base editors, transposases and prime editors. </a:t>
            </a:r>
            <a:r>
              <a:rPr lang="en-US" altLang="zh-CN" i="1" dirty="0"/>
              <a:t>Nat </a:t>
            </a:r>
            <a:r>
              <a:rPr lang="en-US" altLang="zh-CN" i="1" dirty="0" err="1"/>
              <a:t>Biotechnol</a:t>
            </a:r>
            <a:r>
              <a:rPr lang="en-US" altLang="zh-CN" dirty="0"/>
              <a:t>. 2020 Jul;38(7):824-844.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60377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00585-1364-6542-9D0E-647778AED91E}"/>
              </a:ext>
            </a:extLst>
          </p:cNvPr>
          <p:cNvSpPr txBox="1"/>
          <p:nvPr/>
        </p:nvSpPr>
        <p:spPr>
          <a:xfrm>
            <a:off x="325821" y="464150"/>
            <a:ext cx="18526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Reference</a:t>
            </a:r>
            <a:endParaRPr kumimoji="1" lang="zh-CN" alt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FE83CF-75D9-7247-8186-69DEED1168B7}"/>
              </a:ext>
            </a:extLst>
          </p:cNvPr>
          <p:cNvSpPr txBox="1"/>
          <p:nvPr/>
        </p:nvSpPr>
        <p:spPr>
          <a:xfrm>
            <a:off x="325820" y="1048925"/>
            <a:ext cx="11744260" cy="7528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Ran </a:t>
            </a:r>
            <a:r>
              <a:rPr lang="en-US" altLang="zh-CN" i="1" dirty="0"/>
              <a:t>et al</a:t>
            </a:r>
            <a:r>
              <a:rPr lang="en-US" altLang="zh-CN" dirty="0"/>
              <a:t>. Double nicking by RNA-guided CRISPR Cas9 for enhanced genome editing specificity. </a:t>
            </a:r>
            <a:r>
              <a:rPr lang="en-US" altLang="zh-CN" i="1" dirty="0"/>
              <a:t>Cell</a:t>
            </a:r>
            <a:r>
              <a:rPr lang="en-US" altLang="zh-CN" dirty="0"/>
              <a:t>. 2013 Sep 12;154(6):1380-9.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 err="1"/>
              <a:t>Guilinger</a:t>
            </a:r>
            <a:r>
              <a:rPr lang="en-US" altLang="zh-CN" dirty="0"/>
              <a:t> </a:t>
            </a:r>
            <a:r>
              <a:rPr lang="en-US" altLang="zh-CN" i="1" dirty="0"/>
              <a:t>et al</a:t>
            </a:r>
            <a:r>
              <a:rPr lang="en-US" altLang="zh-CN" dirty="0"/>
              <a:t>. Fusion of catalytically inactive Cas9 to </a:t>
            </a:r>
            <a:r>
              <a:rPr lang="en-US" altLang="zh-CN" dirty="0" err="1"/>
              <a:t>FokI</a:t>
            </a:r>
            <a:r>
              <a:rPr lang="en-US" altLang="zh-CN" dirty="0"/>
              <a:t> nuclease improves the specificity of genome modification. </a:t>
            </a:r>
            <a:r>
              <a:rPr lang="en-US" altLang="zh-CN" i="1" dirty="0"/>
              <a:t>Nat </a:t>
            </a:r>
            <a:r>
              <a:rPr lang="en-US" altLang="zh-CN" i="1" dirty="0" err="1"/>
              <a:t>Biotechnol</a:t>
            </a:r>
            <a:r>
              <a:rPr lang="en-US" altLang="zh-CN" dirty="0"/>
              <a:t>. 2014 Jun;32(6):577-582.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 err="1"/>
              <a:t>Bolukbasi</a:t>
            </a:r>
            <a:r>
              <a:rPr lang="en-US" altLang="zh-CN" dirty="0"/>
              <a:t> </a:t>
            </a:r>
            <a:r>
              <a:rPr lang="en-US" altLang="zh-CN" i="1" dirty="0"/>
              <a:t>et al</a:t>
            </a:r>
            <a:r>
              <a:rPr lang="en-US" altLang="zh-CN" dirty="0"/>
              <a:t>. Orthogonal Cas9-Cas9 chimeras provide a versatile platform for genome editing. </a:t>
            </a:r>
            <a:r>
              <a:rPr lang="en-US" altLang="zh-CN" i="1" dirty="0"/>
              <a:t>Nat </a:t>
            </a:r>
            <a:r>
              <a:rPr lang="en-US" altLang="zh-CN" i="1" dirty="0" err="1"/>
              <a:t>Commun</a:t>
            </a:r>
            <a:r>
              <a:rPr lang="en-US" altLang="zh-CN" dirty="0"/>
              <a:t>. 2018 Nov 19;9(1):4856.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 err="1"/>
              <a:t>Slaymaker</a:t>
            </a:r>
            <a:r>
              <a:rPr lang="en-US" altLang="zh-CN" i="1" dirty="0"/>
              <a:t> et al</a:t>
            </a:r>
            <a:r>
              <a:rPr lang="en-US" altLang="zh-CN" dirty="0"/>
              <a:t>. Rationally engineered Cas9 nucleases with improved specificity.</a:t>
            </a:r>
            <a:r>
              <a:rPr lang="en-US" altLang="zh-CN" i="1" dirty="0"/>
              <a:t> Science</a:t>
            </a:r>
            <a:r>
              <a:rPr lang="en-US" altLang="zh-CN" dirty="0"/>
              <a:t>. 2016 Jan 1;351(6268):84-8.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Fu </a:t>
            </a:r>
            <a:r>
              <a:rPr lang="en-US" altLang="zh-CN" i="1" dirty="0"/>
              <a:t>et al</a:t>
            </a:r>
            <a:r>
              <a:rPr lang="en-US" altLang="zh-CN" dirty="0"/>
              <a:t>. Improving CRISPR-Cas nuclease specificity using truncated guide RNAs. Nat </a:t>
            </a:r>
            <a:r>
              <a:rPr lang="en-US" altLang="zh-CN" dirty="0" err="1"/>
              <a:t>Biotechnol</a:t>
            </a:r>
            <a:r>
              <a:rPr lang="en-US" altLang="zh-CN" dirty="0"/>
              <a:t>. 2014 Mar;32(3):279-284.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 err="1">
                <a:latin typeface="Calibri" panose="020F0502020204030204" pitchFamily="34" charset="0"/>
                <a:cs typeface="Calibri" panose="020F0502020204030204" pitchFamily="34" charset="0"/>
              </a:rPr>
              <a:t>Klompe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et al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. Transposon-encoded CRISPR-Cas systems direct RNA-guided DNA integration. </a:t>
            </a:r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Nature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. 2019 Jul;571(7764):219-225.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Peters JE, Craig NL. Tn7: smarter than we thought.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Nat Rev Mol Cell Biol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 2001 Nov;2(11):806-14.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Lampe </a:t>
            </a:r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et al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. Targeted DNA integration in human cells without double-strand breaks using CRISPR-associated transposases. </a:t>
            </a:r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Nat </a:t>
            </a:r>
            <a:r>
              <a:rPr lang="en-US" altLang="zh-CN" i="1" dirty="0" err="1">
                <a:latin typeface="Calibri" panose="020F0502020204030204" pitchFamily="34" charset="0"/>
                <a:cs typeface="Calibri" panose="020F0502020204030204" pitchFamily="34" charset="0"/>
              </a:rPr>
              <a:t>Biotechnol</a:t>
            </a:r>
            <a:r>
              <a:rPr lang="en-US" altLang="zh-CN" i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2024 Jan;42(1):87-98.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zh-CN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zh-CN" altLang="en-US" dirty="0"/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100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9B2C29-6C36-CC44-A825-1EB7BA0CADF3}"/>
              </a:ext>
            </a:extLst>
          </p:cNvPr>
          <p:cNvSpPr txBox="1"/>
          <p:nvPr/>
        </p:nvSpPr>
        <p:spPr>
          <a:xfrm>
            <a:off x="2399176" y="2875002"/>
            <a:ext cx="58100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600" dirty="0"/>
              <a:t>Thank</a:t>
            </a:r>
            <a:r>
              <a:rPr kumimoji="1" lang="zh-CN" altLang="en-US" sz="6600" dirty="0"/>
              <a:t> </a:t>
            </a:r>
            <a:r>
              <a:rPr kumimoji="1" lang="en-US" altLang="zh-CN" sz="6600" dirty="0"/>
              <a:t>you!</a:t>
            </a:r>
            <a:endParaRPr kumimoji="1" lang="zh-CN" altLang="en-US" sz="6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235D95-BECE-4440-B239-5795A3025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136" y="2585468"/>
            <a:ext cx="1854887" cy="168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65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A090842-1323-DF41-83EF-BD22BD676106}"/>
              </a:ext>
            </a:extLst>
          </p:cNvPr>
          <p:cNvSpPr txBox="1">
            <a:spLocks/>
          </p:cNvSpPr>
          <p:nvPr/>
        </p:nvSpPr>
        <p:spPr>
          <a:xfrm>
            <a:off x="1524000" y="3197595"/>
            <a:ext cx="9144000" cy="70427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i="1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504864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AACECA9E-5A47-9D4A-BFC9-D00FA966395E}"/>
              </a:ext>
            </a:extLst>
          </p:cNvPr>
          <p:cNvSpPr txBox="1"/>
          <p:nvPr/>
        </p:nvSpPr>
        <p:spPr>
          <a:xfrm>
            <a:off x="325821" y="464150"/>
            <a:ext cx="9781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Q&amp;A</a:t>
            </a:r>
            <a:endParaRPr kumimoji="1" lang="zh-CN" altLang="en-US" sz="3200" i="1" dirty="0">
              <a:latin typeface="Calibri" panose="020F0502020204030204" pitchFamily="34" charset="0"/>
              <a:ea typeface="DengXia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D7B17-39D8-0141-9ADA-AB4A8A91021A}"/>
              </a:ext>
            </a:extLst>
          </p:cNvPr>
          <p:cNvSpPr txBox="1"/>
          <p:nvPr/>
        </p:nvSpPr>
        <p:spPr>
          <a:xfrm>
            <a:off x="325821" y="1048925"/>
            <a:ext cx="11686070" cy="6274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BE3</a:t>
            </a:r>
            <a:r>
              <a:rPr 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通过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Cas9</a:t>
            </a:r>
            <a:r>
              <a:rPr 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切口酶活性在非编辑链引入切口，这个切口为什么只激活了错配修复（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MMR</a:t>
            </a:r>
            <a:r>
              <a:rPr 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）而没有激活其他修复途径（如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BER</a:t>
            </a:r>
            <a:r>
              <a:rPr 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或</a:t>
            </a:r>
            <a:r>
              <a:rPr 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NHEJ</a:t>
            </a:r>
            <a:r>
              <a:rPr 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）？</a:t>
            </a:r>
            <a:r>
              <a:rPr lang="en-CN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1800" kern="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CRISPR</a:t>
            </a:r>
            <a:r>
              <a:rPr lang="zh-CN" sz="1800" kern="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技术与传统的基因组编辑方法（如锌指核酸酶和</a:t>
            </a:r>
            <a:r>
              <a:rPr lang="en-CN" sz="1800" kern="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TALENs</a:t>
            </a:r>
            <a:r>
              <a:rPr lang="zh-CN" sz="1800" kern="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）相比具有哪些优势和局限性？在什么情况下选择</a:t>
            </a:r>
            <a:r>
              <a:rPr lang="en-CN" sz="1800" kern="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CRISPR</a:t>
            </a:r>
            <a:r>
              <a:rPr lang="zh-CN" sz="1800" kern="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技术更为合适？</a:t>
            </a:r>
            <a:endParaRPr lang="zh-CN" altLang="en-US" sz="1800" kern="0" spc="20" dirty="0">
              <a:solidFill>
                <a:srgbClr val="000000"/>
              </a:solidFill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sz="180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碱基编辑器的活性窗口（</a:t>
            </a:r>
            <a:r>
              <a:rPr lang="en-CN" sz="180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activity window</a:t>
            </a:r>
            <a:r>
              <a:rPr lang="zh-CN" sz="1800" spc="2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）是一个关键参数，设计活性窗口的大小和位置时需要考虑哪些因素？</a:t>
            </a:r>
            <a:r>
              <a:rPr lang="en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ABEs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的编辑窗口集中在</a:t>
            </a:r>
            <a:r>
              <a:rPr lang="en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protospacer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</a:t>
            </a:r>
            <a:r>
              <a:rPr lang="en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4-7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位，而</a:t>
            </a:r>
            <a:r>
              <a:rPr lang="en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BE3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的窗口更宽。这种差异与哪些因素有关？</a:t>
            </a:r>
            <a:r>
              <a:rPr lang="en-CN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endParaRPr lang="en-CN" kern="0" spc="20" dirty="0">
              <a:solidFill>
                <a:srgbClr val="000000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ABE7.10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在特定位点表现良好，但编辑效率仍会受靶点序列上下游结构、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DNA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甲基化状态等影响。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AlphaFold 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等结构预测工具是否可辅助设计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ABE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靶向区域？</a:t>
            </a:r>
            <a:endParaRPr lang="en-US" altLang="zh-CN" sz="1800" kern="0" dirty="0">
              <a:solidFill>
                <a:srgbClr val="000000"/>
              </a:solidFill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在碱基编辑过程中，如何确保编辑的永久性？</a:t>
            </a:r>
            <a:endParaRPr lang="en-CN" altLang="zh-CN" kern="100" dirty="0">
              <a:solidFill>
                <a:srgbClr val="000000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除了文中研究的细胞系，碱基编辑技术在其他细胞类型中的效果如何？是否存在差异？</a:t>
            </a:r>
            <a:r>
              <a:rPr lang="en-CN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在碱基编辑过程中，如何避免或减少因多次编辑同一区域而导致的基因组不稳定？</a:t>
            </a:r>
            <a:r>
              <a:rPr lang="en-CN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 </a:t>
            </a:r>
            <a:endParaRPr lang="en-US" kern="100" dirty="0">
              <a:solidFill>
                <a:srgbClr val="000000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对于具有复杂遗传背景的多基因疾病，碱基编辑技术如何实现多个相关基因突变的同时精准校正？</a:t>
            </a:r>
            <a:endParaRPr lang="en-US" altLang="zh-CN" sz="1800" dirty="0"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Cas9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蛋白如何在极高的分子噪声中保持精准识别目标序列，从而避免误伤宿主基因组，在这方面还存在哪些尚未解决的机制或者调控因素</a:t>
            </a:r>
            <a:r>
              <a:rPr lang="zh-CN" altLang="en-US" sz="1800" dirty="0">
                <a:solidFill>
                  <a:srgbClr val="000000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？</a:t>
            </a:r>
            <a:endParaRPr lang="en-CN" dirty="0">
              <a:solidFill>
                <a:schemeClr val="accent5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800" dirty="0"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415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AACECA9E-5A47-9D4A-BFC9-D00FA966395E}"/>
              </a:ext>
            </a:extLst>
          </p:cNvPr>
          <p:cNvSpPr txBox="1"/>
          <p:nvPr/>
        </p:nvSpPr>
        <p:spPr>
          <a:xfrm>
            <a:off x="325821" y="464150"/>
            <a:ext cx="9781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Q&amp;A</a:t>
            </a:r>
            <a:endParaRPr kumimoji="1" lang="zh-CN" altLang="en-US" sz="3200" i="1" dirty="0">
              <a:latin typeface="Calibri" panose="020F0502020204030204" pitchFamily="34" charset="0"/>
              <a:ea typeface="DengXia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D7B17-39D8-0141-9ADA-AB4A8A91021A}"/>
              </a:ext>
            </a:extLst>
          </p:cNvPr>
          <p:cNvSpPr txBox="1"/>
          <p:nvPr/>
        </p:nvSpPr>
        <p:spPr>
          <a:xfrm>
            <a:off x="325821" y="1048925"/>
            <a:ext cx="11686070" cy="544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辅文献中提到利用决策树的方法指导不同编辑器的选择。在实际应用中，如何综合考量目标位点的序列背景、</a:t>
            </a:r>
            <a:r>
              <a:rPr lang="en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PAM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位置以及编辑器的内在特性，以实现既高效又精准的编辑方案</a:t>
            </a:r>
            <a:r>
              <a:rPr lang="en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CN" dirty="0">
              <a:solidFill>
                <a:schemeClr val="accent5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不同细胞类型对碱基编辑的响应有差异，不同的环境因素是如何影响碱基编辑的？</a:t>
            </a:r>
            <a:r>
              <a:rPr lang="en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CN" dirty="0">
              <a:solidFill>
                <a:schemeClr val="accent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目前常用的基因编辑方法除了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CRISPR-Cas9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、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base editing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，还有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prime editing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，这几种编辑方法在实际使用中有何优劣？</a:t>
            </a:r>
            <a:endParaRPr lang="en-CN" sz="1800" kern="100" dirty="0">
              <a:effectLst/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除了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Cas9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以外，目前有许多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家族或与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家族同源的核酸酶如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Cas13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、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CasE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、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TnpB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等也在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DNA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或</a:t>
            </a:r>
            <a:r>
              <a:rPr lang="en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RNA</a:t>
            </a:r>
            <a:r>
              <a:rPr lang="zh-CN" sz="1800" dirty="0"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编辑中被使用。开发不同类型的核酸酶对于开发基因编辑工具有什么意义？</a:t>
            </a:r>
            <a:r>
              <a:rPr lang="en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基于</a:t>
            </a:r>
            <a:r>
              <a:rPr lang="en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HDR</a:t>
            </a: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的基因编辑治疗方法疗效低下的原因是什么？</a:t>
            </a:r>
            <a:r>
              <a:rPr lang="en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主文献强调不需要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DSB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就可以进行基因编辑，为什么强调这一点？难道说不使用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DSB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的基因编辑比使用</a:t>
            </a:r>
            <a:r>
              <a:rPr lang="en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DSB</a:t>
            </a:r>
            <a:r>
              <a:rPr lang="zh-CN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的更有优势？</a:t>
            </a:r>
            <a:endParaRPr lang="en-CN" sz="1800" kern="100" dirty="0">
              <a:effectLst/>
              <a:latin typeface="Calibri" panose="020F0502020204030204" pitchFamily="34" charset="0"/>
              <a:ea typeface="SimSun" panose="02010600030101010101" pitchFamily="2" charset="-122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当有了成熟的基因编辑技术之后，那剩下的问题就是我们如何知道每个基因（及其等位基因）是干什么的，这样我们就可以把基因按照自己想要的方式进行编辑。那我们如何解决这一问题呢？未来有哪些可能的解决这一问题的方式？</a:t>
            </a:r>
            <a:r>
              <a:rPr lang="en-C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6631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AACECA9E-5A47-9D4A-BFC9-D00FA966395E}"/>
              </a:ext>
            </a:extLst>
          </p:cNvPr>
          <p:cNvSpPr txBox="1"/>
          <p:nvPr/>
        </p:nvSpPr>
        <p:spPr>
          <a:xfrm>
            <a:off x="325821" y="464150"/>
            <a:ext cx="9781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Q&amp;A</a:t>
            </a:r>
            <a:endParaRPr kumimoji="1" lang="zh-CN" altLang="en-US" sz="3200" i="1" dirty="0">
              <a:latin typeface="Calibri" panose="020F0502020204030204" pitchFamily="34" charset="0"/>
              <a:ea typeface="DengXia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D7B17-39D8-0141-9ADA-AB4A8A91021A}"/>
              </a:ext>
            </a:extLst>
          </p:cNvPr>
          <p:cNvSpPr txBox="1"/>
          <p:nvPr/>
        </p:nvSpPr>
        <p:spPr>
          <a:xfrm>
            <a:off x="325821" y="1048925"/>
            <a:ext cx="11686070" cy="170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Cas9</a:t>
            </a: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的两个核酸酶结构域</a:t>
            </a:r>
            <a:r>
              <a:rPr lang="en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HNH</a:t>
            </a: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和</a:t>
            </a:r>
            <a:r>
              <a:rPr lang="en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RuvC-like</a:t>
            </a: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可以分别切割互补链和非互补链，这两类结构域在进化上是否独立起源？</a:t>
            </a:r>
            <a:endParaRPr lang="en-US" altLang="zh-CN" sz="1800" dirty="0">
              <a:solidFill>
                <a:schemeClr val="accent1"/>
              </a:solidFill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从下面的图看可能是独立起源的？</a:t>
            </a:r>
            <a:r>
              <a:rPr lang="en-US" altLang="zh-CN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HNH</a:t>
            </a:r>
            <a:r>
              <a:rPr lang="zh-CN" altLang="en-US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插入到了</a:t>
            </a:r>
            <a:r>
              <a:rPr lang="en-US" altLang="zh-CN" dirty="0" err="1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RuvC</a:t>
            </a:r>
            <a:r>
              <a:rPr lang="zh-CN" altLang="en-US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中</a:t>
            </a:r>
            <a:endParaRPr lang="en-US" altLang="zh-CN" dirty="0">
              <a:solidFill>
                <a:schemeClr val="accent1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可能很难确认，因为</a:t>
            </a:r>
            <a:r>
              <a:rPr lang="en-US" altLang="zh-CN" i="1" dirty="0" err="1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</a:t>
            </a:r>
            <a:r>
              <a:rPr lang="zh-CN" altLang="en-US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基因大多从转座子演化而来，很难确定这些转座子在演化上的最初来源（可能是某些病毒基因组的片段</a:t>
            </a:r>
            <a:r>
              <a:rPr lang="en-US" altLang="zh-CN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…</a:t>
            </a:r>
            <a:r>
              <a:rPr lang="zh-CN" altLang="en-US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）</a:t>
            </a:r>
            <a:endParaRPr lang="en-US" altLang="zh-CN" dirty="0">
              <a:solidFill>
                <a:schemeClr val="accent1"/>
              </a:solidFill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7DAF2-5FF2-F04D-A8FC-648E78D7C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709" y="4047025"/>
            <a:ext cx="5126182" cy="23489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4EEF5A-D294-064C-9DCB-C001EDEBBB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05"/>
          <a:stretch/>
        </p:blipFill>
        <p:spPr>
          <a:xfrm>
            <a:off x="180109" y="3061856"/>
            <a:ext cx="6273800" cy="333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669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AACECA9E-5A47-9D4A-BFC9-D00FA966395E}"/>
              </a:ext>
            </a:extLst>
          </p:cNvPr>
          <p:cNvSpPr txBox="1"/>
          <p:nvPr/>
        </p:nvSpPr>
        <p:spPr>
          <a:xfrm>
            <a:off x="325821" y="464150"/>
            <a:ext cx="9781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Q&amp;A</a:t>
            </a:r>
            <a:endParaRPr kumimoji="1" lang="zh-CN" altLang="en-US" sz="3200" i="1" dirty="0">
              <a:latin typeface="Calibri" panose="020F0502020204030204" pitchFamily="34" charset="0"/>
              <a:ea typeface="DengXia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D7B17-39D8-0141-9ADA-AB4A8A91021A}"/>
              </a:ext>
            </a:extLst>
          </p:cNvPr>
          <p:cNvSpPr txBox="1"/>
          <p:nvPr/>
        </p:nvSpPr>
        <p:spPr>
          <a:xfrm>
            <a:off x="325821" y="1048925"/>
            <a:ext cx="11686070" cy="46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目前碱基编辑技术主要是</a:t>
            </a:r>
            <a:r>
              <a:rPr lang="en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</a:t>
            </a:r>
            <a:r>
              <a:rPr lang="en-US" dirty="0" err="1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到</a:t>
            </a:r>
            <a:r>
              <a:rPr lang="en-CN" altLang="zh-CN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T</a:t>
            </a: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、</a:t>
            </a:r>
            <a:r>
              <a:rPr lang="en-CN" altLang="zh-CN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A</a:t>
            </a:r>
            <a:r>
              <a:rPr lang="zh-CN" altLang="en-US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到</a:t>
            </a:r>
            <a:r>
              <a:rPr lang="en-CN" altLang="zh-CN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G</a:t>
            </a: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的转换，如果想要实现其他转换该如何做？</a:t>
            </a:r>
            <a:r>
              <a:rPr lang="en-CN" dirty="0">
                <a:solidFill>
                  <a:schemeClr val="accent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67801B-DAC1-7149-924F-5C0843881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03681"/>
            <a:ext cx="4959927" cy="14543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D90BA1-E81D-1347-AA92-F59ACBDD4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820" y="1633700"/>
            <a:ext cx="5722505" cy="35028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8F3333-CC96-0B43-A8BE-FD510AE569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066" y="1592184"/>
            <a:ext cx="5585114" cy="367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064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AACECA9E-5A47-9D4A-BFC9-D00FA966395E}"/>
              </a:ext>
            </a:extLst>
          </p:cNvPr>
          <p:cNvSpPr txBox="1"/>
          <p:nvPr/>
        </p:nvSpPr>
        <p:spPr>
          <a:xfrm>
            <a:off x="325821" y="464150"/>
            <a:ext cx="9781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i="1" dirty="0">
                <a:latin typeface="Calibri" panose="020F0502020204030204" pitchFamily="34" charset="0"/>
                <a:ea typeface="DengXian" panose="02010600030101010101" pitchFamily="2" charset="-122"/>
                <a:cs typeface="Calibri" panose="020F0502020204030204" pitchFamily="34" charset="0"/>
              </a:rPr>
              <a:t>Q&amp;A</a:t>
            </a:r>
            <a:endParaRPr kumimoji="1" lang="zh-CN" altLang="en-US" sz="3200" i="1" dirty="0">
              <a:latin typeface="Calibri" panose="020F0502020204030204" pitchFamily="34" charset="0"/>
              <a:ea typeface="DengXian" panose="02010600030101010101" pitchFamily="2" charset="-122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D7B17-39D8-0141-9ADA-AB4A8A91021A}"/>
              </a:ext>
            </a:extLst>
          </p:cNvPr>
          <p:cNvSpPr txBox="1"/>
          <p:nvPr/>
        </p:nvSpPr>
        <p:spPr>
          <a:xfrm>
            <a:off x="325821" y="1066293"/>
            <a:ext cx="11686070" cy="170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使用非病原性细菌来源的</a:t>
            </a:r>
            <a:r>
              <a:rPr lang="en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Cas9</a:t>
            </a:r>
            <a:r>
              <a:rPr lang="zh-CN" sz="18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变体是否能够降低免疫原性，从而更适合体内治疗？</a:t>
            </a:r>
            <a:endParaRPr lang="en-US" altLang="zh-CN" sz="1800" dirty="0">
              <a:solidFill>
                <a:schemeClr val="accent1"/>
              </a:solidFill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Cas9</a:t>
            </a:r>
            <a:r>
              <a:rPr lang="zh-CN" altLang="en-US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的免疫原性确实会导致其在体内的基因编辑效率下降</a:t>
            </a:r>
            <a:endParaRPr lang="en-US" altLang="zh-CN" dirty="0">
              <a:solidFill>
                <a:schemeClr val="accent1"/>
              </a:solidFill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但人体对</a:t>
            </a:r>
            <a:r>
              <a:rPr lang="en-US" altLang="zh-CN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Cas9</a:t>
            </a:r>
            <a:r>
              <a:rPr lang="zh-CN" altLang="en-US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的免疫原性高低和其来源的细菌是否致病关系可能不大？</a:t>
            </a:r>
            <a:endParaRPr lang="en-US" altLang="zh-CN" dirty="0">
              <a:solidFill>
                <a:schemeClr val="accent1"/>
              </a:solidFill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kern="100" dirty="0">
                <a:solidFill>
                  <a:schemeClr val="accent1"/>
                </a:solidFill>
                <a:latin typeface="Calibri" panose="020F0502020204030204" pitchFamily="34" charset="0"/>
                <a:ea typeface="KaiTi" panose="02010609060101010101" pitchFamily="49" charset="-122"/>
                <a:cs typeface="Calibri" panose="020F0502020204030204" pitchFamily="34" charset="0"/>
              </a:rPr>
              <a:t>降低对异体蛋白的免疫反应可能是更好的思路</a:t>
            </a:r>
            <a:endParaRPr lang="en-US" altLang="zh-CN" dirty="0">
              <a:solidFill>
                <a:schemeClr val="accent1"/>
              </a:solidFill>
              <a:effectLst/>
              <a:latin typeface="Calibri" panose="020F0502020204030204" pitchFamily="34" charset="0"/>
              <a:ea typeface="KaiTi" panose="02010609060101010101" pitchFamily="49" charset="-122"/>
              <a:cs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190C10-2870-824A-A3F0-7434D4C5C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541" y="2790539"/>
            <a:ext cx="4635500" cy="359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55C1715-FAF5-E04B-B1E1-9A9A0720B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821" y="5005328"/>
            <a:ext cx="6221268" cy="131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676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21300</TotalTime>
  <Words>5020</Words>
  <Application>Microsoft Macintosh PowerPoint</Application>
  <PresentationFormat>Widescreen</PresentationFormat>
  <Paragraphs>643</Paragraphs>
  <Slides>62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3" baseType="lpstr">
      <vt:lpstr>-apple-system</vt:lpstr>
      <vt:lpstr>-webkit-standard</vt:lpstr>
      <vt:lpstr>Alfred Serif</vt:lpstr>
      <vt:lpstr>BlinkMacSystemFont</vt:lpstr>
      <vt:lpstr>system-ui</vt:lpstr>
      <vt:lpstr>Arial</vt:lpstr>
      <vt:lpstr>Calibri</vt:lpstr>
      <vt:lpstr>Calibri Light</vt:lpstr>
      <vt:lpstr>Cambria Math</vt:lpstr>
      <vt:lpstr>Wingdings</vt:lpstr>
      <vt:lpstr>Office Theme</vt:lpstr>
      <vt:lpstr>Genome Editing: Past, Present and Future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刘 沛雨</dc:creator>
  <cp:lastModifiedBy>刘 沛雨</cp:lastModifiedBy>
  <cp:revision>578</cp:revision>
  <dcterms:created xsi:type="dcterms:W3CDTF">2024-09-08T14:28:50Z</dcterms:created>
  <dcterms:modified xsi:type="dcterms:W3CDTF">2025-05-20T17:08:57Z</dcterms:modified>
</cp:coreProperties>
</file>